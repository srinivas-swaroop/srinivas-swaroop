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313">
          <p15:clr>
            <a:srgbClr val="A4A3A4"/>
          </p15:clr>
        </p15:guide>
        <p15:guide id="2" orient="horz" pos="1638">
          <p15:clr>
            <a:srgbClr val="A4A3A4"/>
          </p15:clr>
        </p15:guide>
        <p15:guide id="3" orient="horz" pos="2908">
          <p15:clr>
            <a:srgbClr val="A4A3A4"/>
          </p15:clr>
        </p15:guide>
        <p15:guide id="4" orient="horz" pos="3702">
          <p15:clr>
            <a:srgbClr val="A4A3A4"/>
          </p15:clr>
        </p15:guide>
        <p15:guide id="5" pos="657">
          <p15:clr>
            <a:srgbClr val="A4A3A4"/>
          </p15:clr>
        </p15:guide>
        <p15:guide id="6" pos="2132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3" orient="horz"/>
        <p:guide pos="1638" orient="horz"/>
        <p:guide pos="2908" orient="horz"/>
        <p:guide pos="3702" orient="horz"/>
        <p:guide pos="657"/>
        <p:guide pos="21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A3F84-0C44-4714-9130-F3685D79D7E8}" type="datetimeFigureOut">
              <a:rPr lang="en-GB" smtClean="0"/>
              <a:t>07/06/2018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2E197-D94A-442D-BE23-8D7D77E79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7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2E197-D94A-442D-BE23-8D7D77E7944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184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2E197-D94A-442D-BE23-8D7D77E7944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4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2E197-D94A-442D-BE23-8D7D77E7944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16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15" name="Picture 14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A924F7CA-3DEE-4DB5-9A47-2D337AF6BC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5" b="93219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07C90A4-D9E0-49B8-8727-E3197621DE73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48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16" name="Picture 15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1DF610F3-9FFA-4074-A129-736D54B945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5" b="84419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378E43E7-5E35-4335-8B55-92CCDE78DFBC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12365F9-5C24-45B7-8440-F758CD8CA124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77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1"/>
            <a:ext cx="1022401" cy="963514"/>
          </a:xfrm>
          <a:prstGeom prst="rect">
            <a:avLst/>
          </a:prstGeom>
        </p:spPr>
      </p:pic>
      <p:pic>
        <p:nvPicPr>
          <p:cNvPr id="17" name="Picture 16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812C06DC-FC86-4689-AE2D-8F777D6AF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5" b="72519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D3011C2-022A-40C8-AF68-C6FDA725D03D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53BCDBA-FEB0-4AFD-9D9D-A9C7E4FDB092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073537B-2488-4949-9332-A8857CF0E528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750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18" name="Picture 17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E0D97DB0-BDD7-4C1B-9D80-139ACF9A6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03" b="37531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64DDAD7-9253-4567-A1F3-65F4B7C61A77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1EC6E10-6AC4-4503-9F03-C632F86B55C7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EB03500-4568-47CA-AE21-6AA1F318D5E6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747C6B-6CFB-4B24-8FFB-DDD7294145F4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794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19" name="Picture 18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41C787F0-E624-48F4-948C-A806936A8C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20" b="57014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268A727F-EC13-407A-89B6-537F50E66069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C5FCD6-C4B9-4E22-B89D-D292DFD13A87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7E52802-3AB2-432A-AFDB-396028524F2E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598F6DA-F3DE-4C0F-A2C6-0704DB3A4606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E35E71A-13C1-4721-BC76-FF70A71FE8A9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864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0" name="Picture 19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6BEEA4BE-1583-42B9-A938-2AB14F9DB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17" b="28617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C470CB1-9B74-44B7-A4A8-2BEA969486EE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152504-0D92-47D1-96D1-A23AA988D65A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5FA9A70-5AE1-4714-A68B-DAE10ED86C72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23673AE-7C5F-47E6-80A7-6299DA7169ED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E3FC26-1736-404A-838C-3801AA1F889C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C5348A0-324F-49DE-A2A3-3FE9DE93F3AB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622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1" name="Picture 20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3FEE3EBF-C3D2-4143-9CDE-32C062D45E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63" b="4071"/>
          <a:stretch/>
        </p:blipFill>
        <p:spPr>
          <a:xfrm flipH="1"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2464862-3B7D-43C8-A742-6BC56BBCEEA1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DE58719-824B-4DD7-9044-18D00B2BD975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478BB5-098B-4375-B171-B2E2836A7C5B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BFD5C0-E144-465C-ABE4-33FBCB865834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FE9E61C-48C0-4221-8976-9B302F2CDFEB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F9AF5D1-C7E5-4A09-AF0E-76982EEE21E7}"/>
              </a:ext>
            </a:extLst>
          </p:cNvPr>
          <p:cNvSpPr/>
          <p:nvPr userDrawn="1"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CB1D458-F356-4096-9380-E050E054C694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039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2" name="Picture 21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0F3E89B7-738E-476B-B4C2-2BDB3EBED2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49" b="61685"/>
          <a:stretch/>
        </p:blipFill>
        <p:spPr>
          <a:xfrm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657EBCC-BF2A-4EDB-83F4-17BD0BDC2724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7C2B017-6195-4C8F-8741-A91EBECCC37D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D1BD8C4-C56A-41B9-9A56-E4CC5098A4E2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058FA1-BBE2-4BD2-9A5D-1866C6480D1E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81C4138-0A7B-4BDB-928C-354B82FE4A09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0D944D4-393B-482A-BDAA-0C11644D1BE0}"/>
              </a:ext>
            </a:extLst>
          </p:cNvPr>
          <p:cNvSpPr/>
          <p:nvPr userDrawn="1"/>
        </p:nvSpPr>
        <p:spPr>
          <a:xfrm>
            <a:off x="887040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D1AE746-0965-4921-99B8-65D79F4DEC95}"/>
              </a:ext>
            </a:extLst>
          </p:cNvPr>
          <p:cNvSpPr/>
          <p:nvPr userDrawn="1"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D89DBF4-0D97-4058-BCCB-21DDB711ADB2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763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3" name="Picture 22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CC7AB75E-4A52-43DC-A2D2-368100AC72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88" b="44846"/>
          <a:stretch/>
        </p:blipFill>
        <p:spPr>
          <a:xfrm flipH="1"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6AAFE3CE-771E-4A1C-B6AF-235A0C17E689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ACF6A2D-2E53-49B4-9E7F-AED7D9A75AB4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7859164-ED90-4776-B301-DE619AD2EB86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669FB0B-9A15-4246-BAE4-4D7C096D938E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FC1E4B5-87EC-4A5A-8635-2616915A2976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DBBA8C0-54BF-470E-80B3-33AB7108CA26}"/>
              </a:ext>
            </a:extLst>
          </p:cNvPr>
          <p:cNvSpPr/>
          <p:nvPr userDrawn="1"/>
        </p:nvSpPr>
        <p:spPr>
          <a:xfrm>
            <a:off x="894683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97D2058-FC97-4090-96B9-04634AA4880D}"/>
              </a:ext>
            </a:extLst>
          </p:cNvPr>
          <p:cNvSpPr/>
          <p:nvPr userDrawn="1"/>
        </p:nvSpPr>
        <p:spPr>
          <a:xfrm>
            <a:off x="887040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9362CC7-732F-4CFF-93CD-2AE70E189A78}"/>
              </a:ext>
            </a:extLst>
          </p:cNvPr>
          <p:cNvSpPr/>
          <p:nvPr userDrawn="1"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8E5180C-A5F2-4328-96A0-07C93EF1F320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755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generated with high confidence">
            <a:extLst>
              <a:ext uri="{FF2B5EF4-FFF2-40B4-BE49-F238E27FC236}">
                <a16:creationId xmlns:a16="http://schemas.microsoft.com/office/drawing/2014/main" id="{3C25D2A0-CED5-4B52-92AB-FBAEEE2719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99" y="244800"/>
            <a:ext cx="1022401" cy="1022401"/>
          </a:xfrm>
          <a:prstGeom prst="rect">
            <a:avLst/>
          </a:prstGeom>
        </p:spPr>
      </p:pic>
      <p:pic>
        <p:nvPicPr>
          <p:cNvPr id="24" name="Picture 23" descr="A picture containing colorful, colored&#10;&#10;Description generated with very high confidence">
            <a:extLst>
              <a:ext uri="{FF2B5EF4-FFF2-40B4-BE49-F238E27FC236}">
                <a16:creationId xmlns:a16="http://schemas.microsoft.com/office/drawing/2014/main" id="{C9A839C0-D2F5-4B10-BD9E-BABFBCB7AB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88" b="44846"/>
          <a:stretch/>
        </p:blipFill>
        <p:spPr>
          <a:xfrm flipV="1">
            <a:off x="0" y="6465600"/>
            <a:ext cx="9144000" cy="3924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CFD4B97-08B8-46B2-A942-23421853DD50}"/>
              </a:ext>
            </a:extLst>
          </p:cNvPr>
          <p:cNvSpPr/>
          <p:nvPr userDrawn="1"/>
        </p:nvSpPr>
        <p:spPr>
          <a:xfrm>
            <a:off x="894683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C7DBA6-207E-418F-8AC6-1BDE25D0F9AF}"/>
              </a:ext>
            </a:extLst>
          </p:cNvPr>
          <p:cNvSpPr/>
          <p:nvPr userDrawn="1"/>
        </p:nvSpPr>
        <p:spPr>
          <a:xfrm>
            <a:off x="902326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B0471E1-6A8B-43B4-9B62-09585EE4F566}"/>
              </a:ext>
            </a:extLst>
          </p:cNvPr>
          <p:cNvSpPr/>
          <p:nvPr userDrawn="1"/>
        </p:nvSpPr>
        <p:spPr>
          <a:xfrm>
            <a:off x="887040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989D1E9-B3CB-4C25-9FB3-CAC87DEB67E1}"/>
              </a:ext>
            </a:extLst>
          </p:cNvPr>
          <p:cNvSpPr/>
          <p:nvPr userDrawn="1"/>
        </p:nvSpPr>
        <p:spPr>
          <a:xfrm>
            <a:off x="879397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2C43A90-D160-4CE2-AC0E-08DF706D3CB0}"/>
              </a:ext>
            </a:extLst>
          </p:cNvPr>
          <p:cNvSpPr/>
          <p:nvPr userDrawn="1"/>
        </p:nvSpPr>
        <p:spPr>
          <a:xfrm>
            <a:off x="8717540" y="6591328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773AA4F-3DC6-40E2-84C4-615B91ADE74B}"/>
              </a:ext>
            </a:extLst>
          </p:cNvPr>
          <p:cNvSpPr/>
          <p:nvPr userDrawn="1"/>
        </p:nvSpPr>
        <p:spPr>
          <a:xfrm>
            <a:off x="894683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54CD83-DA55-4212-A642-C7FFC21EEB8A}"/>
              </a:ext>
            </a:extLst>
          </p:cNvPr>
          <p:cNvSpPr/>
          <p:nvPr userDrawn="1"/>
        </p:nvSpPr>
        <p:spPr>
          <a:xfrm>
            <a:off x="902326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A02A44-D40B-4ABD-A050-54F1918563C9}"/>
              </a:ext>
            </a:extLst>
          </p:cNvPr>
          <p:cNvSpPr/>
          <p:nvPr userDrawn="1"/>
        </p:nvSpPr>
        <p:spPr>
          <a:xfrm>
            <a:off x="887040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3EA12E8-24A6-4D4C-8047-9E539BDA6ED4}"/>
              </a:ext>
            </a:extLst>
          </p:cNvPr>
          <p:cNvSpPr/>
          <p:nvPr userDrawn="1"/>
        </p:nvSpPr>
        <p:spPr>
          <a:xfrm>
            <a:off x="879397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E7BB0C2-BCA0-4AEA-AA91-ABEE13F50CED}"/>
              </a:ext>
            </a:extLst>
          </p:cNvPr>
          <p:cNvSpPr/>
          <p:nvPr userDrawn="1"/>
        </p:nvSpPr>
        <p:spPr>
          <a:xfrm>
            <a:off x="8717540" y="6674672"/>
            <a:ext cx="57600" cy="576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039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4A249-8D3F-4C1A-8DC0-490133B915FE}" type="datetimeFigureOut">
              <a:rPr lang="en-GB" smtClean="0"/>
              <a:t>07/06/2018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A752E-97B1-4294-9576-64CAE105D3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383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C4C69A-D823-47B2-8868-9BD3612058A6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79DA03-D671-4A43-9A1C-BCE059E61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292" y="1090590"/>
            <a:ext cx="3509415" cy="426082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1E04EB7-34E1-41B8-9700-AB090827C25C}"/>
              </a:ext>
            </a:extLst>
          </p:cNvPr>
          <p:cNvGrpSpPr/>
          <p:nvPr/>
        </p:nvGrpSpPr>
        <p:grpSpPr>
          <a:xfrm>
            <a:off x="-2169309" y="3631997"/>
            <a:ext cx="421159" cy="103173"/>
            <a:chOff x="-2228588" y="3369027"/>
            <a:chExt cx="421159" cy="10317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ECB0D0-90D7-4F81-8A84-8706C98C033D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81C82DD-E184-487D-B306-B2EB55692506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6104EF4-E022-4582-811F-7A01CFE79D85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801EB68-656C-4E42-80EA-EE5889504DB8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1D09F37-A31D-4025-8AA2-356BFF977C6C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B6EE6CE-279A-41D3-9311-5F0457EABDBD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24C48A-513B-47AC-B3EB-61910D0F5859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0E26FC-0CDA-48E1-9AA9-70618C50B279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9A2DF8D-EE75-4635-AF44-E00624B7B4F4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1F8B828-774C-4270-8D2D-EF7FEA102A71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80407B-6C29-4DE4-81F8-215EF8ECE2E8}"/>
              </a:ext>
            </a:extLst>
          </p:cNvPr>
          <p:cNvGrpSpPr/>
          <p:nvPr/>
        </p:nvGrpSpPr>
        <p:grpSpPr>
          <a:xfrm>
            <a:off x="-2169309" y="3949366"/>
            <a:ext cx="421159" cy="103173"/>
            <a:chOff x="-2228588" y="3369027"/>
            <a:chExt cx="421159" cy="10317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1D7DDCC-E118-4AE2-A0B1-5F8E355D628D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CF0F615-EE7E-439A-977F-82110CDB66AC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E86893B-DEBF-4F54-9016-495A95B721E3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65378C4-0D8D-47A5-8453-B958D57C4D64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F1A8D1-6B7B-4BF3-B84C-35CAD55A79A6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D349F30-C48E-49F7-A145-4187934C82D0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FCB4D78-BE4A-413D-B392-EE622658DEB7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B8FB2AF-B68A-4E81-9A9E-7CD6D2351ECB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B25FEE3-E411-463B-9211-52E44050C93A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E2146D-5B10-4222-BEED-4F69A6E11F63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56A70DA-8F0B-4DC5-A655-6E99E7BE65F5}"/>
                </a:ext>
              </a:extLst>
            </p:cNvPr>
            <p:cNvSpPr/>
            <p:nvPr/>
          </p:nvSpPr>
          <p:spPr>
            <a:xfrm>
              <a:off x="-212554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830AAE3-BAEB-4BA1-A486-05D9396FDB38}"/>
                </a:ext>
              </a:extLst>
            </p:cNvPr>
            <p:cNvSpPr/>
            <p:nvPr/>
          </p:nvSpPr>
          <p:spPr>
            <a:xfrm>
              <a:off x="-203105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16C0BC0-D162-4460-9C5D-7C12363D8A06}"/>
                </a:ext>
              </a:extLst>
            </p:cNvPr>
            <p:cNvSpPr/>
            <p:nvPr/>
          </p:nvSpPr>
          <p:spPr>
            <a:xfrm>
              <a:off x="-193656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BB3152-91C1-4ADD-A70C-3511B4CBC501}"/>
              </a:ext>
            </a:extLst>
          </p:cNvPr>
          <p:cNvSpPr/>
          <p:nvPr/>
        </p:nvSpPr>
        <p:spPr>
          <a:xfrm>
            <a:off x="7844589" y="256674"/>
            <a:ext cx="1010654" cy="994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349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-2911581" y="1076507"/>
            <a:ext cx="3044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HEADING 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1"/>
          <p:cNvGrpSpPr/>
          <p:nvPr/>
        </p:nvGrpSpPr>
        <p:grpSpPr>
          <a:xfrm>
            <a:off x="-2169309" y="3631997"/>
            <a:ext cx="421159" cy="103173"/>
            <a:chOff x="-2228588" y="3369027"/>
            <a:chExt cx="421159" cy="103173"/>
          </a:xfrm>
        </p:grpSpPr>
        <p:sp>
          <p:nvSpPr>
            <p:cNvPr id="71" name="Google Shape;71;p1"/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1"/>
          <p:cNvGrpSpPr/>
          <p:nvPr/>
        </p:nvGrpSpPr>
        <p:grpSpPr>
          <a:xfrm>
            <a:off x="-2169309" y="3949366"/>
            <a:ext cx="421159" cy="103173"/>
            <a:chOff x="-2228588" y="3369027"/>
            <a:chExt cx="421159" cy="103173"/>
          </a:xfrm>
        </p:grpSpPr>
        <p:sp>
          <p:nvSpPr>
            <p:cNvPr id="82" name="Google Shape;82;p1"/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-212554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-203105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-1936565" y="3369027"/>
              <a:ext cx="43200" cy="4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7844589" y="256674"/>
            <a:ext cx="1010700" cy="9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219600" y="278336"/>
            <a:ext cx="613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 MANAGEMENT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92003" y="1481233"/>
            <a:ext cx="884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NON-VERBAL COMMUNICATION AND BODY LANGUAGE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292287" y="2505670"/>
            <a:ext cx="1060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KINESICS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0" y="2895600"/>
            <a:ext cx="91440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840B70C-8AFE-4E27-90E1-E7D81B39C41D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0B46CB-7D5A-4D24-9CB3-EE3CE6FC743D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21F3AD0-0BB0-4957-9823-1D7AC8F1B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B7FA8DFD-AC37-46A8-B1E8-788F824F9EFD}"/>
              </a:ext>
            </a:extLst>
          </p:cNvPr>
          <p:cNvSpPr/>
          <p:nvPr/>
        </p:nvSpPr>
        <p:spPr>
          <a:xfrm>
            <a:off x="93391" y="2135050"/>
            <a:ext cx="8831009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Kinesics - what is it?    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Interpretation of body motion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Facial expressions and gestures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Nonverbal behaviour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Movement of any part of the body/body as a whole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Body language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447297B-1B1B-4435-AA46-E3CF5CE5B9EB}"/>
              </a:ext>
            </a:extLst>
          </p:cNvPr>
          <p:cNvGrpSpPr/>
          <p:nvPr/>
        </p:nvGrpSpPr>
        <p:grpSpPr>
          <a:xfrm>
            <a:off x="-2169309" y="3631997"/>
            <a:ext cx="421159" cy="103173"/>
            <a:chOff x="-2228588" y="3369027"/>
            <a:chExt cx="421159" cy="103173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46AAB53-D2B2-481D-B0BC-8E954EB7332F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FC9F8D-C20C-495F-A369-F7E491C65C4F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DF7EEF4-B31E-4727-A4B2-FC35AF1725BA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B750B9-431C-4378-8F3A-6C2986409AD5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81EB9EA-08BF-4DB4-9876-AC0B3BC3BB54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E04FE95-1EEA-4E83-897E-7EACC53BAA4A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F5D45B2-5A02-4A99-A874-BDF16BBFA9BD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33AB3E1-596E-4539-9F02-69645F9EA8CF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A9A8FE2-40C7-4525-A0E3-77668D85FF3B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75C9E3A-D552-4F1D-9166-7E27D6376212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B26A6C0-F11B-4FF8-8B75-EE46F64044DE}"/>
              </a:ext>
            </a:extLst>
          </p:cNvPr>
          <p:cNvGrpSpPr/>
          <p:nvPr/>
        </p:nvGrpSpPr>
        <p:grpSpPr>
          <a:xfrm>
            <a:off x="-2169309" y="3949366"/>
            <a:ext cx="421159" cy="103173"/>
            <a:chOff x="-2228588" y="3369027"/>
            <a:chExt cx="421159" cy="103173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133B43E-30EA-4894-83F3-9002EBB5F3C4}"/>
                </a:ext>
              </a:extLst>
            </p:cNvPr>
            <p:cNvSpPr/>
            <p:nvPr/>
          </p:nvSpPr>
          <p:spPr>
            <a:xfrm>
              <a:off x="-222858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DA98898-04DB-4ABF-8DE6-2AB17C0D6C09}"/>
                </a:ext>
              </a:extLst>
            </p:cNvPr>
            <p:cNvSpPr/>
            <p:nvPr/>
          </p:nvSpPr>
          <p:spPr>
            <a:xfrm>
              <a:off x="-213409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DEF9294-23B5-499E-BA45-219D14958F7F}"/>
                </a:ext>
              </a:extLst>
            </p:cNvPr>
            <p:cNvSpPr/>
            <p:nvPr/>
          </p:nvSpPr>
          <p:spPr>
            <a:xfrm>
              <a:off x="-203960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449D10-A1A0-4A05-87D4-0517C739230A}"/>
                </a:ext>
              </a:extLst>
            </p:cNvPr>
            <p:cNvSpPr/>
            <p:nvPr/>
          </p:nvSpPr>
          <p:spPr>
            <a:xfrm>
              <a:off x="-1945118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0730E1E-51A0-40D6-A7F0-DA5738FA24B9}"/>
                </a:ext>
              </a:extLst>
            </p:cNvPr>
            <p:cNvSpPr/>
            <p:nvPr/>
          </p:nvSpPr>
          <p:spPr>
            <a:xfrm>
              <a:off x="-1850629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96403BB-EF53-46E1-A8E9-4799EBBED71B}"/>
                </a:ext>
              </a:extLst>
            </p:cNvPr>
            <p:cNvSpPr/>
            <p:nvPr/>
          </p:nvSpPr>
          <p:spPr>
            <a:xfrm>
              <a:off x="-222858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5854F5D-C88A-4BEC-98B1-E433E822EDB7}"/>
                </a:ext>
              </a:extLst>
            </p:cNvPr>
            <p:cNvSpPr/>
            <p:nvPr/>
          </p:nvSpPr>
          <p:spPr>
            <a:xfrm>
              <a:off x="-213409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0310AF4-8387-41F5-AB3E-80A649DAD61A}"/>
                </a:ext>
              </a:extLst>
            </p:cNvPr>
            <p:cNvSpPr/>
            <p:nvPr/>
          </p:nvSpPr>
          <p:spPr>
            <a:xfrm>
              <a:off x="-203960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EECD1B7-55A4-4346-B421-088F7E395AF5}"/>
                </a:ext>
              </a:extLst>
            </p:cNvPr>
            <p:cNvSpPr/>
            <p:nvPr/>
          </p:nvSpPr>
          <p:spPr>
            <a:xfrm>
              <a:off x="-1945118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5077B45-B70F-4AA3-9D94-F42560952C1F}"/>
                </a:ext>
              </a:extLst>
            </p:cNvPr>
            <p:cNvSpPr/>
            <p:nvPr/>
          </p:nvSpPr>
          <p:spPr>
            <a:xfrm>
              <a:off x="-1850629" y="3429000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4515C1D-1F8B-4459-8458-CDBA106C27B6}"/>
                </a:ext>
              </a:extLst>
            </p:cNvPr>
            <p:cNvSpPr/>
            <p:nvPr/>
          </p:nvSpPr>
          <p:spPr>
            <a:xfrm>
              <a:off x="-212554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EE6AB35-DFD2-4C24-BEE1-ADE87CD285A9}"/>
                </a:ext>
              </a:extLst>
            </p:cNvPr>
            <p:cNvSpPr/>
            <p:nvPr/>
          </p:nvSpPr>
          <p:spPr>
            <a:xfrm>
              <a:off x="-203105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9871C49-332F-415F-A6B9-33B30FFC7F5A}"/>
                </a:ext>
              </a:extLst>
            </p:cNvPr>
            <p:cNvSpPr/>
            <p:nvPr/>
          </p:nvSpPr>
          <p:spPr>
            <a:xfrm>
              <a:off x="-1936565" y="3369027"/>
              <a:ext cx="43200" cy="43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816999BE-3106-4091-B56C-A489DD0795E0}"/>
              </a:ext>
            </a:extLst>
          </p:cNvPr>
          <p:cNvSpPr/>
          <p:nvPr/>
        </p:nvSpPr>
        <p:spPr>
          <a:xfrm>
            <a:off x="192003" y="148123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F548F2-3143-47BC-BAE8-962FB0AFBE66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37405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50999-F0FB-4F97-9232-90534CD9AEF2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7926C-512C-4C4C-BC67-85A6448BC3ED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B8CC0-D5A8-4706-83AB-A838BA7933F2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397FE-21A4-4C22-A2F7-33D6550C6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721AF90-7B3D-4F5B-9701-13096875E853}"/>
              </a:ext>
            </a:extLst>
          </p:cNvPr>
          <p:cNvSpPr/>
          <p:nvPr/>
        </p:nvSpPr>
        <p:spPr>
          <a:xfrm>
            <a:off x="192003" y="148123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E45BBC-327C-425D-AE5F-4B4DB776D518}"/>
              </a:ext>
            </a:extLst>
          </p:cNvPr>
          <p:cNvSpPr/>
          <p:nvPr/>
        </p:nvSpPr>
        <p:spPr>
          <a:xfrm>
            <a:off x="93391" y="2135050"/>
            <a:ext cx="8831009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dirty="0"/>
              <a:t>  </a:t>
            </a:r>
          </a:p>
          <a:p>
            <a:r>
              <a:rPr lang="en-GB" sz="1900" dirty="0"/>
              <a:t> </a:t>
            </a:r>
          </a:p>
          <a:p>
            <a:r>
              <a:rPr lang="en-GB" sz="1900" dirty="0"/>
              <a:t> </a:t>
            </a:r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  <a:p>
            <a:endParaRPr lang="en-GB" sz="1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35FD20-9E56-431A-9640-D8BA21CB16DA}"/>
              </a:ext>
            </a:extLst>
          </p:cNvPr>
          <p:cNvSpPr/>
          <p:nvPr/>
        </p:nvSpPr>
        <p:spPr>
          <a:xfrm>
            <a:off x="93391" y="2135050"/>
            <a:ext cx="8831009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Types of kinesics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Emblems: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Nonverbal cues that have a verbal counterpart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Regulators: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Non-verbal signs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Regulate, modulate and maintain the flow of speech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Different cultures use different forms of regulators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Illustrators: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Consistently to illustrate what is being said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Reinforces what you are saying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Different from culture to culture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F29DA9-2227-4E94-809E-788F7CCAFDA8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39637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50999-F0FB-4F97-9232-90534CD9AEF2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7926C-512C-4C4C-BC67-85A6448BC3ED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B8CC0-D5A8-4706-83AB-A838BA7933F2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397FE-21A4-4C22-A2F7-33D6550C6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9203FEF-033B-4665-8654-2BD6E04075C6}"/>
              </a:ext>
            </a:extLst>
          </p:cNvPr>
          <p:cNvSpPr/>
          <p:nvPr/>
        </p:nvSpPr>
        <p:spPr>
          <a:xfrm>
            <a:off x="192003" y="148123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EC54A5-5F1B-4F0A-8691-626584429E6A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126C72-823F-4FEB-A085-11DC3F34E602}"/>
              </a:ext>
            </a:extLst>
          </p:cNvPr>
          <p:cNvSpPr/>
          <p:nvPr/>
        </p:nvSpPr>
        <p:spPr>
          <a:xfrm>
            <a:off x="93391" y="2135050"/>
            <a:ext cx="8831009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Types of kinesics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Affective Display: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Body or facial movements - Display affective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Different cultures practice - Display emotions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Two people may feel angry - Display of anger is different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Lack of display may not indicate the lack of emotions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Adaptors: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Postural changes - Low level of awareness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A slumped posture - Low spirits, fatigued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Erect posture - High spirits and confidence</a:t>
            </a:r>
          </a:p>
        </p:txBody>
      </p:sp>
    </p:spTree>
    <p:extLst>
      <p:ext uri="{BB962C8B-B14F-4D97-AF65-F5344CB8AC3E}">
        <p14:creationId xmlns:p14="http://schemas.microsoft.com/office/powerpoint/2010/main" val="165726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F50999-F0FB-4F97-9232-90534CD9AEF2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7926C-512C-4C4C-BC67-85A6448BC3ED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B8CC0-D5A8-4706-83AB-A838BA7933F2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397FE-21A4-4C22-A2F7-33D6550C6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D9366E5-C982-426F-8DC9-CD3851FF8394}"/>
              </a:ext>
            </a:extLst>
          </p:cNvPr>
          <p:cNvSpPr/>
          <p:nvPr/>
        </p:nvSpPr>
        <p:spPr>
          <a:xfrm>
            <a:off x="192003" y="148123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B5A932-8F64-4246-B1F1-1DAAD2DA0EEA}"/>
              </a:ext>
            </a:extLst>
          </p:cNvPr>
          <p:cNvSpPr/>
          <p:nvPr/>
        </p:nvSpPr>
        <p:spPr>
          <a:xfrm>
            <a:off x="93391" y="2135050"/>
            <a:ext cx="8831009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Importance of positive body language 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Sitting, legs crossed, and arms resting on the legs – Confidence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Critical evaluation –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Index finger – Covers mouth and thumb supports chin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Positive Body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Assertive Behaviour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Non-verbal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Public Speaking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FDAA04-628F-4C34-B040-D69ED026DB02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247896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DF545E-0193-4F30-94C6-82A5C1D978E6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A0F7F-DA85-4DA9-A1D1-7622E54EE091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4D4DC-8546-4137-8329-BFCB9EAFBB63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D96403-B1AE-473C-9664-E0E552819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7829F4A-6B76-40DF-B98B-A2879D5B17AD}"/>
              </a:ext>
            </a:extLst>
          </p:cNvPr>
          <p:cNvSpPr/>
          <p:nvPr/>
        </p:nvSpPr>
        <p:spPr>
          <a:xfrm>
            <a:off x="156495" y="1889821"/>
            <a:ext cx="8831009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Forms of negative body language    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Avoidance of eye contact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Nervousness, lack of confidence, low self-esteem or dishonesty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Staring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Intenseness and eagerness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Crossed arms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Separateness, discomfort, or defensiveness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FA3C30-881B-47BA-AC93-167C1F7C64CA}"/>
              </a:ext>
            </a:extLst>
          </p:cNvPr>
          <p:cNvSpPr/>
          <p:nvPr/>
        </p:nvSpPr>
        <p:spPr>
          <a:xfrm>
            <a:off x="244800" y="1186088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4A5C2F-37E8-48A2-9080-7682ADB92392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75995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DF545E-0193-4F30-94C6-82A5C1D978E6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A0F7F-DA85-4DA9-A1D1-7622E54EE091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4D4DC-8546-4137-8329-BFCB9EAFBB63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D96403-B1AE-473C-9664-E0E552819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ACDF3F-A1D2-4647-9C2E-81718991A2E7}"/>
              </a:ext>
            </a:extLst>
          </p:cNvPr>
          <p:cNvSpPr/>
          <p:nvPr/>
        </p:nvSpPr>
        <p:spPr>
          <a:xfrm>
            <a:off x="244800" y="1180483"/>
            <a:ext cx="1665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</a:rPr>
              <a:t>KINESICS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68FA92-2D31-4DF4-9465-D90CEEC2C0C5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1E08FE-C7ED-4A47-9D46-4BAC99C97495}"/>
              </a:ext>
            </a:extLst>
          </p:cNvPr>
          <p:cNvSpPr/>
          <p:nvPr/>
        </p:nvSpPr>
        <p:spPr>
          <a:xfrm>
            <a:off x="156495" y="1889821"/>
            <a:ext cx="8831009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Forms of negative body language    </a:t>
            </a:r>
          </a:p>
          <a:p>
            <a:endParaRPr lang="en-GB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Overuse of hands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Nervousness, excitement, or mania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Looking at watch, clock or phone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Boredom, anxiousness, impatience, or future-minded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Poor posture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Someone is not assertive or self-assured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Frowning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Sadness, sympathy, discontent, or anger </a:t>
            </a:r>
          </a:p>
          <a:p>
            <a:r>
              <a:rPr lang="en-GB" sz="1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1782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5871A3-6576-43E2-A3C1-5ACE0C4C5B61}"/>
              </a:ext>
            </a:extLst>
          </p:cNvPr>
          <p:cNvSpPr/>
          <p:nvPr/>
        </p:nvSpPr>
        <p:spPr>
          <a:xfrm>
            <a:off x="7876800" y="244800"/>
            <a:ext cx="1022400" cy="10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C4C69A-D823-47B2-8868-9BD3612058A6}"/>
              </a:ext>
            </a:extLst>
          </p:cNvPr>
          <p:cNvSpPr txBox="1"/>
          <p:nvPr/>
        </p:nvSpPr>
        <p:spPr>
          <a:xfrm>
            <a:off x="-2911581" y="1076507"/>
            <a:ext cx="30441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900" dirty="0"/>
              <a:t>HEADING</a:t>
            </a:r>
            <a:r>
              <a:rPr lang="en-GB" sz="3000" dirty="0"/>
              <a:t> </a:t>
            </a:r>
            <a:r>
              <a:rPr lang="en-GB" sz="4900" dirty="0"/>
              <a:t>1</a:t>
            </a:r>
            <a:r>
              <a:rPr lang="en-GB" dirty="0"/>
              <a:t> </a:t>
            </a:r>
            <a:endParaRPr lang="en-GB" sz="3000" dirty="0"/>
          </a:p>
          <a:p>
            <a:r>
              <a:rPr lang="en-GB" sz="3000" dirty="0">
                <a:solidFill>
                  <a:srgbClr val="000000"/>
                </a:solidFill>
                <a:latin typeface="Calibri" panose="020F0502020204030204" pitchFamily="34" charset="0"/>
              </a:rPr>
              <a:t>HEADING 2</a:t>
            </a:r>
          </a:p>
          <a:p>
            <a:r>
              <a:rPr lang="en-GB" sz="1900" dirty="0">
                <a:solidFill>
                  <a:srgbClr val="000000"/>
                </a:solidFill>
                <a:latin typeface="Calibri" panose="020F0502020204030204" pitchFamily="34" charset="0"/>
              </a:rPr>
              <a:t>HEADING 3</a:t>
            </a:r>
            <a:endParaRPr lang="en-GB" sz="19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B9BC29-565D-4772-92E5-F75736BA25E0}"/>
              </a:ext>
            </a:extLst>
          </p:cNvPr>
          <p:cNvSpPr/>
          <p:nvPr/>
        </p:nvSpPr>
        <p:spPr>
          <a:xfrm>
            <a:off x="244800" y="1062977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GB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79DA03-D671-4A43-9A1C-BCE059E61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00" y="244801"/>
            <a:ext cx="1047600" cy="1047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CD2B35-B51C-467B-88A9-76821A8A8F1B}"/>
              </a:ext>
            </a:extLst>
          </p:cNvPr>
          <p:cNvSpPr/>
          <p:nvPr/>
        </p:nvSpPr>
        <p:spPr>
          <a:xfrm>
            <a:off x="156495" y="1647752"/>
            <a:ext cx="8831009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900" b="1" dirty="0"/>
              <a:t>Summary</a:t>
            </a:r>
            <a:r>
              <a:rPr lang="en-GB" sz="1900" dirty="0"/>
              <a:t>:</a:t>
            </a:r>
          </a:p>
          <a:p>
            <a:endParaRPr lang="en-GB" sz="1900" dirty="0"/>
          </a:p>
          <a:p>
            <a:r>
              <a:rPr lang="en-GB" sz="1900" dirty="0"/>
              <a:t>Positive body language: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/>
              <a:t>Helps </a:t>
            </a:r>
            <a:r>
              <a:rPr lang="en-GB" sz="1900" dirty="0"/>
              <a:t>people to be liked by other people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In an organization or community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Must for people across disciplines and ethnicities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dirty="0"/>
              <a:t>Plays a pivotal role in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Shaping our discussions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900" dirty="0"/>
              <a:t>Relationships with other people in our daily life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9250E0-5CD7-48C8-8DF4-9C53AFB4BA0A}"/>
              </a:ext>
            </a:extLst>
          </p:cNvPr>
          <p:cNvSpPr/>
          <p:nvPr/>
        </p:nvSpPr>
        <p:spPr>
          <a:xfrm>
            <a:off x="219600" y="278336"/>
            <a:ext cx="61358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/>
              <a:t>IMPRESSION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41065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