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 uri="http://customooxmlschemas.google.com/">
      <go:slidesCustomData xmlns:go="http://customooxmlschemas.google.com/" r:id="rId53" roundtripDataSignature="AMtx7mj1L/hc308gojT8WQBxZI8ekHL6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22"/>
        <p:guide pos="2755" orient="horz"/>
        <p:guide pos="776" orient="horz"/>
        <p:guide pos="206"/>
        <p:guide pos="5553"/>
        <p:guide pos="914" orient="horz"/>
        <p:guide pos="2451" orient="horz"/>
        <p:guide pos="871"/>
        <p:guide pos="2880"/>
        <p:guide pos="4909"/>
        <p:guide pos="219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italic.fntdata"/><Relationship Id="rId50" Type="http://schemas.openxmlformats.org/officeDocument/2006/relationships/font" Target="fonts/Roboto-bold.fntdata"/><Relationship Id="rId53" Type="http://customschemas.google.com/relationships/presentationmetadata" Target="metadata"/><Relationship Id="rId52"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Cover Slide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136edf34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136edf341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 name="Shape 10"/>
        <p:cNvGrpSpPr/>
        <p:nvPr/>
      </p:nvGrpSpPr>
      <p:grpSpPr>
        <a:xfrm>
          <a:off x="0" y="0"/>
          <a:ext cx="0" cy="0"/>
          <a:chOff x="0" y="0"/>
          <a:chExt cx="0" cy="0"/>
        </a:xfrm>
      </p:grpSpPr>
      <p:sp>
        <p:nvSpPr>
          <p:cNvPr id="11" name="Google Shape;11;p4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 name="Google Shape;1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0" name="Google Shape;20;p4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1" name="Google Shape;2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4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4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5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5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5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5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5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5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5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5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1.jpg"/><Relationship Id="rId5" Type="http://schemas.openxmlformats.org/officeDocument/2006/relationships/hyperlink" Target="https://forms.gle/sVDuyYxFWqz8mDDw7" TargetMode="External"/><Relationship Id="rId6"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1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1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1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1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1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1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1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1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1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
          <p:cNvPicPr preferRelativeResize="0"/>
          <p:nvPr/>
        </p:nvPicPr>
        <p:blipFill rotWithShape="1">
          <a:blip r:embed="rId3">
            <a:alphaModFix/>
          </a:blip>
          <a:srcRect b="0" l="0" r="0" t="0"/>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136edf34175_0_0"/>
          <p:cNvPicPr preferRelativeResize="0"/>
          <p:nvPr/>
        </p:nvPicPr>
        <p:blipFill rotWithShape="1">
          <a:blip r:embed="rId3">
            <a:alphaModFix/>
          </a:blip>
          <a:srcRect b="51127" l="41241" r="-23988" t="9529"/>
          <a:stretch/>
        </p:blipFill>
        <p:spPr>
          <a:xfrm>
            <a:off x="0" y="4075175"/>
            <a:ext cx="4457700" cy="1065625"/>
          </a:xfrm>
          <a:prstGeom prst="rect">
            <a:avLst/>
          </a:prstGeom>
          <a:noFill/>
          <a:ln>
            <a:noFill/>
          </a:ln>
        </p:spPr>
      </p:pic>
      <p:pic>
        <p:nvPicPr>
          <p:cNvPr id="57" name="Google Shape;57;g136edf34175_0_0"/>
          <p:cNvPicPr preferRelativeResize="0"/>
          <p:nvPr/>
        </p:nvPicPr>
        <p:blipFill rotWithShape="1">
          <a:blip r:embed="rId4">
            <a:alphaModFix/>
          </a:blip>
          <a:srcRect b="0" l="0" r="57233" t="0"/>
          <a:stretch/>
        </p:blipFill>
        <p:spPr>
          <a:xfrm>
            <a:off x="8189675" y="233550"/>
            <a:ext cx="724575" cy="766798"/>
          </a:xfrm>
          <a:prstGeom prst="rect">
            <a:avLst/>
          </a:prstGeom>
          <a:noFill/>
          <a:ln>
            <a:noFill/>
          </a:ln>
        </p:spPr>
      </p:pic>
      <p:sp>
        <p:nvSpPr>
          <p:cNvPr id="58" name="Google Shape;58;g136edf34175_0_0"/>
          <p:cNvSpPr/>
          <p:nvPr/>
        </p:nvSpPr>
        <p:spPr>
          <a:xfrm>
            <a:off x="0" y="233550"/>
            <a:ext cx="75555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136edf34175_0_0"/>
          <p:cNvSpPr txBox="1"/>
          <p:nvPr/>
        </p:nvSpPr>
        <p:spPr>
          <a:xfrm>
            <a:off x="327600" y="233550"/>
            <a:ext cx="70245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lang="en-GB" sz="2400">
                <a:solidFill>
                  <a:schemeClr val="lt1"/>
                </a:solidFill>
                <a:latin typeface="Roboto"/>
                <a:ea typeface="Roboto"/>
                <a:cs typeface="Roboto"/>
                <a:sym typeface="Roboto"/>
              </a:rPr>
              <a:t>TEST TIME ON COMPARING FRACTIONS :</a:t>
            </a:r>
            <a:endParaRPr b="1" i="0" sz="2400" u="none" cap="none" strike="noStrike">
              <a:solidFill>
                <a:schemeClr val="lt1"/>
              </a:solidFill>
              <a:latin typeface="Roboto"/>
              <a:ea typeface="Roboto"/>
              <a:cs typeface="Roboto"/>
              <a:sym typeface="Roboto"/>
            </a:endParaRPr>
          </a:p>
        </p:txBody>
      </p:sp>
      <p:sp>
        <p:nvSpPr>
          <p:cNvPr id="60" name="Google Shape;60;g136edf34175_0_0"/>
          <p:cNvSpPr txBox="1"/>
          <p:nvPr/>
        </p:nvSpPr>
        <p:spPr>
          <a:xfrm>
            <a:off x="879900" y="819663"/>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rPr b="1" lang="en-GB" sz="2400">
                <a:solidFill>
                  <a:srgbClr val="333333"/>
                </a:solidFill>
                <a:highlight>
                  <a:srgbClr val="FFFFFF"/>
                </a:highlight>
              </a:rPr>
              <a:t>URL: </a:t>
            </a:r>
            <a:r>
              <a:rPr b="1" lang="en-GB" sz="2400" u="sng">
                <a:solidFill>
                  <a:schemeClr val="hlink"/>
                </a:solidFill>
                <a:highlight>
                  <a:srgbClr val="FFFFFF"/>
                </a:highlight>
                <a:hlinkClick r:id="rId5"/>
              </a:rPr>
              <a:t>https://forms.gle/sVDuyYxFWqz8mDDw7</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rPr b="1" lang="en-GB" sz="2400">
                <a:solidFill>
                  <a:schemeClr val="dk1"/>
                </a:solidFill>
                <a:highlight>
                  <a:srgbClr val="FFFFFF"/>
                </a:highlight>
              </a:rPr>
              <a:t>QR CODE:</a:t>
            </a:r>
            <a:r>
              <a:rPr b="1" lang="en-GB" sz="2400">
                <a:solidFill>
                  <a:srgbClr val="333333"/>
                </a:solidFill>
                <a:highlight>
                  <a:srgbClr val="FFFFFF"/>
                </a:highlight>
              </a:rPr>
              <a:t> </a:t>
            </a:r>
            <a:endParaRPr sz="2400">
              <a:solidFill>
                <a:srgbClr val="333333"/>
              </a:solidFill>
              <a:highlight>
                <a:srgbClr val="FFFFFF"/>
              </a:highlight>
            </a:endParaRPr>
          </a:p>
          <a:p>
            <a:pPr indent="0" lvl="0" marL="0" marR="0" rtl="0" algn="l">
              <a:lnSpc>
                <a:spcPct val="136363"/>
              </a:lnSpc>
              <a:spcBef>
                <a:spcPts val="1800"/>
              </a:spcBef>
              <a:spcAft>
                <a:spcPts val="1800"/>
              </a:spcAft>
              <a:buClr>
                <a:schemeClr val="dk1"/>
              </a:buClr>
              <a:buSzPts val="11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pic>
        <p:nvPicPr>
          <p:cNvPr id="61" name="Google Shape;61;g136edf34175_0_0"/>
          <p:cNvPicPr preferRelativeResize="0"/>
          <p:nvPr/>
        </p:nvPicPr>
        <p:blipFill>
          <a:blip r:embed="rId6">
            <a:alphaModFix/>
          </a:blip>
          <a:stretch>
            <a:fillRect/>
          </a:stretch>
        </p:blipFill>
        <p:spPr>
          <a:xfrm>
            <a:off x="2818750" y="2866638"/>
            <a:ext cx="2499099" cy="2048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67" name="Google Shape;67;p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68" name="Google Shape;68;p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457200" lvl="0" marL="2286000" marR="0" rtl="0" algn="l">
              <a:lnSpc>
                <a:spcPct val="100000"/>
              </a:lnSpc>
              <a:spcBef>
                <a:spcPts val="800"/>
              </a:spcBef>
              <a:spcAft>
                <a:spcPts val="800"/>
              </a:spcAft>
              <a:buClr>
                <a:srgbClr val="000000"/>
              </a:buClr>
              <a:buSzPts val="3600"/>
              <a:buFont typeface="Arial"/>
              <a:buNone/>
            </a:pPr>
            <a:r>
              <a:rPr b="0" i="0" lang="en-GB" sz="3600" u="none" cap="none" strike="noStrike">
                <a:solidFill>
                  <a:srgbClr val="000000"/>
                </a:solidFill>
                <a:latin typeface="Arial"/>
                <a:ea typeface="Arial"/>
                <a:cs typeface="Arial"/>
                <a:sym typeface="Arial"/>
              </a:rPr>
              <a:t>HCF AND LCM</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74" name="Google Shape;74;p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75" name="Google Shape;75;p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LCM</a:t>
            </a:r>
            <a:endParaRPr b="0" i="0" sz="2000" u="none" cap="none" strike="noStrike">
              <a:solidFill>
                <a:schemeClr val="lt1"/>
              </a:solidFill>
              <a:latin typeface="Roboto"/>
              <a:ea typeface="Roboto"/>
              <a:cs typeface="Roboto"/>
              <a:sym typeface="Roboto"/>
            </a:endParaRPr>
          </a:p>
        </p:txBody>
      </p:sp>
      <p:sp>
        <p:nvSpPr>
          <p:cNvPr id="77" name="Google Shape;77;p3"/>
          <p:cNvSpPr txBox="1"/>
          <p:nvPr/>
        </p:nvSpPr>
        <p:spPr>
          <a:xfrm>
            <a:off x="327600" y="1180125"/>
            <a:ext cx="7384200" cy="31998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333333"/>
                </a:solidFill>
                <a:highlight>
                  <a:srgbClr val="FFFFFF"/>
                </a:highlight>
                <a:latin typeface="Arial"/>
                <a:ea typeface="Arial"/>
                <a:cs typeface="Arial"/>
                <a:sym typeface="Arial"/>
              </a:rPr>
              <a:t>LCM:</a:t>
            </a:r>
            <a:endParaRPr b="1" i="0" sz="14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Least Common Multiple (LCM) of two or more numbers is the smallest number that is a multiple of all the numbers.</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Example:</a:t>
            </a:r>
            <a:r>
              <a:rPr b="0" i="0" lang="en-GB" sz="1400" u="none" cap="none" strike="noStrike">
                <a:solidFill>
                  <a:srgbClr val="000000"/>
                </a:solidFill>
                <a:highlight>
                  <a:srgbClr val="FFFFFF"/>
                </a:highlight>
                <a:latin typeface="Arial"/>
                <a:ea typeface="Arial"/>
                <a:cs typeface="Arial"/>
                <a:sym typeface="Arial"/>
              </a:rPr>
              <a:t> LCM of 3 and 4 = 12 because 12 is the smallest multiple which is common to 3 and 4 (In other words, 12 is the smallest number which is divisible by both 3 and 4)</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1" i="0" lang="en-GB" sz="1400" u="none" cap="none" strike="noStrike">
                <a:solidFill>
                  <a:schemeClr val="dk1"/>
                </a:solidFill>
                <a:highlight>
                  <a:srgbClr val="FFFFFF"/>
                </a:highlight>
                <a:latin typeface="Arial"/>
                <a:ea typeface="Arial"/>
                <a:cs typeface="Arial"/>
                <a:sym typeface="Arial"/>
              </a:rPr>
              <a:t>How to find out LCM using prime factorization method</a:t>
            </a:r>
            <a:endParaRPr b="1"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Arial"/>
                <a:ea typeface="Arial"/>
                <a:cs typeface="Arial"/>
                <a:sym typeface="Arial"/>
              </a:rPr>
              <a:t>We can find LCM using prime factorization method in the following steps</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0" i="0" lang="en-GB" sz="1400" u="none" cap="none" strike="noStrike">
                <a:solidFill>
                  <a:schemeClr val="dk1"/>
                </a:solidFill>
                <a:highlight>
                  <a:srgbClr val="FFFFFF"/>
                </a:highlight>
                <a:latin typeface="Arial"/>
                <a:ea typeface="Arial"/>
                <a:cs typeface="Arial"/>
                <a:sym typeface="Arial"/>
              </a:rPr>
              <a:t>             Step1 : Express each number as a product of prime factors.</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1800"/>
              </a:spcAft>
              <a:buClr>
                <a:srgbClr val="000000"/>
              </a:buClr>
              <a:buSzPts val="1400"/>
              <a:buFont typeface="Arial"/>
              <a:buNone/>
            </a:pPr>
            <a:r>
              <a:rPr b="0" i="0" lang="en-GB" sz="1400" u="none" cap="none" strike="noStrike">
                <a:solidFill>
                  <a:schemeClr val="dk1"/>
                </a:solidFill>
                <a:highlight>
                  <a:srgbClr val="FFFFFF"/>
                </a:highlight>
                <a:latin typeface="Arial"/>
                <a:ea typeface="Arial"/>
                <a:cs typeface="Arial"/>
                <a:sym typeface="Arial"/>
              </a:rPr>
              <a:t>             Step2 : LCM = The product of highest powers of all prime factors</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83" name="Google Shape;83;p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84" name="Google Shape;84;p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LCM</a:t>
            </a:r>
            <a:endParaRPr b="0" i="0" sz="2000" u="none" cap="none" strike="noStrike">
              <a:solidFill>
                <a:schemeClr val="lt1"/>
              </a:solidFill>
              <a:latin typeface="Roboto"/>
              <a:ea typeface="Roboto"/>
              <a:cs typeface="Roboto"/>
              <a:sym typeface="Roboto"/>
            </a:endParaRPr>
          </a:p>
        </p:txBody>
      </p:sp>
      <p:sp>
        <p:nvSpPr>
          <p:cNvPr id="86" name="Google Shape;86;p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Find the LCM of 14, 36, 42</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Step-1:</a:t>
            </a:r>
            <a:r>
              <a:rPr b="0" i="0" lang="en-GB" sz="1400" u="none" cap="none" strike="noStrike">
                <a:solidFill>
                  <a:srgbClr val="000000"/>
                </a:solidFill>
                <a:highlight>
                  <a:srgbClr val="FFFFFF"/>
                </a:highlight>
                <a:latin typeface="Arial"/>
                <a:ea typeface="Arial"/>
                <a:cs typeface="Arial"/>
                <a:sym typeface="Arial"/>
              </a:rPr>
              <a:t> Express each number as a product of prime factors.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14=2*7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36= 2^2*3^2</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42=2*3*7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Common indices are=2,3,7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Hence LCM =2^2*3^2**7</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80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92" name="Google Shape;92;p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93" name="Google Shape;93;p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LCM</a:t>
            </a:r>
            <a:endParaRPr b="0" i="0" sz="2000" u="none" cap="none" strike="noStrike">
              <a:solidFill>
                <a:schemeClr val="lt1"/>
              </a:solidFill>
              <a:latin typeface="Roboto"/>
              <a:ea typeface="Roboto"/>
              <a:cs typeface="Roboto"/>
              <a:sym typeface="Roboto"/>
            </a:endParaRPr>
          </a:p>
        </p:txBody>
      </p:sp>
      <p:sp>
        <p:nvSpPr>
          <p:cNvPr id="95" name="Google Shape;95;p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How to find out LCM using Division Method (shortcut)</a:t>
            </a:r>
            <a:endParaRPr b="1"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1:</a:t>
            </a:r>
            <a:r>
              <a:rPr b="0" i="0" lang="en-GB" sz="1400" u="none" cap="none" strike="noStrike">
                <a:solidFill>
                  <a:srgbClr val="000000"/>
                </a:solidFill>
                <a:highlight>
                  <a:srgbClr val="FFFFFF"/>
                </a:highlight>
                <a:latin typeface="Arial"/>
                <a:ea typeface="Arial"/>
                <a:cs typeface="Arial"/>
                <a:sym typeface="Arial"/>
              </a:rPr>
              <a:t> Write the given numbers in a horizontal line separated by commas.</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2:</a:t>
            </a:r>
            <a:r>
              <a:rPr b="0" i="0" lang="en-GB" sz="1400" u="none" cap="none" strike="noStrike">
                <a:solidFill>
                  <a:srgbClr val="000000"/>
                </a:solidFill>
                <a:highlight>
                  <a:srgbClr val="FFFFFF"/>
                </a:highlight>
                <a:latin typeface="Arial"/>
                <a:ea typeface="Arial"/>
                <a:cs typeface="Arial"/>
                <a:sym typeface="Arial"/>
              </a:rPr>
              <a:t> Divide the given numbers by the smallest prime number which can exactly divide at least two of the given numbers.</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3:</a:t>
            </a:r>
            <a:r>
              <a:rPr b="0" i="0" lang="en-GB" sz="1400" u="none" cap="none" strike="noStrike">
                <a:solidFill>
                  <a:srgbClr val="000000"/>
                </a:solidFill>
                <a:highlight>
                  <a:srgbClr val="FFFFFF"/>
                </a:highlight>
                <a:latin typeface="Arial"/>
                <a:ea typeface="Arial"/>
                <a:cs typeface="Arial"/>
                <a:sym typeface="Arial"/>
              </a:rPr>
              <a:t> Write the quotients and undivided numbers in a line below the first.</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4:</a:t>
            </a:r>
            <a:r>
              <a:rPr b="0" i="0" lang="en-GB" sz="1400" u="none" cap="none" strike="noStrike">
                <a:solidFill>
                  <a:srgbClr val="000000"/>
                </a:solidFill>
                <a:highlight>
                  <a:srgbClr val="FFFFFF"/>
                </a:highlight>
                <a:latin typeface="Arial"/>
                <a:ea typeface="Arial"/>
                <a:cs typeface="Arial"/>
                <a:sym typeface="Arial"/>
              </a:rPr>
              <a:t> Repeat the process until we reach a stage where no prime factor is common to any two numbers in the row.</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5:</a:t>
            </a:r>
            <a:r>
              <a:rPr b="0" i="0" lang="en-GB" sz="1400" u="none" cap="none" strike="noStrike">
                <a:solidFill>
                  <a:srgbClr val="000000"/>
                </a:solidFill>
                <a:highlight>
                  <a:srgbClr val="FFFFFF"/>
                </a:highlight>
                <a:latin typeface="Arial"/>
                <a:ea typeface="Arial"/>
                <a:cs typeface="Arial"/>
                <a:sym typeface="Arial"/>
              </a:rPr>
              <a:t> LCM = The product of all the divisors and the numbers in the last line.</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01" name="Google Shape;101;p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02" name="Google Shape;102;p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HCF </a:t>
            </a:r>
            <a:endParaRPr b="0" i="0" sz="2000" u="none" cap="none" strike="noStrike">
              <a:solidFill>
                <a:schemeClr val="lt1"/>
              </a:solidFill>
              <a:latin typeface="Roboto"/>
              <a:ea typeface="Roboto"/>
              <a:cs typeface="Roboto"/>
              <a:sym typeface="Roboto"/>
            </a:endParaRPr>
          </a:p>
        </p:txBody>
      </p:sp>
      <p:sp>
        <p:nvSpPr>
          <p:cNvPr id="104" name="Google Shape;104;p6"/>
          <p:cNvSpPr txBox="1"/>
          <p:nvPr/>
        </p:nvSpPr>
        <p:spPr>
          <a:xfrm>
            <a:off x="327600" y="930575"/>
            <a:ext cx="77658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4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Highest Common Factor (H.C.F) or Greatest Common Measure(G.C.M) or Greatest Common Divisor (G.C.D) of two or more numbers is the greatest number which divides each of them exactly.</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4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Example:</a:t>
            </a:r>
            <a:r>
              <a:rPr b="0" i="0" lang="en-GB" sz="1400" u="none" cap="none" strike="noStrike">
                <a:solidFill>
                  <a:srgbClr val="000000"/>
                </a:solidFill>
                <a:highlight>
                  <a:srgbClr val="FFFFFF"/>
                </a:highlight>
                <a:latin typeface="Arial"/>
                <a:ea typeface="Arial"/>
                <a:cs typeface="Arial"/>
                <a:sym typeface="Arial"/>
              </a:rPr>
              <a:t> HCF or GCM or GCD of 60 and 75 = 15 because 15 is the highest number which divides both 60 and 75 exactly.</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How to find out HCF using prime factorization method</a:t>
            </a:r>
            <a:endParaRPr b="1" i="0" sz="1400" u="none" cap="none" strike="noStrike">
              <a:solidFill>
                <a:srgbClr val="000000"/>
              </a:solidFill>
              <a:highlight>
                <a:srgbClr val="FFFFFF"/>
              </a:highlight>
              <a:latin typeface="Arial"/>
              <a:ea typeface="Arial"/>
              <a:cs typeface="Arial"/>
              <a:sym typeface="Arial"/>
            </a:endParaRPr>
          </a:p>
          <a:p>
            <a:pPr indent="0" lvl="0" marL="0" marR="0" rtl="0" algn="just">
              <a:lnSpc>
                <a:spcPct val="115000"/>
              </a:lnSpc>
              <a:spcBef>
                <a:spcPts val="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Step-1</a:t>
            </a:r>
            <a:r>
              <a:rPr b="0" i="0" lang="en-GB" sz="1400" u="none" cap="none" strike="noStrike">
                <a:solidFill>
                  <a:srgbClr val="000000"/>
                </a:solidFill>
                <a:highlight>
                  <a:srgbClr val="FFFFFF"/>
                </a:highlight>
                <a:latin typeface="Arial"/>
                <a:ea typeface="Arial"/>
                <a:cs typeface="Arial"/>
                <a:sym typeface="Arial"/>
              </a:rPr>
              <a:t>: Express each number as a product of prime factors. (Reference: Prime Factorization and how to find out Prime Factorization)</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54000"/>
              </a:lnSpc>
              <a:spcBef>
                <a:spcPts val="1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Step-2:</a:t>
            </a:r>
            <a:r>
              <a:rPr b="0" i="0" lang="en-GB" sz="1400" u="none" cap="none" strike="noStrike">
                <a:solidFill>
                  <a:srgbClr val="000000"/>
                </a:solidFill>
                <a:highlight>
                  <a:srgbClr val="FFFFFF"/>
                </a:highlight>
                <a:latin typeface="Arial"/>
                <a:ea typeface="Arial"/>
                <a:cs typeface="Arial"/>
                <a:sym typeface="Arial"/>
              </a:rPr>
              <a:t> HCF is the product of all common prime factors using the least power of each common prime factor.</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1800"/>
              </a:spcBef>
              <a:spcAft>
                <a:spcPts val="0"/>
              </a:spcAft>
              <a:buClr>
                <a:srgbClr val="000000"/>
              </a:buClr>
              <a:buSzPts val="1400"/>
              <a:buFont typeface="Arial"/>
              <a:buNone/>
            </a:pPr>
            <a:r>
              <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10" name="Google Shape;110;p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11" name="Google Shape;111;p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HCF </a:t>
            </a:r>
            <a:endParaRPr b="0" i="0" sz="2000" u="none" cap="none" strike="noStrike">
              <a:solidFill>
                <a:schemeClr val="lt1"/>
              </a:solidFill>
              <a:latin typeface="Roboto"/>
              <a:ea typeface="Roboto"/>
              <a:cs typeface="Roboto"/>
              <a:sym typeface="Roboto"/>
            </a:endParaRPr>
          </a:p>
        </p:txBody>
      </p:sp>
      <p:sp>
        <p:nvSpPr>
          <p:cNvPr id="113" name="Google Shape;113;p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Example 1: Find out HCF of 60 and 75</a:t>
            </a:r>
            <a:r>
              <a:rPr b="0" i="0" lang="en-GB" sz="1400" u="none" cap="none" strike="noStrike">
                <a:solidFill>
                  <a:srgbClr val="000000"/>
                </a:solidFill>
                <a:highlight>
                  <a:srgbClr val="FFFFFF"/>
                </a:highlight>
                <a:latin typeface="Arial"/>
                <a:ea typeface="Arial"/>
                <a:cs typeface="Arial"/>
                <a:sym typeface="Arial"/>
              </a:rPr>
              <a:t> (Prime Factorization and how to find out Prime Factorization)</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Step-1:</a:t>
            </a:r>
            <a:r>
              <a:rPr b="0" i="0" lang="en-GB" sz="1400" u="none" cap="none" strike="noStrike">
                <a:solidFill>
                  <a:srgbClr val="000000"/>
                </a:solidFill>
                <a:highlight>
                  <a:srgbClr val="FFFFFF"/>
                </a:highlight>
                <a:latin typeface="Arial"/>
                <a:ea typeface="Arial"/>
                <a:cs typeface="Arial"/>
                <a:sym typeface="Arial"/>
              </a:rPr>
              <a:t> Express each number as a product of prime factors.</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60=2^3 *3* 5</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75=3 * 5</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Step-2</a:t>
            </a:r>
            <a:r>
              <a:rPr b="0" i="0" lang="en-GB" sz="1400" u="none" cap="none" strike="noStrike">
                <a:solidFill>
                  <a:srgbClr val="000000"/>
                </a:solidFill>
                <a:highlight>
                  <a:srgbClr val="FFFFFF"/>
                </a:highlight>
                <a:latin typeface="Arial"/>
                <a:ea typeface="Arial"/>
                <a:cs typeface="Arial"/>
                <a:sym typeface="Arial"/>
              </a:rPr>
              <a:t>: HCF is the product of all common prime factors using the least power of each common prime factor.</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Here, common prime factors are 3 and 5</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Hcf common factors-3,5</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least power of 3 here = 3</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least power of 5 here = 5    </a:t>
            </a:r>
            <a:r>
              <a:rPr b="1" i="0" lang="en-GB" sz="1400" u="none" cap="none" strike="noStrike">
                <a:solidFill>
                  <a:srgbClr val="000000"/>
                </a:solidFill>
                <a:highlight>
                  <a:srgbClr val="FFFFFF"/>
                </a:highlight>
                <a:latin typeface="Arial"/>
                <a:ea typeface="Arial"/>
                <a:cs typeface="Arial"/>
                <a:sym typeface="Arial"/>
              </a:rPr>
              <a:t>Hence, HCF = 3 × 5 = 15</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1800"/>
              </a:spcBef>
              <a:spcAft>
                <a:spcPts val="0"/>
              </a:spcAft>
              <a:buClr>
                <a:srgbClr val="000000"/>
              </a:buClr>
              <a:buSzPts val="1100"/>
              <a:buFont typeface="Arial"/>
              <a:buNone/>
            </a:pPr>
            <a:r>
              <a:t/>
            </a:r>
            <a:endParaRPr b="0" i="0" sz="1100" u="none" cap="none" strike="noStrike">
              <a:solidFill>
                <a:schemeClr val="dk1"/>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50800" marR="0" rtl="0" algn="l">
              <a:lnSpc>
                <a:spcPct val="115000"/>
              </a:lnSpc>
              <a:spcBef>
                <a:spcPts val="0"/>
              </a:spcBef>
              <a:spcAft>
                <a:spcPts val="0"/>
              </a:spcAft>
              <a:buClr>
                <a:schemeClr val="dk1"/>
              </a:buClr>
              <a:buSzPts val="1100"/>
              <a:buFont typeface="Arial"/>
              <a:buNone/>
            </a:pPr>
            <a:r>
              <a:t/>
            </a:r>
            <a:endParaRPr b="0" i="0" sz="14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19" name="Google Shape;119;p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20" name="Google Shape;120;p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HCF </a:t>
            </a:r>
            <a:endParaRPr b="0" i="0" sz="2000" u="none" cap="none" strike="noStrike">
              <a:solidFill>
                <a:schemeClr val="lt1"/>
              </a:solidFill>
              <a:latin typeface="Roboto"/>
              <a:ea typeface="Roboto"/>
              <a:cs typeface="Roboto"/>
              <a:sym typeface="Roboto"/>
            </a:endParaRPr>
          </a:p>
        </p:txBody>
      </p:sp>
      <p:sp>
        <p:nvSpPr>
          <p:cNvPr id="122" name="Google Shape;122;p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How to find out HCF using prime factorization method - By dividing the numbers (shortcut)</a:t>
            </a:r>
            <a:endParaRPr b="1"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1:</a:t>
            </a:r>
            <a:r>
              <a:rPr b="0" i="0" lang="en-GB" sz="1400" u="none" cap="none" strike="noStrike">
                <a:solidFill>
                  <a:srgbClr val="000000"/>
                </a:solidFill>
                <a:highlight>
                  <a:srgbClr val="FFFFFF"/>
                </a:highlight>
                <a:latin typeface="Arial"/>
                <a:ea typeface="Arial"/>
                <a:cs typeface="Arial"/>
                <a:sym typeface="Arial"/>
              </a:rPr>
              <a:t> Write the given numbers in a horizontal line separated by commas.</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2</a:t>
            </a:r>
            <a:r>
              <a:rPr b="0" i="0" lang="en-GB" sz="1400" u="none" cap="none" strike="noStrike">
                <a:solidFill>
                  <a:srgbClr val="000000"/>
                </a:solidFill>
                <a:highlight>
                  <a:srgbClr val="FFFFFF"/>
                </a:highlight>
                <a:latin typeface="Arial"/>
                <a:ea typeface="Arial"/>
                <a:cs typeface="Arial"/>
                <a:sym typeface="Arial"/>
              </a:rPr>
              <a:t>: Divide the given numbers by the smallest prime number which can exactly divide all of the given numbers.</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3:</a:t>
            </a:r>
            <a:r>
              <a:rPr b="0" i="0" lang="en-GB" sz="1400" u="none" cap="none" strike="noStrike">
                <a:solidFill>
                  <a:srgbClr val="000000"/>
                </a:solidFill>
                <a:highlight>
                  <a:srgbClr val="FFFFFF"/>
                </a:highlight>
                <a:latin typeface="Arial"/>
                <a:ea typeface="Arial"/>
                <a:cs typeface="Arial"/>
                <a:sym typeface="Arial"/>
              </a:rPr>
              <a:t> Write the quotients in a line below the first.</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4:</a:t>
            </a:r>
            <a:r>
              <a:rPr b="0" i="0" lang="en-GB" sz="1400" u="none" cap="none" strike="noStrike">
                <a:solidFill>
                  <a:srgbClr val="000000"/>
                </a:solidFill>
                <a:highlight>
                  <a:srgbClr val="FFFFFF"/>
                </a:highlight>
                <a:latin typeface="Arial"/>
                <a:ea typeface="Arial"/>
                <a:cs typeface="Arial"/>
                <a:sym typeface="Arial"/>
              </a:rPr>
              <a:t> Repeat the process until we reach a stage where no common prime factor exists for all of the numbers.</a:t>
            </a:r>
            <a:endParaRPr b="0" i="0" sz="1400" u="none" cap="none" strike="noStrike">
              <a:solidFill>
                <a:srgbClr val="000000"/>
              </a:solidFill>
              <a:highlight>
                <a:srgbClr val="FFFFFF"/>
              </a:highlight>
              <a:latin typeface="Arial"/>
              <a:ea typeface="Arial"/>
              <a:cs typeface="Arial"/>
              <a:sym typeface="Arial"/>
            </a:endParaRPr>
          </a:p>
          <a:p>
            <a:pPr indent="0" lvl="0" marL="0" marR="0" rtl="0" algn="just">
              <a:lnSpc>
                <a:spcPct val="100000"/>
              </a:lnSpc>
              <a:spcBef>
                <a:spcPts val="1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Step 5:</a:t>
            </a:r>
            <a:r>
              <a:rPr b="0" i="0" lang="en-GB" sz="1400" u="none" cap="none" strike="noStrike">
                <a:solidFill>
                  <a:srgbClr val="000000"/>
                </a:solidFill>
                <a:highlight>
                  <a:srgbClr val="FFFFFF"/>
                </a:highlight>
                <a:latin typeface="Arial"/>
                <a:ea typeface="Arial"/>
                <a:cs typeface="Arial"/>
                <a:sym typeface="Arial"/>
              </a:rPr>
              <a:t>We can see that the factors mentioned in the left side clearly divides all the numbers exactly and they are common prime factors. Their product is the HCF</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180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28" name="Google Shape;128;p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29" name="Google Shape;129;p9"/>
          <p:cNvSpPr/>
          <p:nvPr/>
        </p:nvSpPr>
        <p:spPr>
          <a:xfrm>
            <a:off x="0" y="233550"/>
            <a:ext cx="55773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9"/>
          <p:cNvSpPr txBox="1"/>
          <p:nvPr/>
        </p:nvSpPr>
        <p:spPr>
          <a:xfrm>
            <a:off x="327600" y="233550"/>
            <a:ext cx="5720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How to calculate LCM and HCF for fractions: </a:t>
            </a:r>
            <a:endParaRPr b="0" i="0" sz="2000" u="none" cap="none" strike="noStrike">
              <a:solidFill>
                <a:schemeClr val="lt1"/>
              </a:solidFill>
              <a:latin typeface="Roboto"/>
              <a:ea typeface="Roboto"/>
              <a:cs typeface="Roboto"/>
              <a:sym typeface="Roboto"/>
            </a:endParaRPr>
          </a:p>
        </p:txBody>
      </p:sp>
      <p:sp>
        <p:nvSpPr>
          <p:cNvPr id="131" name="Google Shape;131;p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The product of LCM and HCF of any two given natural numbers is equivalent to the product of the given numbers.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LCM × HCF = Product of the Numbers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Suppose A and B are two numbers, then.</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LCM (A &amp; B) × HCF (A &amp; B) = A × B</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HCF of co-prime numbers is 1. Therefore LCM of given co-prime numbers is equal to the product of the numbers.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LCM of Co-prime Numbers = Product Of The Numbers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Least Common Multiple (L.C.M.)for fractions=LCM of Numerators / HCF of Denominators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Highest Common Multiple (L.C.M.)for fractions=HCF of Numerators / LCM of Denominators</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37" name="Google Shape;137;p1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38" name="Google Shape;138;p1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HCF and LCM</a:t>
            </a:r>
            <a:endParaRPr b="0" i="0" sz="2000" u="none" cap="none" strike="noStrike">
              <a:solidFill>
                <a:schemeClr val="lt1"/>
              </a:solidFill>
              <a:latin typeface="Roboto"/>
              <a:ea typeface="Roboto"/>
              <a:cs typeface="Roboto"/>
              <a:sym typeface="Roboto"/>
            </a:endParaRPr>
          </a:p>
        </p:txBody>
      </p:sp>
      <p:sp>
        <p:nvSpPr>
          <p:cNvPr id="140" name="Google Shape;140;p1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How to calculate LCM and HCF for fractions:</a:t>
            </a:r>
            <a:endParaRPr b="0" i="0" sz="1400" u="none" cap="none" strike="noStrike">
              <a:solidFill>
                <a:srgbClr val="000000"/>
              </a:solidFill>
              <a:highlight>
                <a:srgbClr val="FFFFFF"/>
              </a:highlight>
              <a:latin typeface="Arial"/>
              <a:ea typeface="Arial"/>
              <a:cs typeface="Arial"/>
              <a:sym typeface="Arial"/>
            </a:endParaRPr>
          </a:p>
          <a:p>
            <a:pPr indent="0" lvl="0" marL="0" marR="25400" rtl="0" algn="l">
              <a:lnSpc>
                <a:spcPct val="115000"/>
              </a:lnSpc>
              <a:spcBef>
                <a:spcPts val="1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EXAMPLE 1: Find out LCM of  1/2  3/8 , 3/4</a:t>
            </a:r>
            <a:endParaRPr b="1" i="0" sz="1400" u="none" cap="none" strike="noStrike">
              <a:solidFill>
                <a:srgbClr val="000000"/>
              </a:solidFill>
              <a:highlight>
                <a:srgbClr val="FFFFFF"/>
              </a:highlight>
              <a:latin typeface="Arial"/>
              <a:ea typeface="Arial"/>
              <a:cs typeface="Arial"/>
              <a:sym typeface="Arial"/>
            </a:endParaRPr>
          </a:p>
          <a:p>
            <a:pPr indent="0" lvl="0" marL="0" marR="25400" rtl="0" algn="l">
              <a:lnSpc>
                <a:spcPct val="115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LCM=LCM(1,3,3)/HCF(2,8,4)</a:t>
            </a:r>
            <a:endParaRPr b="0" i="0" sz="1400" u="none" cap="none" strike="noStrike">
              <a:solidFill>
                <a:srgbClr val="000000"/>
              </a:solidFill>
              <a:highlight>
                <a:srgbClr val="FFFFFF"/>
              </a:highlight>
              <a:latin typeface="Arial"/>
              <a:ea typeface="Arial"/>
              <a:cs typeface="Arial"/>
              <a:sym typeface="Arial"/>
            </a:endParaRPr>
          </a:p>
          <a:p>
            <a:pPr indent="0" lvl="0" marL="0" marR="25400" rtl="0" algn="l">
              <a:lnSpc>
                <a:spcPct val="115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=3/2</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18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Example 2:</a:t>
            </a:r>
            <a:r>
              <a:rPr b="0" i="0" lang="en-GB" sz="1400" u="none" cap="none" strike="noStrike">
                <a:solidFill>
                  <a:srgbClr val="000000"/>
                </a:solidFill>
                <a:highlight>
                  <a:srgbClr val="FFFFFF"/>
                </a:highlight>
                <a:latin typeface="Arial"/>
                <a:ea typeface="Arial"/>
                <a:cs typeface="Arial"/>
                <a:sym typeface="Arial"/>
              </a:rPr>
              <a:t> Find out HCF of 3/5, 6/11,9/20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555555"/>
              </a:solidFill>
              <a:highlight>
                <a:srgbClr val="FBFBFB"/>
              </a:highlight>
              <a:latin typeface="Arial"/>
              <a:ea typeface="Arial"/>
              <a:cs typeface="Arial"/>
              <a:sym typeface="Arial"/>
            </a:endParaRPr>
          </a:p>
          <a:p>
            <a:pPr indent="0" lvl="0" marL="0" marR="25400" rtl="0" algn="l">
              <a:lnSpc>
                <a:spcPct val="115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HCF=HCF(3,6,9)/LCM(5,11,20)</a:t>
            </a:r>
            <a:endParaRPr b="0" i="0" sz="1400" u="none" cap="none" strike="noStrike">
              <a:solidFill>
                <a:srgbClr val="000000"/>
              </a:solidFill>
              <a:highlight>
                <a:srgbClr val="FFFFFF"/>
              </a:highlight>
              <a:latin typeface="Arial"/>
              <a:ea typeface="Arial"/>
              <a:cs typeface="Arial"/>
              <a:sym typeface="Arial"/>
            </a:endParaRPr>
          </a:p>
          <a:p>
            <a:pPr indent="0" lvl="0" marL="0" marR="25400" rtl="0" algn="l">
              <a:lnSpc>
                <a:spcPct val="115000"/>
              </a:lnSpc>
              <a:spcBef>
                <a:spcPts val="1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=3/220</a:t>
            </a:r>
            <a:endParaRPr b="0" i="0" sz="1400" u="none" cap="none" strike="noStrike">
              <a:solidFill>
                <a:srgbClr val="000000"/>
              </a:solidFill>
              <a:highlight>
                <a:srgbClr val="FFFFFF"/>
              </a:highlight>
              <a:latin typeface="Arial"/>
              <a:ea typeface="Arial"/>
              <a:cs typeface="Arial"/>
              <a:sym typeface="Arial"/>
            </a:endParaRPr>
          </a:p>
          <a:p>
            <a:pPr indent="0" lvl="0" marL="76200" marR="25400" rtl="0" algn="l">
              <a:lnSpc>
                <a:spcPct val="115000"/>
              </a:lnSpc>
              <a:spcBef>
                <a:spcPts val="1800"/>
              </a:spcBef>
              <a:spcAft>
                <a:spcPts val="0"/>
              </a:spcAft>
              <a:buClr>
                <a:srgbClr val="000000"/>
              </a:buClr>
              <a:buSzPts val="1400"/>
              <a:buFont typeface="Arial"/>
              <a:buNone/>
            </a:pPr>
            <a:r>
              <a:t/>
            </a:r>
            <a:endParaRPr b="0" i="0" sz="1400" u="none" cap="none" strike="noStrike">
              <a:solidFill>
                <a:srgbClr val="555555"/>
              </a:solidFill>
              <a:highlight>
                <a:srgbClr val="FBFBFB"/>
              </a:highlight>
              <a:latin typeface="Arial"/>
              <a:ea typeface="Arial"/>
              <a:cs typeface="Arial"/>
              <a:sym typeface="Arial"/>
            </a:endParaRPr>
          </a:p>
          <a:p>
            <a:pPr indent="0" lvl="0" marL="0" marR="0" rtl="0" algn="l">
              <a:lnSpc>
                <a:spcPct val="100000"/>
              </a:lnSpc>
              <a:spcBef>
                <a:spcPts val="1800"/>
              </a:spcBef>
              <a:spcAft>
                <a:spcPts val="800"/>
              </a:spcAft>
              <a:buClr>
                <a:srgbClr val="000000"/>
              </a:buClr>
              <a:buSzPts val="1400"/>
              <a:buFont typeface="Arial"/>
              <a:buNone/>
            </a:pPr>
            <a:r>
              <a:t/>
            </a:r>
            <a:endParaRPr b="1" i="0" sz="1400" u="none" cap="none" strike="noStrike">
              <a:solidFill>
                <a:srgbClr val="000000"/>
              </a:solidFill>
              <a:highlight>
                <a:srgbClr val="FBFBFB"/>
              </a:highlight>
              <a:latin typeface="Arial"/>
              <a:ea typeface="Arial"/>
              <a:cs typeface="Arial"/>
              <a:sym typeface="Arial"/>
            </a:endParaRPr>
          </a:p>
        </p:txBody>
      </p:sp>
      <p:sp>
        <p:nvSpPr>
          <p:cNvPr id="141" name="Google Shape;141;p10"/>
          <p:cNvSpPr txBox="1"/>
          <p:nvPr/>
        </p:nvSpPr>
        <p:spPr>
          <a:xfrm>
            <a:off x="2085900" y="3290800"/>
            <a:ext cx="8232300" cy="856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47" name="Google Shape;147;p1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48" name="Google Shape;148;p1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1"/>
          <p:cNvSpPr txBox="1"/>
          <p:nvPr/>
        </p:nvSpPr>
        <p:spPr>
          <a:xfrm>
            <a:off x="327600" y="233550"/>
            <a:ext cx="3092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SHORT TRICKS</a:t>
            </a:r>
            <a:endParaRPr b="0" i="0" sz="2000" u="none" cap="none" strike="noStrike">
              <a:solidFill>
                <a:schemeClr val="lt1"/>
              </a:solidFill>
              <a:latin typeface="Roboto"/>
              <a:ea typeface="Roboto"/>
              <a:cs typeface="Roboto"/>
              <a:sym typeface="Roboto"/>
            </a:endParaRPr>
          </a:p>
        </p:txBody>
      </p:sp>
      <p:sp>
        <p:nvSpPr>
          <p:cNvPr id="150" name="Google Shape;150;p1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101600" rtl="0" algn="l">
              <a:lnSpc>
                <a:spcPct val="125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H.C.F of two or more numbers is smaller than or equal to the smallest number of given numbers</a:t>
            </a:r>
            <a:endParaRPr b="0" i="0" sz="1400" u="none" cap="none" strike="noStrike">
              <a:solidFill>
                <a:srgbClr val="000000"/>
              </a:solidFill>
              <a:highlight>
                <a:srgbClr val="FFFFFF"/>
              </a:highlight>
              <a:latin typeface="Arial"/>
              <a:ea typeface="Arial"/>
              <a:cs typeface="Arial"/>
              <a:sym typeface="Arial"/>
            </a:endParaRPr>
          </a:p>
          <a:p>
            <a:pPr indent="-317500" lvl="0" marL="558800" marR="101600" rtl="0" algn="l">
              <a:lnSpc>
                <a:spcPct val="115000"/>
              </a:lnSpc>
              <a:spcBef>
                <a:spcPts val="80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Arial"/>
                <a:ea typeface="Arial"/>
                <a:cs typeface="Arial"/>
                <a:sym typeface="Arial"/>
              </a:rPr>
              <a:t>The smallest number which is exactly divisible by a, b and c is L.C.M of a, b, c.</a:t>
            </a:r>
            <a:endParaRPr b="0" i="0" sz="1400" u="none" cap="none" strike="noStrike">
              <a:solidFill>
                <a:srgbClr val="000000"/>
              </a:solidFill>
              <a:highlight>
                <a:srgbClr val="FFFFFF"/>
              </a:highlight>
              <a:latin typeface="Arial"/>
              <a:ea typeface="Arial"/>
              <a:cs typeface="Arial"/>
              <a:sym typeface="Arial"/>
            </a:endParaRPr>
          </a:p>
          <a:p>
            <a:pPr indent="-317500" lvl="0" marL="558800" marR="101600" rtl="0" algn="l">
              <a:lnSpc>
                <a:spcPct val="115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Arial"/>
                <a:ea typeface="Arial"/>
                <a:cs typeface="Arial"/>
                <a:sym typeface="Arial"/>
              </a:rPr>
              <a:t>The L.C.M of two or more numbers is greater than or equal to the greatest number of given numbers.</a:t>
            </a:r>
            <a:endParaRPr b="0" i="0" sz="1400" u="none" cap="none" strike="noStrike">
              <a:solidFill>
                <a:srgbClr val="000000"/>
              </a:solidFill>
              <a:highlight>
                <a:srgbClr val="FFFFFF"/>
              </a:highlight>
              <a:latin typeface="Arial"/>
              <a:ea typeface="Arial"/>
              <a:cs typeface="Arial"/>
              <a:sym typeface="Arial"/>
            </a:endParaRPr>
          </a:p>
          <a:p>
            <a:pPr indent="-317500" lvl="0" marL="558800" marR="101600" rtl="0" algn="l">
              <a:lnSpc>
                <a:spcPct val="115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Arial"/>
                <a:ea typeface="Arial"/>
                <a:cs typeface="Arial"/>
                <a:sym typeface="Arial"/>
              </a:rPr>
              <a:t>The smallest number which when divided by a, b and c leaves a remainder R in each case. Required number = (L.C.M of a, b, c) + R</a:t>
            </a:r>
            <a:endParaRPr b="0" i="0" sz="1400" u="none" cap="none" strike="noStrike">
              <a:solidFill>
                <a:srgbClr val="000000"/>
              </a:solidFill>
              <a:highlight>
                <a:srgbClr val="FFFFFF"/>
              </a:highlight>
              <a:latin typeface="Arial"/>
              <a:ea typeface="Arial"/>
              <a:cs typeface="Arial"/>
              <a:sym typeface="Arial"/>
            </a:endParaRPr>
          </a:p>
          <a:p>
            <a:pPr indent="-317500" lvl="0" marL="558800" marR="101600" rtl="0" algn="l">
              <a:lnSpc>
                <a:spcPct val="115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Arial"/>
                <a:ea typeface="Arial"/>
                <a:cs typeface="Arial"/>
                <a:sym typeface="Arial"/>
              </a:rPr>
              <a:t>The greatest number which divides a, b and c to leave the remainder R is H.C.F of (a – R), (b – R) and (c – R)</a:t>
            </a:r>
            <a:endParaRPr b="0" i="0" sz="1400" u="none" cap="none" strike="noStrike">
              <a:solidFill>
                <a:srgbClr val="000000"/>
              </a:solidFill>
              <a:highlight>
                <a:srgbClr val="FFFFFF"/>
              </a:highlight>
              <a:latin typeface="Arial"/>
              <a:ea typeface="Arial"/>
              <a:cs typeface="Arial"/>
              <a:sym typeface="Arial"/>
            </a:endParaRPr>
          </a:p>
          <a:p>
            <a:pPr indent="0" lvl="0" marL="0" marR="101600" rtl="0" algn="l">
              <a:lnSpc>
                <a:spcPct val="125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101600" marR="101600" rtl="0" algn="l">
              <a:lnSpc>
                <a:spcPct val="125000"/>
              </a:lnSpc>
              <a:spcBef>
                <a:spcPts val="0"/>
              </a:spcBef>
              <a:spcAft>
                <a:spcPts val="0"/>
              </a:spcAft>
              <a:buClr>
                <a:schemeClr val="dk1"/>
              </a:buClr>
              <a:buSzPts val="1100"/>
              <a:buFont typeface="Arial"/>
              <a:buNone/>
            </a:pPr>
            <a:r>
              <a:t/>
            </a:r>
            <a:endParaRPr b="1" i="0" sz="14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56" name="Google Shape;156;p1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57" name="Google Shape;157;p1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HCF AND LCM</a:t>
            </a:r>
            <a:endParaRPr b="0" i="0" sz="2000" u="none" cap="none" strike="noStrike">
              <a:solidFill>
                <a:schemeClr val="lt1"/>
              </a:solidFill>
              <a:latin typeface="Roboto"/>
              <a:ea typeface="Roboto"/>
              <a:cs typeface="Roboto"/>
              <a:sym typeface="Roboto"/>
            </a:endParaRPr>
          </a:p>
        </p:txBody>
      </p:sp>
      <p:sp>
        <p:nvSpPr>
          <p:cNvPr id="159" name="Google Shape;159;p1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558800" marR="101600" rtl="0" algn="l">
              <a:lnSpc>
                <a:spcPct val="115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Arial"/>
                <a:ea typeface="Arial"/>
                <a:cs typeface="Arial"/>
                <a:sym typeface="Arial"/>
              </a:rPr>
              <a:t>The greatest number which divide x, y, z to leave remainders a, b, c is H.C.F of (x – a), (y – b) and (z – c)</a:t>
            </a:r>
            <a:endParaRPr b="0" i="0" sz="1400" u="none" cap="none" strike="noStrike">
              <a:solidFill>
                <a:schemeClr val="dk1"/>
              </a:solidFill>
              <a:highlight>
                <a:srgbClr val="FFFFFF"/>
              </a:highlight>
              <a:latin typeface="Arial"/>
              <a:ea typeface="Arial"/>
              <a:cs typeface="Arial"/>
              <a:sym typeface="Arial"/>
            </a:endParaRPr>
          </a:p>
          <a:p>
            <a:pPr indent="-317500" lvl="0" marL="558800" marR="101600" rtl="0" algn="l">
              <a:lnSpc>
                <a:spcPct val="115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Arial"/>
                <a:ea typeface="Arial"/>
                <a:cs typeface="Arial"/>
                <a:sym typeface="Arial"/>
              </a:rPr>
              <a:t>The smallest number which when divided by x, y and z leaves remainder of a, b, c (x – a), (y – b), (z – c) are multiples of M</a:t>
            </a:r>
            <a:br>
              <a:rPr b="0" i="0" lang="en-GB" sz="1400" u="none" cap="none" strike="noStrike">
                <a:solidFill>
                  <a:schemeClr val="dk1"/>
                </a:solidFill>
                <a:highlight>
                  <a:srgbClr val="FFFFFF"/>
                </a:highlight>
                <a:latin typeface="Arial"/>
                <a:ea typeface="Arial"/>
                <a:cs typeface="Arial"/>
                <a:sym typeface="Arial"/>
              </a:rPr>
            </a:br>
            <a:r>
              <a:rPr b="0" i="0" lang="en-GB" sz="1400" u="none" cap="none" strike="noStrike">
                <a:solidFill>
                  <a:schemeClr val="dk1"/>
                </a:solidFill>
                <a:highlight>
                  <a:srgbClr val="FFFFFF"/>
                </a:highlight>
                <a:latin typeface="Arial"/>
                <a:ea typeface="Arial"/>
                <a:cs typeface="Arial"/>
                <a:sym typeface="Arial"/>
              </a:rPr>
              <a:t>Required number = (L.C.M of x, y and z) – M</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65" name="Google Shape;165;p1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66" name="Google Shape;166;p1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68" name="Google Shape;168;p1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If the sum of two numbers is 55 and the H.C.F. and L.C.M. of these numbers are 5 and 120 respectively, then the sum of the reciprocals of the numbers is equal to:</a:t>
            </a:r>
            <a:endParaRPr b="0" i="0" sz="1400" u="none" cap="none" strike="noStrike">
              <a:solidFill>
                <a:srgbClr val="333333"/>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11/120</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55/501</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11/60</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12/55</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80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
        <p:nvSpPr>
          <p:cNvPr id="169" name="Google Shape;169;p1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75" name="Google Shape;175;p1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76" name="Google Shape;176;p1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178" name="Google Shape;178;p1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Correct Op: A</a:t>
            </a:r>
            <a:endParaRPr b="0" i="0" sz="14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As we know that LCM * HCF = Product of two Numbers Thus a + b = 55 and ab = 5 x 120 = 600 Thus 1/a + 1/b = (b + a)/(ab) = 55/600 = 11/120</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84" name="Google Shape;184;p1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85" name="Google Shape;185;p1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87" name="Google Shape;187;p1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Find the greatest number which on dividing 1661 and 2045, leaves a remainder of 10 and 13 respectively?</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A. 91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B. 127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C. 137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D. 140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188" name="Google Shape;188;p1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1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94" name="Google Shape;194;p1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95" name="Google Shape;195;p1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197" name="Google Shape;197;p1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80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In this type of question, its obvious we need to calculate the HCF, trick is HCF of (1661 – 10) and (2045 -13) = HCF (1651, 2032) = 127</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1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03" name="Google Shape;203;p1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04" name="Google Shape;204;p1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03</a:t>
            </a:r>
            <a:endParaRPr b="0" i="0" sz="2000" u="none" cap="none" strike="noStrike">
              <a:solidFill>
                <a:schemeClr val="lt1"/>
              </a:solidFill>
              <a:latin typeface="Roboto"/>
              <a:ea typeface="Roboto"/>
              <a:cs typeface="Roboto"/>
              <a:sym typeface="Roboto"/>
            </a:endParaRPr>
          </a:p>
        </p:txBody>
      </p:sp>
      <p:sp>
        <p:nvSpPr>
          <p:cNvPr id="206" name="Google Shape;206;p1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Six bells commence tolling together and toll at the intervals of 2,4,6,8,10,12 seconds respectively. In 60 minutes how many times they will toll together?</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A. 16</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B. 15</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C. 31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80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D. 30</a:t>
            </a:r>
            <a:endParaRPr b="0" i="0" sz="1400" u="none" cap="none" strike="noStrike">
              <a:solidFill>
                <a:srgbClr val="000000"/>
              </a:solidFill>
              <a:latin typeface="Arial"/>
              <a:ea typeface="Arial"/>
              <a:cs typeface="Arial"/>
              <a:sym typeface="Arial"/>
            </a:endParaRPr>
          </a:p>
        </p:txBody>
      </p:sp>
      <p:sp>
        <p:nvSpPr>
          <p:cNvPr id="207" name="Google Shape;207;p1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13" name="Google Shape;213;p1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14" name="Google Shape;214;p1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216" name="Google Shape;216;p1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Correct Op: C</a:t>
            </a:r>
            <a:endParaRPr b="0" i="0" sz="1400" u="none" cap="none" strike="noStrike">
              <a:solidFill>
                <a:srgbClr val="333333"/>
              </a:solidFill>
              <a:highlight>
                <a:srgbClr val="FFFFFF"/>
              </a:highlight>
              <a:latin typeface="Arial"/>
              <a:ea typeface="Arial"/>
              <a:cs typeface="Arial"/>
              <a:sym typeface="Arial"/>
            </a:endParaRPr>
          </a:p>
          <a:p>
            <a:pPr indent="0" lvl="0" marL="457200" marR="0" rtl="0" algn="l">
              <a:lnSpc>
                <a:spcPct val="150000"/>
              </a:lnSpc>
              <a:spcBef>
                <a:spcPts val="800"/>
              </a:spcBef>
              <a:spcAft>
                <a:spcPts val="80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LCM of 2-4-6-8-10-12 is 120 seconds, that is 2 minutes. Now 60/2 = 30 Adding one bell at the starting it will 30+1 = 31</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1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22" name="Google Shape;222;p1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23" name="Google Shape;223;p1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225" name="Google Shape;225;p19"/>
          <p:cNvSpPr txBox="1"/>
          <p:nvPr/>
        </p:nvSpPr>
        <p:spPr>
          <a:xfrm>
            <a:off x="327600" y="10067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There are three numbers, these are co-prime to each other are such that the product of the first two is 551 and that of the last two is 1073. What will be the sum of three numbers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A. 67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B. 85</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C.129</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800"/>
              </a:spcBef>
              <a:spcAft>
                <a:spcPts val="80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D. 87</a:t>
            </a:r>
            <a:endParaRPr b="0" i="0" sz="1400" u="none" cap="none" strike="noStrike">
              <a:solidFill>
                <a:srgbClr val="000000"/>
              </a:solidFill>
              <a:latin typeface="Arial"/>
              <a:ea typeface="Arial"/>
              <a:cs typeface="Arial"/>
              <a:sym typeface="Arial"/>
            </a:endParaRPr>
          </a:p>
        </p:txBody>
      </p:sp>
      <p:sp>
        <p:nvSpPr>
          <p:cNvPr id="226" name="Google Shape;226;p1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32" name="Google Shape;232;p2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33" name="Google Shape;233;p2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235" name="Google Shape;235;p2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Correct Op: C</a:t>
            </a:r>
            <a:endParaRPr b="0" i="0" sz="1400" u="none" cap="none" strike="noStrike">
              <a:solidFill>
                <a:srgbClr val="333333"/>
              </a:solidFill>
              <a:highlight>
                <a:srgbClr val="FFFFFF"/>
              </a:highlight>
              <a:latin typeface="Arial"/>
              <a:ea typeface="Arial"/>
              <a:cs typeface="Arial"/>
              <a:sym typeface="Arial"/>
            </a:endParaRPr>
          </a:p>
          <a:p>
            <a:pPr indent="0" lvl="0" marL="457200" marR="0" rtl="0" algn="l">
              <a:lnSpc>
                <a:spcPct val="150000"/>
              </a:lnSpc>
              <a:spcBef>
                <a:spcPts val="800"/>
              </a:spcBef>
              <a:spcAft>
                <a:spcPts val="800"/>
              </a:spcAft>
              <a:buClr>
                <a:schemeClr val="dk1"/>
              </a:buClr>
              <a:buSzPts val="1100"/>
              <a:buFont typeface="Arial"/>
              <a:buNone/>
            </a:pPr>
            <a:r>
              <a:rPr b="0" i="0" lang="en-GB" sz="1400" u="none" cap="none" strike="noStrike">
                <a:solidFill>
                  <a:srgbClr val="333333"/>
                </a:solidFill>
                <a:highlight>
                  <a:srgbClr val="FFFFFF"/>
                </a:highlight>
                <a:latin typeface="Arial"/>
                <a:ea typeface="Arial"/>
                <a:cs typeface="Arial"/>
                <a:sym typeface="Arial"/>
              </a:rPr>
              <a:t>As given the questions these numbers are co primes, so there is only 1 as their common factor. It is also given that two products have the middle number in common. So, middle number = H.C.F. of 551 and 1073 = 29; So first number is : 551/29 = 19 Third number = 1073/29 = 37 So sum of these numbers is = (19 + 29 + 37) = 85</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41" name="Google Shape;241;p2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42" name="Google Shape;242;p2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244" name="Google Shape;244;p2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The traffic lights at three different road crossings change after every 40 sec, 72 sec and 108 sec respectively. If they all change simultaneously at 5 : 20 : 00 hours, then find the time at which they will change simultaneously.</a:t>
            </a:r>
            <a:endParaRPr b="0" i="0" sz="1400" u="none" cap="none" strike="noStrike">
              <a:solidFill>
                <a:srgbClr val="000000"/>
              </a:solidFill>
              <a:latin typeface="Arial"/>
              <a:ea typeface="Arial"/>
              <a:cs typeface="Arial"/>
              <a:sym typeface="Arial"/>
            </a:endParaRPr>
          </a:p>
          <a:p>
            <a:pPr indent="-317500" lvl="0" marL="457200" marR="0" rtl="0" algn="l">
              <a:lnSpc>
                <a:spcPct val="150000"/>
              </a:lnSpc>
              <a:spcBef>
                <a:spcPts val="80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5 : 28 : 00 hrs</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5 : 30 : 00 hrs</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5 : 38 : 00 hrs</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5 : 40 : 00 hrs</a:t>
            </a:r>
            <a:endParaRPr b="0" i="0" sz="1400" u="none" cap="none" strike="noStrike">
              <a:solidFill>
                <a:srgbClr val="000000"/>
              </a:solidFill>
              <a:highlight>
                <a:srgbClr val="FFFFFF"/>
              </a:highlight>
              <a:latin typeface="Arial"/>
              <a:ea typeface="Arial"/>
              <a:cs typeface="Arial"/>
              <a:sym typeface="Arial"/>
            </a:endParaRPr>
          </a:p>
        </p:txBody>
      </p:sp>
      <p:sp>
        <p:nvSpPr>
          <p:cNvPr id="245" name="Google Shape;245;p2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51" name="Google Shape;251;p2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52" name="Google Shape;252;p2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254" name="Google Shape;254;p2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Correct Option: (b)</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Traffic lights at three different road crossings change after every 40 sec, 72 sec and 108 sec respectively.</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Therefore, find the L.C.M. of 40, 72 and 108.</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 L.C. M. of 40, 72 and 108 = 1080</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 traffic lights will change again after 1080 seconds = 18 min</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 next simultaneous change takes place at 5 : 38 : 00 hrs.</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60" name="Google Shape;260;p2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61" name="Google Shape;261;p2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06</a:t>
            </a:r>
            <a:endParaRPr b="0" i="0" sz="2000" u="none" cap="none" strike="noStrike">
              <a:solidFill>
                <a:schemeClr val="lt1"/>
              </a:solidFill>
              <a:latin typeface="Roboto"/>
              <a:ea typeface="Roboto"/>
              <a:cs typeface="Roboto"/>
              <a:sym typeface="Roboto"/>
            </a:endParaRPr>
          </a:p>
        </p:txBody>
      </p:sp>
      <p:sp>
        <p:nvSpPr>
          <p:cNvPr id="263" name="Google Shape;263;p2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A rectangular courtyard 4.55 meters long and 5.25 meters wide is paved exactly with square tiles of same size. Find the largest size of the tile used for this purpose?</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25 cm</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45 cm</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21 cm</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35 cm</a:t>
            </a:r>
            <a:endParaRPr b="0" i="0" sz="1400" u="none" cap="none" strike="noStrike">
              <a:solidFill>
                <a:srgbClr val="000000"/>
              </a:solidFill>
              <a:latin typeface="Arial"/>
              <a:ea typeface="Arial"/>
              <a:cs typeface="Arial"/>
              <a:sym typeface="Arial"/>
            </a:endParaRPr>
          </a:p>
        </p:txBody>
      </p:sp>
      <p:sp>
        <p:nvSpPr>
          <p:cNvPr id="264" name="Google Shape;264;p2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Answer:D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70" name="Google Shape;270;p2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71" name="Google Shape;271;p2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273" name="Google Shape;273;p2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Correct Option: (d)</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Here, we are asked to find the largest size of tile. Therefore, calculate H.C.F.</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chemeClr val="dk1"/>
                </a:solidFill>
                <a:highlight>
                  <a:srgbClr val="FFFFFF"/>
                </a:highlight>
                <a:latin typeface="Arial"/>
                <a:ea typeface="Arial"/>
                <a:cs typeface="Arial"/>
                <a:sym typeface="Arial"/>
              </a:rPr>
              <a:t>Step 1: </a:t>
            </a:r>
            <a:r>
              <a:rPr b="0" i="0" lang="en-GB" sz="1400" u="none" cap="none" strike="noStrike">
                <a:solidFill>
                  <a:schemeClr val="dk1"/>
                </a:solidFill>
                <a:highlight>
                  <a:srgbClr val="FFFFFF"/>
                </a:highlight>
                <a:latin typeface="Arial"/>
                <a:ea typeface="Arial"/>
                <a:cs typeface="Arial"/>
                <a:sym typeface="Arial"/>
              </a:rPr>
              <a:t>Covert numbers without decimal places i.e 455 cm and 525 cm</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chemeClr val="dk1"/>
                </a:solidFill>
                <a:highlight>
                  <a:srgbClr val="FFFFFF"/>
                </a:highlight>
                <a:latin typeface="Arial"/>
                <a:ea typeface="Arial"/>
                <a:cs typeface="Arial"/>
                <a:sym typeface="Arial"/>
              </a:rPr>
              <a:t>Step 2: </a:t>
            </a:r>
            <a:r>
              <a:rPr b="0" i="0" lang="en-GB" sz="1400" u="none" cap="none" strike="noStrike">
                <a:solidFill>
                  <a:schemeClr val="dk1"/>
                </a:solidFill>
                <a:highlight>
                  <a:srgbClr val="FFFFFF"/>
                </a:highlight>
                <a:latin typeface="Arial"/>
                <a:ea typeface="Arial"/>
                <a:cs typeface="Arial"/>
                <a:sym typeface="Arial"/>
              </a:rPr>
              <a:t>Find the H.C.F. of 455 and 525</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H.C.F. of 455 and 525 = 35 cm</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Hence, the largest size of the tile is 35 cm.</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2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79" name="Google Shape;279;p2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80" name="Google Shape;280;p2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07</a:t>
            </a:r>
            <a:endParaRPr b="0" i="0" sz="2000" u="none" cap="none" strike="noStrike">
              <a:solidFill>
                <a:schemeClr val="lt1"/>
              </a:solidFill>
              <a:latin typeface="Roboto"/>
              <a:ea typeface="Roboto"/>
              <a:cs typeface="Roboto"/>
              <a:sym typeface="Roboto"/>
            </a:endParaRPr>
          </a:p>
        </p:txBody>
      </p:sp>
      <p:sp>
        <p:nvSpPr>
          <p:cNvPr id="282" name="Google Shape;282;p2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John, Smith and Kate start at same time, same point and in same direction to run around a circular ground. John completes a round in 250 seconds, Smith in 300 seconds and Kate in 150 seconds. Find after what time will they meet again at the starting point?</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30 min</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25 min</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20 min</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15 min</a:t>
            </a:r>
            <a:endParaRPr b="0" i="0" sz="1400" u="none" cap="none" strike="noStrike">
              <a:solidFill>
                <a:schemeClr val="dk1"/>
              </a:solidFill>
              <a:highlight>
                <a:srgbClr val="FFFFFF"/>
              </a:highlight>
              <a:latin typeface="Arial"/>
              <a:ea typeface="Arial"/>
              <a:cs typeface="Arial"/>
              <a:sym typeface="Arial"/>
            </a:endParaRPr>
          </a:p>
        </p:txBody>
      </p:sp>
      <p:sp>
        <p:nvSpPr>
          <p:cNvPr id="283" name="Google Shape;283;p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2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89" name="Google Shape;289;p2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90" name="Google Shape;290;p2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292" name="Google Shape;292;p2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Correct Option: (b)</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L.C.M. of 250, 300 and 150 = 1500 sec</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Dividing 1500 by 60 we get 25, which mean 25 minutes.</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John, Smith and Kate meet after 25 minutes.</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2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98" name="Google Shape;298;p2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99" name="Google Shape;299;p2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301" name="Google Shape;301;p2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Arial"/>
                <a:ea typeface="Arial"/>
                <a:cs typeface="Arial"/>
                <a:sym typeface="Arial"/>
              </a:rPr>
              <a:t>Find the least number, which when divided by 12, 15, 20 and 54 leaves a remainder of 8 in each case.</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 548</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 540</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 532</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 524</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50000"/>
              </a:lnSpc>
              <a:spcBef>
                <a:spcPts val="800"/>
              </a:spcBef>
              <a:spcAft>
                <a:spcPts val="800"/>
              </a:spcAft>
              <a:buClr>
                <a:schemeClr val="dk1"/>
              </a:buClr>
              <a:buSzPts val="11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
        <p:nvSpPr>
          <p:cNvPr id="302" name="Google Shape;302;p2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2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08" name="Google Shape;308;p2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09" name="Google Shape;309;p2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311" name="Google Shape;311;p2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Correct Option: (a)</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We are given that, the least number, when divided by 12, 15, 20 and 54 leaves a remainder of 8 in each case.</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Therefore, add remainder 8 to the L.C.M. of divisors.</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 required least number = (L.C.M. of 12, 15, 20 and 54) + remainder (8)</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L.C.M. of 12, 15, 20 and 54</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L.C.M. = 2 × 3 × 2 × 5 × 9 × 1 = 540</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Arial"/>
                <a:ea typeface="Arial"/>
                <a:cs typeface="Arial"/>
                <a:sym typeface="Arial"/>
              </a:rPr>
              <a:t>The required least number = (540) + (8) = 548</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2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17" name="Google Shape;317;p2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18" name="Google Shape;318;p2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320" name="Google Shape;320;p2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highlight>
                  <a:srgbClr val="FFFFFF"/>
                </a:highlight>
                <a:latin typeface="Arial"/>
                <a:ea typeface="Arial"/>
                <a:cs typeface="Arial"/>
                <a:sym typeface="Arial"/>
              </a:rPr>
              <a:t> </a:t>
            </a:r>
            <a:r>
              <a:rPr b="0" i="0" lang="en-GB" sz="1400" u="none" cap="none" strike="noStrike">
                <a:solidFill>
                  <a:schemeClr val="dk1"/>
                </a:solidFill>
                <a:highlight>
                  <a:srgbClr val="FFFFFF"/>
                </a:highlight>
                <a:latin typeface="Arial"/>
                <a:ea typeface="Arial"/>
                <a:cs typeface="Arial"/>
                <a:sym typeface="Arial"/>
              </a:rPr>
              <a:t>Find the largest number of 4-digits divisible by 12, 15 and 18</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9900</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9750</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9450</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GB" sz="1400" u="none" cap="none" strike="noStrike">
                <a:solidFill>
                  <a:schemeClr val="dk1"/>
                </a:solidFill>
                <a:highlight>
                  <a:srgbClr val="FFFFFF"/>
                </a:highlight>
                <a:latin typeface="Arial"/>
                <a:ea typeface="Arial"/>
                <a:cs typeface="Arial"/>
                <a:sym typeface="Arial"/>
              </a:rPr>
              <a:t>9000.</a:t>
            </a:r>
            <a:endParaRPr b="0" i="0" sz="1400" u="none" cap="none" strike="noStrike">
              <a:solidFill>
                <a:schemeClr val="dk1"/>
              </a:solidFill>
              <a:highlight>
                <a:srgbClr val="FFFFFF"/>
              </a:highlight>
              <a:latin typeface="Arial"/>
              <a:ea typeface="Arial"/>
              <a:cs typeface="Arial"/>
              <a:sym typeface="Arial"/>
            </a:endParaRPr>
          </a:p>
        </p:txBody>
      </p:sp>
      <p:sp>
        <p:nvSpPr>
          <p:cNvPr id="321" name="Google Shape;321;p2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27" name="Google Shape;327;p3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28" name="Google Shape;328;p3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330" name="Google Shape;330;p3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45720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Correct Option: (a)</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Largest 4-digit number is 9999.</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Required largest number must be divisible by the L.C.M. of 12, 15 and 18</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L.C.M. of 12, 15 and 18</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12 = 2 × 2 × 3</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15 =5 × 3</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18 = 2 × 3 × 3</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L.C.M. = 180</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Now divide 9999 by 180, we get remainder as 99</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The required largest number = (9999 – 99) =9900</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Number 9900 is exactly divisible by 180.</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36" name="Google Shape;336;p3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37" name="Google Shape;337;p3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339" name="Google Shape;339;p3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If the product and H.C.F. of two numbers are 4107 and 37 respectively, then find the greater number.</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111</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222</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332</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452</a:t>
            </a:r>
            <a:endParaRPr b="0" i="0" sz="1400" u="none" cap="none" strike="noStrike">
              <a:solidFill>
                <a:srgbClr val="000000"/>
              </a:solidFill>
              <a:highlight>
                <a:srgbClr val="FFFFFF"/>
              </a:highlight>
              <a:latin typeface="Arial"/>
              <a:ea typeface="Arial"/>
              <a:cs typeface="Arial"/>
              <a:sym typeface="Arial"/>
            </a:endParaRPr>
          </a:p>
        </p:txBody>
      </p:sp>
      <p:sp>
        <p:nvSpPr>
          <p:cNvPr id="340" name="Google Shape;340;p3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3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46" name="Google Shape;346;p3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47" name="Google Shape;347;p3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349" name="Google Shape;349;p3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400" u="none" cap="none" strike="noStrike">
                <a:solidFill>
                  <a:srgbClr val="000000"/>
                </a:solidFill>
                <a:highlight>
                  <a:srgbClr val="FFFFFF"/>
                </a:highlight>
                <a:latin typeface="Arial"/>
                <a:ea typeface="Arial"/>
                <a:cs typeface="Arial"/>
                <a:sym typeface="Arial"/>
              </a:rPr>
              <a:t>Product of two numbers = Product of their H.C.F. and L.C.M</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Product of two numbers = 4107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 4107 = 37 × L.C.M</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77272"/>
              </a:lnSpc>
              <a:spcBef>
                <a:spcPts val="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LCM=4107/ 37=111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77272"/>
              </a:lnSpc>
              <a:spcBef>
                <a:spcPts val="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The greatest number= 111</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0"/>
              </a:spcBef>
              <a:spcAft>
                <a:spcPts val="800"/>
              </a:spcAft>
              <a:buClr>
                <a:schemeClr val="dk1"/>
              </a:buClr>
              <a:buSzPts val="11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3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55" name="Google Shape;355;p3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56" name="Google Shape;356;p3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358" name="Google Shape;358;p3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Find the greatest possible length which can be used to measure exactly the lengths 4 m 95 cm, 9 m and 16 m 65 cm.</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45 cm</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35 cm</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42 cm</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20 cm</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50000"/>
              </a:lnSpc>
              <a:spcBef>
                <a:spcPts val="80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3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65" name="Google Shape;365;p3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66" name="Google Shape;366;p3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368" name="Google Shape;368;p3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chemeClr val="lt1"/>
                </a:highlight>
                <a:latin typeface="Arial"/>
                <a:ea typeface="Arial"/>
                <a:cs typeface="Arial"/>
                <a:sym typeface="Arial"/>
              </a:rPr>
              <a:t>Required length = H.C.F. of 495 cm, 900 cm and 1665 cm.</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rgbClr val="000000"/>
                </a:solidFill>
                <a:highlight>
                  <a:schemeClr val="lt1"/>
                </a:highlight>
                <a:latin typeface="Arial"/>
                <a:ea typeface="Arial"/>
                <a:cs typeface="Arial"/>
                <a:sym typeface="Arial"/>
              </a:rPr>
              <a:t>495 = 32 x 5 x 11, 900 = 22x 32 x 52, 1665 = 32 x 5 x 37.</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chemeClr val="lt1"/>
                </a:highlight>
                <a:latin typeface="Arial"/>
                <a:ea typeface="Arial"/>
                <a:cs typeface="Arial"/>
                <a:sym typeface="Arial"/>
              </a:rPr>
              <a:t>  H.C.F. = 32 x 5 = 45.</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chemeClr val="lt1"/>
                </a:highlight>
                <a:latin typeface="Arial"/>
                <a:ea typeface="Arial"/>
                <a:cs typeface="Arial"/>
                <a:sym typeface="Arial"/>
              </a:rPr>
              <a:t>Hence, required length = 45 cm.</a:t>
            </a:r>
            <a:endParaRPr b="0" i="0" sz="1400" u="none" cap="none" strike="noStrike">
              <a:solidFill>
                <a:srgbClr val="000000"/>
              </a:solidFill>
              <a:highlight>
                <a:schemeClr val="lt1"/>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3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74" name="Google Shape;374;p3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75" name="Google Shape;375;p3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12</a:t>
            </a:r>
            <a:endParaRPr b="0" i="0" sz="2000" u="none" cap="none" strike="noStrike">
              <a:solidFill>
                <a:schemeClr val="lt1"/>
              </a:solidFill>
              <a:latin typeface="Roboto"/>
              <a:ea typeface="Roboto"/>
              <a:cs typeface="Roboto"/>
              <a:sym typeface="Roboto"/>
            </a:endParaRPr>
          </a:p>
        </p:txBody>
      </p:sp>
      <p:sp>
        <p:nvSpPr>
          <p:cNvPr id="377" name="Google Shape;377;p3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Find the largest number which divides 62, 132 and 237 to leave the same remainder in each       case.</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80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35</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40</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20</a:t>
            </a:r>
            <a:endParaRPr b="0" i="0" sz="1400" u="none" cap="none" strike="noStrike">
              <a:solidFill>
                <a:srgbClr val="000000"/>
              </a:solidFill>
              <a:highlight>
                <a:srgbClr val="FFFFFF"/>
              </a:highlight>
              <a:latin typeface="Arial"/>
              <a:ea typeface="Arial"/>
              <a:cs typeface="Arial"/>
              <a:sym typeface="Arial"/>
            </a:endParaRPr>
          </a:p>
          <a:p>
            <a:pPr indent="-317500" lvl="0" marL="457200" marR="0" rtl="0" algn="l">
              <a:lnSpc>
                <a:spcPct val="150000"/>
              </a:lnSpc>
              <a:spcBef>
                <a:spcPts val="0"/>
              </a:spcBef>
              <a:spcAft>
                <a:spcPts val="0"/>
              </a:spcAft>
              <a:buClr>
                <a:srgbClr val="000000"/>
              </a:buClr>
              <a:buSzPts val="1400"/>
              <a:buFont typeface="Arial"/>
              <a:buAutoNum type="alphaUcPeriod"/>
            </a:pPr>
            <a:r>
              <a:rPr b="0" i="0" lang="en-GB" sz="1400" u="none" cap="none" strike="noStrike">
                <a:solidFill>
                  <a:srgbClr val="000000"/>
                </a:solidFill>
                <a:highlight>
                  <a:srgbClr val="FFFFFF"/>
                </a:highlight>
                <a:latin typeface="Arial"/>
                <a:ea typeface="Arial"/>
                <a:cs typeface="Arial"/>
                <a:sym typeface="Arial"/>
              </a:rPr>
              <a:t>30</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50000"/>
              </a:lnSpc>
              <a:spcBef>
                <a:spcPts val="800"/>
              </a:spcBef>
              <a:spcAft>
                <a:spcPts val="80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3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84" name="Google Shape;384;p3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85" name="Google Shape;385;p3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387" name="Google Shape;387;p3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45720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Required number =  H.C.F. of (132 – 62), (237 – 132) and (237 – 62)</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                                  	=  H.C.F. of 70, 105 and 175 = 35.</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00000"/>
              </a:lnSpc>
              <a:spcBef>
                <a:spcPts val="80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93" name="Google Shape;393;p3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94" name="Google Shape;394;p3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13</a:t>
            </a:r>
            <a:endParaRPr b="0" i="0" sz="2000" u="none" cap="none" strike="noStrike">
              <a:solidFill>
                <a:schemeClr val="lt1"/>
              </a:solidFill>
              <a:latin typeface="Roboto"/>
              <a:ea typeface="Roboto"/>
              <a:cs typeface="Roboto"/>
              <a:sym typeface="Roboto"/>
            </a:endParaRPr>
          </a:p>
        </p:txBody>
      </p:sp>
      <p:sp>
        <p:nvSpPr>
          <p:cNvPr id="396" name="Google Shape;396;p3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A heap of coconuts is divided into groups of 2, 3 and 5 and each time one coconut is left over. The least number of Coconuts in the heap is?</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A.</a:t>
            </a:r>
            <a:r>
              <a:rPr b="0" i="0" lang="en-GB" sz="1400" u="none" cap="none" strike="noStrike">
                <a:solidFill>
                  <a:srgbClr val="000000"/>
                </a:solidFill>
                <a:highlight>
                  <a:srgbClr val="FFFFFF"/>
                </a:highlight>
                <a:latin typeface="Arial"/>
                <a:ea typeface="Arial"/>
                <a:cs typeface="Arial"/>
                <a:sym typeface="Arial"/>
              </a:rPr>
              <a:t> 31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B.</a:t>
            </a:r>
            <a:r>
              <a:rPr b="0" i="0" lang="en-GB" sz="1400" u="none" cap="none" strike="noStrike">
                <a:solidFill>
                  <a:srgbClr val="000000"/>
                </a:solidFill>
                <a:highlight>
                  <a:srgbClr val="FFFFFF"/>
                </a:highlight>
                <a:latin typeface="Arial"/>
                <a:ea typeface="Arial"/>
                <a:cs typeface="Arial"/>
                <a:sym typeface="Arial"/>
              </a:rPr>
              <a:t> 41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C.</a:t>
            </a:r>
            <a:r>
              <a:rPr b="0" i="0" lang="en-GB" sz="1400" u="none" cap="none" strike="noStrike">
                <a:solidFill>
                  <a:srgbClr val="000000"/>
                </a:solidFill>
                <a:highlight>
                  <a:srgbClr val="FFFFFF"/>
                </a:highlight>
                <a:latin typeface="Arial"/>
                <a:ea typeface="Arial"/>
                <a:cs typeface="Arial"/>
                <a:sym typeface="Arial"/>
              </a:rPr>
              <a:t> 51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D.</a:t>
            </a:r>
            <a:r>
              <a:rPr b="0" i="0" lang="en-GB" sz="1400" u="none" cap="none" strike="noStrike">
                <a:solidFill>
                  <a:srgbClr val="000000"/>
                </a:solidFill>
                <a:highlight>
                  <a:srgbClr val="FFFFFF"/>
                </a:highlight>
                <a:latin typeface="Arial"/>
                <a:ea typeface="Arial"/>
                <a:cs typeface="Arial"/>
                <a:sym typeface="Arial"/>
              </a:rPr>
              <a:t> 61</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50000"/>
              </a:lnSpc>
              <a:spcBef>
                <a:spcPts val="11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397" name="Google Shape;397;p37"/>
          <p:cNvSpPr txBox="1"/>
          <p:nvPr/>
        </p:nvSpPr>
        <p:spPr>
          <a:xfrm>
            <a:off x="7250475" y="43237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3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403" name="Google Shape;403;p3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404" name="Google Shape;404;p3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406" name="Google Shape;406;p3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000000"/>
                </a:solidFill>
                <a:latin typeface="Arial"/>
                <a:ea typeface="Arial"/>
                <a:cs typeface="Arial"/>
                <a:sym typeface="Arial"/>
              </a:rPr>
              <a:t>Explanation:</a:t>
            </a:r>
            <a:endParaRPr b="0" i="0" sz="1400" u="none" cap="none" strike="noStrike">
              <a:solidFill>
                <a:srgbClr val="000000"/>
              </a:solidFill>
              <a:latin typeface="Arial"/>
              <a:ea typeface="Arial"/>
              <a:cs typeface="Arial"/>
              <a:sym typeface="Arial"/>
            </a:endParaRPr>
          </a:p>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000000"/>
                </a:solidFill>
                <a:latin typeface="Arial"/>
                <a:ea typeface="Arial"/>
                <a:cs typeface="Arial"/>
                <a:sym typeface="Arial"/>
              </a:rPr>
              <a:t>LCM = 30 =&gt; 30 + 1 = 31</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3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412" name="Google Shape;412;p3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413" name="Google Shape;413;p3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14</a:t>
            </a:r>
            <a:endParaRPr b="0" i="0" sz="2000" u="none" cap="none" strike="noStrike">
              <a:solidFill>
                <a:schemeClr val="lt1"/>
              </a:solidFill>
              <a:latin typeface="Roboto"/>
              <a:ea typeface="Roboto"/>
              <a:cs typeface="Roboto"/>
              <a:sym typeface="Roboto"/>
            </a:endParaRPr>
          </a:p>
        </p:txBody>
      </p:sp>
      <p:sp>
        <p:nvSpPr>
          <p:cNvPr id="415" name="Google Shape;415;p3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A man was employed on the promise that he will be paid the highest wages per day. The contract money to be paid was Rs. 1189. Finally he was paid only Rs. 1073. For how many days did he actually work?</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A.</a:t>
            </a:r>
            <a:r>
              <a:rPr b="0" i="0" lang="en-GB" sz="1400" u="none" cap="none" strike="noStrike">
                <a:solidFill>
                  <a:srgbClr val="000000"/>
                </a:solidFill>
                <a:highlight>
                  <a:srgbClr val="FFFFFF"/>
                </a:highlight>
                <a:latin typeface="Arial"/>
                <a:ea typeface="Arial"/>
                <a:cs typeface="Arial"/>
                <a:sym typeface="Arial"/>
              </a:rPr>
              <a:t> 39</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B.</a:t>
            </a:r>
            <a:r>
              <a:rPr b="0" i="0" lang="en-GB" sz="1400" u="none" cap="none" strike="noStrike">
                <a:solidFill>
                  <a:srgbClr val="000000"/>
                </a:solidFill>
                <a:highlight>
                  <a:srgbClr val="FFFFFF"/>
                </a:highlight>
                <a:latin typeface="Arial"/>
                <a:ea typeface="Arial"/>
                <a:cs typeface="Arial"/>
                <a:sym typeface="Arial"/>
              </a:rPr>
              <a:t> 40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C.</a:t>
            </a:r>
            <a:r>
              <a:rPr b="0" i="0" lang="en-GB" sz="1400" u="none" cap="none" strike="noStrike">
                <a:solidFill>
                  <a:srgbClr val="000000"/>
                </a:solidFill>
                <a:highlight>
                  <a:srgbClr val="FFFFFF"/>
                </a:highlight>
                <a:latin typeface="Arial"/>
                <a:ea typeface="Arial"/>
                <a:cs typeface="Arial"/>
                <a:sym typeface="Arial"/>
              </a:rPr>
              <a:t> 37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D.</a:t>
            </a:r>
            <a:r>
              <a:rPr b="0" i="0" lang="en-GB" sz="1400" u="none" cap="none" strike="noStrike">
                <a:solidFill>
                  <a:srgbClr val="000000"/>
                </a:solidFill>
                <a:highlight>
                  <a:srgbClr val="FFFFFF"/>
                </a:highlight>
                <a:latin typeface="Arial"/>
                <a:ea typeface="Arial"/>
                <a:cs typeface="Arial"/>
                <a:sym typeface="Arial"/>
              </a:rPr>
              <a:t> 35</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50000"/>
              </a:lnSpc>
              <a:spcBef>
                <a:spcPts val="11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416" name="Google Shape;416;p3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422" name="Google Shape;422;p4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423" name="Google Shape;423;p4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425" name="Google Shape;425;p4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Explanation:</a:t>
            </a:r>
            <a:endParaRPr b="0" i="0" sz="1400" u="none" cap="none" strike="noStrike">
              <a:solidFill>
                <a:srgbClr val="333333"/>
              </a:solidFill>
              <a:latin typeface="Arial"/>
              <a:ea typeface="Arial"/>
              <a:cs typeface="Arial"/>
              <a:sym typeface="Arial"/>
            </a:endParaRPr>
          </a:p>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HCF of 1189, 1073 = 29</a:t>
            </a:r>
            <a:endParaRPr b="0" i="0" sz="1400" u="none" cap="none" strike="noStrike">
              <a:solidFill>
                <a:srgbClr val="333333"/>
              </a:solidFill>
              <a:latin typeface="Arial"/>
              <a:ea typeface="Arial"/>
              <a:cs typeface="Arial"/>
              <a:sym typeface="Arial"/>
            </a:endParaRPr>
          </a:p>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1073/29 = 37</a:t>
            </a:r>
            <a:endParaRPr b="0" i="0" sz="1400" u="none" cap="none" strike="noStrike">
              <a:solidFill>
                <a:srgbClr val="333333"/>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4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431" name="Google Shape;431;p4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432" name="Google Shape;432;p4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15</a:t>
            </a:r>
            <a:endParaRPr b="0" i="0" sz="2000" u="none" cap="none" strike="noStrike">
              <a:solidFill>
                <a:schemeClr val="lt1"/>
              </a:solidFill>
              <a:latin typeface="Roboto"/>
              <a:ea typeface="Roboto"/>
              <a:cs typeface="Roboto"/>
              <a:sym typeface="Roboto"/>
            </a:endParaRPr>
          </a:p>
        </p:txBody>
      </p:sp>
      <p:sp>
        <p:nvSpPr>
          <p:cNvPr id="434" name="Google Shape;434;p4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A merchant has three different types of milk: 435 liters, 493 liters and 551 liters. Find the least number of casks of equal size required to store all the milk without mixing.</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A.</a:t>
            </a:r>
            <a:r>
              <a:rPr b="0" i="0" lang="en-GB" sz="1400" u="none" cap="none" strike="noStrike">
                <a:solidFill>
                  <a:srgbClr val="000000"/>
                </a:solidFill>
                <a:highlight>
                  <a:srgbClr val="FFFFFF"/>
                </a:highlight>
                <a:latin typeface="Arial"/>
                <a:ea typeface="Arial"/>
                <a:cs typeface="Arial"/>
                <a:sym typeface="Arial"/>
              </a:rPr>
              <a:t> 51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B.</a:t>
            </a:r>
            <a:r>
              <a:rPr b="0" i="0" lang="en-GB" sz="1400" u="none" cap="none" strike="noStrike">
                <a:solidFill>
                  <a:srgbClr val="000000"/>
                </a:solidFill>
                <a:highlight>
                  <a:srgbClr val="FFFFFF"/>
                </a:highlight>
                <a:latin typeface="Arial"/>
                <a:ea typeface="Arial"/>
                <a:cs typeface="Arial"/>
                <a:sym typeface="Arial"/>
              </a:rPr>
              <a:t> 61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C.</a:t>
            </a:r>
            <a:r>
              <a:rPr b="0" i="0" lang="en-GB" sz="1400" u="none" cap="none" strike="noStrike">
                <a:solidFill>
                  <a:srgbClr val="000000"/>
                </a:solidFill>
                <a:highlight>
                  <a:srgbClr val="FFFFFF"/>
                </a:highlight>
                <a:latin typeface="Arial"/>
                <a:ea typeface="Arial"/>
                <a:cs typeface="Arial"/>
                <a:sym typeface="Arial"/>
              </a:rPr>
              <a:t> 47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1100"/>
              </a:spcBef>
              <a:spcAft>
                <a:spcPts val="0"/>
              </a:spcAft>
              <a:buClr>
                <a:srgbClr val="000000"/>
              </a:buClr>
              <a:buSzPts val="1400"/>
              <a:buFont typeface="Arial"/>
              <a:buNone/>
            </a:pPr>
            <a:r>
              <a:rPr b="1" i="0" lang="en-GB" sz="1400" u="none" cap="none" strike="noStrike">
                <a:solidFill>
                  <a:srgbClr val="000000"/>
                </a:solidFill>
                <a:highlight>
                  <a:srgbClr val="FFFFFF"/>
                </a:highlight>
                <a:latin typeface="Arial"/>
                <a:ea typeface="Arial"/>
                <a:cs typeface="Arial"/>
                <a:sym typeface="Arial"/>
              </a:rPr>
              <a:t>D.</a:t>
            </a:r>
            <a:r>
              <a:rPr b="0" i="0" lang="en-GB" sz="1400" u="none" cap="none" strike="noStrike">
                <a:solidFill>
                  <a:srgbClr val="000000"/>
                </a:solidFill>
                <a:highlight>
                  <a:srgbClr val="FFFFFF"/>
                </a:highlight>
                <a:latin typeface="Arial"/>
                <a:ea typeface="Arial"/>
                <a:cs typeface="Arial"/>
                <a:sym typeface="Arial"/>
              </a:rPr>
              <a:t> 45</a:t>
            </a:r>
            <a:endParaRPr b="0" i="0" sz="1400" u="none" cap="none" strike="noStrike">
              <a:solidFill>
                <a:srgbClr val="000000"/>
              </a:solidFill>
              <a:highlight>
                <a:srgbClr val="FFFFFF"/>
              </a:highlight>
              <a:latin typeface="Arial"/>
              <a:ea typeface="Arial"/>
              <a:cs typeface="Arial"/>
              <a:sym typeface="Arial"/>
            </a:endParaRPr>
          </a:p>
          <a:p>
            <a:pPr indent="0" lvl="0" marL="457200" marR="0" rtl="0" algn="l">
              <a:lnSpc>
                <a:spcPct val="150000"/>
              </a:lnSpc>
              <a:spcBef>
                <a:spcPts val="11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435" name="Google Shape;435;p4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4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441" name="Google Shape;441;p4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442" name="Google Shape;442;p4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a:t>
            </a:r>
            <a:endParaRPr b="0" i="0" sz="2000" u="none" cap="none" strike="noStrike">
              <a:solidFill>
                <a:schemeClr val="lt1"/>
              </a:solidFill>
              <a:latin typeface="Roboto"/>
              <a:ea typeface="Roboto"/>
              <a:cs typeface="Roboto"/>
              <a:sym typeface="Roboto"/>
            </a:endParaRPr>
          </a:p>
        </p:txBody>
      </p:sp>
      <p:sp>
        <p:nvSpPr>
          <p:cNvPr id="444" name="Google Shape;444;p4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Explanation:</a:t>
            </a:r>
            <a:endParaRPr b="0" i="0" sz="1400" u="none" cap="none" strike="noStrike">
              <a:solidFill>
                <a:srgbClr val="333333"/>
              </a:solidFill>
              <a:latin typeface="Arial"/>
              <a:ea typeface="Arial"/>
              <a:cs typeface="Arial"/>
              <a:sym typeface="Arial"/>
            </a:endParaRPr>
          </a:p>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HCF of 435, 493, 551 = 29</a:t>
            </a:r>
            <a:endParaRPr b="0" i="0" sz="1400" u="none" cap="none" strike="noStrike">
              <a:solidFill>
                <a:srgbClr val="333333"/>
              </a:solidFill>
              <a:latin typeface="Arial"/>
              <a:ea typeface="Arial"/>
              <a:cs typeface="Arial"/>
              <a:sym typeface="Arial"/>
            </a:endParaRPr>
          </a:p>
          <a:p>
            <a:pPr indent="0" lvl="0" marL="101600" marR="101600" rtl="0" algn="l">
              <a:lnSpc>
                <a:spcPct val="163636"/>
              </a:lnSpc>
              <a:spcBef>
                <a:spcPts val="0"/>
              </a:spcBef>
              <a:spcAft>
                <a:spcPts val="0"/>
              </a:spcAft>
              <a:buClr>
                <a:schemeClr val="dk1"/>
              </a:buClr>
              <a:buSzPts val="1100"/>
              <a:buFont typeface="Arial"/>
              <a:buNone/>
            </a:pPr>
            <a:r>
              <a:rPr b="0" i="0" lang="en-GB" sz="1400" u="none" cap="none" strike="noStrike">
                <a:solidFill>
                  <a:srgbClr val="333333"/>
                </a:solidFill>
                <a:latin typeface="Arial"/>
                <a:ea typeface="Arial"/>
                <a:cs typeface="Arial"/>
                <a:sym typeface="Arial"/>
              </a:rPr>
              <a:t>(453/29) + (493/29) + (551/29) = 51</a:t>
            </a:r>
            <a:endParaRPr b="0" i="0" sz="1400" u="none" cap="none" strike="noStrike">
              <a:solidFill>
                <a:srgbClr val="333333"/>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