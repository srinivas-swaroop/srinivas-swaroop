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Roboto" panose="020B060402020202020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pos="2222">
          <p15:clr>
            <a:srgbClr val="A4A3A4"/>
          </p15:clr>
        </p15:guide>
        <p15:guide id="2" orient="horz" pos="2755">
          <p15:clr>
            <a:srgbClr val="A4A3A4"/>
          </p15:clr>
        </p15:guide>
        <p15:guide id="3" orient="horz" pos="776">
          <p15:clr>
            <a:srgbClr val="A4A3A4"/>
          </p15:clr>
        </p15:guide>
        <p15:guide id="4" pos="206">
          <p15:clr>
            <a:srgbClr val="A4A3A4"/>
          </p15:clr>
        </p15:guide>
        <p15:guide id="5" pos="5553">
          <p15:clr>
            <a:srgbClr val="A4A3A4"/>
          </p15:clr>
        </p15:guide>
        <p15:guide id="6" orient="horz" pos="914">
          <p15:clr>
            <a:srgbClr val="A4A3A4"/>
          </p15:clr>
        </p15:guide>
        <p15:guide id="7" orient="horz" pos="2451">
          <p15:clr>
            <a:srgbClr val="A4A3A4"/>
          </p15:clr>
        </p15:guide>
        <p15:guide id="8" pos="871">
          <p15:clr>
            <a:srgbClr val="A4A3A4"/>
          </p15:clr>
        </p15:guide>
        <p15:guide id="9" pos="2880">
          <p15:clr>
            <a:srgbClr val="A4A3A4"/>
          </p15:clr>
        </p15:guide>
        <p15:guide id="10" pos="4909">
          <p15:clr>
            <a:srgbClr val="A4A3A4"/>
          </p15:clr>
        </p15:guide>
        <p15:guide id="11" orient="horz" pos="21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04" autoAdjust="0"/>
  </p:normalViewPr>
  <p:slideViewPr>
    <p:cSldViewPr snapToGrid="0">
      <p:cViewPr varScale="1">
        <p:scale>
          <a:sx n="107" d="100"/>
          <a:sy n="107" d="100"/>
        </p:scale>
        <p:origin x="754" y="77"/>
      </p:cViewPr>
      <p:guideLst>
        <p:guide pos="2222"/>
        <p:guide orient="horz" pos="2755"/>
        <p:guide orient="horz" pos="776"/>
        <p:guide pos="206"/>
        <p:guide pos="5553"/>
        <p:guide orient="horz" pos="914"/>
        <p:guide orient="horz" pos="2451"/>
        <p:guide pos="871"/>
        <p:guide pos="2880"/>
        <p:guide pos="4909"/>
        <p:guide orient="horz" pos="21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8T11:48:22.249"/>
    </inkml:context>
    <inkml:brush xml:id="br0">
      <inkml:brushProperty name="width" value="0.05" units="cm"/>
      <inkml:brushProperty name="height" value="0.05" units="cm"/>
      <inkml:brushProperty name="color" value="#333333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28T11:48:38.572"/>
    </inkml:context>
    <inkml:brush xml:id="br0">
      <inkml:brushProperty name="width" value="0.05" units="cm"/>
      <inkml:brushProperty name="height" value="0.05" units="cm"/>
      <inkml:brushProperty name="color" value="#333333"/>
      <inkml:brushProperty name="ignorePressure" value="1"/>
    </inkml:brush>
  </inkml:definitions>
  <inkml:trace contextRef="#ctx0" brushRef="#br0">2898 120,'-21'25,"-91"190,-41 120,130-288,2 1,2 1,2 1,3 1,1 0,3 1,2 0,3 0,2 1,2 0,2 3,-1-54,0 0,0 0,1-1,-1 1,1 0,-1 0,1-1,-1 1,1 0,0 0,0-1,0 1,0-1,0 1,0-1,0 1,0-1,1 0,-1 0,0 1,1-1,-1 0,1 0,0 0,-1-1,1 1,0 0,-1-1,1 1,0-1,0 1,0-1,-1 0,1 0,0 0,0 0,0 0,0 0,-1 0,1-1,0 1,0-1,0 1,-1-1,2 0,74-45,-65 31,0-1,0-1,-2 0,0 0,-1-1,-1 0,0 0,-2-1,0 0,-1 0,-1-1,-1 1,0-1,-2 0,0 0,-1 0,-1 0,-1 1,-1-1,3 19,0 0,0-1,0 1,0 0,0 0,0 0,0 0,0-1,-1 1,1 0,0 0,-1 0,1 0,-1 0,1 0,-1 0,0 0,1 0,-1 0,0 0,0 0,0 1,1-1,-1 0,0 0,0 1,0-1,0 1,0-1,0 1,0-1,-1 1,1 0,0-1,0 1,0 0,0 0,0 0,-1 0,1 0,0 0,0 0,0 0,0 1,-1-1,1 0,0 1,0-1,0 1,0-1,0 1,0-1,0 1,0 0,0-1,0 1,1 0,-1 0,-12 7</inkml:trace>
  <inkml:trace contextRef="#ctx0" brushRef="#br0" timeOffset="881.271">3117 258,'0'510,"0"-500,0 0,1 0,1 0,0 0,0-1,1 1,0-1,0 0,1 1,1-2,-1 1,2 0,-1-1,1 0,0 0,0-1,1 1,0-2,1 1,0-1,0 0,0 0,0-1,1 0,0-1,0 0,0 0,0-1,1 0,-1-1,1 0,0 0,0-1,1 0,-3 0,0-1,-1 0,1-1,0 1,-1-1,1-1,0 1,-1-1,1-1,-1 0,0 0,0 0,0 0,0-1,-1-1,1 1,-1-1,0 0,-1 0,1-1,-1 1,0-1,0-1,-1 1,0-1,0 1,0-1,-1 0,0 0,0-1,-1 1,1-7,7-27,-1 0,-3-1,-1 0,-2 0,-2 0,-1 0,-3 0,-6-35,5 48,0 1,-2 0,-1 0,-2 1,0-1,-10-17,15 35,-1 1,0 0,-1 0,1 1,-2-1,1 1,-1 1,0-1,-1 1,0 0,0 1,0 0,-1 0,1 1,-2 0,1 1,0 0,-1 0,0 1,-3-1,8 3,1 1,-1 0,1 0,0 0,-1 0,1 1,-1 0,1 0,0 0,0 0,-1 1,1 0,0-1,0 2,1-1,-1 0,0 1,1-1,-1 1,1 0,0 0,0 1,0-1,0 1,1-1,0 1,-1 0,1 0,0 1,-48 127,48-127,-9 34,1-7</inkml:trace>
  <inkml:trace contextRef="#ctx0" brushRef="#br0" timeOffset="-14975.275">180 159,'2'-1,"1"1,-1 0,1-1,-1 1,1 0,0 0,-1 1,1-1,-1 0,1 1,-1 0,1-1,-1 1,1 0,-1 0,0 1,1-1,-1 0,0 1,0-1,0 1,0 0,0 0,0 0,-1 0,1 0,-1 0,1 0,-1 0,0 1,0-1,0 0,0 1,0 0,15 27,-1 1,-1 0,-2 1,-1 0,4 24,-9-36,12 61,-3 1,-4 0,-1 27,-5-51,34 60,-31-106</inkml:trace>
  <inkml:trace contextRef="#ctx0" brushRef="#br0" timeOffset="-13752.357">240 60,'3'0,"15"0,11 0,7 0,1 3,-6 1</inkml:trace>
  <inkml:trace contextRef="#ctx0" brushRef="#br0" timeOffset="-12248.498">219 40,'583'0,"-516"-8,-53 4</inkml:trace>
  <inkml:trace contextRef="#ctx0" brushRef="#br0" timeOffset="-2888.793">457 932,'100'-27,"3"17,1 5,82 7,-180-2,1 1,0-1,-1 2,1-1,-1 1,1-1,-1 2,0-1,0 1,0 0,0 0,0 1,-1-1,1 1,-1 1,0-1,0 1,-1 0,0 0,1 0,-1 0,-1 1,1 0,-1 0,0 0,-1 0,1 0,-1 0,0 1,-1-1,1 3,10 46,-2 1,-2 0,-3 0,-2 1,-3 0,-4 33,1-67,0 0,-2 0,-1-1,0 1,-2-1,0-1,-1 1,-2-1,0-1,-1 0,-1-1,-1 0,0-1,-10 8,-19 19,-3-2,-1-2,-2-2,-43 25,-27-3,115-60,1 1,-1-1,0-1,0 1,0 0,0-1,0 0,0 0,0 0,0 0,0-1,0 0,0 1,0-2,0 1,1 0,-1-1,0 1,1-1,-1 0,1 0,0-1,-1 1,1-1,0 1,1-1,-1 0,0 0,1-1,-3-2,-7-15</inkml:trace>
  <inkml:trace contextRef="#ctx0" brushRef="#br0" timeOffset="-1748.651">1331 0,'171'39,"23"17,-190-51,1 0,-1 0,0 1,0-1,0 1,-1 0,0 0,0 1,0-1,-1 1,0-1,0 1,-1 0,0-1,0 1,0 0,-1 0,0 0,-1 0,1-1,-1 1,-2 5,2 7,-8 102,-6-1,-5 0,-9 15,0 5,28-135,-48 247,-13 228,62-455,1-37</inkml:trace>
  <inkml:trace contextRef="#ctx0" brushRef="#br0" timeOffset="-1318.676">1489 932,'14'-6,"27"-10,18-5,15-5,5-3,3-2,-9 1,-14 4,-13 8,-15 10,-12 6</inkml:trace>
  <inkml:trace contextRef="#ctx0" brushRef="#br0" timeOffset="9205.668">21 2718,'-5'4,"-11"10,27-10,133-44,304-75,-18 29,176-17,170-15,135-10,2745-260,-3056 346,-169 19,3 11,-360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Cover Slide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13fef99d6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13fef99d6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4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forms.gle/QnvwPe2QJg8daew29" TargetMode="Externa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g13fef99d68b_0_0"/>
          <p:cNvPicPr preferRelativeResize="0"/>
          <p:nvPr/>
        </p:nvPicPr>
        <p:blipFill rotWithShape="1">
          <a:blip r:embed="rId3"/>
          <a:srcRect l="41241" t="9529" r="-23988" b="51127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13fef99d68b_0_0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5" cy="76679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13fef99d68b_0_0"/>
          <p:cNvSpPr/>
          <p:nvPr/>
        </p:nvSpPr>
        <p:spPr>
          <a:xfrm>
            <a:off x="0" y="233550"/>
            <a:ext cx="75555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g13fef99d68b_0_0"/>
          <p:cNvSpPr txBox="1"/>
          <p:nvPr/>
        </p:nvSpPr>
        <p:spPr>
          <a:xfrm>
            <a:off x="327600" y="233550"/>
            <a:ext cx="65013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400" b="1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TEST TIME ON VERBS :</a:t>
            </a:r>
            <a:endParaRPr sz="2400" b="1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0" name="Google Shape;60;g13fef99d68b_0_0"/>
          <p:cNvSpPr txBox="1"/>
          <p:nvPr/>
        </p:nvSpPr>
        <p:spPr>
          <a:xfrm>
            <a:off x="879900" y="819663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400" b="1">
                <a:solidFill>
                  <a:srgbClr val="333333"/>
                </a:solidFill>
                <a:highlight>
                  <a:srgbClr val="FFFFFF"/>
                </a:highlight>
              </a:rPr>
              <a:t>URL: </a:t>
            </a:r>
            <a:r>
              <a:rPr lang="en-GB" sz="2400" b="1" u="sng">
                <a:solidFill>
                  <a:schemeClr val="hlink"/>
                </a:solidFill>
                <a:highlight>
                  <a:srgbClr val="FFFFFF"/>
                </a:highlight>
                <a:hlinkClick r:id="rId5"/>
              </a:rPr>
              <a:t>https://forms.gle/QnvwPe2QJg8daew29</a:t>
            </a: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2400" b="1">
                <a:solidFill>
                  <a:schemeClr val="dk1"/>
                </a:solidFill>
                <a:highlight>
                  <a:srgbClr val="FFFFFF"/>
                </a:highlight>
              </a:rPr>
              <a:t>QR CODE:</a:t>
            </a:r>
            <a:r>
              <a:rPr lang="en-GB" sz="2400" b="1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endParaRPr sz="2400" b="1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marL="0" marR="0" lvl="0" indent="0" algn="l" rtl="0">
              <a:lnSpc>
                <a:spcPct val="136000"/>
              </a:lnSpc>
              <a:spcBef>
                <a:spcPts val="1800"/>
              </a:spcBef>
              <a:spcAft>
                <a:spcPts val="180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rgbClr val="333333"/>
              </a:solidFill>
              <a:highlight>
                <a:srgbClr val="FFFFFF"/>
              </a:highlight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1" name="Google Shape;61;g13fef99d68b_0_0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2818775" y="2731550"/>
            <a:ext cx="2382851" cy="2164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Topic Name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200400" marR="0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GB" sz="2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Number Series</a:t>
            </a:r>
            <a:endParaRPr sz="2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3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01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1, 1, 2, 6, 24, ?, 720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104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108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120</a:t>
            </a: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endParaRPr lang="en-GB" dirty="0">
              <a:solidFill>
                <a:schemeClr val="dk1"/>
              </a:solidFill>
            </a:endParaRPr>
          </a:p>
          <a:p>
            <a:r>
              <a:rPr lang="en-US" dirty="0"/>
              <a:t>The given sequence appears to follow a pattern where each term is obtained by multiplying the previous term by a consecutive positive integer. Let's break it down:</a:t>
            </a:r>
          </a:p>
          <a:p>
            <a:r>
              <a:rPr lang="en-US" dirty="0"/>
              <a:t>1 * 1 = 1 1 * 2 = 2 2 * 3 = 6 6 * 4 = 24</a:t>
            </a:r>
          </a:p>
          <a:p>
            <a:r>
              <a:rPr lang="en-US" dirty="0"/>
              <a:t>Following this pattern, the next term would be 24 * 5 = 120.</a:t>
            </a:r>
          </a:p>
          <a:p>
            <a:r>
              <a:rPr lang="en-US" dirty="0"/>
              <a:t>So, the missing term in the sequence is 120. The complete sequence would be: 1, 1, 2, 6, 24, 120, 720.</a:t>
            </a:r>
          </a:p>
          <a:p>
            <a:pPr marL="1397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4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given series is the pattern x1, x2, x3, x4, .............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so, the missing term = 24 x 5 = 120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5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02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6, 13, 28, 59, ?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114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122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6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6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given series is in the pattern x 2 + 1, x 2 + 2, x 2 + 3,............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So, the missing term = 59 x 2 +4 = 122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7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7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03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3, 15, ?, 63, 99, 143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27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56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B 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8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8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given series is in the pattern (2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- 1), (4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- 1),............ (8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- 1), (10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- 1), (12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- 1). So, the missing term is (6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- 1) = 35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9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9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04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5760, 960, ?, 48, 16, 8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120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160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192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240</a:t>
            </a:r>
            <a:endParaRPr sz="1400" b="0" i="0" u="none" strike="noStrike" cap="none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 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89B30D8-92D2-4F15-AFA8-412E90C42CDC}"/>
                  </a:ext>
                </a:extLst>
              </p14:cNvPr>
              <p14:cNvContentPartPr/>
              <p14:nvPr/>
            </p14:nvContentPartPr>
            <p14:xfrm>
              <a:off x="-557449" y="1735740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89B30D8-92D2-4F15-AFA8-412E90C42C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66089" y="17267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7536C1-2A3E-4F59-B426-CD9129C77F93}"/>
                  </a:ext>
                </a:extLst>
              </p14:cNvPr>
              <p14:cNvContentPartPr/>
              <p14:nvPr/>
            </p14:nvContentPartPr>
            <p14:xfrm>
              <a:off x="2035631" y="1485900"/>
              <a:ext cx="3067560" cy="9867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7536C1-2A3E-4F59-B426-CD9129C77F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26631" y="1476900"/>
                <a:ext cx="3085200" cy="100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0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0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given series is in pattern ÷ 6, ÷ 5, ÷ 4, ÷ 3, ÷ 2. So the missing term is 960 ÷ 5 = 192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1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05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20, 24, 33, 49, 74, 110, ?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147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163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 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2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2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4" name="Google Shape;164;p1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24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series is : 2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+ 3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+ 4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+ 5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+ 6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..........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3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3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06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6, 11, 21, 36, 56, (....)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32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81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 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4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2" name="Google Shape;182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pattern is +5, +10, +15, +20, ...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56 + 25 = 81.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5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07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1, 9, 17, 33, 49, 73, (....)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97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98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100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6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6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07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pattern is +8, +8, +16, +16, +24, ...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73 + 24 = 97.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08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3, 7, 15, 31, 63, (....)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 panose="020B0604020202020204"/>
              <a:buNone/>
            </a:pP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AutoNum type="alphaUcPeriod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92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AutoNum type="alphaUcPeriod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115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AutoNum type="alphaUcPeriod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127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AutoNum type="alphaUcPeriod"/>
            </a:pPr>
            <a:r>
              <a:rPr lang="en-GB"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131</a:t>
            </a: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C 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8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08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Each number in the series is the preceding number multiplied by 2 and then increased by 1.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Thus, (3 * 2) + 1 = 7, (7 * 2) + 1 = 15, (15 * 2) + 1 = 31, and so on.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(63 * 2) + 1 = 127.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9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9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09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1, 6, 15, (....), 45, 66, 91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26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27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28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0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pattern is +5, +9, ..., +21, +25.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15 + 13 = 28.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1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10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121, 225, 361, (....)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441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481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529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729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 C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2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2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numbers are 11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15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19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... i.e., 11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(11 +4 * 1)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(11 + 4 * 2)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... 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(11 + 4 * 3)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(23)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529.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3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7" name="Google Shape;267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11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0, 2, 8, 14, (....), 34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24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20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18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A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4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4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11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numbers are 1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- 1, 2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- 2, 3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- 1, 4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- 2, ... Missing number = 5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- 1 = 24.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5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5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12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19, 2, 38, 3, 114, 4, (....)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228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256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352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456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88" name="Google Shape;288;p2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 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6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6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sequence is a combination of two series: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I. 19, 38, 114, (....)     II. 2, 3, 4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pattern followed in I is *2, *3, ...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Missing number = 114 * 4 = 456.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7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13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4, 5, 9, 18, 34, (....)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07" name="Google Shape;307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 D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8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8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pattern is +1, +4, +9, +16 ... i.e., +1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+2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+3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+4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... Missing number = 34 + 5</a:t>
            </a:r>
            <a:r>
              <a:rPr lang="en-GB" sz="1400" b="0" i="0" u="none" strike="noStrike" cap="none" baseline="30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= 34 + 25 = 59.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9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14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Look at this series: 21, 9, 21, 11, 21, 13, 21, ... What number should come next?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14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23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B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0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7600" y="999450"/>
            <a:ext cx="83940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this alternating repetition series, the random number 21 is interpolated every other number into an otherwise simple addition series that increases by 2, beginning with the number 9.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1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1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Question: 15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 the following number series only one is wrong. Find out the wrong number.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7, 4, 5, 9, 20, 51, 106.5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9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AutoNum type="alphaU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51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45" name="Google Shape;345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Answer: D</a:t>
            </a:r>
            <a:endParaRPr sz="1400" b="1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2"/>
          <p:cNvPicPr preferRelativeResize="0"/>
          <p:nvPr/>
        </p:nvPicPr>
        <p:blipFill rotWithShape="1">
          <a:blip r:embed="rId3"/>
          <a:srcRect l="41240" t="9528" r="-23987" b="51129"/>
          <a:stretch>
            <a:fillRect/>
          </a:stretch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2"/>
          <p:cNvPicPr preferRelativeResize="0"/>
          <p:nvPr/>
        </p:nvPicPr>
        <p:blipFill rotWithShape="1">
          <a:blip r:embed="rId4"/>
          <a:srcRect r="57233"/>
          <a:stretch>
            <a:fillRect/>
          </a:stretch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name="adj" fmla="val 50000"/>
            </a:avLst>
          </a:prstGeom>
          <a:solidFill>
            <a:srgbClr val="5F1E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53" name="Google Shape;353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Explanation: </a:t>
            </a:r>
            <a:endParaRPr sz="2000" b="0" i="0" u="none" strike="noStrike" cap="none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series is x 0.5 + 0.5, x 1 + 1, x 1.5 + 1.5. x 2 + 2, x 2.5 + 2.5, x 3 +3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1031</Words>
  <Application>Microsoft Office PowerPoint</Application>
  <PresentationFormat>On-screen Show (16:9)</PresentationFormat>
  <Paragraphs>179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Roboto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SUBBARAOChDV</cp:lastModifiedBy>
  <cp:revision>3</cp:revision>
  <dcterms:created xsi:type="dcterms:W3CDTF">2023-01-05T07:13:59Z</dcterms:created>
  <dcterms:modified xsi:type="dcterms:W3CDTF">2023-11-28T12:59:35Z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FD9694F947F04E109CA2C38205E36A27</vt:lpwstr>
  </property>
  <property fmtid="{D5CDD505-2E9C-101B-9397-08002B2CF9AE}" pid="3" name="KSOProductBuildVer">
    <vt:lpwstr>1033-11.2.0.11214</vt:lpwstr>
  </property>
</Properties>
</file>