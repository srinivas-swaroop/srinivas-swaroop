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Proxima Nova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222">
          <p15:clr>
            <a:srgbClr val="9AA0A6"/>
          </p15:clr>
        </p15:guide>
        <p15:guide id="2" orient="horz" pos="2755">
          <p15:clr>
            <a:srgbClr val="9AA0A6"/>
          </p15:clr>
        </p15:guide>
        <p15:guide id="3" orient="horz" pos="776">
          <p15:clr>
            <a:srgbClr val="9AA0A6"/>
          </p15:clr>
        </p15:guide>
        <p15:guide id="4" pos="206">
          <p15:clr>
            <a:srgbClr val="9AA0A6"/>
          </p15:clr>
        </p15:guide>
        <p15:guide id="5" pos="5553">
          <p15:clr>
            <a:srgbClr val="9AA0A6"/>
          </p15:clr>
        </p15:guide>
        <p15:guide id="6" orient="horz" pos="914">
          <p15:clr>
            <a:srgbClr val="9AA0A6"/>
          </p15:clr>
        </p15:guide>
        <p15:guide id="7" orient="horz" pos="2451">
          <p15:clr>
            <a:srgbClr val="9AA0A6"/>
          </p15:clr>
        </p15:guide>
        <p15:guide id="8" pos="871">
          <p15:clr>
            <a:srgbClr val="9AA0A6"/>
          </p15:clr>
        </p15:guide>
        <p15:guide id="9" pos="2880">
          <p15:clr>
            <a:srgbClr val="9AA0A6"/>
          </p15:clr>
        </p15:guide>
        <p15:guide id="10" pos="4909">
          <p15:clr>
            <a:srgbClr val="9AA0A6"/>
          </p15:clr>
        </p15:guide>
        <p15:guide id="11" orient="horz" pos="2193">
          <p15:clr>
            <a:srgbClr val="9AA0A6"/>
          </p15:clr>
        </p15:guide>
      </p15:sldGuideLst>
    </p:ext>
    <p:ext uri="http://customooxmlschemas.google.com/">
      <go:slidesCustomData xmlns:go="http://customooxmlschemas.google.com/" r:id="rId30" roundtripDataSignature="AMtx7mgzJCiL9+O6w6Nouw4NTSlHfky/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22"/>
        <p:guide pos="2755" orient="horz"/>
        <p:guide pos="776" orient="horz"/>
        <p:guide pos="206"/>
        <p:guide pos="5553"/>
        <p:guide pos="914" orient="horz"/>
        <p:guide pos="2451" orient="horz"/>
        <p:guide pos="871"/>
        <p:guide pos="2880"/>
        <p:guide pos="4909"/>
        <p:guide pos="219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roximaNova-regular.fntdata"/><Relationship Id="rId25" Type="http://schemas.openxmlformats.org/officeDocument/2006/relationships/slide" Target="slides/slide19.xml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ae5b76678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18ae5b7667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8ae5b76678_0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18ae5b7667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8ae5b7667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It tests your constraint programming skills</a:t>
            </a:r>
            <a:endParaRPr/>
          </a:p>
        </p:txBody>
      </p:sp>
      <p:sp>
        <p:nvSpPr>
          <p:cNvPr id="97" name="Google Shape;97;g18ae5b7667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8ae5b76678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18ae5b7667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8ae5b76678_0_2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18ae5b7667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8ae5b76678_0_2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18ae5b76678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8ae5b76678_0_2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18ae5b76678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8ae5b76678_0_2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18ae5b76678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8ae5b76678_0_2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18ae5b76678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8ae5b76678_0_2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18ae5b7667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8ae5b76678_0_2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18ae5b76678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8ae5b76678_0_2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18ae5b76678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8ae5b76678_0_2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18ae5b76678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8ae5b76678_0_2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18ae5b76678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8ae5b76678_0_2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18ae5b76678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8ae5b76678_0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18ae5b76678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8ae5b76678_0_2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18ae5b7667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8ae5b76678_0_3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18ae5b76678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/>
          <p:nvPr>
            <p:ph idx="2" type="sldImg"/>
          </p:nvPr>
        </p:nvSpPr>
        <p:spPr>
          <a:xfrm>
            <a:off x="380259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8ae5b76678_0_1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g18ae5b76678_0_1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g18ae5b76678_0_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8ae5b76678_0_1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g18ae5b76678_0_1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8ae5b76678_0_1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18ae5b76678_0_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8ae5b76678_0_1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18ae5b76678_0_1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g18ae5b76678_0_1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" name="Google Shape;24;g18ae5b76678_0_1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g18ae5b76678_0_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18ae5b76678_0_1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8" name="Google Shape;28;g18ae5b76678_0_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8ae5b76678_0_1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" name="Google Shape;31;g18ae5b76678_0_1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g18ae5b76678_0_1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4" name="Google Shape;34;g18ae5b76678_0_1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35" name="Google Shape;35;g18ae5b76678_0_147"/>
          <p:cNvPicPr preferRelativeResize="0"/>
          <p:nvPr/>
        </p:nvPicPr>
        <p:blipFill rotWithShape="1">
          <a:blip r:embed="rId3">
            <a:alphaModFix/>
          </a:blip>
          <a:srcRect b="37530" l="0" r="0" t="55603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18ae5b76678_0_147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18ae5b76678_0_147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18ae5b76678_0_147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18ae5b76678_0_147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1" name="Google Shape;5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" name="Google Shape;5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" name="Google Shape;5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" name="Google Shape;6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6" name="Google Shape;6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" name="Google Shape;70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5" name="Google Shape;7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8" name="Google Shape;78;p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8ae5b76678_0_1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8ae5b76678_0_1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8ae5b76678_0_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11" Type="http://schemas.openxmlformats.org/officeDocument/2006/relationships/image" Target="../media/image9.png"/><Relationship Id="rId10" Type="http://schemas.openxmlformats.org/officeDocument/2006/relationships/image" Target="../media/image12.png"/><Relationship Id="rId12" Type="http://schemas.openxmlformats.org/officeDocument/2006/relationships/image" Target="../media/image13.png"/><Relationship Id="rId9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hyperlink" Target="https://learn.codemithra.com/" TargetMode="External"/><Relationship Id="rId8" Type="http://schemas.openxmlformats.org/officeDocument/2006/relationships/hyperlink" Target="https://learn.codemithra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g18ae5b76678_0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8000" y="431425"/>
            <a:ext cx="3527999" cy="4280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8ae5b76678_0_81"/>
          <p:cNvSpPr txBox="1"/>
          <p:nvPr>
            <p:ph idx="1" type="body"/>
          </p:nvPr>
        </p:nvSpPr>
        <p:spPr>
          <a:xfrm>
            <a:off x="1328100" y="1923153"/>
            <a:ext cx="64878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4800">
                <a:solidFill>
                  <a:schemeClr val="dk1"/>
                </a:solidFill>
              </a:rPr>
              <a:t>ALPHA NUMERIC SERIES</a:t>
            </a:r>
            <a:endParaRPr b="1" sz="4800">
              <a:solidFill>
                <a:schemeClr val="dk1"/>
              </a:solidFill>
            </a:endParaRPr>
          </a:p>
        </p:txBody>
      </p:sp>
      <p:pic>
        <p:nvPicPr>
          <p:cNvPr id="92" name="Google Shape;92;g18ae5b76678_0_81"/>
          <p:cNvPicPr preferRelativeResize="0"/>
          <p:nvPr/>
        </p:nvPicPr>
        <p:blipFill rotWithShape="1">
          <a:blip r:embed="rId3">
            <a:alphaModFix/>
          </a:blip>
          <a:srcRect b="51127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18ae5b76678_0_81"/>
          <p:cNvPicPr preferRelativeResize="0"/>
          <p:nvPr/>
        </p:nvPicPr>
        <p:blipFill rotWithShape="1">
          <a:blip r:embed="rId4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18ae5b76678_0_81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8ae5b76678_0_88"/>
          <p:cNvSpPr txBox="1"/>
          <p:nvPr>
            <p:ph idx="1" type="body"/>
          </p:nvPr>
        </p:nvSpPr>
        <p:spPr>
          <a:xfrm>
            <a:off x="342900" y="1117600"/>
            <a:ext cx="7814100" cy="29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300">
                <a:solidFill>
                  <a:schemeClr val="dk1"/>
                </a:solidFill>
              </a:rPr>
              <a:t>Alphanumeric series consists both alphabets and numbers.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300">
                <a:solidFill>
                  <a:schemeClr val="dk1"/>
                </a:solidFill>
              </a:rPr>
              <a:t>Includes letter variations such as follows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300">
                <a:solidFill>
                  <a:schemeClr val="dk1"/>
                </a:solidFill>
              </a:rPr>
              <a:t> @, &amp; and * etc</a:t>
            </a:r>
            <a:endParaRPr sz="2300">
              <a:solidFill>
                <a:schemeClr val="dk1"/>
              </a:solidFill>
            </a:endParaRPr>
          </a:p>
        </p:txBody>
      </p:sp>
      <p:pic>
        <p:nvPicPr>
          <p:cNvPr id="100" name="Google Shape;100;g18ae5b76678_0_88"/>
          <p:cNvPicPr preferRelativeResize="0"/>
          <p:nvPr/>
        </p:nvPicPr>
        <p:blipFill rotWithShape="1">
          <a:blip r:embed="rId3">
            <a:alphaModFix/>
          </a:blip>
          <a:srcRect b="51127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18ae5b76678_0_88"/>
          <p:cNvPicPr preferRelativeResize="0"/>
          <p:nvPr/>
        </p:nvPicPr>
        <p:blipFill rotWithShape="1">
          <a:blip r:embed="rId4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18ae5b76678_0_88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18ae5b76678_0_88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ALPHA NUMERIC SERIES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8ae5b76678_0_112"/>
          <p:cNvSpPr txBox="1"/>
          <p:nvPr/>
        </p:nvSpPr>
        <p:spPr>
          <a:xfrm>
            <a:off x="342900" y="1314449"/>
            <a:ext cx="8472300" cy="3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6 ⋆ I A 7 $ J # 5 4 B U 2 R Q D H L O @ P T E F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such symbols are there in the above arrangement each of which is  immediately followed by a number and also immediately preceded by a consonant?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 of these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g18ae5b76678_0_112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18ae5b76678_0_112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18ae5b76678_0_112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Q01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18ae5b76678_0_11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8ae5b76678_0_202"/>
          <p:cNvSpPr txBox="1"/>
          <p:nvPr/>
        </p:nvSpPr>
        <p:spPr>
          <a:xfrm>
            <a:off x="342900" y="1314449"/>
            <a:ext cx="84723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6 ⋆ I A 7 $ J # 5 4 B U 2 R Q D H L O @ P T E F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we remove all the vowels in this series, then which of the following element will be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7th from right end?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 of these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g18ae5b76678_0_202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18ae5b76678_0_202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18ae5b76678_0_202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Q02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18ae5b76678_0_20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C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8ae5b76678_0_210"/>
          <p:cNvSpPr txBox="1"/>
          <p:nvPr/>
        </p:nvSpPr>
        <p:spPr>
          <a:xfrm>
            <a:off x="342900" y="1314449"/>
            <a:ext cx="8472300" cy="3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6 ⋆ I A 7 $ J # 5 4 B U 2 R Q D H L O @ P T E F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such vowels are there in the above arrangement each of which is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immediately followed by a consonant and also immediately preceded by a symbol?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 of these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18ae5b76678_0_210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18ae5b76678_0_210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18ae5b76678_0_210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Q03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18ae5b76678_0_210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8ae5b76678_0_218"/>
          <p:cNvSpPr txBox="1"/>
          <p:nvPr/>
        </p:nvSpPr>
        <p:spPr>
          <a:xfrm>
            <a:off x="342900" y="1314449"/>
            <a:ext cx="8472300" cy="3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6 ⋆ I A 7 $ J # 5 4 B U 2 R Q D H L O @ P T E F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such consonants are there in the above arrangement, each of which is  immediately preceded by a consonant and also immediately followed by a consonant?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than three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g18ae5b76678_0_218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18ae5b76678_0_218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18ae5b76678_0_218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Q04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18ae5b76678_0_21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D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8ae5b76678_0_226"/>
          <p:cNvSpPr txBox="1"/>
          <p:nvPr/>
        </p:nvSpPr>
        <p:spPr>
          <a:xfrm>
            <a:off x="342900" y="1314449"/>
            <a:ext cx="84723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6 ⋆ I A 7 $ J # 5 4 B U 2 R Q D H L O @ P T E F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we remove all the vowels and symbols in this series, then which element will be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13th from left end?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 of these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g18ae5b76678_0_226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18ae5b76678_0_226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18ae5b76678_0_226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Q05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18ae5b76678_0_22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8ae5b76678_0_234"/>
          <p:cNvSpPr txBox="1"/>
          <p:nvPr/>
        </p:nvSpPr>
        <p:spPr>
          <a:xfrm>
            <a:off x="342900" y="1314449"/>
            <a:ext cx="84723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&gt; Z J L 2 ! D - M # 8 C % B &lt; K 1 &amp; A W / P E + Q @ 7 F 6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such symbols are there in the above sequence, each of which is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immediately followed by a perfect cube of a number?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 of these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18ae5b76678_0_234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18ae5b76678_0_234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18ae5b76678_0_234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Q06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18ae5b76678_0_234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8ae5b76678_0_242"/>
          <p:cNvSpPr txBox="1"/>
          <p:nvPr/>
        </p:nvSpPr>
        <p:spPr>
          <a:xfrm>
            <a:off x="342900" y="1314449"/>
            <a:ext cx="84723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&gt; Z J L 2 ! D - M # 8 C % B &lt; K 1 &amp; A W / P E + Q @ 7 F 6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of the following element is fifth to the left of sixteenth element from the left?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 of these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g18ae5b76678_0_242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18ae5b76678_0_242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18ae5b76678_0_242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Q07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18ae5b76678_0_24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D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8ae5b76678_0_250"/>
          <p:cNvSpPr txBox="1"/>
          <p:nvPr/>
        </p:nvSpPr>
        <p:spPr>
          <a:xfrm>
            <a:off x="342900" y="1314449"/>
            <a:ext cx="84723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&gt; Z J L 2 ! D - M # 8 C % B &lt; K 1 &amp; A W / P E + Q @ 7 F 6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all the numbers are dropped in the given series, then which element will be at sixth  position from right end?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 of these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g18ae5b76678_0_250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18ae5b76678_0_250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18ae5b76678_0_250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Q08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18ae5b76678_0_250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8ae5b76678_0_258"/>
          <p:cNvSpPr txBox="1"/>
          <p:nvPr/>
        </p:nvSpPr>
        <p:spPr>
          <a:xfrm>
            <a:off x="342900" y="1314449"/>
            <a:ext cx="84723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&gt; Z J L 2 ! D - M # 8 C % B &lt; K 1 &amp; A W / P E + Q @ 7 F 6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first fifteen elements in the above sequence are written in reverse order, then  which of the following element will be twenty-first from the right end?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 of these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g18ae5b76678_0_258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18ae5b76678_0_258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18ae5b76678_0_258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Q09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18ae5b76678_0_25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8ae5b76678_0_266"/>
          <p:cNvSpPr txBox="1"/>
          <p:nvPr/>
        </p:nvSpPr>
        <p:spPr>
          <a:xfrm>
            <a:off x="342900" y="1314449"/>
            <a:ext cx="84723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&gt; Z J L 2 ! D - M # 8 C % B &lt; K 1 &amp; A W / P E + Q @ 7 F 6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such numbers are there in the above sequence, each of which is  immediately followed by a symbol and immediately preceded by a number?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 of these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g18ae5b76678_0_266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18ae5b76678_0_266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18ae5b76678_0_266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Q10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18ae5b76678_0_26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8ae5b76678_0_274"/>
          <p:cNvSpPr txBox="1"/>
          <p:nvPr/>
        </p:nvSpPr>
        <p:spPr>
          <a:xfrm>
            <a:off x="342900" y="1314449"/>
            <a:ext cx="8472300" cy="27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F E ~ 6 2 % S A 8 B ) * 1 L O 9 @ W U $ 3 ^ P 4 C V #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such vowels are there in the above arrangement, each of which is immediately  followed by a symbol and not preceded by a letter?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18ae5b76678_0_274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18ae5b76678_0_274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18ae5b76678_0_274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Q11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18ae5b76678_0_274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8ae5b76678_0_282"/>
          <p:cNvSpPr txBox="1"/>
          <p:nvPr/>
        </p:nvSpPr>
        <p:spPr>
          <a:xfrm>
            <a:off x="342900" y="1314449"/>
            <a:ext cx="8472300" cy="2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F E ~ 6 2 % S A 8 B ) * 1 L O 9 @ W U $ 3 ^ P 4 C V #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the sum of all numbers which are immediately preceded by a symbol?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no such numbers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arenR"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18ae5b76678_0_282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18ae5b76678_0_282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18ae5b76678_0_282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Q12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18ae5b76678_0_28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8ae5b76678_0_290"/>
          <p:cNvSpPr txBox="1"/>
          <p:nvPr/>
        </p:nvSpPr>
        <p:spPr>
          <a:xfrm>
            <a:off x="342900" y="1314449"/>
            <a:ext cx="8472300" cy="24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F E ~ 6 2 % S A 8 B ) * 1 L O 9 @ W U $ 3 ^ P 4 C V #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will come in place of questions mark (?) based on the above arrangement?    3U^  $W3  U@$  W9U  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9OW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than those given in options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@9W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@OW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18ae5b76678_0_290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18ae5b76678_0_290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18ae5b76678_0_290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Q13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18ae5b76678_0_290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D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8ae5b76678_0_298"/>
          <p:cNvSpPr txBox="1"/>
          <p:nvPr/>
        </p:nvSpPr>
        <p:spPr>
          <a:xfrm>
            <a:off x="342900" y="1314449"/>
            <a:ext cx="8472300" cy="24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F E ~ 6 2 % S A 8 B ) * 1 L O 9 @ W U $ 3 ^ P 4 C V #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of the following five are alike in a certain way based on their positions in the above  arrangement and so form a group. Which is the one that does not belong to that group?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(#V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2^P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S$U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g18ae5b76678_0_298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18ae5b76678_0_298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18ae5b76678_0_298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Q14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18ae5b76678_0_29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D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8ae5b76678_0_306"/>
          <p:cNvSpPr txBox="1"/>
          <p:nvPr/>
        </p:nvSpPr>
        <p:spPr>
          <a:xfrm>
            <a:off x="342900" y="1314449"/>
            <a:ext cx="8472300" cy="27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F E ~ 6 2 % S A 8 B ) * 1 L O 9 @ W U $ 3 ^ P 4 C V #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of the following is the 9th to the left of the 17th from the left end of the above  arrangement?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arenR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g18ae5b76678_0_306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18ae5b76678_0_306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18ae5b76678_0_306"/>
          <p:cNvSpPr/>
          <p:nvPr/>
        </p:nvSpPr>
        <p:spPr>
          <a:xfrm>
            <a:off x="3247950" y="270400"/>
            <a:ext cx="26481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Q15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18ae5b76678_0_30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/>
          <p:nvPr/>
        </p:nvSpPr>
        <p:spPr>
          <a:xfrm>
            <a:off x="-25350" y="-7313"/>
            <a:ext cx="9169200" cy="108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438150" y="2058170"/>
            <a:ext cx="45936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GB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0712" y="1368213"/>
            <a:ext cx="1979523" cy="240708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9"/>
          <p:cNvSpPr txBox="1"/>
          <p:nvPr/>
        </p:nvSpPr>
        <p:spPr>
          <a:xfrm>
            <a:off x="1022925" y="363447"/>
            <a:ext cx="16734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/ethnuscodemithra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225" y="213608"/>
            <a:ext cx="713224" cy="644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8850" y="226355"/>
            <a:ext cx="644913" cy="64494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9"/>
          <p:cNvSpPr txBox="1"/>
          <p:nvPr/>
        </p:nvSpPr>
        <p:spPr>
          <a:xfrm>
            <a:off x="6025875" y="363447"/>
            <a:ext cx="898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200" u="none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/ethnus</a:t>
            </a:r>
            <a:endParaRPr b="1" i="0" sz="1200" u="none" cap="none" strike="noStrike">
              <a:solidFill>
                <a:srgbClr val="4A86E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3575139" y="374446"/>
            <a:ext cx="16734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Ethnus Codemithra</a:t>
            </a:r>
            <a:endParaRPr b="0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9"/>
          <p:cNvPicPr preferRelativeResize="0"/>
          <p:nvPr/>
        </p:nvPicPr>
        <p:blipFill rotWithShape="1">
          <a:blip r:embed="rId6">
            <a:alphaModFix/>
          </a:blip>
          <a:srcRect b="0" l="2901" r="2899" t="0"/>
          <a:stretch/>
        </p:blipFill>
        <p:spPr>
          <a:xfrm>
            <a:off x="7065600" y="215383"/>
            <a:ext cx="608215" cy="64491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 txBox="1"/>
          <p:nvPr/>
        </p:nvSpPr>
        <p:spPr>
          <a:xfrm>
            <a:off x="7689950" y="374444"/>
            <a:ext cx="13206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/code_mithra</a:t>
            </a:r>
            <a:endParaRPr b="0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454025" y="3335479"/>
            <a:ext cx="47943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Calibri"/>
              <a:buNone/>
            </a:pPr>
            <a:r>
              <a:rPr b="0" i="0" lang="en-GB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https://learn.codemithra.com/</a:t>
            </a:r>
            <a:endParaRPr b="0" i="0" sz="2400" u="sng" cap="none" strike="noStrike">
              <a:solidFill>
                <a:schemeClr val="hlink"/>
              </a:solidFill>
              <a:latin typeface="Proxima Nova"/>
              <a:ea typeface="Proxima Nova"/>
              <a:cs typeface="Proxima Nova"/>
              <a:sym typeface="Proxima Nova"/>
              <a:hlinkClick r:id="rId8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-25350" y="4051180"/>
            <a:ext cx="9169200" cy="108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1563475" y="4421940"/>
            <a:ext cx="21846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codemithra@ethnus.com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56" name="Google Shape;25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98788" y="4273864"/>
            <a:ext cx="713058" cy="713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9825" y="4272109"/>
            <a:ext cx="716576" cy="71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12438" y="4284861"/>
            <a:ext cx="713058" cy="71305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9"/>
          <p:cNvSpPr txBox="1"/>
          <p:nvPr/>
        </p:nvSpPr>
        <p:spPr>
          <a:xfrm>
            <a:off x="4425675" y="4421940"/>
            <a:ext cx="1573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+91 7815 095 095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6660975" y="4432938"/>
            <a:ext cx="1573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+91 9019 921 340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61" name="Google Shape;261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823886" y="269196"/>
            <a:ext cx="788272" cy="554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