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Roboto"/>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222">
          <p15:clr>
            <a:srgbClr val="9AA0A6"/>
          </p15:clr>
        </p15:guide>
        <p15:guide id="2" orient="horz" pos="2755">
          <p15:clr>
            <a:srgbClr val="9AA0A6"/>
          </p15:clr>
        </p15:guide>
        <p15:guide id="3" orient="horz" pos="776">
          <p15:clr>
            <a:srgbClr val="9AA0A6"/>
          </p15:clr>
        </p15:guide>
        <p15:guide id="4" pos="206">
          <p15:clr>
            <a:srgbClr val="9AA0A6"/>
          </p15:clr>
        </p15:guide>
        <p15:guide id="5" pos="5553">
          <p15:clr>
            <a:srgbClr val="9AA0A6"/>
          </p15:clr>
        </p15:guide>
        <p15:guide id="6" orient="horz" pos="914">
          <p15:clr>
            <a:srgbClr val="9AA0A6"/>
          </p15:clr>
        </p15:guide>
        <p15:guide id="7" orient="horz" pos="2451">
          <p15:clr>
            <a:srgbClr val="9AA0A6"/>
          </p15:clr>
        </p15:guide>
        <p15:guide id="8" pos="871">
          <p15:clr>
            <a:srgbClr val="9AA0A6"/>
          </p15:clr>
        </p15:guide>
        <p15:guide id="9" pos="2880">
          <p15:clr>
            <a:srgbClr val="9AA0A6"/>
          </p15:clr>
        </p15:guide>
        <p15:guide id="10" pos="4909">
          <p15:clr>
            <a:srgbClr val="9AA0A6"/>
          </p15:clr>
        </p15:guide>
        <p15:guide id="11" orient="horz" pos="2193">
          <p15:clr>
            <a:srgbClr val="9AA0A6"/>
          </p15:clr>
        </p15:guide>
      </p15:sldGuideLst>
    </p:ext>
    <p:ext uri="http://customooxmlschemas.google.com/">
      <go:slidesCustomData xmlns:go="http://customooxmlschemas.google.com/" r:id="rId33" roundtripDataSignature="AMtx7mgHccS2zYLagahQKvH7eGCqSUkv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22"/>
        <p:guide pos="2755" orient="horz"/>
        <p:guide pos="776" orient="horz"/>
        <p:guide pos="206"/>
        <p:guide pos="5553"/>
        <p:guide pos="914" orient="horz"/>
        <p:guide pos="2451" orient="horz"/>
        <p:guide pos="871"/>
        <p:guide pos="2880"/>
        <p:guide pos="4909"/>
        <p:guide pos="2193"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6.xml"/><Relationship Id="rId33" Type="http://customschemas.google.com/relationships/presentationmetadata" Target="metadata"/><Relationship Id="rId10" Type="http://schemas.openxmlformats.org/officeDocument/2006/relationships/slide" Target="slides/slide5.xml"/><Relationship Id="rId32"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Cover Slide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13fc24aae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13fc24aaef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rPr lang="en-GB" sz="1400">
                <a:solidFill>
                  <a:schemeClr val="dk1"/>
                </a:solidFill>
              </a:rPr>
              <a:t>Content can be added in this slide and can duplicate the same slide if there is a need of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 name="Shape 10"/>
        <p:cNvGrpSpPr/>
        <p:nvPr/>
      </p:nvGrpSpPr>
      <p:grpSpPr>
        <a:xfrm>
          <a:off x="0" y="0"/>
          <a:ext cx="0" cy="0"/>
          <a:chOff x="0" y="0"/>
          <a:chExt cx="0" cy="0"/>
        </a:xfrm>
      </p:grpSpPr>
      <p:sp>
        <p:nvSpPr>
          <p:cNvPr id="11" name="Google Shape;11;p2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2" name="Google Shape;1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 name="Shape 17"/>
        <p:cNvGrpSpPr/>
        <p:nvPr/>
      </p:nvGrpSpPr>
      <p:grpSpPr>
        <a:xfrm>
          <a:off x="0" y="0"/>
          <a:ext cx="0" cy="0"/>
          <a:chOff x="0" y="0"/>
          <a:chExt cx="0" cy="0"/>
        </a:xfrm>
      </p:grpSpPr>
      <p:sp>
        <p:nvSpPr>
          <p:cNvPr id="18" name="Google Shape;18;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 name="Google Shape;19;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0" name="Google Shape;20;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1" name="Google Shape;21;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5" name="Shape 25"/>
        <p:cNvGrpSpPr/>
        <p:nvPr/>
      </p:nvGrpSpPr>
      <p:grpSpPr>
        <a:xfrm>
          <a:off x="0" y="0"/>
          <a:ext cx="0" cy="0"/>
          <a:chOff x="0" y="0"/>
          <a:chExt cx="0" cy="0"/>
        </a:xfrm>
      </p:grpSpPr>
      <p:sp>
        <p:nvSpPr>
          <p:cNvPr id="26" name="Google Shape;26;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27" name="Google Shape;27;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8" name="Google Shape;28;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1" name="Google Shape;31;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 name="Google Shape;35;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6" name="Google Shape;36;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8" name="Shape 38"/>
        <p:cNvGrpSpPr/>
        <p:nvPr/>
      </p:nvGrpSpPr>
      <p:grpSpPr>
        <a:xfrm>
          <a:off x="0" y="0"/>
          <a:ext cx="0" cy="0"/>
          <a:chOff x="0" y="0"/>
          <a:chExt cx="0" cy="0"/>
        </a:xfrm>
      </p:grpSpPr>
      <p:sp>
        <p:nvSpPr>
          <p:cNvPr id="39" name="Google Shape;39;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0" name="Google Shape;4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 name="Shape 41"/>
        <p:cNvGrpSpPr/>
        <p:nvPr/>
      </p:nvGrpSpPr>
      <p:grpSpPr>
        <a:xfrm>
          <a:off x="0" y="0"/>
          <a:ext cx="0" cy="0"/>
          <a:chOff x="0" y="0"/>
          <a:chExt cx="0" cy="0"/>
        </a:xfrm>
      </p:grpSpPr>
      <p:sp>
        <p:nvSpPr>
          <p:cNvPr id="42" name="Google Shape;42;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4" name="Google Shape;44;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000">
        <p:push dir="r"/>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4.jpg"/><Relationship Id="rId5" Type="http://schemas.openxmlformats.org/officeDocument/2006/relationships/hyperlink" Target="https://forms.gle/gbCFtYXVfVRnHNPx5" TargetMode="External"/><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4.jpg"/><Relationship Id="rId5" Type="http://schemas.openxmlformats.org/officeDocument/2006/relationships/hyperlink" Target="https://www.theidioms.com/verbs/#action-verb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pic>
        <p:nvPicPr>
          <p:cNvPr id="51" name="Google Shape;51;p1"/>
          <p:cNvPicPr preferRelativeResize="0"/>
          <p:nvPr/>
        </p:nvPicPr>
        <p:blipFill rotWithShape="1">
          <a:blip r:embed="rId3">
            <a:alphaModFix/>
          </a:blip>
          <a:srcRect b="0" l="0" r="0" t="0"/>
          <a:stretch/>
        </p:blipFill>
        <p:spPr>
          <a:xfrm>
            <a:off x="2808000" y="431425"/>
            <a:ext cx="3527998" cy="42806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13fc24aaef8_0_0"/>
          <p:cNvPicPr preferRelativeResize="0"/>
          <p:nvPr/>
        </p:nvPicPr>
        <p:blipFill rotWithShape="1">
          <a:blip r:embed="rId3">
            <a:alphaModFix/>
          </a:blip>
          <a:srcRect b="51127" l="41241" r="-23988" t="9529"/>
          <a:stretch/>
        </p:blipFill>
        <p:spPr>
          <a:xfrm>
            <a:off x="0" y="4075175"/>
            <a:ext cx="4457700" cy="1065625"/>
          </a:xfrm>
          <a:prstGeom prst="rect">
            <a:avLst/>
          </a:prstGeom>
          <a:noFill/>
          <a:ln>
            <a:noFill/>
          </a:ln>
        </p:spPr>
      </p:pic>
      <p:pic>
        <p:nvPicPr>
          <p:cNvPr id="57" name="Google Shape;57;g13fc24aaef8_0_0"/>
          <p:cNvPicPr preferRelativeResize="0"/>
          <p:nvPr/>
        </p:nvPicPr>
        <p:blipFill rotWithShape="1">
          <a:blip r:embed="rId4">
            <a:alphaModFix/>
          </a:blip>
          <a:srcRect b="0" l="0" r="57233" t="0"/>
          <a:stretch/>
        </p:blipFill>
        <p:spPr>
          <a:xfrm>
            <a:off x="8189675" y="233550"/>
            <a:ext cx="724575" cy="766798"/>
          </a:xfrm>
          <a:prstGeom prst="rect">
            <a:avLst/>
          </a:prstGeom>
          <a:noFill/>
          <a:ln>
            <a:noFill/>
          </a:ln>
        </p:spPr>
      </p:pic>
      <p:sp>
        <p:nvSpPr>
          <p:cNvPr id="58" name="Google Shape;58;g13fc24aaef8_0_0"/>
          <p:cNvSpPr/>
          <p:nvPr/>
        </p:nvSpPr>
        <p:spPr>
          <a:xfrm>
            <a:off x="0" y="233550"/>
            <a:ext cx="75555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g13fc24aaef8_0_0"/>
          <p:cNvSpPr txBox="1"/>
          <p:nvPr/>
        </p:nvSpPr>
        <p:spPr>
          <a:xfrm>
            <a:off x="327600" y="233550"/>
            <a:ext cx="65013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1" lang="en-GB" sz="2400">
                <a:solidFill>
                  <a:schemeClr val="lt1"/>
                </a:solidFill>
                <a:latin typeface="Roboto"/>
                <a:ea typeface="Roboto"/>
                <a:cs typeface="Roboto"/>
                <a:sym typeface="Roboto"/>
              </a:rPr>
              <a:t>TEST TIME ON NOUNS AND PRONOUNS :</a:t>
            </a:r>
            <a:endParaRPr b="1" i="0" sz="2400" u="none" cap="none" strike="noStrike">
              <a:solidFill>
                <a:schemeClr val="lt1"/>
              </a:solidFill>
              <a:latin typeface="Roboto"/>
              <a:ea typeface="Roboto"/>
              <a:cs typeface="Roboto"/>
              <a:sym typeface="Roboto"/>
            </a:endParaRPr>
          </a:p>
        </p:txBody>
      </p:sp>
      <p:sp>
        <p:nvSpPr>
          <p:cNvPr id="60" name="Google Shape;60;g13fc24aaef8_0_0"/>
          <p:cNvSpPr txBox="1"/>
          <p:nvPr/>
        </p:nvSpPr>
        <p:spPr>
          <a:xfrm>
            <a:off x="879900" y="819663"/>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rPr b="1" lang="en-GB" sz="2400">
                <a:solidFill>
                  <a:srgbClr val="333333"/>
                </a:solidFill>
                <a:highlight>
                  <a:srgbClr val="FFFFFF"/>
                </a:highlight>
              </a:rPr>
              <a:t>URL: </a:t>
            </a:r>
            <a:r>
              <a:rPr b="1" lang="en-GB" sz="2400" u="sng">
                <a:solidFill>
                  <a:schemeClr val="hlink"/>
                </a:solidFill>
                <a:highlight>
                  <a:srgbClr val="FFFFFF"/>
                </a:highlight>
                <a:hlinkClick r:id="rId5"/>
              </a:rPr>
              <a:t>https://forms.gle/gbCFtYXVfVRnHNPx5</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t/>
            </a:r>
            <a:endParaRPr b="1" sz="2400">
              <a:solidFill>
                <a:srgbClr val="333333"/>
              </a:solidFill>
              <a:highlight>
                <a:srgbClr val="FFFFFF"/>
              </a:highlight>
            </a:endParaRPr>
          </a:p>
          <a:p>
            <a:pPr indent="0" lvl="0" marL="0" marR="0" rtl="0" algn="l">
              <a:lnSpc>
                <a:spcPct val="136363"/>
              </a:lnSpc>
              <a:spcBef>
                <a:spcPts val="1200"/>
              </a:spcBef>
              <a:spcAft>
                <a:spcPts val="0"/>
              </a:spcAft>
              <a:buClr>
                <a:srgbClr val="000000"/>
              </a:buClr>
              <a:buSzPts val="1400"/>
              <a:buFont typeface="Arial"/>
              <a:buNone/>
            </a:pPr>
            <a:r>
              <a:rPr b="1" lang="en-GB" sz="2400">
                <a:solidFill>
                  <a:srgbClr val="333333"/>
                </a:solidFill>
                <a:highlight>
                  <a:srgbClr val="FFFFFF"/>
                </a:highlight>
              </a:rPr>
              <a:t>QR CODE: </a:t>
            </a:r>
            <a:endParaRPr b="1" sz="2400">
              <a:solidFill>
                <a:srgbClr val="333333"/>
              </a:solidFill>
              <a:highlight>
                <a:srgbClr val="FFFFFF"/>
              </a:highlight>
            </a:endParaRPr>
          </a:p>
          <a:p>
            <a:pPr indent="0" lvl="0" marL="0" marR="0" rtl="0" algn="l">
              <a:lnSpc>
                <a:spcPct val="136363"/>
              </a:lnSpc>
              <a:spcBef>
                <a:spcPts val="1800"/>
              </a:spcBef>
              <a:spcAft>
                <a:spcPts val="1800"/>
              </a:spcAft>
              <a:buClr>
                <a:schemeClr val="dk1"/>
              </a:buClr>
              <a:buSzPts val="11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pic>
        <p:nvPicPr>
          <p:cNvPr id="61" name="Google Shape;61;g13fc24aaef8_0_0"/>
          <p:cNvPicPr preferRelativeResize="0"/>
          <p:nvPr/>
        </p:nvPicPr>
        <p:blipFill>
          <a:blip r:embed="rId6">
            <a:alphaModFix/>
          </a:blip>
          <a:stretch>
            <a:fillRect/>
          </a:stretch>
        </p:blipFill>
        <p:spPr>
          <a:xfrm>
            <a:off x="2702525" y="2760650"/>
            <a:ext cx="2440975" cy="2121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0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67" name="Google Shape;67;p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68" name="Google Shape;68;p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VERBS:</a:t>
            </a:r>
            <a:endParaRPr b="0" i="0" sz="2000" u="none" cap="none" strike="noStrike">
              <a:solidFill>
                <a:schemeClr val="lt1"/>
              </a:solidFill>
              <a:latin typeface="Roboto"/>
              <a:ea typeface="Roboto"/>
              <a:cs typeface="Roboto"/>
              <a:sym typeface="Roboto"/>
            </a:endParaRPr>
          </a:p>
        </p:txBody>
      </p:sp>
      <p:sp>
        <p:nvSpPr>
          <p:cNvPr id="70" name="Google Shape;70;p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A verb is a doing word that shows an action, an event or a state. A sentence may either have a main verb, a helping verb or both. In other words, a verb is a word that informs about an action, an existence of something or an occurrence. The verb is the main word in a sentence. No sentence can be completed without a verb.</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36363"/>
              </a:lnSpc>
              <a:spcBef>
                <a:spcPts val="1800"/>
              </a:spcBef>
              <a:spcAft>
                <a:spcPts val="1800"/>
              </a:spcAft>
              <a:buClr>
                <a:schemeClr val="dk1"/>
              </a:buClr>
              <a:buSzPts val="11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000"/>
                                        <p:tgtEl>
                                          <p:spTgt spid="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76" name="Google Shape;76;p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77" name="Google Shape;77;p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TYPES OF VERBS:</a:t>
            </a:r>
            <a:endParaRPr b="0" i="0" sz="2000" u="none" cap="none" strike="noStrike">
              <a:solidFill>
                <a:schemeClr val="lt1"/>
              </a:solidFill>
              <a:latin typeface="Roboto"/>
              <a:ea typeface="Roboto"/>
              <a:cs typeface="Roboto"/>
              <a:sym typeface="Roboto"/>
            </a:endParaRPr>
          </a:p>
        </p:txBody>
      </p:sp>
      <p:sp>
        <p:nvSpPr>
          <p:cNvPr id="79" name="Google Shape;79;p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800"/>
              <a:buFont typeface="Arial"/>
              <a:buNone/>
            </a:pPr>
            <a:r>
              <a:t/>
            </a:r>
            <a:endParaRPr b="0" i="0" sz="1800" u="none" cap="none" strike="noStrike">
              <a:solidFill>
                <a:srgbClr val="666666"/>
              </a:solidFill>
              <a:highlight>
                <a:srgbClr val="FFFFFF"/>
              </a:highlight>
              <a:latin typeface="Roboto"/>
              <a:ea typeface="Roboto"/>
              <a:cs typeface="Roboto"/>
              <a:sym typeface="Roboto"/>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1.      </a:t>
            </a:r>
            <a:r>
              <a:rPr b="0" i="0" lang="en-GB" sz="1400" u="none" cap="none" strike="noStrike">
                <a:solidFill>
                  <a:srgbClr val="333333"/>
                </a:solidFill>
                <a:highlight>
                  <a:srgbClr val="FFFFFF"/>
                </a:highlight>
                <a:uFill>
                  <a:noFill/>
                </a:uFill>
                <a:latin typeface="Arial"/>
                <a:ea typeface="Arial"/>
                <a:cs typeface="Arial"/>
                <a:sym typeface="Arial"/>
                <a:hlinkClick r:id="rId5">
                  <a:extLst>
                    <a:ext uri="{A12FA001-AC4F-418D-AE19-62706E023703}">
                      <ahyp:hlinkClr val="tx"/>
                    </a:ext>
                  </a:extLst>
                </a:hlinkClick>
              </a:rPr>
              <a:t> </a:t>
            </a:r>
            <a:r>
              <a:rPr b="0" i="0" lang="en-GB" sz="1400" u="none" cap="none" strike="noStrike">
                <a:solidFill>
                  <a:srgbClr val="000000"/>
                </a:solidFill>
                <a:highlight>
                  <a:srgbClr val="FFFFFF"/>
                </a:highlight>
                <a:latin typeface="Arial"/>
                <a:ea typeface="Arial"/>
                <a:cs typeface="Arial"/>
                <a:sym typeface="Arial"/>
              </a:rPr>
              <a:t>Main Verbs (or Action Verbs)</a:t>
            </a:r>
            <a:endParaRPr b="0" i="0" sz="1400" u="none" cap="none" strike="noStrike">
              <a:solidFill>
                <a:srgbClr val="000000"/>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2.       Helping Verbs</a:t>
            </a:r>
            <a:endParaRPr b="0" i="0" sz="1400" u="none" cap="none" strike="noStrike">
              <a:solidFill>
                <a:srgbClr val="000000"/>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3.       Linking Verbs</a:t>
            </a:r>
            <a:endParaRPr b="0" i="0" sz="1400" u="none" cap="none" strike="noStrike">
              <a:solidFill>
                <a:srgbClr val="000000"/>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000000"/>
                </a:solidFill>
                <a:highlight>
                  <a:srgbClr val="FFFFFF"/>
                </a:highlight>
                <a:latin typeface="Arial"/>
                <a:ea typeface="Arial"/>
                <a:cs typeface="Arial"/>
                <a:sym typeface="Arial"/>
              </a:rPr>
              <a:t>4.       Understanding verbs</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36363"/>
              </a:lnSpc>
              <a:spcBef>
                <a:spcPts val="1200"/>
              </a:spcBef>
              <a:spcAft>
                <a:spcPts val="180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85" name="Google Shape;85;p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86" name="Google Shape;86;p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MAIN VERBS:</a:t>
            </a:r>
            <a:endParaRPr b="0" i="0" sz="2000" u="none" cap="none" strike="noStrike">
              <a:solidFill>
                <a:schemeClr val="lt1"/>
              </a:solidFill>
              <a:latin typeface="Roboto"/>
              <a:ea typeface="Roboto"/>
              <a:cs typeface="Roboto"/>
              <a:sym typeface="Roboto"/>
            </a:endParaRPr>
          </a:p>
        </p:txBody>
      </p:sp>
      <p:sp>
        <p:nvSpPr>
          <p:cNvPr id="88" name="Google Shape;88;p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Main verbs or action verbs are used to express action; something that an animal, a person or a thing does. In each of the following sentences, we only have a main verb.</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180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The sun </a:t>
            </a:r>
            <a:r>
              <a:rPr b="0" i="1" lang="en-GB" sz="1400" u="none" cap="none" strike="noStrike">
                <a:solidFill>
                  <a:srgbClr val="808000"/>
                </a:solidFill>
                <a:highlight>
                  <a:srgbClr val="FFFFFF"/>
                </a:highlight>
                <a:latin typeface="Arial"/>
                <a:ea typeface="Arial"/>
                <a:cs typeface="Arial"/>
                <a:sym typeface="Arial"/>
              </a:rPr>
              <a:t>shines</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The horse </a:t>
            </a:r>
            <a:r>
              <a:rPr b="0" i="1" lang="en-GB" sz="1400" u="none" cap="none" strike="noStrike">
                <a:solidFill>
                  <a:srgbClr val="808000"/>
                </a:solidFill>
                <a:highlight>
                  <a:srgbClr val="FFFFFF"/>
                </a:highlight>
                <a:latin typeface="Arial"/>
                <a:ea typeface="Arial"/>
                <a:cs typeface="Arial"/>
                <a:sym typeface="Arial"/>
              </a:rPr>
              <a:t>neighs</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The monkey </a:t>
            </a:r>
            <a:r>
              <a:rPr b="0" i="1" lang="en-GB" sz="1400" u="none" cap="none" strike="noStrike">
                <a:solidFill>
                  <a:srgbClr val="808000"/>
                </a:solidFill>
                <a:highlight>
                  <a:srgbClr val="FFFFFF"/>
                </a:highlight>
                <a:latin typeface="Arial"/>
                <a:ea typeface="Arial"/>
                <a:cs typeface="Arial"/>
                <a:sym typeface="Arial"/>
              </a:rPr>
              <a:t>jumps</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0" lvl="0" marL="0" marR="241300" rtl="0" algn="l">
              <a:lnSpc>
                <a:spcPct val="15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a:p>
            <a:pPr indent="0" lvl="0" marL="0" marR="0" rtl="0" algn="l">
              <a:lnSpc>
                <a:spcPct val="136363"/>
              </a:lnSpc>
              <a:spcBef>
                <a:spcPts val="1200"/>
              </a:spcBef>
              <a:spcAft>
                <a:spcPts val="180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000"/>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p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94" name="Google Shape;94;p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95" name="Google Shape;95;p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
          <p:cNvSpPr txBox="1"/>
          <p:nvPr/>
        </p:nvSpPr>
        <p:spPr>
          <a:xfrm>
            <a:off x="204125" y="233550"/>
            <a:ext cx="29514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HELPING  VERBS:</a:t>
            </a:r>
            <a:endParaRPr b="0" i="0" sz="2000" u="none" cap="none" strike="noStrike">
              <a:solidFill>
                <a:schemeClr val="lt1"/>
              </a:solidFill>
              <a:latin typeface="Roboto"/>
              <a:ea typeface="Roboto"/>
              <a:cs typeface="Roboto"/>
              <a:sym typeface="Roboto"/>
            </a:endParaRPr>
          </a:p>
        </p:txBody>
      </p:sp>
      <p:sp>
        <p:nvSpPr>
          <p:cNvPr id="97" name="Google Shape;97;p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As the name suggests, helping verbs help or support the main verb.</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180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We </a:t>
            </a:r>
            <a:r>
              <a:rPr b="0" i="0" lang="en-GB" sz="1400" u="none" cap="none" strike="noStrike">
                <a:solidFill>
                  <a:srgbClr val="0066CC"/>
                </a:solidFill>
                <a:highlight>
                  <a:srgbClr val="FFFFFF"/>
                </a:highlight>
                <a:latin typeface="Arial"/>
                <a:ea typeface="Arial"/>
                <a:cs typeface="Arial"/>
                <a:sym typeface="Arial"/>
              </a:rPr>
              <a:t>are</a:t>
            </a:r>
            <a:r>
              <a:rPr b="0" i="0" lang="en-GB" sz="1400" u="none" cap="none" strike="noStrike">
                <a:solidFill>
                  <a:srgbClr val="333333"/>
                </a:solidFill>
                <a:highlight>
                  <a:srgbClr val="FFFFFF"/>
                </a:highlight>
                <a:latin typeface="Arial"/>
                <a:ea typeface="Arial"/>
                <a:cs typeface="Arial"/>
                <a:sym typeface="Arial"/>
              </a:rPr>
              <a:t> </a:t>
            </a:r>
            <a:r>
              <a:rPr b="0" i="0" lang="en-GB" sz="1400" u="none" cap="none" strike="noStrike">
                <a:solidFill>
                  <a:srgbClr val="808000"/>
                </a:solidFill>
                <a:highlight>
                  <a:srgbClr val="FFFFFF"/>
                </a:highlight>
                <a:latin typeface="Arial"/>
                <a:ea typeface="Arial"/>
                <a:cs typeface="Arial"/>
                <a:sym typeface="Arial"/>
              </a:rPr>
              <a:t>learning</a:t>
            </a:r>
            <a:r>
              <a:rPr b="0" i="0" lang="en-GB" sz="1400" u="none" cap="none" strike="noStrike">
                <a:solidFill>
                  <a:srgbClr val="333333"/>
                </a:solidFill>
                <a:highlight>
                  <a:srgbClr val="FFFFFF"/>
                </a:highlight>
                <a:latin typeface="Arial"/>
                <a:ea typeface="Arial"/>
                <a:cs typeface="Arial"/>
                <a:sym typeface="Arial"/>
              </a:rPr>
              <a:t> about helping verbs. (are: </a:t>
            </a:r>
            <a:r>
              <a:rPr b="0" i="0" lang="en-GB" sz="1400" u="none" cap="none" strike="noStrike">
                <a:solidFill>
                  <a:srgbClr val="0066CC"/>
                </a:solidFill>
                <a:highlight>
                  <a:srgbClr val="FFFFFF"/>
                </a:highlight>
                <a:latin typeface="Arial"/>
                <a:ea typeface="Arial"/>
                <a:cs typeface="Arial"/>
                <a:sym typeface="Arial"/>
              </a:rPr>
              <a:t>helping verb</a:t>
            </a:r>
            <a:r>
              <a:rPr b="0" i="0" lang="en-GB" sz="1400" u="none" cap="none" strike="noStrike">
                <a:solidFill>
                  <a:srgbClr val="333333"/>
                </a:solidFill>
                <a:highlight>
                  <a:srgbClr val="FFFFFF"/>
                </a:highlight>
                <a:latin typeface="Arial"/>
                <a:ea typeface="Arial"/>
                <a:cs typeface="Arial"/>
                <a:sym typeface="Arial"/>
              </a:rPr>
              <a:t>; learning: </a:t>
            </a:r>
            <a:r>
              <a:rPr b="0" i="0" lang="en-GB" sz="1400" u="none" cap="none" strike="noStrike">
                <a:solidFill>
                  <a:srgbClr val="808000"/>
                </a:solidFill>
                <a:highlight>
                  <a:srgbClr val="FFFFFF"/>
                </a:highlight>
                <a:latin typeface="Arial"/>
                <a:ea typeface="Arial"/>
                <a:cs typeface="Arial"/>
                <a:sym typeface="Arial"/>
              </a:rPr>
              <a:t>main verb</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 We </a:t>
            </a:r>
            <a:r>
              <a:rPr b="0" i="0" lang="en-GB" sz="1400" u="none" cap="none" strike="noStrike">
                <a:solidFill>
                  <a:srgbClr val="0066CC"/>
                </a:solidFill>
                <a:highlight>
                  <a:srgbClr val="FFFFFF"/>
                </a:highlight>
                <a:latin typeface="Arial"/>
                <a:ea typeface="Arial"/>
                <a:cs typeface="Arial"/>
                <a:sym typeface="Arial"/>
              </a:rPr>
              <a:t>are</a:t>
            </a:r>
            <a:r>
              <a:rPr b="0" i="0" lang="en-GB" sz="1400" u="none" cap="none" strike="noStrike">
                <a:solidFill>
                  <a:srgbClr val="333333"/>
                </a:solidFill>
                <a:highlight>
                  <a:srgbClr val="FFFFFF"/>
                </a:highlight>
                <a:latin typeface="Arial"/>
                <a:ea typeface="Arial"/>
                <a:cs typeface="Arial"/>
                <a:sym typeface="Arial"/>
              </a:rPr>
              <a:t> in the Green House Club. (are: </a:t>
            </a:r>
            <a:r>
              <a:rPr b="0" i="0" lang="en-GB" sz="1400" u="none" cap="none" strike="noStrike">
                <a:solidFill>
                  <a:srgbClr val="0066CC"/>
                </a:solidFill>
                <a:highlight>
                  <a:srgbClr val="FFFFFF"/>
                </a:highlight>
                <a:latin typeface="Arial"/>
                <a:ea typeface="Arial"/>
                <a:cs typeface="Arial"/>
                <a:sym typeface="Arial"/>
              </a:rPr>
              <a:t>helping verb</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You </a:t>
            </a:r>
            <a:r>
              <a:rPr b="0" i="0" lang="en-GB" sz="1400" u="none" cap="none" strike="noStrike">
                <a:solidFill>
                  <a:srgbClr val="0066CC"/>
                </a:solidFill>
                <a:highlight>
                  <a:srgbClr val="FFFFFF"/>
                </a:highlight>
                <a:latin typeface="Arial"/>
                <a:ea typeface="Arial"/>
                <a:cs typeface="Arial"/>
                <a:sym typeface="Arial"/>
              </a:rPr>
              <a:t>should</a:t>
            </a:r>
            <a:r>
              <a:rPr b="0" i="0" lang="en-GB" sz="1400" u="none" cap="none" strike="noStrike">
                <a:solidFill>
                  <a:srgbClr val="333333"/>
                </a:solidFill>
                <a:highlight>
                  <a:srgbClr val="FFFFFF"/>
                </a:highlight>
                <a:latin typeface="Arial"/>
                <a:ea typeface="Arial"/>
                <a:cs typeface="Arial"/>
                <a:sym typeface="Arial"/>
              </a:rPr>
              <a:t> </a:t>
            </a:r>
            <a:r>
              <a:rPr b="0" i="0" lang="en-GB" sz="1400" u="none" cap="none" strike="noStrike">
                <a:solidFill>
                  <a:srgbClr val="808000"/>
                </a:solidFill>
                <a:highlight>
                  <a:srgbClr val="FFFFFF"/>
                </a:highlight>
                <a:latin typeface="Arial"/>
                <a:ea typeface="Arial"/>
                <a:cs typeface="Arial"/>
                <a:sym typeface="Arial"/>
              </a:rPr>
              <a:t>complete</a:t>
            </a:r>
            <a:r>
              <a:rPr b="0" i="0" lang="en-GB" sz="1400" u="none" cap="none" strike="noStrike">
                <a:solidFill>
                  <a:srgbClr val="333333"/>
                </a:solidFill>
                <a:highlight>
                  <a:srgbClr val="FFFFFF"/>
                </a:highlight>
                <a:latin typeface="Arial"/>
                <a:ea typeface="Arial"/>
                <a:cs typeface="Arial"/>
                <a:sym typeface="Arial"/>
              </a:rPr>
              <a:t> the work by tomorrow. (should: </a:t>
            </a:r>
            <a:r>
              <a:rPr b="0" i="0" lang="en-GB" sz="1400" u="none" cap="none" strike="noStrike">
                <a:solidFill>
                  <a:srgbClr val="0066CC"/>
                </a:solidFill>
                <a:highlight>
                  <a:srgbClr val="FFFFFF"/>
                </a:highlight>
                <a:latin typeface="Arial"/>
                <a:ea typeface="Arial"/>
                <a:cs typeface="Arial"/>
                <a:sym typeface="Arial"/>
              </a:rPr>
              <a:t>helping verb</a:t>
            </a:r>
            <a:r>
              <a:rPr b="0" i="0" lang="en-GB" sz="1400" u="none" cap="none" strike="noStrike">
                <a:solidFill>
                  <a:srgbClr val="333333"/>
                </a:solidFill>
                <a:highlight>
                  <a:srgbClr val="FFFFFF"/>
                </a:highlight>
                <a:latin typeface="Arial"/>
                <a:ea typeface="Arial"/>
                <a:cs typeface="Arial"/>
                <a:sym typeface="Arial"/>
              </a:rPr>
              <a:t>; complete: </a:t>
            </a:r>
            <a:r>
              <a:rPr b="0" i="0" lang="en-GB" sz="1400" u="none" cap="none" strike="noStrike">
                <a:solidFill>
                  <a:srgbClr val="808000"/>
                </a:solidFill>
                <a:highlight>
                  <a:srgbClr val="FFFFFF"/>
                </a:highlight>
                <a:latin typeface="Arial"/>
                <a:ea typeface="Arial"/>
                <a:cs typeface="Arial"/>
                <a:sym typeface="Arial"/>
              </a:rPr>
              <a:t>main verb</a:t>
            </a:r>
            <a:r>
              <a:rPr b="0" i="0" lang="en-GB" sz="1400" u="none" cap="none" strike="noStrike">
                <a:solidFill>
                  <a:srgbClr val="333333"/>
                </a:solidFill>
                <a:highlight>
                  <a:srgbClr val="FFFFFF"/>
                </a:highlight>
                <a:latin typeface="Arial"/>
                <a:ea typeface="Arial"/>
                <a:cs typeface="Arial"/>
                <a:sym typeface="Arial"/>
              </a:rPr>
              <a:t>)</a:t>
            </a:r>
            <a:endParaRPr b="0" i="0" sz="1400" u="none" cap="none" strike="noStrike">
              <a:solidFill>
                <a:srgbClr val="333333"/>
              </a:solidFill>
              <a:highlight>
                <a:srgbClr val="FFFFFF"/>
              </a:highlight>
              <a:latin typeface="Arial"/>
              <a:ea typeface="Arial"/>
              <a:cs typeface="Arial"/>
              <a:sym typeface="Arial"/>
            </a:endParaRPr>
          </a:p>
          <a:p>
            <a:pPr indent="0" lvl="0" marL="0" marR="241300" rtl="0" algn="l">
              <a:lnSpc>
                <a:spcPct val="150000"/>
              </a:lnSpc>
              <a:spcBef>
                <a:spcPts val="0"/>
              </a:spcBef>
              <a:spcAft>
                <a:spcPts val="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36363"/>
              </a:lnSpc>
              <a:spcBef>
                <a:spcPts val="1200"/>
              </a:spcBef>
              <a:spcAft>
                <a:spcPts val="180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000"/>
                                        <p:tgtEl>
                                          <p:spTgt spid="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p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03" name="Google Shape;103;p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04" name="Google Shape;104;p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LINKING VERBS:</a:t>
            </a:r>
            <a:endParaRPr b="0" i="0" sz="2000" u="none" cap="none" strike="noStrike">
              <a:solidFill>
                <a:schemeClr val="lt1"/>
              </a:solidFill>
              <a:latin typeface="Roboto"/>
              <a:ea typeface="Roboto"/>
              <a:cs typeface="Roboto"/>
              <a:sym typeface="Roboto"/>
            </a:endParaRPr>
          </a:p>
        </p:txBody>
      </p:sp>
      <p:sp>
        <p:nvSpPr>
          <p:cNvPr id="106" name="Google Shape;106;p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State of Being verbs   state that something 'is'. State of being verbs also known as </a:t>
            </a:r>
            <a:r>
              <a:rPr b="1" i="1" lang="en-GB" sz="1400" u="none" cap="none" strike="noStrike">
                <a:solidFill>
                  <a:srgbClr val="333333"/>
                </a:solidFill>
                <a:highlight>
                  <a:srgbClr val="FFFFFF"/>
                </a:highlight>
                <a:latin typeface="Arial"/>
                <a:ea typeface="Arial"/>
                <a:cs typeface="Arial"/>
                <a:sym typeface="Arial"/>
              </a:rPr>
              <a:t>linking verbs</a:t>
            </a:r>
            <a:r>
              <a:rPr b="0" i="0" lang="en-GB" sz="1400" u="none" cap="none" strike="noStrike">
                <a:solidFill>
                  <a:srgbClr val="333333"/>
                </a:solidFill>
                <a:highlight>
                  <a:srgbClr val="FFFFFF"/>
                </a:highlight>
                <a:latin typeface="Arial"/>
                <a:ea typeface="Arial"/>
                <a:cs typeface="Arial"/>
                <a:sym typeface="Arial"/>
              </a:rPr>
              <a:t>. Linking verbs explain a link between the subject of the sentence and a noun or adjective being linked to it.</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GB" sz="1400" u="none" cap="none" strike="noStrike">
                <a:solidFill>
                  <a:srgbClr val="333333"/>
                </a:solidFill>
                <a:highlight>
                  <a:srgbClr val="FFFFFF"/>
                </a:highlight>
                <a:latin typeface="Arial"/>
                <a:ea typeface="Arial"/>
                <a:cs typeface="Arial"/>
                <a:sym typeface="Arial"/>
              </a:rPr>
              <a:t>List of Example Sentences</a:t>
            </a:r>
            <a:endParaRPr b="1"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The flowers </a:t>
            </a:r>
            <a:r>
              <a:rPr b="0" i="0" lang="en-GB" sz="1400" u="none" cap="none" strike="noStrike">
                <a:solidFill>
                  <a:srgbClr val="3366FF"/>
                </a:solidFill>
                <a:highlight>
                  <a:srgbClr val="FFFFFF"/>
                </a:highlight>
                <a:latin typeface="Arial"/>
                <a:ea typeface="Arial"/>
                <a:cs typeface="Arial"/>
                <a:sym typeface="Arial"/>
              </a:rPr>
              <a:t>are</a:t>
            </a:r>
            <a:r>
              <a:rPr b="0" i="0" lang="en-GB" sz="1400" u="none" cap="none" strike="noStrike">
                <a:solidFill>
                  <a:srgbClr val="333333"/>
                </a:solidFill>
                <a:highlight>
                  <a:srgbClr val="FFFFFF"/>
                </a:highlight>
                <a:latin typeface="Arial"/>
                <a:ea typeface="Arial"/>
                <a:cs typeface="Arial"/>
                <a:sym typeface="Arial"/>
              </a:rPr>
              <a:t> bright.</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Diamond </a:t>
            </a:r>
            <a:r>
              <a:rPr b="0" i="0" lang="en-GB" sz="1400" u="none" cap="none" strike="noStrike">
                <a:solidFill>
                  <a:srgbClr val="3366FF"/>
                </a:solidFill>
                <a:highlight>
                  <a:srgbClr val="FFFFFF"/>
                </a:highlight>
                <a:latin typeface="Arial"/>
                <a:ea typeface="Arial"/>
                <a:cs typeface="Arial"/>
                <a:sym typeface="Arial"/>
              </a:rPr>
              <a:t>is</a:t>
            </a:r>
            <a:r>
              <a:rPr b="0" i="0" lang="en-GB" sz="1400" u="none" cap="none" strike="noStrike">
                <a:solidFill>
                  <a:srgbClr val="333333"/>
                </a:solidFill>
                <a:highlight>
                  <a:srgbClr val="FFFFFF"/>
                </a:highlight>
                <a:latin typeface="Arial"/>
                <a:ea typeface="Arial"/>
                <a:cs typeface="Arial"/>
                <a:sym typeface="Arial"/>
              </a:rPr>
              <a:t> the hardest substance.</a:t>
            </a:r>
            <a:endParaRPr b="0" i="0" sz="1400" u="none" cap="none" strike="noStrike">
              <a:solidFill>
                <a:srgbClr val="333333"/>
              </a:solidFill>
              <a:highlight>
                <a:srgbClr val="FFFFFF"/>
              </a:highlight>
              <a:latin typeface="Arial"/>
              <a:ea typeface="Arial"/>
              <a:cs typeface="Arial"/>
              <a:sym typeface="Arial"/>
            </a:endParaRPr>
          </a:p>
          <a:p>
            <a:pPr indent="-317500" lvl="0" marL="457200" marR="241300" rtl="0" algn="l">
              <a:lnSpc>
                <a:spcPct val="150000"/>
              </a:lnSpc>
              <a:spcBef>
                <a:spcPts val="0"/>
              </a:spcBef>
              <a:spcAft>
                <a:spcPts val="0"/>
              </a:spcAft>
              <a:buClr>
                <a:srgbClr val="000000"/>
              </a:buClr>
              <a:buSzPts val="1400"/>
              <a:buFont typeface="Arial"/>
              <a:buAutoNum type="arabicPeriod"/>
            </a:pPr>
            <a:r>
              <a:rPr b="0" i="0" lang="en-GB" sz="1400" u="none" cap="none" strike="noStrike">
                <a:solidFill>
                  <a:srgbClr val="333333"/>
                </a:solidFill>
                <a:highlight>
                  <a:srgbClr val="FFFFFF"/>
                </a:highlight>
                <a:latin typeface="Arial"/>
                <a:ea typeface="Arial"/>
                <a:cs typeface="Arial"/>
                <a:sym typeface="Arial"/>
              </a:rPr>
              <a:t>I </a:t>
            </a:r>
            <a:r>
              <a:rPr b="0" i="0" lang="en-GB" sz="1400" u="none" cap="none" strike="noStrike">
                <a:solidFill>
                  <a:srgbClr val="3366FF"/>
                </a:solidFill>
                <a:highlight>
                  <a:srgbClr val="FFFFFF"/>
                </a:highlight>
                <a:latin typeface="Arial"/>
                <a:ea typeface="Arial"/>
                <a:cs typeface="Arial"/>
                <a:sym typeface="Arial"/>
              </a:rPr>
              <a:t>feel</a:t>
            </a:r>
            <a:r>
              <a:rPr b="0" i="0" lang="en-GB" sz="1400" u="none" cap="none" strike="noStrike">
                <a:solidFill>
                  <a:srgbClr val="333333"/>
                </a:solidFill>
                <a:highlight>
                  <a:srgbClr val="FFFFFF"/>
                </a:highlight>
                <a:latin typeface="Arial"/>
                <a:ea typeface="Arial"/>
                <a:cs typeface="Arial"/>
                <a:sym typeface="Arial"/>
              </a:rPr>
              <a:t> scared.</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36363"/>
              </a:lnSpc>
              <a:spcBef>
                <a:spcPts val="1200"/>
              </a:spcBef>
              <a:spcAft>
                <a:spcPts val="1800"/>
              </a:spcAft>
              <a:buClr>
                <a:srgbClr val="000000"/>
              </a:buClr>
              <a:buSzPts val="1800"/>
              <a:buFont typeface="Arial"/>
              <a:buNone/>
            </a:pPr>
            <a:r>
              <a:t/>
            </a:r>
            <a:endParaRPr b="0" i="0" sz="1800" u="none" cap="none" strike="noStrike">
              <a:solidFill>
                <a:srgbClr val="666666"/>
              </a:solidFill>
              <a:highlight>
                <a:srgbClr val="FFFFFF"/>
              </a:highlight>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12" name="Google Shape;112;p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13" name="Google Shape;113;p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
          <p:cNvSpPr txBox="1"/>
          <p:nvPr/>
        </p:nvSpPr>
        <p:spPr>
          <a:xfrm>
            <a:off x="327600" y="233550"/>
            <a:ext cx="32004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UNDERSTANDING VERBS:</a:t>
            </a:r>
            <a:endParaRPr b="0" i="0" sz="2000" u="none" cap="none" strike="noStrike">
              <a:solidFill>
                <a:schemeClr val="lt1"/>
              </a:solidFill>
              <a:latin typeface="Roboto"/>
              <a:ea typeface="Roboto"/>
              <a:cs typeface="Roboto"/>
              <a:sym typeface="Roboto"/>
            </a:endParaRPr>
          </a:p>
        </p:txBody>
      </p:sp>
      <p:sp>
        <p:nvSpPr>
          <p:cNvPr id="115" name="Google Shape;115;p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36363"/>
              </a:lnSpc>
              <a:spcBef>
                <a:spcPts val="120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The words: </a:t>
            </a:r>
            <a:r>
              <a:rPr b="0" i="0" lang="en-GB" sz="1400" u="none" cap="none" strike="noStrike">
                <a:solidFill>
                  <a:srgbClr val="DE0030"/>
                </a:solidFill>
                <a:highlight>
                  <a:srgbClr val="FFFFFF"/>
                </a:highlight>
                <a:latin typeface="Arial"/>
                <a:ea typeface="Arial"/>
                <a:cs typeface="Arial"/>
                <a:sym typeface="Arial"/>
              </a:rPr>
              <a:t>am</a:t>
            </a:r>
            <a:r>
              <a:rPr b="0" i="0" lang="en-GB" sz="1400" u="none" cap="none" strike="noStrike">
                <a:solidFill>
                  <a:srgbClr val="333333"/>
                </a:solidFill>
                <a:highlight>
                  <a:srgbClr val="FFFFFF"/>
                </a:highlight>
                <a:latin typeface="Arial"/>
                <a:ea typeface="Arial"/>
                <a:cs typeface="Arial"/>
                <a:sym typeface="Arial"/>
              </a:rPr>
              <a:t>, </a:t>
            </a:r>
            <a:r>
              <a:rPr b="0" i="0" lang="en-GB" sz="1400" u="none" cap="none" strike="noStrike">
                <a:solidFill>
                  <a:srgbClr val="DE0030"/>
                </a:solidFill>
                <a:highlight>
                  <a:srgbClr val="FFFFFF"/>
                </a:highlight>
                <a:latin typeface="Arial"/>
                <a:ea typeface="Arial"/>
                <a:cs typeface="Arial"/>
                <a:sym typeface="Arial"/>
              </a:rPr>
              <a:t>is</a:t>
            </a:r>
            <a:r>
              <a:rPr b="0" i="0" lang="en-GB" sz="1400" u="none" cap="none" strike="noStrike">
                <a:solidFill>
                  <a:srgbClr val="333333"/>
                </a:solidFill>
                <a:highlight>
                  <a:srgbClr val="FFFFFF"/>
                </a:highlight>
                <a:latin typeface="Arial"/>
                <a:ea typeface="Arial"/>
                <a:cs typeface="Arial"/>
                <a:sym typeface="Arial"/>
              </a:rPr>
              <a:t>, </a:t>
            </a:r>
            <a:r>
              <a:rPr b="0" i="0" lang="en-GB" sz="1400" u="none" cap="none" strike="noStrike">
                <a:solidFill>
                  <a:srgbClr val="DE0030"/>
                </a:solidFill>
                <a:highlight>
                  <a:srgbClr val="FFFFFF"/>
                </a:highlight>
                <a:latin typeface="Arial"/>
                <a:ea typeface="Arial"/>
                <a:cs typeface="Arial"/>
                <a:sym typeface="Arial"/>
              </a:rPr>
              <a:t>are</a:t>
            </a:r>
            <a:r>
              <a:rPr b="0" i="0" lang="en-GB" sz="1400" u="none" cap="none" strike="noStrike">
                <a:solidFill>
                  <a:srgbClr val="333333"/>
                </a:solidFill>
                <a:highlight>
                  <a:srgbClr val="FFFFFF"/>
                </a:highlight>
                <a:latin typeface="Arial"/>
                <a:ea typeface="Arial"/>
                <a:cs typeface="Arial"/>
                <a:sym typeface="Arial"/>
              </a:rPr>
              <a:t>, </a:t>
            </a:r>
            <a:r>
              <a:rPr b="0" i="0" lang="en-GB" sz="1400" u="none" cap="none" strike="noStrike">
                <a:solidFill>
                  <a:srgbClr val="DE0030"/>
                </a:solidFill>
                <a:highlight>
                  <a:srgbClr val="FFFFFF"/>
                </a:highlight>
                <a:latin typeface="Arial"/>
                <a:ea typeface="Arial"/>
                <a:cs typeface="Arial"/>
                <a:sym typeface="Arial"/>
              </a:rPr>
              <a:t>was</a:t>
            </a:r>
            <a:r>
              <a:rPr b="0" i="0" lang="en-GB" sz="1400" u="none" cap="none" strike="noStrike">
                <a:solidFill>
                  <a:srgbClr val="333333"/>
                </a:solidFill>
                <a:highlight>
                  <a:srgbClr val="FFFFFF"/>
                </a:highlight>
                <a:latin typeface="Arial"/>
                <a:ea typeface="Arial"/>
                <a:cs typeface="Arial"/>
                <a:sym typeface="Arial"/>
              </a:rPr>
              <a:t>, and </a:t>
            </a:r>
            <a:r>
              <a:rPr b="0" i="0" lang="en-GB" sz="1400" u="none" cap="none" strike="noStrike">
                <a:solidFill>
                  <a:srgbClr val="DE0030"/>
                </a:solidFill>
                <a:highlight>
                  <a:srgbClr val="FFFFFF"/>
                </a:highlight>
                <a:latin typeface="Arial"/>
                <a:ea typeface="Arial"/>
                <a:cs typeface="Arial"/>
                <a:sym typeface="Arial"/>
              </a:rPr>
              <a:t>were</a:t>
            </a:r>
            <a:r>
              <a:rPr b="0" i="0" lang="en-GB" sz="1400" u="none" cap="none" strike="noStrike">
                <a:solidFill>
                  <a:srgbClr val="333333"/>
                </a:solidFill>
                <a:highlight>
                  <a:srgbClr val="FFFFFF"/>
                </a:highlight>
                <a:latin typeface="Arial"/>
                <a:ea typeface="Arial"/>
                <a:cs typeface="Arial"/>
                <a:sym typeface="Arial"/>
              </a:rPr>
              <a:t>, belong to the verb "to be". We use 'am' or 'was' with the pronoun 'I'. We use 'is' or 'was' when the subject of the sentence is singular. We use 'are' or 'were' when the subject of the sentence is plural.</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GB" sz="1400" u="none" cap="none" strike="noStrike">
                <a:solidFill>
                  <a:srgbClr val="333333"/>
                </a:solidFill>
                <a:highlight>
                  <a:srgbClr val="FFFFFF"/>
                </a:highlight>
                <a:latin typeface="Arial"/>
                <a:ea typeface="Arial"/>
                <a:cs typeface="Arial"/>
                <a:sym typeface="Arial"/>
              </a:rPr>
              <a:t>List of Example Sentences</a:t>
            </a:r>
            <a:endParaRPr b="1" i="0" sz="1400" u="none" cap="none" strike="noStrike">
              <a:solidFill>
                <a:srgbClr val="333333"/>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1.       I </a:t>
            </a:r>
            <a:r>
              <a:rPr b="0" i="0" lang="en-GB" sz="1400" u="none" cap="none" strike="noStrike">
                <a:solidFill>
                  <a:srgbClr val="DE0030"/>
                </a:solidFill>
                <a:highlight>
                  <a:srgbClr val="FFFFFF"/>
                </a:highlight>
                <a:latin typeface="Arial"/>
                <a:ea typeface="Arial"/>
                <a:cs typeface="Arial"/>
                <a:sym typeface="Arial"/>
              </a:rPr>
              <a:t>was</a:t>
            </a:r>
            <a:r>
              <a:rPr b="0" i="0" lang="en-GB" sz="1400" u="none" cap="none" strike="noStrike">
                <a:solidFill>
                  <a:srgbClr val="333333"/>
                </a:solidFill>
                <a:highlight>
                  <a:srgbClr val="FFFFFF"/>
                </a:highlight>
                <a:latin typeface="Arial"/>
                <a:ea typeface="Arial"/>
                <a:cs typeface="Arial"/>
                <a:sym typeface="Arial"/>
              </a:rPr>
              <a:t> late for school yesterday.</a:t>
            </a:r>
            <a:endParaRPr b="0" i="0" sz="1400" u="none" cap="none" strike="noStrike">
              <a:solidFill>
                <a:srgbClr val="333333"/>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2.       I </a:t>
            </a:r>
            <a:r>
              <a:rPr b="0" i="0" lang="en-GB" sz="1400" u="none" cap="none" strike="noStrike">
                <a:solidFill>
                  <a:srgbClr val="DE0030"/>
                </a:solidFill>
                <a:highlight>
                  <a:srgbClr val="FFFFFF"/>
                </a:highlight>
                <a:latin typeface="Arial"/>
                <a:ea typeface="Arial"/>
                <a:cs typeface="Arial"/>
                <a:sym typeface="Arial"/>
              </a:rPr>
              <a:t>am</a:t>
            </a:r>
            <a:r>
              <a:rPr b="0" i="0" lang="en-GB" sz="1400" u="none" cap="none" strike="noStrike">
                <a:solidFill>
                  <a:srgbClr val="333333"/>
                </a:solidFill>
                <a:highlight>
                  <a:srgbClr val="FFFFFF"/>
                </a:highlight>
                <a:latin typeface="Arial"/>
                <a:ea typeface="Arial"/>
                <a:cs typeface="Arial"/>
                <a:sym typeface="Arial"/>
              </a:rPr>
              <a:t> twelve years old.</a:t>
            </a:r>
            <a:endParaRPr b="0" i="0" sz="1400" u="none" cap="none" strike="noStrike">
              <a:solidFill>
                <a:srgbClr val="333333"/>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3.       She </a:t>
            </a:r>
            <a:r>
              <a:rPr b="0" i="0" lang="en-GB" sz="1400" u="none" cap="none" strike="noStrike">
                <a:solidFill>
                  <a:srgbClr val="DE0030"/>
                </a:solidFill>
                <a:highlight>
                  <a:srgbClr val="FFFFFF"/>
                </a:highlight>
                <a:latin typeface="Arial"/>
                <a:ea typeface="Arial"/>
                <a:cs typeface="Arial"/>
                <a:sym typeface="Arial"/>
              </a:rPr>
              <a:t>is</a:t>
            </a:r>
            <a:r>
              <a:rPr b="0" i="0" lang="en-GB" sz="1400" u="none" cap="none" strike="noStrike">
                <a:solidFill>
                  <a:srgbClr val="333333"/>
                </a:solidFill>
                <a:highlight>
                  <a:srgbClr val="FFFFFF"/>
                </a:highlight>
                <a:latin typeface="Arial"/>
                <a:ea typeface="Arial"/>
                <a:cs typeface="Arial"/>
                <a:sym typeface="Arial"/>
              </a:rPr>
              <a:t> a wonderful singer.</a:t>
            </a:r>
            <a:endParaRPr b="0" i="0" sz="1400" u="none" cap="none" strike="noStrike">
              <a:solidFill>
                <a:srgbClr val="333333"/>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4.       These questions </a:t>
            </a:r>
            <a:r>
              <a:rPr b="0" i="0" lang="en-GB" sz="1400" u="none" cap="none" strike="noStrike">
                <a:solidFill>
                  <a:srgbClr val="DE0030"/>
                </a:solidFill>
                <a:highlight>
                  <a:srgbClr val="FFFFFF"/>
                </a:highlight>
                <a:latin typeface="Arial"/>
                <a:ea typeface="Arial"/>
                <a:cs typeface="Arial"/>
                <a:sym typeface="Arial"/>
              </a:rPr>
              <a:t>are</a:t>
            </a:r>
            <a:r>
              <a:rPr b="0" i="0" lang="en-GB" sz="1400" u="none" cap="none" strike="noStrike">
                <a:solidFill>
                  <a:srgbClr val="333333"/>
                </a:solidFill>
                <a:highlight>
                  <a:srgbClr val="FFFFFF"/>
                </a:highlight>
                <a:latin typeface="Arial"/>
                <a:ea typeface="Arial"/>
                <a:cs typeface="Arial"/>
                <a:sym typeface="Arial"/>
              </a:rPr>
              <a:t> difficult.</a:t>
            </a:r>
            <a:endParaRPr b="0" i="0" sz="1400" u="none" cap="none" strike="noStrike">
              <a:solidFill>
                <a:srgbClr val="333333"/>
              </a:solidFill>
              <a:highlight>
                <a:srgbClr val="FFFFFF"/>
              </a:highlight>
              <a:latin typeface="Arial"/>
              <a:ea typeface="Arial"/>
              <a:cs typeface="Arial"/>
              <a:sym typeface="Arial"/>
            </a:endParaRPr>
          </a:p>
          <a:p>
            <a:pPr indent="0" lvl="0" marL="241300" marR="241300" rtl="0" algn="l">
              <a:lnSpc>
                <a:spcPct val="150000"/>
              </a:lnSpc>
              <a:spcBef>
                <a:spcPts val="0"/>
              </a:spcBef>
              <a:spcAft>
                <a:spcPts val="0"/>
              </a:spcAft>
              <a:buClr>
                <a:srgbClr val="000000"/>
              </a:buClr>
              <a:buSzPts val="1400"/>
              <a:buFont typeface="Arial"/>
              <a:buNone/>
            </a:pPr>
            <a:r>
              <a:rPr b="0" i="0" lang="en-GB" sz="1400" u="none" cap="none" strike="noStrike">
                <a:solidFill>
                  <a:srgbClr val="333333"/>
                </a:solidFill>
                <a:highlight>
                  <a:srgbClr val="FFFFFF"/>
                </a:highlight>
                <a:latin typeface="Arial"/>
                <a:ea typeface="Arial"/>
                <a:cs typeface="Arial"/>
                <a:sym typeface="Arial"/>
              </a:rPr>
              <a:t>5.       He </a:t>
            </a:r>
            <a:r>
              <a:rPr b="0" i="0" lang="en-GB" sz="1400" u="none" cap="none" strike="noStrike">
                <a:solidFill>
                  <a:srgbClr val="DE0030"/>
                </a:solidFill>
                <a:highlight>
                  <a:srgbClr val="FFFFFF"/>
                </a:highlight>
                <a:latin typeface="Arial"/>
                <a:ea typeface="Arial"/>
                <a:cs typeface="Arial"/>
                <a:sym typeface="Arial"/>
              </a:rPr>
              <a:t>was</a:t>
            </a:r>
            <a:r>
              <a:rPr b="0" i="0" lang="en-GB" sz="1400" u="none" cap="none" strike="noStrike">
                <a:solidFill>
                  <a:srgbClr val="333333"/>
                </a:solidFill>
                <a:highlight>
                  <a:srgbClr val="FFFFFF"/>
                </a:highlight>
                <a:latin typeface="Arial"/>
                <a:ea typeface="Arial"/>
                <a:cs typeface="Arial"/>
                <a:sym typeface="Arial"/>
              </a:rPr>
              <a:t> planning to meet the doctor.</a:t>
            </a:r>
            <a:endParaRPr b="0" i="0" sz="1400" u="none" cap="none" strike="noStrike">
              <a:solidFill>
                <a:srgbClr val="333333"/>
              </a:solidFill>
              <a:highlight>
                <a:srgbClr val="FFFFFF"/>
              </a:highlight>
              <a:latin typeface="Arial"/>
              <a:ea typeface="Arial"/>
              <a:cs typeface="Arial"/>
              <a:sym typeface="Arial"/>
            </a:endParaRPr>
          </a:p>
          <a:p>
            <a:pPr indent="0" lvl="0" marL="0" marR="0" rtl="0" algn="l">
              <a:lnSpc>
                <a:spcPct val="136363"/>
              </a:lnSpc>
              <a:spcBef>
                <a:spcPts val="1200"/>
              </a:spcBef>
              <a:spcAft>
                <a:spcPts val="1800"/>
              </a:spcAft>
              <a:buClr>
                <a:srgbClr val="000000"/>
              </a:buClr>
              <a:buSzPts val="1400"/>
              <a:buFont typeface="Arial"/>
              <a:buNone/>
            </a:pPr>
            <a:r>
              <a:t/>
            </a:r>
            <a:endParaRPr b="0" i="0" sz="1400" u="none" cap="none" strike="noStrike">
              <a:solidFill>
                <a:srgbClr val="333333"/>
              </a:solidFill>
              <a:highlight>
                <a:srgbClr val="FFFFFF"/>
              </a:highlight>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21" name="Google Shape;121;p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22" name="Google Shape;122;p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24" name="Google Shape;124;p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Fill in the blanks with suitable verbs: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GB" sz="1400" u="none" cap="none" strike="noStrike">
                <a:solidFill>
                  <a:srgbClr val="000000"/>
                </a:solidFill>
                <a:latin typeface="Arial"/>
                <a:ea typeface="Arial"/>
                <a:cs typeface="Arial"/>
                <a:sym typeface="Arial"/>
              </a:rPr>
              <a:t>We ___________  him the money.</a:t>
            </a:r>
            <a:endParaRPr b="0" i="0" sz="1400" u="none" cap="none" strike="noStrike">
              <a:solidFill>
                <a:srgbClr val="000000"/>
              </a:solidFill>
              <a:latin typeface="Arial"/>
              <a:ea typeface="Arial"/>
              <a:cs typeface="Arial"/>
              <a:sym typeface="Arial"/>
            </a:endParaRPr>
          </a:p>
          <a:p>
            <a:pPr indent="-317500" lvl="0" marL="457200" marR="0" rtl="0" algn="l">
              <a:lnSpc>
                <a:spcPct val="115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paid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paid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been paid</a:t>
            </a:r>
            <a:endParaRPr b="0" i="0" sz="14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been paid </a:t>
            </a:r>
            <a:endParaRPr b="0" i="0" sz="1400" u="none" cap="none" strike="noStrike">
              <a:solidFill>
                <a:schemeClr val="dk1"/>
              </a:solidFill>
              <a:latin typeface="Arial"/>
              <a:ea typeface="Arial"/>
              <a:cs typeface="Arial"/>
              <a:sym typeface="Arial"/>
            </a:endParaRPr>
          </a:p>
        </p:txBody>
      </p:sp>
      <p:sp>
        <p:nvSpPr>
          <p:cNvPr id="125" name="Google Shape;125;p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31" name="Google Shape;131;p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32" name="Google Shape;132;p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34" name="Google Shape;134;p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 I _________ my sister a watch.</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bought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bought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been bought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been bought</a:t>
            </a:r>
            <a:endParaRPr b="0" i="0" sz="1400" u="none" cap="none" strike="noStrike">
              <a:solidFill>
                <a:schemeClr val="dk1"/>
              </a:solidFill>
              <a:latin typeface="Arial"/>
              <a:ea typeface="Arial"/>
              <a:cs typeface="Arial"/>
              <a:sym typeface="Arial"/>
            </a:endParaRPr>
          </a:p>
        </p:txBody>
      </p:sp>
      <p:sp>
        <p:nvSpPr>
          <p:cNvPr id="135" name="Google Shape;135;p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1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41" name="Google Shape;141;p1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42" name="Google Shape;142;p1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1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03</a:t>
            </a:r>
            <a:endParaRPr b="0" i="0" sz="2000" u="none" cap="none" strike="noStrike">
              <a:solidFill>
                <a:schemeClr val="lt1"/>
              </a:solidFill>
              <a:latin typeface="Roboto"/>
              <a:ea typeface="Roboto"/>
              <a:cs typeface="Roboto"/>
              <a:sym typeface="Roboto"/>
            </a:endParaRPr>
          </a:p>
        </p:txBody>
      </p:sp>
      <p:sp>
        <p:nvSpPr>
          <p:cNvPr id="144" name="Google Shape;144;p1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_________ (Show/Shows) me your hands.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Show</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Shows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Showed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shown</a:t>
            </a:r>
            <a:endParaRPr b="0" i="0" sz="1400" u="none" cap="none" strike="noStrike">
              <a:solidFill>
                <a:schemeClr val="dk1"/>
              </a:solidFill>
              <a:latin typeface="Arial"/>
              <a:ea typeface="Arial"/>
              <a:cs typeface="Arial"/>
              <a:sym typeface="Arial"/>
            </a:endParaRPr>
          </a:p>
        </p:txBody>
      </p:sp>
      <p:sp>
        <p:nvSpPr>
          <p:cNvPr id="145" name="Google Shape;145;p1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1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51" name="Google Shape;151;p1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52" name="Google Shape;152;p1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54" name="Google Shape;154;p1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You _________ (has made/have made) your shirt dirty.</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made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made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Had made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been made</a:t>
            </a:r>
            <a:endParaRPr b="0" i="0" sz="1400" u="none" cap="none" strike="noStrike">
              <a:solidFill>
                <a:schemeClr val="dk1"/>
              </a:solidFill>
              <a:latin typeface="Arial"/>
              <a:ea typeface="Arial"/>
              <a:cs typeface="Arial"/>
              <a:sym typeface="Arial"/>
            </a:endParaRPr>
          </a:p>
        </p:txBody>
      </p:sp>
      <p:sp>
        <p:nvSpPr>
          <p:cNvPr id="155" name="Google Shape;155;p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1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61" name="Google Shape;161;p1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62" name="Google Shape;162;p1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1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64" name="Google Shape;164;p1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We _________ (are waiting/is waiting) for Rohan.</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Are waiting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Is waiting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Was waiting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Were waiting</a:t>
            </a:r>
            <a:endParaRPr b="0" i="0" sz="1400" u="none" cap="none" strike="noStrike">
              <a:solidFill>
                <a:schemeClr val="dk1"/>
              </a:solidFill>
              <a:latin typeface="Arial"/>
              <a:ea typeface="Arial"/>
              <a:cs typeface="Arial"/>
              <a:sym typeface="Arial"/>
            </a:endParaRPr>
          </a:p>
        </p:txBody>
      </p:sp>
      <p:sp>
        <p:nvSpPr>
          <p:cNvPr id="165" name="Google Shape;165;p1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13"/>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71" name="Google Shape;171;p13"/>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72" name="Google Shape;172;p13"/>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3"/>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06</a:t>
            </a:r>
            <a:endParaRPr b="0" i="0" sz="2000" u="none" cap="none" strike="noStrike">
              <a:solidFill>
                <a:schemeClr val="lt1"/>
              </a:solidFill>
              <a:latin typeface="Roboto"/>
              <a:ea typeface="Roboto"/>
              <a:cs typeface="Roboto"/>
              <a:sym typeface="Roboto"/>
            </a:endParaRPr>
          </a:p>
        </p:txBody>
      </p:sp>
      <p:sp>
        <p:nvSpPr>
          <p:cNvPr id="174" name="Google Shape;174;p13"/>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These books _________ to me.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Belong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Belongs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Is belong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Was belong</a:t>
            </a:r>
            <a:endParaRPr b="0" i="0" sz="1400" u="none" cap="none" strike="noStrike">
              <a:solidFill>
                <a:schemeClr val="dk1"/>
              </a:solidFill>
              <a:latin typeface="Arial"/>
              <a:ea typeface="Arial"/>
              <a:cs typeface="Arial"/>
              <a:sym typeface="Arial"/>
            </a:endParaRPr>
          </a:p>
        </p:txBody>
      </p:sp>
      <p:sp>
        <p:nvSpPr>
          <p:cNvPr id="175" name="Google Shape;175;p1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4"/>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81" name="Google Shape;181;p14"/>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82" name="Google Shape;182;p14"/>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4"/>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07</a:t>
            </a:r>
            <a:endParaRPr b="0" i="0" sz="2000" u="none" cap="none" strike="noStrike">
              <a:solidFill>
                <a:schemeClr val="lt1"/>
              </a:solidFill>
              <a:latin typeface="Roboto"/>
              <a:ea typeface="Roboto"/>
              <a:cs typeface="Roboto"/>
              <a:sym typeface="Roboto"/>
            </a:endParaRPr>
          </a:p>
        </p:txBody>
      </p:sp>
      <p:sp>
        <p:nvSpPr>
          <p:cNvPr id="184" name="Google Shape;184;p14"/>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She _________ to go.</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Want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Wants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Wanted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Is want</a:t>
            </a:r>
            <a:endParaRPr b="0" i="0" sz="1400" u="none" cap="none" strike="noStrike">
              <a:solidFill>
                <a:schemeClr val="dk1"/>
              </a:solidFill>
              <a:latin typeface="Arial"/>
              <a:ea typeface="Arial"/>
              <a:cs typeface="Arial"/>
              <a:sym typeface="Arial"/>
            </a:endParaRPr>
          </a:p>
        </p:txBody>
      </p:sp>
      <p:sp>
        <p:nvSpPr>
          <p:cNvPr id="185" name="Google Shape;185;p1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5"/>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191" name="Google Shape;191;p15"/>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192" name="Google Shape;192;p15"/>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15"/>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194" name="Google Shape;194;p15"/>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We _________to visit the museum.</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Will like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Would like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Will like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Was like</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195" name="Google Shape;195;p1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6"/>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01" name="Google Shape;201;p16"/>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02" name="Google Shape;202;p16"/>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16"/>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04" name="Google Shape;204;p16"/>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He _________ (has finished/have finished) talking.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finished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finished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been finished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been finished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205" name="Google Shape;205;p1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17"/>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11" name="Google Shape;211;p17"/>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12" name="Google Shape;212;p17"/>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17"/>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10</a:t>
            </a:r>
            <a:endParaRPr b="0" i="0" sz="2000" u="none" cap="none" strike="noStrike">
              <a:solidFill>
                <a:schemeClr val="lt1"/>
              </a:solidFill>
              <a:latin typeface="Roboto"/>
              <a:ea typeface="Roboto"/>
              <a:cs typeface="Roboto"/>
              <a:sym typeface="Roboto"/>
            </a:endParaRPr>
          </a:p>
        </p:txBody>
      </p:sp>
      <p:sp>
        <p:nvSpPr>
          <p:cNvPr id="214" name="Google Shape;214;p17"/>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My brother _________ playing cricket.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Enjoy</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Enjoys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Enjoyed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Enjoying</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215" name="Google Shape;215;p1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18"/>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21" name="Google Shape;221;p18"/>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22" name="Google Shape;222;p18"/>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8"/>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24" name="Google Shape;224;p18"/>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We _________ the house deserted.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Find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Found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Was found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Finding</a:t>
            </a:r>
            <a:endParaRPr b="0" i="0" sz="1400" u="none" cap="none" strike="noStrike">
              <a:solidFill>
                <a:schemeClr val="dk1"/>
              </a:solidFill>
              <a:latin typeface="Arial"/>
              <a:ea typeface="Arial"/>
              <a:cs typeface="Arial"/>
              <a:sym typeface="Arial"/>
            </a:endParaRPr>
          </a:p>
        </p:txBody>
      </p:sp>
      <p:sp>
        <p:nvSpPr>
          <p:cNvPr id="225" name="Google Shape;225;p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19"/>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31" name="Google Shape;231;p19"/>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32" name="Google Shape;232;p19"/>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9"/>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12</a:t>
            </a:r>
            <a:endParaRPr b="0" i="0" sz="2000" u="none" cap="none" strike="noStrike">
              <a:solidFill>
                <a:schemeClr val="lt1"/>
              </a:solidFill>
              <a:latin typeface="Roboto"/>
              <a:ea typeface="Roboto"/>
              <a:cs typeface="Roboto"/>
              <a:sym typeface="Roboto"/>
            </a:endParaRPr>
          </a:p>
        </p:txBody>
      </p:sp>
      <p:sp>
        <p:nvSpPr>
          <p:cNvPr id="234" name="Google Shape;234;p19"/>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We _________ (hope/hoped) that you would succeed.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Hope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Hoped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Hoping</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Hopeful</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235" name="Google Shape;235;p1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pic>
        <p:nvPicPr>
          <p:cNvPr id="240" name="Google Shape;240;p20"/>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41" name="Google Shape;241;p20"/>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42" name="Google Shape;242;p20"/>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0"/>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13</a:t>
            </a:r>
            <a:endParaRPr b="0" i="0" sz="2000" u="none" cap="none" strike="noStrike">
              <a:solidFill>
                <a:schemeClr val="lt1"/>
              </a:solidFill>
              <a:latin typeface="Roboto"/>
              <a:ea typeface="Roboto"/>
              <a:cs typeface="Roboto"/>
              <a:sym typeface="Roboto"/>
            </a:endParaRPr>
          </a:p>
        </p:txBody>
      </p:sp>
      <p:sp>
        <p:nvSpPr>
          <p:cNvPr id="244" name="Google Shape;244;p20"/>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She _________ (has assured/have assured) me that she is ready to help.</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assured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assured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Has been assurd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Have been assured</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245" name="Google Shape;245;p2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1"/>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51" name="Google Shape;251;p21"/>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52" name="Google Shape;252;p21"/>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1"/>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14</a:t>
            </a:r>
            <a:endParaRPr b="0" i="0" sz="2000" u="none" cap="none" strike="noStrike">
              <a:solidFill>
                <a:schemeClr val="lt1"/>
              </a:solidFill>
              <a:latin typeface="Roboto"/>
              <a:ea typeface="Roboto"/>
              <a:cs typeface="Roboto"/>
              <a:sym typeface="Roboto"/>
            </a:endParaRPr>
          </a:p>
        </p:txBody>
      </p:sp>
      <p:sp>
        <p:nvSpPr>
          <p:cNvPr id="254" name="Google Shape;254;p21"/>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Nobody _________ (know/knows) when he will arrive.</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Know</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Knows</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Known</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knowing</a:t>
            </a:r>
            <a:endParaRPr b="0" i="0" sz="1400" u="none" cap="none" strike="noStrike">
              <a:solidFill>
                <a:schemeClr val="dk1"/>
              </a:solidFill>
              <a:latin typeface="Arial"/>
              <a:ea typeface="Arial"/>
              <a:cs typeface="Arial"/>
              <a:sym typeface="Arial"/>
            </a:endParaRPr>
          </a:p>
        </p:txBody>
      </p:sp>
      <p:sp>
        <p:nvSpPr>
          <p:cNvPr id="255" name="Google Shape;255;p2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B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22"/>
          <p:cNvPicPr preferRelativeResize="0"/>
          <p:nvPr/>
        </p:nvPicPr>
        <p:blipFill rotWithShape="1">
          <a:blip r:embed="rId3">
            <a:alphaModFix/>
          </a:blip>
          <a:srcRect b="51129" l="41240" r="-23987" t="9528"/>
          <a:stretch/>
        </p:blipFill>
        <p:spPr>
          <a:xfrm>
            <a:off x="0" y="4075175"/>
            <a:ext cx="4457700" cy="1065625"/>
          </a:xfrm>
          <a:prstGeom prst="rect">
            <a:avLst/>
          </a:prstGeom>
          <a:noFill/>
          <a:ln>
            <a:noFill/>
          </a:ln>
        </p:spPr>
      </p:pic>
      <p:pic>
        <p:nvPicPr>
          <p:cNvPr id="261" name="Google Shape;261;p22"/>
          <p:cNvPicPr preferRelativeResize="0"/>
          <p:nvPr/>
        </p:nvPicPr>
        <p:blipFill rotWithShape="1">
          <a:blip r:embed="rId4">
            <a:alphaModFix/>
          </a:blip>
          <a:srcRect b="0" l="0" r="57233" t="0"/>
          <a:stretch/>
        </p:blipFill>
        <p:spPr>
          <a:xfrm>
            <a:off x="8189675" y="233550"/>
            <a:ext cx="724574" cy="766799"/>
          </a:xfrm>
          <a:prstGeom prst="rect">
            <a:avLst/>
          </a:prstGeom>
          <a:noFill/>
          <a:ln>
            <a:noFill/>
          </a:ln>
        </p:spPr>
      </p:pic>
      <p:sp>
        <p:nvSpPr>
          <p:cNvPr id="262" name="Google Shape;262;p22"/>
          <p:cNvSpPr/>
          <p:nvPr/>
        </p:nvSpPr>
        <p:spPr>
          <a:xfrm>
            <a:off x="0" y="233550"/>
            <a:ext cx="3528000" cy="475200"/>
          </a:xfrm>
          <a:prstGeom prst="homePlate">
            <a:avLst>
              <a:gd fmla="val 50000" name="adj"/>
            </a:avLst>
          </a:prstGeom>
          <a:solidFill>
            <a:srgbClr val="5F1E7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2"/>
          <p:cNvSpPr txBox="1"/>
          <p:nvPr/>
        </p:nvSpPr>
        <p:spPr>
          <a:xfrm>
            <a:off x="327600" y="23355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15</a:t>
            </a:r>
            <a:endParaRPr b="0" i="0" sz="2000" u="none" cap="none" strike="noStrike">
              <a:solidFill>
                <a:schemeClr val="lt1"/>
              </a:solidFill>
              <a:latin typeface="Roboto"/>
              <a:ea typeface="Roboto"/>
              <a:cs typeface="Roboto"/>
              <a:sym typeface="Roboto"/>
            </a:endParaRPr>
          </a:p>
        </p:txBody>
      </p:sp>
      <p:sp>
        <p:nvSpPr>
          <p:cNvPr id="264" name="Google Shape;264;p22"/>
          <p:cNvSpPr txBox="1"/>
          <p:nvPr/>
        </p:nvSpPr>
        <p:spPr>
          <a:xfrm>
            <a:off x="327600" y="9305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Fill in the blanks with suitable verbs: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We _________ (must find out/find) where to put it.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120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Must find out</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Find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Found</a:t>
            </a:r>
            <a:endParaRPr b="0" i="0" sz="1400" u="none" cap="none" strike="noStrike">
              <a:solidFill>
                <a:schemeClr val="dk1"/>
              </a:solidFill>
              <a:latin typeface="Arial"/>
              <a:ea typeface="Arial"/>
              <a:cs typeface="Arial"/>
              <a:sym typeface="Arial"/>
            </a:endParaRPr>
          </a:p>
          <a:p>
            <a:pPr indent="-317500" lvl="0" marL="457200" marR="0" rtl="0" algn="l">
              <a:lnSpc>
                <a:spcPct val="100000"/>
              </a:lnSpc>
              <a:spcBef>
                <a:spcPts val="0"/>
              </a:spcBef>
              <a:spcAft>
                <a:spcPts val="0"/>
              </a:spcAft>
              <a:buClr>
                <a:schemeClr val="dk1"/>
              </a:buClr>
              <a:buSzPts val="1400"/>
              <a:buFont typeface="Arial"/>
              <a:buAutoNum type="alphaUcPeriod"/>
            </a:pPr>
            <a:r>
              <a:rPr b="0" i="0" lang="en-GB" sz="1400" u="none" cap="none" strike="noStrike">
                <a:solidFill>
                  <a:schemeClr val="dk1"/>
                </a:solidFill>
                <a:latin typeface="Arial"/>
                <a:ea typeface="Arial"/>
                <a:cs typeface="Arial"/>
                <a:sym typeface="Arial"/>
              </a:rPr>
              <a:t>Finding</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800"/>
              </a:spcAft>
              <a:buClr>
                <a:schemeClr val="dk1"/>
              </a:buClr>
              <a:buSzPts val="1100"/>
              <a:buFont typeface="Arial"/>
              <a:buNone/>
            </a:pPr>
            <a:r>
              <a:t/>
            </a:r>
            <a:endParaRPr b="0" i="0" sz="1400" u="none" cap="none" strike="noStrike">
              <a:solidFill>
                <a:schemeClr val="dk1"/>
              </a:solidFill>
              <a:latin typeface="Arial"/>
              <a:ea typeface="Arial"/>
              <a:cs typeface="Arial"/>
              <a:sym typeface="Arial"/>
            </a:endParaRPr>
          </a:p>
        </p:txBody>
      </p:sp>
      <p:sp>
        <p:nvSpPr>
          <p:cNvPr id="265" name="Google Shape;265;p2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400" u="none" cap="none" strike="noStrike">
                <a:solidFill>
                  <a:srgbClr val="000000"/>
                </a:solidFill>
                <a:latin typeface="Arial"/>
                <a:ea typeface="Arial"/>
                <a:cs typeface="Arial"/>
                <a:sym typeface="Arial"/>
              </a:rPr>
              <a:t>Answer: A </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