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22">
          <p15:clr>
            <a:srgbClr val="9AA0A6"/>
          </p15:clr>
        </p15:guide>
        <p15:guide id="2" orient="horz" pos="2755">
          <p15:clr>
            <a:srgbClr val="9AA0A6"/>
          </p15:clr>
        </p15:guide>
        <p15:guide id="3" orient="horz" pos="776">
          <p15:clr>
            <a:srgbClr val="9AA0A6"/>
          </p15:clr>
        </p15:guide>
        <p15:guide id="4" pos="206">
          <p15:clr>
            <a:srgbClr val="9AA0A6"/>
          </p15:clr>
        </p15:guide>
        <p15:guide id="5" pos="5553">
          <p15:clr>
            <a:srgbClr val="9AA0A6"/>
          </p15:clr>
        </p15:guide>
        <p15:guide id="6" orient="horz" pos="914">
          <p15:clr>
            <a:srgbClr val="9AA0A6"/>
          </p15:clr>
        </p15:guide>
        <p15:guide id="7" orient="horz" pos="2451">
          <p15:clr>
            <a:srgbClr val="9AA0A6"/>
          </p15:clr>
        </p15:guide>
        <p15:guide id="8" pos="871">
          <p15:clr>
            <a:srgbClr val="9AA0A6"/>
          </p15:clr>
        </p15:guide>
        <p15:guide id="9" pos="2880">
          <p15:clr>
            <a:srgbClr val="9AA0A6"/>
          </p15:clr>
        </p15:guide>
        <p15:guide id="10" pos="4909">
          <p15:clr>
            <a:srgbClr val="9AA0A6"/>
          </p15:clr>
        </p15:guide>
        <p15:guide id="11" orient="horz" pos="219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2"/>
        <p:guide pos="2755" orient="horz"/>
        <p:guide pos="776" orient="horz"/>
        <p:guide pos="206"/>
        <p:guide pos="5553"/>
        <p:guide pos="914" orient="horz"/>
        <p:guide pos="2451" orient="horz"/>
        <p:guide pos="871"/>
        <p:guide pos="2880"/>
        <p:guide pos="4909"/>
        <p:guide pos="219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Cover Slide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81cc398c4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81cc398c4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Content can be added in this slide and can duplicate the same slide if there is a need of slide.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56fbcb5ab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56fbcb5ab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1cc398c44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1cc398c44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1cc398c44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1cc398c44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1cc398c44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1cc398c44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1cc398c44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81cc398c44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1cc398c44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1cc398c44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1cc398c44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1cc398c44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1cc398c44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1cc398c44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1cc398c44_1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1cc398c44_1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81cc398c44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81cc398c44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1cc398c44_1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1cc398c44_1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81cc398c44_1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81cc398c44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81cc398c44_1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81cc398c44_1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81cc398c44_1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81cc398c44_1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1cc398c44_1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1cc398c44_1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hyperlink" Target="https://en.wikipedia.org/wiki/Wor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327600" y="233550"/>
            <a:ext cx="3106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NOUNS AND PRONOUNS: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27600" y="999450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NOUN: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22222"/>
                </a:solidFill>
                <a:highlight>
                  <a:srgbClr val="FFFFFF"/>
                </a:highlight>
              </a:rPr>
              <a:t>         A </a:t>
            </a:r>
            <a:r>
              <a:rPr b="1" lang="en-GB">
                <a:solidFill>
                  <a:srgbClr val="222222"/>
                </a:solidFill>
                <a:highlight>
                  <a:srgbClr val="FFFFFF"/>
                </a:highlight>
              </a:rPr>
              <a:t>noun</a:t>
            </a:r>
            <a:r>
              <a:rPr lang="en-GB">
                <a:solidFill>
                  <a:srgbClr val="222222"/>
                </a:solidFill>
                <a:highlight>
                  <a:srgbClr val="FFFFFF"/>
                </a:highlight>
              </a:rPr>
              <a:t> is a </a:t>
            </a:r>
            <a:r>
              <a:rPr lang="en-GB">
                <a:solidFill>
                  <a:srgbClr val="0B0080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word</a:t>
            </a:r>
            <a:r>
              <a:rPr lang="en-GB">
                <a:solidFill>
                  <a:srgbClr val="222222"/>
                </a:solidFill>
                <a:highlight>
                  <a:srgbClr val="FFFFFF"/>
                </a:highlight>
              </a:rPr>
              <a:t> that functions as the name of some specific thing or set of things, such as living creatures, objects, places, actions, qualities, states of existence, or ideas.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PRONOUN: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22222"/>
                </a:solidFill>
                <a:highlight>
                  <a:srgbClr val="FFFFFF"/>
                </a:highlight>
              </a:rPr>
              <a:t>                A </a:t>
            </a:r>
            <a:r>
              <a:rPr b="1" lang="en-GB">
                <a:solidFill>
                  <a:srgbClr val="222222"/>
                </a:solidFill>
                <a:highlight>
                  <a:srgbClr val="FFFFFF"/>
                </a:highlight>
              </a:rPr>
              <a:t>pronoun</a:t>
            </a:r>
            <a:r>
              <a:rPr lang="en-GB">
                <a:solidFill>
                  <a:srgbClr val="222222"/>
                </a:solidFill>
                <a:highlight>
                  <a:srgbClr val="FFFFFF"/>
                </a:highlight>
              </a:rPr>
              <a:t> is a word that takes the place of a noun. </a:t>
            </a:r>
            <a:r>
              <a:rPr b="1" lang="en-GB">
                <a:solidFill>
                  <a:srgbClr val="222222"/>
                </a:solidFill>
                <a:highlight>
                  <a:srgbClr val="FFFFFF"/>
                </a:highlight>
              </a:rPr>
              <a:t>Examples</a:t>
            </a:r>
            <a:r>
              <a:rPr lang="en-GB">
                <a:solidFill>
                  <a:srgbClr val="222222"/>
                </a:solidFill>
                <a:highlight>
                  <a:srgbClr val="FFFFFF"/>
                </a:highlight>
              </a:rPr>
              <a:t>: he, she, it, they, someone, who. </a:t>
            </a:r>
            <a:r>
              <a:rPr b="1" lang="en-GB">
                <a:solidFill>
                  <a:srgbClr val="222222"/>
                </a:solidFill>
                <a:highlight>
                  <a:srgbClr val="FFFFFF"/>
                </a:highlight>
              </a:rPr>
              <a:t>Pronouns</a:t>
            </a:r>
            <a:r>
              <a:rPr lang="en-GB">
                <a:solidFill>
                  <a:srgbClr val="222222"/>
                </a:solidFill>
                <a:highlight>
                  <a:srgbClr val="FFFFFF"/>
                </a:highlight>
              </a:rPr>
              <a:t> can do all of the things that nouns can do. They can be subjects, direct objects, indirect objects, object of the preposition, and more.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Select the answer choice that identifies the noun in the sentence.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It will take all of your energy and will to be able to walk again.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A3A3A"/>
              </a:buClr>
              <a:buSzPts val="1400"/>
              <a:buAutoNum type="alphaUcPeriod"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Take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400"/>
              <a:buAutoNum type="alphaUcPeriod"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All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400"/>
              <a:buAutoNum type="alphaUcPeriod"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Your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400"/>
              <a:buAutoNum type="alphaUcPeriod"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Energy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3A3A3A"/>
              </a:solidFill>
              <a:highlight>
                <a:srgbClr val="F7F7F7"/>
              </a:highlight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D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Select the answer choice that identifies the noun in the sentence.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The works of many great poets have been placed on reserve.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A3A3A"/>
              </a:buClr>
              <a:buSzPts val="1400"/>
              <a:buAutoNum type="alphaUcPeriod"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Many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400"/>
              <a:buAutoNum type="alphaUcPeriod"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Great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400"/>
              <a:buAutoNum type="alphaUcPeriod"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Placed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400"/>
              <a:buAutoNum type="alphaUcPeriod"/>
            </a:pPr>
            <a:r>
              <a:rPr lang="en-GB">
                <a:solidFill>
                  <a:srgbClr val="3A3A3A"/>
                </a:solidFill>
                <a:highlight>
                  <a:srgbClr val="F7F7F7"/>
                </a:highlight>
              </a:rPr>
              <a:t>Reserve</a:t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A3A3A"/>
              </a:solidFill>
              <a:highlight>
                <a:srgbClr val="F7F7F7"/>
              </a:highlight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 D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the answer choice that identifies the noun in the sentence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Brooklyn Bridge was opened in 1883.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UcPeriod"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Bridge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UcPeriod"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UcPeriod"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UcPeriod"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 A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the answer choice that identifies the noun in the sentence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Sparta and Athens were enemies during the Peloponnesian War.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And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Were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During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War</a:t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D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Select the answer choice that identifies the noun in the sentence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Sharks and lampreys are not true fish because their skeletons are made of cartilage rather than bone.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True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Because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Their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Bone</a:t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 D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the answer choice that identifies the noun in the sentence.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Joe, have you met your new boss?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Have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Met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Your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Boss</a:t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D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the answer choice that identifies the noun in the sentence.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Sue’s parents tried living in the north, but they could not adapt to the cold.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North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But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Not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Adapt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A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2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Select the answer choice that identifies the noun in the sentence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Mastering basic mathematics is an important goal for younger students.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Mastering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Important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Younger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/>
              <a:t>Students</a:t>
            </a:r>
            <a:endParaRPr/>
          </a:p>
        </p:txBody>
      </p:sp>
      <p:sp>
        <p:nvSpPr>
          <p:cNvPr id="140" name="Google Shape;140;p2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D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3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Fill the blanks with Pronoun: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Find out from ______ when she'll be back.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Herself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A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Fill the blanks with Pronoun: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If you can't find your book, you can borrow ______.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Mine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Myself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My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B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5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Fill the blanks with Pronoun: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little boy tied his shoelaces ______.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Himself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Him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A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2514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Fill the blanks with Pronoun: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vase ______ I bought in Walmart broke when I dropped it.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Who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Whose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Which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where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C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7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Fill the blanks with Pronoun: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couple ______ child died donated his toys to the orphanage.</a:t>
            </a:r>
            <a:endParaRPr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Who 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Whose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Whom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Which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B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8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Fill the blanks with Pronoun: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Whenever Rose goes, ______ makes friends easily.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She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herself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A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9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Fill the blanks with Pronoun: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rice is cooked. You can take _____ out.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That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AutoNum type="alphaUcPeriod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which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A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