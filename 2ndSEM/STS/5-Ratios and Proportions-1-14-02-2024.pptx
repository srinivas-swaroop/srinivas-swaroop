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309" r:id="rId5"/>
    <p:sldId id="345" r:id="rId6"/>
    <p:sldId id="308" r:id="rId7"/>
    <p:sldId id="257" r:id="rId8"/>
    <p:sldId id="276" r:id="rId9"/>
    <p:sldId id="277" r:id="rId10"/>
    <p:sldId id="259" r:id="rId11"/>
    <p:sldId id="260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6" r:id="rId29"/>
    <p:sldId id="295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1" d="100"/>
          <a:sy n="101" d="100"/>
        </p:scale>
        <p:origin x="-474" y="12"/>
      </p:cViewPr>
      <p:guideLst>
        <p:guide orient="horz" pos="2755"/>
        <p:guide orient="horz" pos="776"/>
        <p:guide orient="horz" pos="914"/>
        <p:guide orient="horz" pos="2451"/>
        <p:guide orient="horz" pos="2193"/>
        <p:guide pos="2222"/>
        <p:guide pos="206"/>
        <p:guide pos="5553"/>
        <p:guide pos="871"/>
        <p:guide pos="2880"/>
        <p:guide pos="49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Cover Slide</a:t>
            </a:r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6fbcb5ab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56fbcb5ab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6fbcb5ab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56fbcb5ab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6fbcb5ab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56fbcb5ab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6fbcb5ab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56fbcb5ab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6fbcb5ab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56fbcb5ab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6fbcb5ab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56fbcb5ab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572f1b4f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572f1b4f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template for slides with only a bullet list</a:t>
            </a:r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27600" y="2291136"/>
            <a:ext cx="3905035" cy="155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+mj-lt"/>
                <a:cs typeface="Arial" panose="020B0604020202020204" pitchFamily="34" charset="0"/>
              </a:rPr>
              <a:t>https://qrgo.page.link/6rT9W</a:t>
            </a:r>
            <a:endParaRPr lang="en-US" sz="36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Google Shape;61;p14"/>
          <p:cNvSpPr txBox="1"/>
          <p:nvPr/>
        </p:nvSpPr>
        <p:spPr>
          <a:xfrm>
            <a:off x="225476" y="422087"/>
            <a:ext cx="3669365" cy="155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2800" b="1" dirty="0" err="1" smtClean="0">
                <a:latin typeface="+mj-lt"/>
                <a:cs typeface="Arial" panose="020B0604020202020204" pitchFamily="34" charset="0"/>
              </a:rPr>
              <a:t>Cryptarithmetic</a:t>
            </a:r>
            <a:r>
              <a:rPr lang="en-US" sz="2800" b="1" dirty="0" smtClean="0">
                <a:latin typeface="+mj-lt"/>
                <a:cs typeface="Arial" panose="020B0604020202020204" pitchFamily="34" charset="0"/>
              </a:rPr>
              <a:t> Quiz:</a:t>
            </a:r>
            <a:endParaRPr lang="en-US" sz="2800" b="1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290" y="1310769"/>
            <a:ext cx="3047019" cy="304701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INTRO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-2353945" y="1086485"/>
            <a:ext cx="9474200" cy="2610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657600" lvl="8" indent="0" algn="just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sz="2200" b="1" dirty="0" smtClean="0">
                <a:latin typeface="+mn-lt"/>
                <a:cs typeface="Arial" panose="020B0604020202020204" pitchFamily="34" charset="0"/>
              </a:rPr>
              <a:t>If the consequent is 15 and the value of the ratio 3/5, then what is the value of the antecedent?</a:t>
            </a:r>
            <a:endParaRPr lang="en-US" sz="2200" b="1" dirty="0" smtClean="0"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27600" y="2291136"/>
            <a:ext cx="7984193" cy="155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2800" b="1" dirty="0" smtClean="0">
                <a:latin typeface="+mj-lt"/>
                <a:cs typeface="Arial" panose="020B0604020202020204" pitchFamily="34" charset="0"/>
              </a:rPr>
              <a:t>RATIOS </a:t>
            </a:r>
            <a:r>
              <a:rPr lang="en-US" sz="2800" b="1" dirty="0" smtClean="0">
                <a:latin typeface="+mj-lt"/>
                <a:cs typeface="Arial" panose="020B0604020202020204" pitchFamily="34" charset="0"/>
              </a:rPr>
              <a:t>AND </a:t>
            </a:r>
            <a:r>
              <a:rPr lang="en-US" sz="2800" b="1" dirty="0" smtClean="0">
                <a:latin typeface="+mj-lt"/>
                <a:cs typeface="Arial" panose="020B0604020202020204" pitchFamily="34" charset="0"/>
              </a:rPr>
              <a:t>PROPORTIONS</a:t>
            </a:r>
            <a:endParaRPr lang="en-US" sz="2800" b="1" dirty="0"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sz="2000" b="1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  RATIOS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27600" y="1231200"/>
            <a:ext cx="8487464" cy="26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+mn-lt"/>
                <a:cs typeface="Arial" panose="020B0604020202020204" pitchFamily="34" charset="0"/>
              </a:rPr>
              <a:t>A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ratio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is a relationship between two numbers indicating how many times the first number contains the second. </a:t>
            </a:r>
            <a:endParaRPr lang="en-US" sz="1800" dirty="0" smtClean="0">
              <a:latin typeface="+mn-lt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+mn-lt"/>
                <a:cs typeface="Arial" panose="020B0604020202020204" pitchFamily="34" charset="0"/>
              </a:rPr>
              <a:t>For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example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, if a bowl of fruit contains eight oranges and six lemons, then the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ratio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of oranges to lemons is eight to six (that is, 8∶6, which is equivalent to the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ratio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4∶3).</a:t>
            </a:r>
            <a:endParaRPr lang="en-US" sz="1800" dirty="0"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  </a:t>
            </a:r>
            <a:r>
              <a:rPr lang="en-US" sz="20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PROPORTIONS</a:t>
            </a:r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27600" y="1231200"/>
            <a:ext cx="8420474" cy="26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cs typeface="Arial" panose="020B0604020202020204" pitchFamily="34" charset="0"/>
              </a:rPr>
              <a:t>A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proportion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is simply a statement that two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ratios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are equal. It can be written in two ways: as two equal fractions a/b = c/d; or using a colon, a:b = c:d. ... </a:t>
            </a:r>
            <a:endParaRPr lang="en-US" sz="1800" dirty="0" smtClean="0">
              <a:latin typeface="+mn-lt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+mn-lt"/>
                <a:cs typeface="Arial" panose="020B0604020202020204" pitchFamily="34" charset="0"/>
              </a:rPr>
              <a:t>In 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problems involving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proportions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, we can use cross products to test whether two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ratios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are equal and form a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proportion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.</a:t>
            </a:r>
            <a:endParaRPr lang="en-US" sz="1800" dirty="0">
              <a:latin typeface="+mn-lt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+mn-lt"/>
                <a:cs typeface="Arial" panose="020B0604020202020204" pitchFamily="34" charset="0"/>
              </a:rPr>
              <a:t>A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proportion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is an equation with a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ratio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on each side. It is a statement that two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ratios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are equal. 3/4 = 6/8 is an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example</a:t>
            </a:r>
            <a:r>
              <a:rPr lang="en-US" sz="1800" dirty="0">
                <a:latin typeface="+mn-lt"/>
                <a:cs typeface="Arial" panose="020B0604020202020204" pitchFamily="34" charset="0"/>
              </a:rPr>
              <a:t> of a </a:t>
            </a:r>
            <a:r>
              <a:rPr lang="en-US" sz="1800" b="1" dirty="0">
                <a:latin typeface="+mn-lt"/>
                <a:cs typeface="Arial" panose="020B0604020202020204" pitchFamily="34" charset="0"/>
              </a:rPr>
              <a:t>proportion.</a:t>
            </a:r>
            <a:endParaRPr lang="en-US" sz="1800" dirty="0">
              <a:latin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 </a:t>
            </a:r>
            <a:r>
              <a:rPr lang="en-US" sz="20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FORMULA</a:t>
            </a:r>
            <a:r>
              <a:rPr lang="en-US" sz="20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27600" y="1231199"/>
            <a:ext cx="6946503" cy="284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If u/v = x/y, then uy = vx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If u/v = x/y, then u/x = v/y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If u/v = x/y, then v/u = y/x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If u/v = x/y, then (u+v)/v = (x+y)/y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If u/v = x/y, then (u-v)/v = (x-y)/y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If u/v = x/y, then (u+v)/ (u-v) = (x+y)/(x-y), which is known as </a:t>
            </a:r>
            <a:r>
              <a:rPr lang="es-E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componendo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-Dividendo Rule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If u/v = v/x, then u/x = u</a:t>
            </a:r>
            <a:r>
              <a:rPr lang="es-E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/v</a:t>
            </a:r>
            <a:r>
              <a:rPr lang="es-E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If u/v = x/y, then u = x and v =y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If a/(b+c) = b/(c+a) = c/(a+b) and a+b+ c ≠0, then a =b = c</a:t>
            </a: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  </a:t>
            </a:r>
            <a:r>
              <a:rPr lang="en-US" sz="2000" dirty="0" smtClean="0">
                <a:solidFill>
                  <a:schemeClr val="bg1"/>
                </a:solidFill>
              </a:rPr>
              <a:t>CONCEPTS</a:t>
            </a:r>
            <a:r>
              <a:rPr lang="en-US" sz="2000" dirty="0" smtClean="0">
                <a:solidFill>
                  <a:schemeClr val="bg1"/>
                </a:solidFill>
              </a:rPr>
              <a:t>: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0" y="1446174"/>
            <a:ext cx="10631400" cy="124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5200" rIns="0" bIns="0" anchor="t" anchorCtr="0">
            <a:noAutofit/>
          </a:bodyPr>
          <a:lstStyle/>
          <a:p>
            <a:pPr marL="47498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72277" y="1103454"/>
            <a:ext cx="8620018" cy="3184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Suppose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have two quantities or two numbers or two entities and 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we have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find the ratio of these two, then the formula for ratio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is defined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as;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a: b ⇒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a/b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where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and b could be any two quantities.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Here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“a” is called the first term or antecedent, and “b” is called the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second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term 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or   consequent.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Now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let us assume that, in proportion, the two ratios are 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a:b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&amp; 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c:d. </a:t>
            </a:r>
            <a:endParaRPr lang="en-US" sz="1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two terms 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‘b’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‘c’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are called 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‘means or mean term,’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whereas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terms 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‘a’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‘d’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are known as ‘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extremes or extreme terms.’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a/b = c/d or  a : b :: c : 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Question </a:t>
            </a:r>
            <a:r>
              <a:rPr lang="en-US" sz="2000" b="1" dirty="0" smtClean="0">
                <a:solidFill>
                  <a:schemeClr val="bg1"/>
                </a:solidFill>
              </a:rPr>
              <a:t>:1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231200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Are the ratios 4:5 and 8:10 said to be in Proportion?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A. YES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  NO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1492" y="3821987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Answer: A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231201"/>
            <a:ext cx="6793200" cy="1244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4:5= 4/5 = 0.8 and 8: 10= 8/10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Since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both the ratios are equal, they are said to be in proportion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2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231200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Are the two ratios 8:10 and 7:10 in proportion?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 YES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  NO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1492" y="3821987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B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02260" y="1344217"/>
            <a:ext cx="6793200" cy="1244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8:10= 8/10= 0.8 and 7:10= 7/10= 0.7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Since both the ratios are not equal, they are not in proportion.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3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Given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ratios are: a:b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2:3, b:c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5:2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c:d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1:4 Find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a: b: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c:d.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10:15:6:24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10:6:15:24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6:15:10:24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24:6:10:15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1492" y="3821987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A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02260" y="1344216"/>
            <a:ext cx="6793200" cy="20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Multiplying the first ratio by 5, second by 3 and third by 6, we have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a:b = 10: 15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b:c = 15 : 6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c:d = 6 : 24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the ratio’s above, all the mean terms are equal, thus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a:b:c:d = 10:15:6:24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4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/>
              <a:t>Divide </a:t>
            </a:r>
            <a:r>
              <a:rPr lang="en-US" sz="1800" dirty="0" err="1" smtClean="0"/>
              <a:t>Rs</a:t>
            </a:r>
            <a:r>
              <a:rPr lang="en-US" sz="1800" dirty="0" smtClean="0"/>
              <a:t>. 90 </a:t>
            </a:r>
            <a:r>
              <a:rPr lang="en-US" sz="1800" dirty="0"/>
              <a:t>in ratio 1:2 between Ram and Karan.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Rs.30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Rs.60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Rs.60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Rs.30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Rs.45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Rs.45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Rs.80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Rs.10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1492" y="3821987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A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02260" y="1344216"/>
            <a:ext cx="6793200" cy="20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/>
              <a:t>There are two parts, 1 and 2, the sum of which is 3 parts. Hence among the 3 parts, Karan gets 2 and Ram gets 1.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Therefore </a:t>
            </a:r>
            <a:r>
              <a:rPr lang="en-US" sz="1800" dirty="0"/>
              <a:t>for 90 Rs (considered equivalent to 3 parts here)  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Karan’s share = 2/3 ×90 = </a:t>
            </a:r>
            <a:r>
              <a:rPr lang="en-US" sz="1800" dirty="0" smtClean="0"/>
              <a:t>Rs.60 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Ram’s share = 1/3 ×90 = </a:t>
            </a:r>
            <a:r>
              <a:rPr lang="en-US" sz="1800" dirty="0" smtClean="0"/>
              <a:t> Rs.30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5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Two numbers are respectively 20% and 50% more than a third </a:t>
            </a:r>
            <a:r>
              <a:rPr lang="en-US" sz="1800" dirty="0" err="1" smtClean="0"/>
              <a:t>number.The</a:t>
            </a:r>
            <a:r>
              <a:rPr lang="en-US" sz="1800" dirty="0" smtClean="0"/>
              <a:t> </a:t>
            </a:r>
            <a:r>
              <a:rPr lang="en-US" sz="1800" dirty="0"/>
              <a:t>ratio of the two numbers </a:t>
            </a:r>
            <a:r>
              <a:rPr lang="en-US" sz="1800" dirty="0" smtClean="0"/>
              <a:t>is ________.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5:4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4:5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6:7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7:6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1492" y="3821987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B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02260" y="1344216"/>
            <a:ext cx="6793200" cy="20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Let the third number be </a:t>
            </a:r>
            <a:r>
              <a:rPr lang="en-US" sz="1800" i="1" dirty="0"/>
              <a:t>x</a:t>
            </a:r>
            <a:r>
              <a:rPr lang="en-US" sz="1800" dirty="0"/>
              <a:t>.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Then, first number=120% of x=120x/100=6x/5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Second number    =150% of x=150x/100=3x/2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Ratio of first two numbers=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                                               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067" y="2627721"/>
            <a:ext cx="2438400" cy="6437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6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sum of money is to be distributed among A, B, C, D in the proportion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5 : 2 : 4 : 3. If C gets Rs. 1000 more than D, what is B's share?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Rs.500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Rs.1500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Rs.2000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None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of these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1492" y="3821987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C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02260" y="1344216"/>
            <a:ext cx="6793200" cy="20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/>
              <a:t>Let the shares of A, B, C and D be Rs.5x,Rs.2x,Rs.4x,Rs.3x</a:t>
            </a:r>
            <a:endParaRPr lang="en-US" sz="1800"/>
          </a:p>
          <a:p>
            <a:pPr marL="0" indent="0">
              <a:buNone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Then 4x-3x=1000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X=1000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So.B’s share=2*1000=2000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7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Seats for Mathematics, Physics and Biology in a school are in the ratio 5 : 7 : 8. There is a proposal to increase these seats by 40%, 50% and 75% respectively. What will be the ratio of increased seats?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2:3:4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6:7:8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6:8:9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None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of These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9847" y="3814296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A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02260" y="1344216"/>
            <a:ext cx="6793200" cy="2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/>
              <a:t>Originally, let the number of seats for Mathematics, Physics and Biology be5x,7x and 8x respectively.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Number of increased seats are  (140% of 5x) ,(150% of 7x) and (175% of 8x)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(140/100 x 5x),(150/100 x 7x),(175/100 x 8x)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7x.21x/2 and 14x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required ratio is 7x:21x/2:14x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14x:21x:28x=2:3:4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8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/>
              <a:t>In a mixture 60 </a:t>
            </a:r>
            <a:r>
              <a:rPr lang="en-US" sz="1800" dirty="0" err="1"/>
              <a:t>litres</a:t>
            </a:r>
            <a:r>
              <a:rPr lang="en-US" sz="1800" dirty="0"/>
              <a:t>, the ratio of milk and </a:t>
            </a:r>
            <a:r>
              <a:rPr lang="en-US" sz="1800" dirty="0" smtClean="0"/>
              <a:t>water is </a:t>
            </a:r>
            <a:r>
              <a:rPr lang="en-US" sz="1800" dirty="0"/>
              <a:t>2 : 1. If this ratio is to be 1 : 2, then the quantity of water to be further added </a:t>
            </a:r>
            <a:r>
              <a:rPr lang="en-US" sz="1800" dirty="0" smtClean="0"/>
              <a:t>is __________.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20litres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30litres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40litres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60litres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9847" y="3814296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D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02260" y="1344216"/>
            <a:ext cx="6793200" cy="2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00" y="924674"/>
            <a:ext cx="5795799" cy="3359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9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ratio of the number of boys and girls in a college is 7 : 8. If the percentage increase in the number of boys and girls be 20% and 10% respectively, what will be the new ratio?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8:9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17:18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21:22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Cannot 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be determined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Roboto Light" panose="02000000000000000000"/>
              <a:ea typeface="Roboto Light" panose="02000000000000000000"/>
              <a:cs typeface="Roboto Light" panose="02000000000000000000"/>
              <a:sym typeface="Roboto Light" panose="0200000000000000000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9847" y="3814296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C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3707" y="1273997"/>
            <a:ext cx="676039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Originally, let the number of boys and girls in the college be 7x and 8x .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Their increased number is (120% of 7x),(110% of 8x)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(120/100 x7x) and (110/100 x 8x)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(42x/5) and (44x/5)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required ratio is (42x/5:44x/5)=(21:22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10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/>
              <a:t>Salaries of Ravi and Summit are in the ratio 2 : 3. If the salary of each is increased by Rs. 4000, the new ratio becomes 40 : 57. What is Summit's salary</a:t>
            </a:r>
            <a:r>
              <a:rPr lang="en-US" sz="1800" dirty="0" smtClean="0"/>
              <a:t>?</a:t>
            </a: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Font typeface="+mj-lt"/>
              <a:buAutoNum type="alphaUcPeriod"/>
            </a:pP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 17,000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 20,000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 25,500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 38,000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9847" y="3814296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D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7" name="Content Placehold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00828"/>
            <a:ext cx="7032661" cy="3186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11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sum of three numbers is 98. If the ratio of the first to second is 2 :3 and that of the second to the third is 5 : 8, then the second number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__________.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58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9847" y="3814296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B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1239" y="1202077"/>
            <a:ext cx="68323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Let the three parts be A, B, C. Then,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/>
              <a:t>A : B = 2 : 3 and B : C = 5 : 8 =(5 x 3/5) :(8 x 3/5)=(3:24/5)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A:B:C = 2:3:24/5 = 10:15:24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B=(98 x 15/49)=30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12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salaries A, B, C are in the ratio 2 : 3 : 5. If the increments of 15%, 10% and 20% are allowed respectively in their salaries, then what will be new ratio of their salaries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3:3:10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10:11:20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23:33:60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/>
              <a:t>Cannot be determined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9847" y="3814296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C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 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7" name="Content Placehold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82" y="1119883"/>
            <a:ext cx="6029218" cy="29552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13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800" dirty="0">
                <a:latin typeface="Arial" panose="020B0604020202020204" pitchFamily="34" charset="0"/>
              </a:rPr>
              <a:t>If 40% of a number is equal to two-third of another number, what is the ratio of first number to the second number</a:t>
            </a:r>
            <a:r>
              <a:rPr lang="en-US" sz="1800" dirty="0" smtClean="0">
                <a:latin typeface="Arial" panose="020B0604020202020204" pitchFamily="34" charset="0"/>
              </a:rPr>
              <a:t>?</a:t>
            </a:r>
            <a:endParaRPr lang="en-US" sz="1800" dirty="0" smtClean="0">
              <a:latin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 smtClean="0">
                <a:latin typeface="Arial" panose="020B0604020202020204" pitchFamily="34" charset="0"/>
              </a:rPr>
              <a:t>2:5</a:t>
            </a:r>
            <a:endParaRPr lang="en-US" sz="1800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>
                <a:latin typeface="Arial" panose="020B0604020202020204" pitchFamily="34" charset="0"/>
              </a:rPr>
              <a:t>3:7</a:t>
            </a:r>
            <a:endParaRPr lang="en-US" sz="1800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>
                <a:latin typeface="Arial" panose="020B0604020202020204" pitchFamily="34" charset="0"/>
              </a:rPr>
              <a:t>5:3</a:t>
            </a:r>
            <a:endParaRPr lang="en-US" sz="1800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dirty="0">
                <a:latin typeface="Arial" panose="020B0604020202020204" pitchFamily="34" charset="0"/>
              </a:rPr>
              <a:t>7:3</a:t>
            </a:r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9847" y="3814296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C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01" y="1202076"/>
            <a:ext cx="4732734" cy="27329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14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800" kern="1200" dirty="0">
                <a:solidFill>
                  <a:schemeClr val="tx1"/>
                </a:solidFill>
              </a:rPr>
              <a:t>The fourth proportional to 5, 8, 15 </a:t>
            </a:r>
            <a:r>
              <a:rPr lang="en-US" sz="1800" kern="1200" dirty="0" smtClean="0">
                <a:solidFill>
                  <a:schemeClr val="tx1"/>
                </a:solidFill>
              </a:rPr>
              <a:t>is</a:t>
            </a:r>
            <a:r>
              <a:rPr lang="en-US" sz="1800" kern="1200" dirty="0">
                <a:solidFill>
                  <a:schemeClr val="tx1"/>
                </a:solidFill>
              </a:rPr>
              <a:t> </a:t>
            </a:r>
            <a:r>
              <a:rPr lang="en-US" sz="1800" kern="1200" dirty="0" smtClean="0">
                <a:solidFill>
                  <a:schemeClr val="tx1"/>
                </a:solidFill>
              </a:rPr>
              <a:t>______.</a:t>
            </a:r>
            <a:endParaRPr lang="en-US" sz="1800" kern="1200" dirty="0" smtClean="0">
              <a:solidFill>
                <a:schemeClr val="tx1"/>
              </a:solidFill>
            </a:endParaRPr>
          </a:p>
          <a:p>
            <a:endParaRPr lang="en-US" sz="1800" kern="12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kern="1200" dirty="0" smtClean="0">
                <a:solidFill>
                  <a:schemeClr val="tx1"/>
                </a:solidFill>
              </a:rPr>
              <a:t>18</a:t>
            </a:r>
            <a:endParaRPr lang="en-US" sz="1800" kern="12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kern="1200" dirty="0">
                <a:solidFill>
                  <a:schemeClr val="tx1"/>
                </a:solidFill>
              </a:rPr>
              <a:t>24</a:t>
            </a:r>
            <a:endParaRPr lang="en-US" sz="1800" kern="12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kern="1200" dirty="0">
                <a:solidFill>
                  <a:schemeClr val="tx1"/>
                </a:solidFill>
              </a:rPr>
              <a:t>19</a:t>
            </a:r>
            <a:endParaRPr lang="en-US" sz="1800" kern="12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kern="1200" dirty="0">
                <a:solidFill>
                  <a:schemeClr val="tx1"/>
                </a:solidFill>
              </a:rPr>
              <a:t>20</a:t>
            </a:r>
            <a:endParaRPr lang="en-US" sz="1800" dirty="0">
              <a:latin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9847" y="3814296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B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3434" y="1000349"/>
            <a:ext cx="68425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</a:rPr>
              <a:t>Let the fourth proportional to 5, 8, 15 be x</a:t>
            </a:r>
            <a:endParaRPr lang="en-US" sz="1800" kern="1200" dirty="0">
              <a:solidFill>
                <a:schemeClr val="tx1"/>
              </a:solidFill>
            </a:endParaRPr>
          </a:p>
          <a:p>
            <a:r>
              <a:rPr lang="en-US" sz="1800" kern="1200" dirty="0">
                <a:solidFill>
                  <a:schemeClr val="tx1"/>
                </a:solidFill>
              </a:rPr>
              <a:t>Then, 5:8:15:x</a:t>
            </a:r>
            <a:endParaRPr lang="en-US" sz="1800" kern="1200" dirty="0">
              <a:solidFill>
                <a:schemeClr val="tx1"/>
              </a:solidFill>
            </a:endParaRPr>
          </a:p>
          <a:p>
            <a:r>
              <a:rPr lang="en-US" sz="1800" kern="1200" dirty="0">
                <a:solidFill>
                  <a:schemeClr val="tx1"/>
                </a:solidFill>
              </a:rPr>
              <a:t>5x=(8x15)</a:t>
            </a:r>
            <a:endParaRPr lang="en-US" sz="1800" kern="1200" dirty="0">
              <a:solidFill>
                <a:schemeClr val="tx1"/>
              </a:solidFill>
            </a:endParaRPr>
          </a:p>
          <a:p>
            <a:r>
              <a:rPr lang="en-US" sz="1800" kern="1200" smtClean="0">
                <a:solidFill>
                  <a:schemeClr val="tx1"/>
                </a:solidFill>
              </a:rPr>
              <a:t>X=24</a:t>
            </a:r>
            <a:endParaRPr lang="en-US" sz="1800" kern="1200" dirty="0">
              <a:solidFill>
                <a:schemeClr val="tx1"/>
              </a:solidFill>
            </a:endParaRPr>
          </a:p>
          <a:p>
            <a:r>
              <a:rPr lang="en-US" sz="1800" kern="1200" dirty="0">
                <a:solidFill>
                  <a:schemeClr val="tx1"/>
                </a:solidFill>
              </a:rPr>
              <a:t>Ans:24</a:t>
            </a:r>
            <a:endParaRPr 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</a:rPr>
              <a:t>Question: 15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7600" y="1000349"/>
            <a:ext cx="8487464" cy="313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800" kern="1200" dirty="0">
                <a:solidFill>
                  <a:schemeClr val="tx1"/>
                </a:solidFill>
              </a:rPr>
              <a:t>Two number are in the ratio 3 : 5. If 9 is subtracted from each, the new numbers are in the ratio 12 : 23. The smaller number </a:t>
            </a:r>
            <a:r>
              <a:rPr lang="en-US" sz="1800" kern="1200" dirty="0" smtClean="0">
                <a:solidFill>
                  <a:schemeClr val="tx1"/>
                </a:solidFill>
              </a:rPr>
              <a:t>is ________.</a:t>
            </a:r>
            <a:endParaRPr lang="en-US" sz="1800" kern="1200" dirty="0" smtClean="0">
              <a:solidFill>
                <a:schemeClr val="tx1"/>
              </a:solidFill>
            </a:endParaRPr>
          </a:p>
          <a:p>
            <a:endParaRPr lang="en-US" sz="1800" kern="12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kern="1200" dirty="0" smtClean="0">
                <a:solidFill>
                  <a:schemeClr val="tx1"/>
                </a:solidFill>
              </a:rPr>
              <a:t>27</a:t>
            </a:r>
            <a:endParaRPr lang="en-US" sz="1800" kern="12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kern="1200" dirty="0">
                <a:solidFill>
                  <a:schemeClr val="tx1"/>
                </a:solidFill>
              </a:rPr>
              <a:t>33</a:t>
            </a:r>
            <a:endParaRPr lang="en-US" sz="1800" kern="12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kern="1200" dirty="0">
                <a:solidFill>
                  <a:schemeClr val="tx1"/>
                </a:solidFill>
              </a:rPr>
              <a:t>49</a:t>
            </a:r>
            <a:endParaRPr lang="en-US" sz="1800" kern="12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kern="1200" dirty="0">
                <a:solidFill>
                  <a:schemeClr val="tx1"/>
                </a:solidFill>
              </a:rPr>
              <a:t>55</a:t>
            </a:r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39847" y="3814296"/>
            <a:ext cx="148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Answer: B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2000" b="1" smtClean="0">
                <a:solidFill>
                  <a:schemeClr val="bg1"/>
                </a:solidFill>
              </a:rPr>
              <a:t>    Solution:</a:t>
            </a:r>
            <a:r>
              <a:rPr lang="en-US" sz="2000" b="1" dirty="0"/>
              <a:t> </a:t>
            </a:r>
            <a:endParaRPr sz="2000" dirty="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00" y="1266525"/>
            <a:ext cx="4871125" cy="270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6216</Words>
  <Application>WPS Presentation</Application>
  <PresentationFormat>On-screen Show (16:9)</PresentationFormat>
  <Paragraphs>312</Paragraphs>
  <Slides>38</Slides>
  <Notes>37</Notes>
  <HiddenSlides>15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8" baseType="lpstr">
      <vt:lpstr>Arial</vt:lpstr>
      <vt:lpstr>SimSun</vt:lpstr>
      <vt:lpstr>Wingdings</vt:lpstr>
      <vt:lpstr>Arial</vt:lpstr>
      <vt:lpstr>Roboto Light</vt:lpstr>
      <vt:lpstr>Roboto</vt:lpstr>
      <vt:lpstr>Wide Latin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 thevan</dc:creator>
  <cp:lastModifiedBy>Prasanth P</cp:lastModifiedBy>
  <cp:revision>39</cp:revision>
  <dcterms:created xsi:type="dcterms:W3CDTF">2021-10-04T06:16:00Z</dcterms:created>
  <dcterms:modified xsi:type="dcterms:W3CDTF">2022-02-03T06:31:59Z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F0B70BEFDF404569A87C64066E6FA34F</vt:lpwstr>
  </property>
  <property fmtid="{D5CDD505-2E9C-101B-9397-08002B2CF9AE}" pid="3" name="KSOProductBuildVer">
    <vt:lpwstr>1033-11.2.0.10311</vt:lpwstr>
  </property>
</Properties>
</file>