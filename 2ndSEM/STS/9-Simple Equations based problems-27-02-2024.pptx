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hHJJB+VpxwQrgCBFcFwmOERo1f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21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Explanation:</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Let the train fare between the two places for one person be Rs.t</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Bus fare between the two places for two persons Rs.4/3 t</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=&gt; 6/2 (4/3 t) + 8(t) = 1512</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=&gt; 12t = 1512 =&gt; t = 126.</a:t>
            </a:r>
            <a:endParaRPr sz="1200" b="0" i="0">
              <a:solidFill>
                <a:schemeClr val="dk1"/>
              </a:solidFill>
              <a:latin typeface="Calibri"/>
              <a:ea typeface="Calibri"/>
              <a:cs typeface="Calibri"/>
              <a:sym typeface="Calibri"/>
            </a:endParaRPr>
          </a:p>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b="0" i="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rtl="0">
              <a:lnSpc>
                <a:spcPct val="100000"/>
              </a:lnSpc>
              <a:spcBef>
                <a:spcPts val="0"/>
              </a:spcBef>
              <a:spcAft>
                <a:spcPts val="0"/>
              </a:spcAft>
              <a:buClr>
                <a:schemeClr val="dk1"/>
              </a:buClr>
              <a:buSzPts val="1200"/>
              <a:buFont typeface="Calibri"/>
              <a:buNone/>
            </a:pPr>
            <a:r>
              <a:rPr lang="en-US" sz="1200" b="0" i="0">
                <a:solidFill>
                  <a:schemeClr val="dk1"/>
                </a:solidFill>
                <a:latin typeface="Calibri"/>
                <a:ea typeface="Calibri"/>
                <a:cs typeface="Calibri"/>
                <a:sym typeface="Calibri"/>
              </a:rPr>
              <a:t>(f + m + d)/3 = 35</a:t>
            </a:r>
            <a:br>
              <a:rPr lang="en-US"/>
            </a:br>
            <a:r>
              <a:rPr lang="en-US" sz="1200" b="0" i="0">
                <a:solidFill>
                  <a:schemeClr val="dk1"/>
                </a:solidFill>
                <a:latin typeface="Calibri"/>
                <a:ea typeface="Calibri"/>
                <a:cs typeface="Calibri"/>
                <a:sym typeface="Calibri"/>
              </a:rPr>
              <a:t>=&gt; f + m + d = 105 --- (1)</a:t>
            </a:r>
            <a:br>
              <a:rPr lang="en-US"/>
            </a:br>
            <a:r>
              <a:rPr lang="en-US" sz="1200" b="0" i="0">
                <a:solidFill>
                  <a:schemeClr val="dk1"/>
                </a:solidFill>
                <a:latin typeface="Calibri"/>
                <a:ea typeface="Calibri"/>
                <a:cs typeface="Calibri"/>
                <a:sym typeface="Calibri"/>
              </a:rPr>
              <a:t>m + 15 = f + d</a:t>
            </a:r>
            <a:br>
              <a:rPr lang="en-US"/>
            </a:br>
            <a:r>
              <a:rPr lang="en-US" sz="1200" b="0" i="0">
                <a:solidFill>
                  <a:schemeClr val="dk1"/>
                </a:solidFill>
                <a:latin typeface="Calibri"/>
                <a:ea typeface="Calibri"/>
                <a:cs typeface="Calibri"/>
                <a:sym typeface="Calibri"/>
              </a:rPr>
              <a:t>Substituting f + d as m + 15 in (1), we get</a:t>
            </a:r>
            <a:br>
              <a:rPr lang="en-US"/>
            </a:br>
            <a:r>
              <a:rPr lang="en-US" sz="1200" b="0" i="0">
                <a:solidFill>
                  <a:schemeClr val="dk1"/>
                </a:solidFill>
                <a:latin typeface="Calibri"/>
                <a:ea typeface="Calibri"/>
                <a:cs typeface="Calibri"/>
                <a:sym typeface="Calibri"/>
              </a:rPr>
              <a:t>2m + 15 = 105</a:t>
            </a:r>
            <a:br>
              <a:rPr lang="en-US"/>
            </a:br>
            <a:r>
              <a:rPr lang="en-US" sz="1200" b="0" i="0">
                <a:solidFill>
                  <a:schemeClr val="dk1"/>
                </a:solidFill>
                <a:latin typeface="Calibri"/>
                <a:ea typeface="Calibri"/>
                <a:cs typeface="Calibri"/>
                <a:sym typeface="Calibri"/>
              </a:rPr>
              <a:t>2m = 90 =&gt; m = 45 years.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i="0" u="sng">
                <a:solidFill>
                  <a:schemeClr val="dk1"/>
                </a:solidFill>
                <a:latin typeface="Calibri"/>
                <a:ea typeface="Calibri"/>
                <a:cs typeface="Calibri"/>
                <a:sym typeface="Calibri"/>
              </a:rPr>
              <a:t>Explanation:</a:t>
            </a:r>
            <a:endParaRPr sz="1200" b="1" i="0" u="sng">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Let the number be in the form of 10a + b</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Number formed by interchanging a and b = 10b + a.</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a + b = 13 --- (1)</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10b + a = 10a + b - 45</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45 = 9a - 9b =&gt; a - b = 5 --- (2)</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Adding (1) and (2), we get</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2a = 18 =&gt; a = 9 and b = 4</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The number is: 94.</a:t>
            </a:r>
            <a:endParaRPr sz="1200" b="0" i="0">
              <a:solidFill>
                <a:schemeClr val="dk1"/>
              </a:solidFill>
              <a:latin typeface="Calibri"/>
              <a:ea typeface="Calibri"/>
              <a:cs typeface="Calibri"/>
              <a:sym typeface="Calibri"/>
            </a:endParaRPr>
          </a:p>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0">
                <a:solidFill>
                  <a:schemeClr val="dk1"/>
                </a:solidFill>
                <a:latin typeface="Calibri"/>
                <a:ea typeface="Calibri"/>
                <a:cs typeface="Calibri"/>
                <a:sym typeface="Calibri"/>
              </a:rPr>
              <a:t>Solution: 10X + Y – (10Y + X) = 63</a:t>
            </a:r>
            <a:endParaRPr sz="1200" b="0">
              <a:solidFill>
                <a:schemeClr val="dk1"/>
              </a:solidFill>
              <a:latin typeface="Calibri"/>
              <a:ea typeface="Calibri"/>
              <a:cs typeface="Calibri"/>
              <a:sym typeface="Calibri"/>
            </a:endParaRPr>
          </a:p>
          <a:p>
            <a:pPr marL="0" lvl="0" indent="0" algn="l" rtl="0">
              <a:spcBef>
                <a:spcPts val="0"/>
              </a:spcBef>
              <a:spcAft>
                <a:spcPts val="0"/>
              </a:spcAft>
              <a:buNone/>
            </a:pPr>
            <a:r>
              <a:rPr lang="en-US" sz="1200" b="0">
                <a:solidFill>
                  <a:schemeClr val="dk1"/>
                </a:solidFill>
                <a:latin typeface="Calibri"/>
                <a:ea typeface="Calibri"/>
                <a:cs typeface="Calibri"/>
                <a:sym typeface="Calibri"/>
              </a:rPr>
              <a:t> 9X – 9Y = 63</a:t>
            </a:r>
            <a:endParaRPr sz="1200" b="0">
              <a:solidFill>
                <a:schemeClr val="dk1"/>
              </a:solidFill>
              <a:latin typeface="Calibri"/>
              <a:ea typeface="Calibri"/>
              <a:cs typeface="Calibri"/>
              <a:sym typeface="Calibri"/>
            </a:endParaRPr>
          </a:p>
          <a:p>
            <a:pPr marL="0" lvl="0" indent="0" algn="l" rtl="0">
              <a:spcBef>
                <a:spcPts val="0"/>
              </a:spcBef>
              <a:spcAft>
                <a:spcPts val="0"/>
              </a:spcAft>
              <a:buNone/>
            </a:pPr>
            <a:r>
              <a:rPr lang="en-US" sz="1200" b="0">
                <a:solidFill>
                  <a:schemeClr val="dk1"/>
                </a:solidFill>
                <a:latin typeface="Calibri"/>
                <a:ea typeface="Calibri"/>
                <a:cs typeface="Calibri"/>
                <a:sym typeface="Calibri"/>
              </a:rPr>
              <a:t>X – Y = 7</a:t>
            </a:r>
            <a:endParaRPr sz="1200" b="0">
              <a:solidFill>
                <a:schemeClr val="dk1"/>
              </a:solidFill>
              <a:latin typeface="Calibri"/>
              <a:ea typeface="Calibri"/>
              <a:cs typeface="Calibri"/>
              <a:sym typeface="Calibri"/>
            </a:endParaRPr>
          </a:p>
          <a:p>
            <a:pPr marL="0" lvl="0" indent="0" algn="l" rtl="0">
              <a:spcBef>
                <a:spcPts val="0"/>
              </a:spcBef>
              <a:spcAft>
                <a:spcPts val="0"/>
              </a:spcAft>
              <a:buNone/>
            </a:pPr>
            <a:r>
              <a:rPr lang="en-US" sz="1200" b="0">
                <a:solidFill>
                  <a:schemeClr val="dk1"/>
                </a:solidFill>
                <a:latin typeface="Calibri"/>
                <a:ea typeface="Calibri"/>
                <a:cs typeface="Calibri"/>
                <a:sym typeface="Calibri"/>
              </a:rPr>
              <a:t>X + Y = 11</a:t>
            </a:r>
            <a:endParaRPr sz="1200" b="0">
              <a:solidFill>
                <a:schemeClr val="dk1"/>
              </a:solidFill>
              <a:latin typeface="Calibri"/>
              <a:ea typeface="Calibri"/>
              <a:cs typeface="Calibri"/>
              <a:sym typeface="Calibri"/>
            </a:endParaRPr>
          </a:p>
          <a:p>
            <a:pPr marL="0" lvl="0" indent="0" algn="l" rtl="0">
              <a:spcBef>
                <a:spcPts val="0"/>
              </a:spcBef>
              <a:spcAft>
                <a:spcPts val="0"/>
              </a:spcAft>
              <a:buNone/>
            </a:pPr>
            <a:r>
              <a:rPr lang="en-US" sz="1200" b="0">
                <a:solidFill>
                  <a:schemeClr val="dk1"/>
                </a:solidFill>
                <a:latin typeface="Calibri"/>
                <a:ea typeface="Calibri"/>
                <a:cs typeface="Calibri"/>
                <a:sym typeface="Calibri"/>
              </a:rPr>
              <a:t>Solving these equations, we get</a:t>
            </a:r>
            <a:endParaRPr sz="1200" b="0">
              <a:solidFill>
                <a:schemeClr val="dk1"/>
              </a:solidFill>
              <a:latin typeface="Calibri"/>
              <a:ea typeface="Calibri"/>
              <a:cs typeface="Calibri"/>
              <a:sym typeface="Calibri"/>
            </a:endParaRPr>
          </a:p>
          <a:p>
            <a:pPr marL="0" lvl="0" indent="0" algn="l" rtl="0">
              <a:spcBef>
                <a:spcPts val="0"/>
              </a:spcBef>
              <a:spcAft>
                <a:spcPts val="0"/>
              </a:spcAft>
              <a:buNone/>
            </a:pPr>
            <a:r>
              <a:rPr lang="en-US" sz="1200" b="0">
                <a:solidFill>
                  <a:schemeClr val="dk1"/>
                </a:solidFill>
                <a:latin typeface="Calibri"/>
                <a:ea typeface="Calibri"/>
                <a:cs typeface="Calibri"/>
                <a:sym typeface="Calibri"/>
              </a:rPr>
              <a:t>X = 9, Y = 2</a:t>
            </a:r>
            <a:endParaRPr sz="1200" b="0">
              <a:solidFill>
                <a:schemeClr val="dk1"/>
              </a:solidFill>
              <a:latin typeface="Calibri"/>
              <a:ea typeface="Calibri"/>
              <a:cs typeface="Calibri"/>
              <a:sym typeface="Calibri"/>
            </a:endParaRPr>
          </a:p>
          <a:p>
            <a:pPr marL="0" lvl="0" indent="0" algn="l" rtl="0">
              <a:spcBef>
                <a:spcPts val="0"/>
              </a:spcBef>
              <a:spcAft>
                <a:spcPts val="0"/>
              </a:spcAft>
              <a:buNone/>
            </a:pPr>
            <a:r>
              <a:rPr lang="en-US" sz="1200" b="0">
                <a:solidFill>
                  <a:schemeClr val="dk1"/>
                </a:solidFill>
                <a:latin typeface="Calibri"/>
                <a:ea typeface="Calibri"/>
                <a:cs typeface="Calibri"/>
                <a:sym typeface="Calibri"/>
              </a:rPr>
              <a:t>Required number = 10X + Y</a:t>
            </a:r>
            <a:endParaRPr sz="1200" b="0">
              <a:solidFill>
                <a:schemeClr val="dk1"/>
              </a:solidFill>
              <a:latin typeface="Calibri"/>
              <a:ea typeface="Calibri"/>
              <a:cs typeface="Calibri"/>
              <a:sym typeface="Calibri"/>
            </a:endParaRPr>
          </a:p>
          <a:p>
            <a:pPr marL="0" lvl="0" indent="0" algn="l" rtl="0">
              <a:spcBef>
                <a:spcPts val="0"/>
              </a:spcBef>
              <a:spcAft>
                <a:spcPts val="0"/>
              </a:spcAft>
              <a:buNone/>
            </a:pPr>
            <a:r>
              <a:rPr lang="en-US" sz="1200" b="0">
                <a:solidFill>
                  <a:schemeClr val="dk1"/>
                </a:solidFill>
                <a:latin typeface="Calibri"/>
                <a:ea typeface="Calibri"/>
                <a:cs typeface="Calibri"/>
                <a:sym typeface="Calibri"/>
              </a:rPr>
              <a:t>=&gt; 10 * 9 + 2 = 92</a:t>
            </a:r>
            <a:endParaRPr sz="1200" b="0">
              <a:solidFill>
                <a:schemeClr val="dk1"/>
              </a:solidFill>
              <a:latin typeface="Calibri"/>
              <a:ea typeface="Calibri"/>
              <a:cs typeface="Calibri"/>
              <a:sym typeface="Calibri"/>
            </a:endParaRPr>
          </a:p>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2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36"/>
          <p:cNvSpPr txBox="1">
            <a:spLocks noGrp="1"/>
          </p:cNvSpPr>
          <p:nvPr>
            <p:ph type="title"/>
          </p:nvPr>
        </p:nvSpPr>
        <p:spPr>
          <a:xfrm>
            <a:off x="311700" y="593367"/>
            <a:ext cx="8520600" cy="763600"/>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36"/>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gn="l">
              <a:spcBef>
                <a:spcPts val="0"/>
              </a:spcBef>
              <a:spcAft>
                <a:spcPts val="0"/>
              </a:spcAft>
              <a:buClr>
                <a:schemeClr val="dk1"/>
              </a:buClr>
              <a:buSzPts val="1800"/>
              <a:buChar char="●"/>
              <a:defRPr/>
            </a:lvl1pPr>
            <a:lvl2pPr marL="914400" lvl="1" indent="-317500" algn="l">
              <a:spcBef>
                <a:spcPts val="1600"/>
              </a:spcBef>
              <a:spcAft>
                <a:spcPts val="0"/>
              </a:spcAft>
              <a:buClr>
                <a:schemeClr val="dk1"/>
              </a:buClr>
              <a:buSzPts val="1400"/>
              <a:buChar char="○"/>
              <a:defRPr/>
            </a:lvl2pPr>
            <a:lvl3pPr marL="1371600" lvl="2" indent="-317500" algn="l">
              <a:spcBef>
                <a:spcPts val="1600"/>
              </a:spcBef>
              <a:spcAft>
                <a:spcPts val="0"/>
              </a:spcAft>
              <a:buClr>
                <a:schemeClr val="dk1"/>
              </a:buClr>
              <a:buSzPts val="1400"/>
              <a:buChar char="■"/>
              <a:defRPr/>
            </a:lvl3pPr>
            <a:lvl4pPr marL="1828800" lvl="3" indent="-317500" algn="l">
              <a:spcBef>
                <a:spcPts val="1600"/>
              </a:spcBef>
              <a:spcAft>
                <a:spcPts val="0"/>
              </a:spcAft>
              <a:buClr>
                <a:schemeClr val="dk1"/>
              </a:buClr>
              <a:buSzPts val="1400"/>
              <a:buChar char="●"/>
              <a:defRPr/>
            </a:lvl4pPr>
            <a:lvl5pPr marL="2286000" lvl="4" indent="-317500" algn="l">
              <a:spcBef>
                <a:spcPts val="1600"/>
              </a:spcBef>
              <a:spcAft>
                <a:spcPts val="0"/>
              </a:spcAft>
              <a:buClr>
                <a:schemeClr val="dk1"/>
              </a:buClr>
              <a:buSzPts val="1400"/>
              <a:buChar char="○"/>
              <a:defRPr/>
            </a:lvl5pPr>
            <a:lvl6pPr marL="2743200" lvl="5" indent="-317500" algn="l">
              <a:spcBef>
                <a:spcPts val="1600"/>
              </a:spcBef>
              <a:spcAft>
                <a:spcPts val="0"/>
              </a:spcAft>
              <a:buClr>
                <a:schemeClr val="dk1"/>
              </a:buClr>
              <a:buSzPts val="1400"/>
              <a:buChar char="■"/>
              <a:defRPr/>
            </a:lvl6pPr>
            <a:lvl7pPr marL="3200400" lvl="6" indent="-317500" algn="l">
              <a:spcBef>
                <a:spcPts val="1600"/>
              </a:spcBef>
              <a:spcAft>
                <a:spcPts val="0"/>
              </a:spcAft>
              <a:buClr>
                <a:schemeClr val="dk1"/>
              </a:buClr>
              <a:buSzPts val="1400"/>
              <a:buChar char="●"/>
              <a:defRPr/>
            </a:lvl7pPr>
            <a:lvl8pPr marL="3657600" lvl="7" indent="-317500" algn="l">
              <a:spcBef>
                <a:spcPts val="1600"/>
              </a:spcBef>
              <a:spcAft>
                <a:spcPts val="0"/>
              </a:spcAft>
              <a:buClr>
                <a:schemeClr val="dk1"/>
              </a:buClr>
              <a:buSzPts val="1400"/>
              <a:buChar char="○"/>
              <a:defRPr/>
            </a:lvl8pPr>
            <a:lvl9pPr marL="4114800" lvl="8" indent="-317500" algn="l">
              <a:spcBef>
                <a:spcPts val="1600"/>
              </a:spcBef>
              <a:spcAft>
                <a:spcPts val="1600"/>
              </a:spcAft>
              <a:buClr>
                <a:schemeClr val="dk1"/>
              </a:buClr>
              <a:buSzPts val="1400"/>
              <a:buChar char="■"/>
              <a:defRPr/>
            </a:lvl9pPr>
          </a:lstStyle>
          <a:p>
            <a:endParaRPr/>
          </a:p>
        </p:txBody>
      </p:sp>
      <p:sp>
        <p:nvSpPr>
          <p:cNvPr id="19" name="Google Shape;19;p36"/>
          <p:cNvSpPr txBox="1">
            <a:spLocks noGrp="1"/>
          </p:cNvSpPr>
          <p:nvPr>
            <p:ph type="sldNum" idx="12"/>
          </p:nvPr>
        </p:nvSpPr>
        <p:spPr>
          <a:xfrm>
            <a:off x="8472458" y="6217623"/>
            <a:ext cx="548700" cy="524800"/>
          </a:xfrm>
          <a:prstGeom prst="rect">
            <a:avLst/>
          </a:prstGeom>
          <a:noFill/>
          <a:ln>
            <a:noFill/>
          </a:ln>
        </p:spPr>
        <p:txBody>
          <a:bodyPr spcFirstLastPara="1" wrap="square" lIns="91425" tIns="91425" rIns="91425" bIns="91425" anchor="ctr" anchorCtr="0">
            <a:noAutofit/>
          </a:bodyPr>
          <a:lstStyle>
            <a:lvl1pPr marL="0" marR="0" lvl="0"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 name="Google Shape;2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9" name="Google Shape;29;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3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3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4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4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4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4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6" name="Google Shape;66;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7" name="Google Shape;67;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45"/>
          <p:cNvSpPr>
            <a:spLocks noGrp="1"/>
          </p:cNvSpPr>
          <p:nvPr>
            <p:ph type="pic" idx="2"/>
          </p:nvPr>
        </p:nvSpPr>
        <p:spPr>
          <a:xfrm>
            <a:off x="1792288" y="612775"/>
            <a:ext cx="5486400" cy="4114800"/>
          </a:xfrm>
          <a:prstGeom prst="rect">
            <a:avLst/>
          </a:prstGeom>
          <a:noFill/>
          <a:ln>
            <a:noFill/>
          </a:ln>
        </p:spPr>
      </p:sp>
      <p:sp>
        <p:nvSpPr>
          <p:cNvPr id="73" name="Google Shape;73;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4" name="Google Shape;74;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
          <p:cNvPicPr preferRelativeResize="0"/>
          <p:nvPr/>
        </p:nvPicPr>
        <p:blipFill rotWithShape="1">
          <a:blip r:embed="rId3">
            <a:alphaModFix/>
          </a:blip>
          <a:srcRect/>
          <a:stretch/>
        </p:blipFill>
        <p:spPr>
          <a:xfrm>
            <a:off x="1905000" y="575234"/>
            <a:ext cx="4953000" cy="57075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97"/>
        <p:cNvGrpSpPr/>
        <p:nvPr/>
      </p:nvGrpSpPr>
      <p:grpSpPr>
        <a:xfrm>
          <a:off x="0" y="0"/>
          <a:ext cx="0" cy="0"/>
          <a:chOff x="0" y="0"/>
          <a:chExt cx="0" cy="0"/>
        </a:xfrm>
      </p:grpSpPr>
      <p:pic>
        <p:nvPicPr>
          <p:cNvPr id="98" name="Google Shape;98;p2"/>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99" name="Google Shape;99;p2"/>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00" name="Google Shape;100;p2"/>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b="0" i="0" u="none" strike="noStrike" cap="none">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01" name="Google Shape;101;p2"/>
          <p:cNvSpPr txBox="1"/>
          <p:nvPr/>
        </p:nvSpPr>
        <p:spPr>
          <a:xfrm>
            <a:off x="152400" y="311400"/>
            <a:ext cx="6968400"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a:solidFill>
                  <a:schemeClr val="dk1"/>
                </a:solidFill>
                <a:latin typeface="Calibri"/>
                <a:ea typeface="Calibri"/>
                <a:cs typeface="Calibri"/>
                <a:sym typeface="Calibri"/>
              </a:rPr>
              <a:t>Mixtures and Alligations Quiz:</a:t>
            </a:r>
            <a:endParaRPr sz="4800">
              <a:solidFill>
                <a:schemeClr val="dk1"/>
              </a:solidFill>
              <a:latin typeface="Calibri"/>
              <a:ea typeface="Calibri"/>
              <a:cs typeface="Calibri"/>
              <a:sym typeface="Calibri"/>
            </a:endParaRPr>
          </a:p>
          <a:p>
            <a:pPr marL="0" marR="0" lvl="0" indent="0" algn="ctr" rtl="0">
              <a:spcBef>
                <a:spcPts val="0"/>
              </a:spcBef>
              <a:spcAft>
                <a:spcPts val="0"/>
              </a:spcAft>
              <a:buNone/>
            </a:pPr>
            <a:endParaRPr sz="4800">
              <a:solidFill>
                <a:schemeClr val="dk1"/>
              </a:solidFill>
              <a:latin typeface="Calibri"/>
              <a:ea typeface="Calibri"/>
              <a:cs typeface="Calibri"/>
              <a:sym typeface="Calibri"/>
            </a:endParaRPr>
          </a:p>
          <a:p>
            <a:pPr marL="0" marR="0" lvl="0" indent="0" algn="ctr" rtl="0">
              <a:spcBef>
                <a:spcPts val="0"/>
              </a:spcBef>
              <a:spcAft>
                <a:spcPts val="0"/>
              </a:spcAft>
              <a:buNone/>
            </a:pPr>
            <a:endParaRPr sz="4800">
              <a:solidFill>
                <a:schemeClr val="dk1"/>
              </a:solidFill>
              <a:latin typeface="Calibri"/>
              <a:ea typeface="Calibri"/>
              <a:cs typeface="Calibri"/>
              <a:sym typeface="Calibri"/>
            </a:endParaRPr>
          </a:p>
          <a:p>
            <a:pPr marL="0" marR="0" lvl="0" indent="0" algn="l" rtl="0">
              <a:spcBef>
                <a:spcPts val="0"/>
              </a:spcBef>
              <a:spcAft>
                <a:spcPts val="0"/>
              </a:spcAft>
              <a:buNone/>
            </a:pPr>
            <a:r>
              <a:rPr lang="en-US" sz="4800">
                <a:solidFill>
                  <a:schemeClr val="dk1"/>
                </a:solidFill>
                <a:latin typeface="Calibri"/>
                <a:ea typeface="Calibri"/>
                <a:cs typeface="Calibri"/>
                <a:sym typeface="Calibri"/>
              </a:rPr>
              <a:t>https://qrgo.page.</a:t>
            </a:r>
            <a:endParaRPr sz="4800">
              <a:solidFill>
                <a:schemeClr val="dk1"/>
              </a:solidFill>
              <a:latin typeface="Calibri"/>
              <a:ea typeface="Calibri"/>
              <a:cs typeface="Calibri"/>
              <a:sym typeface="Calibri"/>
            </a:endParaRPr>
          </a:p>
          <a:p>
            <a:pPr marL="0" marR="0" lvl="0" indent="0" algn="l" rtl="0">
              <a:spcBef>
                <a:spcPts val="0"/>
              </a:spcBef>
              <a:spcAft>
                <a:spcPts val="0"/>
              </a:spcAft>
              <a:buNone/>
            </a:pPr>
            <a:r>
              <a:rPr lang="en-US" sz="4800">
                <a:solidFill>
                  <a:schemeClr val="dk1"/>
                </a:solidFill>
                <a:latin typeface="Calibri"/>
                <a:ea typeface="Calibri"/>
                <a:cs typeface="Calibri"/>
                <a:sym typeface="Calibri"/>
              </a:rPr>
              <a:t>link/tT2Zg</a:t>
            </a:r>
            <a:endParaRPr sz="4800">
              <a:solidFill>
                <a:schemeClr val="dk1"/>
              </a:solidFill>
              <a:latin typeface="Calibri"/>
              <a:ea typeface="Calibri"/>
              <a:cs typeface="Calibri"/>
              <a:sym typeface="Calibri"/>
            </a:endParaRPr>
          </a:p>
        </p:txBody>
      </p:sp>
      <p:pic>
        <p:nvPicPr>
          <p:cNvPr id="102" name="Google Shape;102;p2" descr="C:\Users\User\Downloads\MAB.png"/>
          <p:cNvPicPr preferRelativeResize="0"/>
          <p:nvPr/>
        </p:nvPicPr>
        <p:blipFill rotWithShape="1">
          <a:blip r:embed="rId5">
            <a:alphaModFix/>
          </a:blip>
          <a:srcRect/>
          <a:stretch/>
        </p:blipFill>
        <p:spPr>
          <a:xfrm>
            <a:off x="4876800" y="1892474"/>
            <a:ext cx="4076700" cy="4076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3"/>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08" name="Google Shape;108;p3"/>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09" name="Google Shape;109;p3"/>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10" name="Google Shape;110;p3"/>
          <p:cNvSpPr txBox="1"/>
          <p:nvPr/>
        </p:nvSpPr>
        <p:spPr>
          <a:xfrm>
            <a:off x="1873787" y="2776758"/>
            <a:ext cx="56388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dirty="0">
                <a:solidFill>
                  <a:schemeClr val="dk1"/>
                </a:solidFill>
                <a:latin typeface="Calibri"/>
                <a:ea typeface="Calibri"/>
                <a:cs typeface="Calibri"/>
                <a:sym typeface="Calibri"/>
              </a:rPr>
              <a:t>Simple Equations</a:t>
            </a:r>
            <a:endParaRPr sz="48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4"/>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16" name="Google Shape;116;p4"/>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17" name="Google Shape;117;p4"/>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18" name="Google Shape;118;p4"/>
          <p:cNvSpPr/>
          <p:nvPr/>
        </p:nvSpPr>
        <p:spPr>
          <a:xfrm>
            <a:off x="403012" y="1235650"/>
            <a:ext cx="8412052" cy="383181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The bus fare for two persons for travelling between Agra and Aligarh id four-thirds the train fare between the same places for one person. The total fare paid by 6 persons travelling by bus and 8 persons travelling by train between the two places is Rs.1512. Find the train fare between the two places for one person?</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Rs.126</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Rs.132</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Rs.120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Rs.114</a:t>
            </a:r>
            <a:endParaRPr sz="1800">
              <a:solidFill>
                <a:schemeClr val="dk1"/>
              </a:solidFill>
              <a:latin typeface="Arial"/>
              <a:ea typeface="Arial"/>
              <a:cs typeface="Arial"/>
              <a:sym typeface="Arial"/>
            </a:endParaRPr>
          </a:p>
        </p:txBody>
      </p:sp>
      <p:sp>
        <p:nvSpPr>
          <p:cNvPr id="119" name="Google Shape;119;p4"/>
          <p:cNvSpPr/>
          <p:nvPr/>
        </p:nvSpPr>
        <p:spPr>
          <a:xfrm>
            <a:off x="7010400" y="5562600"/>
            <a:ext cx="13174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A</a:t>
            </a:r>
            <a:endParaRPr sz="1800" b="1">
              <a:solidFill>
                <a:schemeClr val="dk1"/>
              </a:solidFill>
              <a:latin typeface="Arial"/>
              <a:ea typeface="Arial"/>
              <a:cs typeface="Arial"/>
              <a:sym typeface="Arial"/>
            </a:endParaRPr>
          </a:p>
        </p:txBody>
      </p:sp>
      <p:sp>
        <p:nvSpPr>
          <p:cNvPr id="120" name="Google Shape;120;p4"/>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01</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xEl>
                                              <p:pRg st="0" end="0"/>
                                            </p:txEl>
                                          </p:spTgt>
                                        </p:tgtEl>
                                        <p:attrNameLst>
                                          <p:attrName>style.visibility</p:attrName>
                                        </p:attrNameLst>
                                      </p:cBhvr>
                                      <p:to>
                                        <p:strVal val="visible"/>
                                      </p:to>
                                    </p:set>
                                    <p:animEffect transition="in" filter="fade">
                                      <p:cBhvr>
                                        <p:cTn id="7" dur="2000"/>
                                        <p:tgtEl>
                                          <p:spTgt spid="1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8">
                                            <p:txEl>
                                              <p:pRg st="0" end="0"/>
                                            </p:txEl>
                                          </p:spTgt>
                                        </p:tgtEl>
                                        <p:attrNameLst>
                                          <p:attrName>style.visibility</p:attrName>
                                        </p:attrNameLst>
                                      </p:cBhvr>
                                      <p:to>
                                        <p:strVal val="visible"/>
                                      </p:to>
                                    </p:set>
                                    <p:animEffect transition="in" filter="fade">
                                      <p:cBhvr>
                                        <p:cTn id="12" dur="2000"/>
                                        <p:tgtEl>
                                          <p:spTgt spid="1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8">
                                            <p:txEl>
                                              <p:pRg st="1" end="1"/>
                                            </p:txEl>
                                          </p:spTgt>
                                        </p:tgtEl>
                                        <p:attrNameLst>
                                          <p:attrName>style.visibility</p:attrName>
                                        </p:attrNameLst>
                                      </p:cBhvr>
                                      <p:to>
                                        <p:strVal val="visible"/>
                                      </p:to>
                                    </p:set>
                                    <p:animEffect transition="in" filter="fade">
                                      <p:cBhvr>
                                        <p:cTn id="17" dur="2000"/>
                                        <p:tgtEl>
                                          <p:spTgt spid="1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8">
                                            <p:txEl>
                                              <p:pRg st="2" end="2"/>
                                            </p:txEl>
                                          </p:spTgt>
                                        </p:tgtEl>
                                        <p:attrNameLst>
                                          <p:attrName>style.visibility</p:attrName>
                                        </p:attrNameLst>
                                      </p:cBhvr>
                                      <p:to>
                                        <p:strVal val="visible"/>
                                      </p:to>
                                    </p:set>
                                    <p:animEffect transition="in" filter="fade">
                                      <p:cBhvr>
                                        <p:cTn id="22" dur="2000"/>
                                        <p:tgtEl>
                                          <p:spTgt spid="11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8">
                                            <p:txEl>
                                              <p:pRg st="3" end="3"/>
                                            </p:txEl>
                                          </p:spTgt>
                                        </p:tgtEl>
                                        <p:attrNameLst>
                                          <p:attrName>style.visibility</p:attrName>
                                        </p:attrNameLst>
                                      </p:cBhvr>
                                      <p:to>
                                        <p:strVal val="visible"/>
                                      </p:to>
                                    </p:set>
                                    <p:animEffect transition="in" filter="fade">
                                      <p:cBhvr>
                                        <p:cTn id="27" dur="2000"/>
                                        <p:tgtEl>
                                          <p:spTgt spid="11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8">
                                            <p:txEl>
                                              <p:pRg st="4" end="4"/>
                                            </p:txEl>
                                          </p:spTgt>
                                        </p:tgtEl>
                                        <p:attrNameLst>
                                          <p:attrName>style.visibility</p:attrName>
                                        </p:attrNameLst>
                                      </p:cBhvr>
                                      <p:to>
                                        <p:strVal val="visible"/>
                                      </p:to>
                                    </p:set>
                                    <p:animEffect transition="in" filter="fade">
                                      <p:cBhvr>
                                        <p:cTn id="32" dur="2000"/>
                                        <p:tgtEl>
                                          <p:spTgt spid="11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8">
                                            <p:txEl>
                                              <p:pRg st="5" end="5"/>
                                            </p:txEl>
                                          </p:spTgt>
                                        </p:tgtEl>
                                        <p:attrNameLst>
                                          <p:attrName>style.visibility</p:attrName>
                                        </p:attrNameLst>
                                      </p:cBhvr>
                                      <p:to>
                                        <p:strVal val="visible"/>
                                      </p:to>
                                    </p:set>
                                    <p:animEffect transition="in" filter="fade">
                                      <p:cBhvr>
                                        <p:cTn id="37" dur="2000"/>
                                        <p:tgtEl>
                                          <p:spTgt spid="11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9">
                                            <p:txEl>
                                              <p:pRg st="0" end="0"/>
                                            </p:txEl>
                                          </p:spTgt>
                                        </p:tgtEl>
                                        <p:attrNameLst>
                                          <p:attrName>style.visibility</p:attrName>
                                        </p:attrNameLst>
                                      </p:cBhvr>
                                      <p:to>
                                        <p:strVal val="visible"/>
                                      </p:to>
                                    </p:set>
                                    <p:animEffect transition="in" filter="fade">
                                      <p:cBhvr>
                                        <p:cTn id="42" dur="2000"/>
                                        <p:tgtEl>
                                          <p:spTgt spid="1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5"/>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26" name="Google Shape;126;p5"/>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27" name="Google Shape;127;p5"/>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28" name="Google Shape;128;p5"/>
          <p:cNvSpPr/>
          <p:nvPr/>
        </p:nvSpPr>
        <p:spPr>
          <a:xfrm>
            <a:off x="403012" y="1235650"/>
            <a:ext cx="8412052"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Let the train fare between the two places for one person be Rs.t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Bus fare between the two places for two persons Rs.4/3 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6/2 (4/3 t) + 8(t) = 1512</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12t = 1512 =&gt; t = 126.</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29" name="Google Shape;129;p5"/>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xEl>
                                              <p:pRg st="0" end="0"/>
                                            </p:txEl>
                                          </p:spTgt>
                                        </p:tgtEl>
                                        <p:attrNameLst>
                                          <p:attrName>style.visibility</p:attrName>
                                        </p:attrNameLst>
                                      </p:cBhvr>
                                      <p:to>
                                        <p:strVal val="visible"/>
                                      </p:to>
                                    </p:set>
                                    <p:animEffect transition="in" filter="fade">
                                      <p:cBhvr>
                                        <p:cTn id="7" dur="2000"/>
                                        <p:tgtEl>
                                          <p:spTgt spid="1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8">
                                            <p:txEl>
                                              <p:pRg st="0" end="0"/>
                                            </p:txEl>
                                          </p:spTgt>
                                        </p:tgtEl>
                                        <p:attrNameLst>
                                          <p:attrName>style.visibility</p:attrName>
                                        </p:attrNameLst>
                                      </p:cBhvr>
                                      <p:to>
                                        <p:strVal val="visible"/>
                                      </p:to>
                                    </p:set>
                                    <p:animEffect transition="in" filter="fade">
                                      <p:cBhvr>
                                        <p:cTn id="12" dur="2000"/>
                                        <p:tgtEl>
                                          <p:spTgt spid="1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8">
                                            <p:txEl>
                                              <p:pRg st="1" end="1"/>
                                            </p:txEl>
                                          </p:spTgt>
                                        </p:tgtEl>
                                        <p:attrNameLst>
                                          <p:attrName>style.visibility</p:attrName>
                                        </p:attrNameLst>
                                      </p:cBhvr>
                                      <p:to>
                                        <p:strVal val="visible"/>
                                      </p:to>
                                    </p:set>
                                    <p:animEffect transition="in" filter="fade">
                                      <p:cBhvr>
                                        <p:cTn id="17" dur="2000"/>
                                        <p:tgtEl>
                                          <p:spTgt spid="1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6"/>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35" name="Google Shape;135;p6"/>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36" name="Google Shape;136;p6"/>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37" name="Google Shape;137;p6"/>
          <p:cNvSpPr/>
          <p:nvPr/>
        </p:nvSpPr>
        <p:spPr>
          <a:xfrm>
            <a:off x="381000" y="1219200"/>
            <a:ext cx="8434200" cy="38319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A man purchased 15 pens, 12 books, 10 pencils and 5 erasers. The cost of each pen is Rs.36, each book is Rs.45, each pencil is Rs.8, and the cost of each eraser is Rs.40 less than the combined costs of pen and pencil. Find the total amount spent?</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Rs.1180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Rs.1120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Rs.1140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Rs.1160</a:t>
            </a:r>
            <a:endParaRPr sz="1800">
              <a:solidFill>
                <a:schemeClr val="dk1"/>
              </a:solidFill>
              <a:latin typeface="Arial"/>
              <a:ea typeface="Arial"/>
              <a:cs typeface="Arial"/>
              <a:sym typeface="Arial"/>
            </a:endParaRPr>
          </a:p>
        </p:txBody>
      </p:sp>
      <p:sp>
        <p:nvSpPr>
          <p:cNvPr id="138" name="Google Shape;138;p6"/>
          <p:cNvSpPr/>
          <p:nvPr/>
        </p:nvSpPr>
        <p:spPr>
          <a:xfrm>
            <a:off x="7010400" y="5486400"/>
            <a:ext cx="13174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A</a:t>
            </a:r>
            <a:endParaRPr sz="1800" b="1">
              <a:solidFill>
                <a:schemeClr val="dk1"/>
              </a:solidFill>
              <a:latin typeface="Arial"/>
              <a:ea typeface="Arial"/>
              <a:cs typeface="Arial"/>
              <a:sym typeface="Arial"/>
            </a:endParaRPr>
          </a:p>
        </p:txBody>
      </p:sp>
      <p:sp>
        <p:nvSpPr>
          <p:cNvPr id="139" name="Google Shape;139;p6"/>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02</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animEffect transition="in" filter="fade">
                                      <p:cBhvr>
                                        <p:cTn id="7" dur="2000"/>
                                        <p:tgtEl>
                                          <p:spTgt spid="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7">
                                            <p:txEl>
                                              <p:pRg st="0" end="0"/>
                                            </p:txEl>
                                          </p:spTgt>
                                        </p:tgtEl>
                                        <p:attrNameLst>
                                          <p:attrName>style.visibility</p:attrName>
                                        </p:attrNameLst>
                                      </p:cBhvr>
                                      <p:to>
                                        <p:strVal val="visible"/>
                                      </p:to>
                                    </p:set>
                                    <p:animEffect transition="in" filter="fade">
                                      <p:cBhvr>
                                        <p:cTn id="12" dur="2000"/>
                                        <p:tgtEl>
                                          <p:spTgt spid="1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7">
                                            <p:txEl>
                                              <p:pRg st="1" end="1"/>
                                            </p:txEl>
                                          </p:spTgt>
                                        </p:tgtEl>
                                        <p:attrNameLst>
                                          <p:attrName>style.visibility</p:attrName>
                                        </p:attrNameLst>
                                      </p:cBhvr>
                                      <p:to>
                                        <p:strVal val="visible"/>
                                      </p:to>
                                    </p:set>
                                    <p:animEffect transition="in" filter="fade">
                                      <p:cBhvr>
                                        <p:cTn id="17" dur="2000"/>
                                        <p:tgtEl>
                                          <p:spTgt spid="1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7">
                                            <p:txEl>
                                              <p:pRg st="2" end="2"/>
                                            </p:txEl>
                                          </p:spTgt>
                                        </p:tgtEl>
                                        <p:attrNameLst>
                                          <p:attrName>style.visibility</p:attrName>
                                        </p:attrNameLst>
                                      </p:cBhvr>
                                      <p:to>
                                        <p:strVal val="visible"/>
                                      </p:to>
                                    </p:set>
                                    <p:animEffect transition="in" filter="fade">
                                      <p:cBhvr>
                                        <p:cTn id="22" dur="2000"/>
                                        <p:tgtEl>
                                          <p:spTgt spid="1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7">
                                            <p:txEl>
                                              <p:pRg st="3" end="3"/>
                                            </p:txEl>
                                          </p:spTgt>
                                        </p:tgtEl>
                                        <p:attrNameLst>
                                          <p:attrName>style.visibility</p:attrName>
                                        </p:attrNameLst>
                                      </p:cBhvr>
                                      <p:to>
                                        <p:strVal val="visible"/>
                                      </p:to>
                                    </p:set>
                                    <p:animEffect transition="in" filter="fade">
                                      <p:cBhvr>
                                        <p:cTn id="27" dur="2000"/>
                                        <p:tgtEl>
                                          <p:spTgt spid="1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7">
                                            <p:txEl>
                                              <p:pRg st="4" end="4"/>
                                            </p:txEl>
                                          </p:spTgt>
                                        </p:tgtEl>
                                        <p:attrNameLst>
                                          <p:attrName>style.visibility</p:attrName>
                                        </p:attrNameLst>
                                      </p:cBhvr>
                                      <p:to>
                                        <p:strVal val="visible"/>
                                      </p:to>
                                    </p:set>
                                    <p:animEffect transition="in" filter="fade">
                                      <p:cBhvr>
                                        <p:cTn id="32" dur="2000"/>
                                        <p:tgtEl>
                                          <p:spTgt spid="13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7">
                                            <p:txEl>
                                              <p:pRg st="5" end="5"/>
                                            </p:txEl>
                                          </p:spTgt>
                                        </p:tgtEl>
                                        <p:attrNameLst>
                                          <p:attrName>style.visibility</p:attrName>
                                        </p:attrNameLst>
                                      </p:cBhvr>
                                      <p:to>
                                        <p:strVal val="visible"/>
                                      </p:to>
                                    </p:set>
                                    <p:animEffect transition="in" filter="fade">
                                      <p:cBhvr>
                                        <p:cTn id="37" dur="2000"/>
                                        <p:tgtEl>
                                          <p:spTgt spid="13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8">
                                            <p:txEl>
                                              <p:pRg st="0" end="0"/>
                                            </p:txEl>
                                          </p:spTgt>
                                        </p:tgtEl>
                                        <p:attrNameLst>
                                          <p:attrName>style.visibility</p:attrName>
                                        </p:attrNameLst>
                                      </p:cBhvr>
                                      <p:to>
                                        <p:strVal val="visible"/>
                                      </p:to>
                                    </p:set>
                                    <p:animEffect transition="in" filter="fade">
                                      <p:cBhvr>
                                        <p:cTn id="42" dur="2000"/>
                                        <p:tgtEl>
                                          <p:spTgt spid="1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7"/>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45" name="Google Shape;145;p7"/>
          <p:cNvPicPr preferRelativeResize="0"/>
          <p:nvPr/>
        </p:nvPicPr>
        <p:blipFill rotWithShape="1">
          <a:blip r:embed="rId4">
            <a:alphaModFix/>
          </a:blip>
          <a:srcRect/>
          <a:stretch/>
        </p:blipFill>
        <p:spPr>
          <a:xfrm>
            <a:off x="7449725" y="483416"/>
            <a:ext cx="1694264" cy="1022399"/>
          </a:xfrm>
          <a:prstGeom prst="rect">
            <a:avLst/>
          </a:prstGeom>
          <a:noFill/>
          <a:ln>
            <a:noFill/>
          </a:ln>
        </p:spPr>
      </p:pic>
      <p:sp>
        <p:nvSpPr>
          <p:cNvPr id="146" name="Google Shape;146;p7"/>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47" name="Google Shape;147;p7"/>
          <p:cNvSpPr/>
          <p:nvPr/>
        </p:nvSpPr>
        <p:spPr>
          <a:xfrm>
            <a:off x="403012" y="1235650"/>
            <a:ext cx="841205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Explanation: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Cost of each eraser = (36 + 8 -40) = Rs.4</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Required amount = 15 * 36 + 12 * 45 + 10 * 8 + 5 * 4</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540 + 540 + 80 + 20 = Rs.1180</a:t>
            </a:r>
            <a:endParaRPr sz="1800">
              <a:solidFill>
                <a:schemeClr val="dk1"/>
              </a:solidFill>
              <a:latin typeface="Calibri"/>
              <a:ea typeface="Calibri"/>
              <a:cs typeface="Calibri"/>
              <a:sym typeface="Calibri"/>
            </a:endParaRPr>
          </a:p>
        </p:txBody>
      </p:sp>
      <p:sp>
        <p:nvSpPr>
          <p:cNvPr id="148" name="Google Shape;148;p7"/>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animEffect transition="in" filter="fade">
                                      <p:cBhvr>
                                        <p:cTn id="7" dur="2000"/>
                                        <p:tgtEl>
                                          <p:spTgt spid="1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7">
                                            <p:txEl>
                                              <p:pRg st="0" end="0"/>
                                            </p:txEl>
                                          </p:spTgt>
                                        </p:tgtEl>
                                        <p:attrNameLst>
                                          <p:attrName>style.visibility</p:attrName>
                                        </p:attrNameLst>
                                      </p:cBhvr>
                                      <p:to>
                                        <p:strVal val="visible"/>
                                      </p:to>
                                    </p:set>
                                    <p:animEffect transition="in" filter="fade">
                                      <p:cBhvr>
                                        <p:cTn id="12" dur="2000"/>
                                        <p:tgtEl>
                                          <p:spTgt spid="1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7">
                                            <p:txEl>
                                              <p:pRg st="1" end="1"/>
                                            </p:txEl>
                                          </p:spTgt>
                                        </p:tgtEl>
                                        <p:attrNameLst>
                                          <p:attrName>style.visibility</p:attrName>
                                        </p:attrNameLst>
                                      </p:cBhvr>
                                      <p:to>
                                        <p:strVal val="visible"/>
                                      </p:to>
                                    </p:set>
                                    <p:animEffect transition="in" filter="fade">
                                      <p:cBhvr>
                                        <p:cTn id="17" dur="2000"/>
                                        <p:tgtEl>
                                          <p:spTgt spid="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8"/>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54" name="Google Shape;154;p8"/>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55" name="Google Shape;155;p8"/>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56" name="Google Shape;156;p8"/>
          <p:cNvSpPr/>
          <p:nvPr/>
        </p:nvSpPr>
        <p:spPr>
          <a:xfrm>
            <a:off x="342900" y="1143000"/>
            <a:ext cx="8472164" cy="34163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A man traveled a total distance of 1800 km. He traveled one-third of the whole trip by plane and the distance traveled by train is three-fifth of the distance traveled by bus. If he traveled by train, plane and bus, then find the distance traveled by bus?</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450 km</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850 km</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1200 km</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750 km</a:t>
            </a:r>
            <a:endParaRPr sz="1800">
              <a:solidFill>
                <a:schemeClr val="dk1"/>
              </a:solidFill>
              <a:latin typeface="Arial"/>
              <a:ea typeface="Arial"/>
              <a:cs typeface="Arial"/>
              <a:sym typeface="Arial"/>
            </a:endParaRPr>
          </a:p>
        </p:txBody>
      </p:sp>
      <p:sp>
        <p:nvSpPr>
          <p:cNvPr id="157" name="Google Shape;157;p8"/>
          <p:cNvSpPr/>
          <p:nvPr/>
        </p:nvSpPr>
        <p:spPr>
          <a:xfrm>
            <a:off x="6934200" y="55626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D</a:t>
            </a:r>
            <a:endParaRPr sz="1800" b="1">
              <a:solidFill>
                <a:schemeClr val="dk1"/>
              </a:solidFill>
              <a:latin typeface="Arial"/>
              <a:ea typeface="Arial"/>
              <a:cs typeface="Arial"/>
              <a:sym typeface="Arial"/>
            </a:endParaRPr>
          </a:p>
        </p:txBody>
      </p:sp>
      <p:sp>
        <p:nvSpPr>
          <p:cNvPr id="158" name="Google Shape;158;p8"/>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03</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animEffect transition="in" filter="fade">
                                      <p:cBhvr>
                                        <p:cTn id="7" dur="2000"/>
                                        <p:tgtEl>
                                          <p:spTgt spid="1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Effect transition="in" filter="fade">
                                      <p:cBhvr>
                                        <p:cTn id="12" dur="2000"/>
                                        <p:tgtEl>
                                          <p:spTgt spid="1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6">
                                            <p:txEl>
                                              <p:pRg st="1" end="1"/>
                                            </p:txEl>
                                          </p:spTgt>
                                        </p:tgtEl>
                                        <p:attrNameLst>
                                          <p:attrName>style.visibility</p:attrName>
                                        </p:attrNameLst>
                                      </p:cBhvr>
                                      <p:to>
                                        <p:strVal val="visible"/>
                                      </p:to>
                                    </p:set>
                                    <p:animEffect transition="in" filter="fade">
                                      <p:cBhvr>
                                        <p:cTn id="17" dur="2000"/>
                                        <p:tgtEl>
                                          <p:spTgt spid="15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6">
                                            <p:txEl>
                                              <p:pRg st="2" end="2"/>
                                            </p:txEl>
                                          </p:spTgt>
                                        </p:tgtEl>
                                        <p:attrNameLst>
                                          <p:attrName>style.visibility</p:attrName>
                                        </p:attrNameLst>
                                      </p:cBhvr>
                                      <p:to>
                                        <p:strVal val="visible"/>
                                      </p:to>
                                    </p:set>
                                    <p:animEffect transition="in" filter="fade">
                                      <p:cBhvr>
                                        <p:cTn id="22" dur="2000"/>
                                        <p:tgtEl>
                                          <p:spTgt spid="15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6">
                                            <p:txEl>
                                              <p:pRg st="3" end="3"/>
                                            </p:txEl>
                                          </p:spTgt>
                                        </p:tgtEl>
                                        <p:attrNameLst>
                                          <p:attrName>style.visibility</p:attrName>
                                        </p:attrNameLst>
                                      </p:cBhvr>
                                      <p:to>
                                        <p:strVal val="visible"/>
                                      </p:to>
                                    </p:set>
                                    <p:animEffect transition="in" filter="fade">
                                      <p:cBhvr>
                                        <p:cTn id="27" dur="2000"/>
                                        <p:tgtEl>
                                          <p:spTgt spid="15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6">
                                            <p:txEl>
                                              <p:pRg st="4" end="4"/>
                                            </p:txEl>
                                          </p:spTgt>
                                        </p:tgtEl>
                                        <p:attrNameLst>
                                          <p:attrName>style.visibility</p:attrName>
                                        </p:attrNameLst>
                                      </p:cBhvr>
                                      <p:to>
                                        <p:strVal val="visible"/>
                                      </p:to>
                                    </p:set>
                                    <p:animEffect transition="in" filter="fade">
                                      <p:cBhvr>
                                        <p:cTn id="32" dur="2000"/>
                                        <p:tgtEl>
                                          <p:spTgt spid="15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6">
                                            <p:txEl>
                                              <p:pRg st="5" end="5"/>
                                            </p:txEl>
                                          </p:spTgt>
                                        </p:tgtEl>
                                        <p:attrNameLst>
                                          <p:attrName>style.visibility</p:attrName>
                                        </p:attrNameLst>
                                      </p:cBhvr>
                                      <p:to>
                                        <p:strVal val="visible"/>
                                      </p:to>
                                    </p:set>
                                    <p:animEffect transition="in" filter="fade">
                                      <p:cBhvr>
                                        <p:cTn id="37" dur="2000"/>
                                        <p:tgtEl>
                                          <p:spTgt spid="15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7">
                                            <p:txEl>
                                              <p:pRg st="0" end="0"/>
                                            </p:txEl>
                                          </p:spTgt>
                                        </p:tgtEl>
                                        <p:attrNameLst>
                                          <p:attrName>style.visibility</p:attrName>
                                        </p:attrNameLst>
                                      </p:cBhvr>
                                      <p:to>
                                        <p:strVal val="visible"/>
                                      </p:to>
                                    </p:set>
                                    <p:animEffect transition="in" filter="fade">
                                      <p:cBhvr>
                                        <p:cTn id="42" dur="2000"/>
                                        <p:tgtEl>
                                          <p:spTgt spid="1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64" name="Google Shape;164;p9"/>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65" name="Google Shape;165;p9"/>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66" name="Google Shape;166;p9"/>
          <p:cNvSpPr/>
          <p:nvPr/>
        </p:nvSpPr>
        <p:spPr>
          <a:xfrm>
            <a:off x="403012" y="1235650"/>
            <a:ext cx="8412052"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Explanation: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Total distance traveled = 1800 km.</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Distance traveled by plane = 600 km.</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Distance traveled by bus = 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Distance traveled by train = 3x/5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x + 3x/5 + 600 = 1800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8x/5 = 1200 =&gt; x = 750 km.</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67" name="Google Shape;167;p9"/>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
                                            <p:txEl>
                                              <p:pRg st="0" end="0"/>
                                            </p:txEl>
                                          </p:spTgt>
                                        </p:tgtEl>
                                        <p:attrNameLst>
                                          <p:attrName>style.visibility</p:attrName>
                                        </p:attrNameLst>
                                      </p:cBhvr>
                                      <p:to>
                                        <p:strVal val="visible"/>
                                      </p:to>
                                    </p:set>
                                    <p:animEffect transition="in" filter="fade">
                                      <p:cBhvr>
                                        <p:cTn id="7" dur="2000"/>
                                        <p:tgtEl>
                                          <p:spTgt spid="1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6">
                                            <p:txEl>
                                              <p:pRg st="0" end="0"/>
                                            </p:txEl>
                                          </p:spTgt>
                                        </p:tgtEl>
                                        <p:attrNameLst>
                                          <p:attrName>style.visibility</p:attrName>
                                        </p:attrNameLst>
                                      </p:cBhvr>
                                      <p:to>
                                        <p:strVal val="visible"/>
                                      </p:to>
                                    </p:set>
                                    <p:animEffect transition="in" filter="fade">
                                      <p:cBhvr>
                                        <p:cTn id="12" dur="2000"/>
                                        <p:tgtEl>
                                          <p:spTgt spid="16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6">
                                            <p:txEl>
                                              <p:pRg st="1" end="1"/>
                                            </p:txEl>
                                          </p:spTgt>
                                        </p:tgtEl>
                                        <p:attrNameLst>
                                          <p:attrName>style.visibility</p:attrName>
                                        </p:attrNameLst>
                                      </p:cBhvr>
                                      <p:to>
                                        <p:strVal val="visible"/>
                                      </p:to>
                                    </p:set>
                                    <p:animEffect transition="in" filter="fade">
                                      <p:cBhvr>
                                        <p:cTn id="17" dur="2000"/>
                                        <p:tgtEl>
                                          <p:spTgt spid="16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6">
                                            <p:txEl>
                                              <p:pRg st="2" end="2"/>
                                            </p:txEl>
                                          </p:spTgt>
                                        </p:tgtEl>
                                        <p:attrNameLst>
                                          <p:attrName>style.visibility</p:attrName>
                                        </p:attrNameLst>
                                      </p:cBhvr>
                                      <p:to>
                                        <p:strVal val="visible"/>
                                      </p:to>
                                    </p:set>
                                    <p:animEffect transition="in" filter="fade">
                                      <p:cBhvr>
                                        <p:cTn id="22" dur="2000"/>
                                        <p:tgtEl>
                                          <p:spTgt spid="1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10"/>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73" name="Google Shape;173;p10"/>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74" name="Google Shape;174;p10"/>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75" name="Google Shape;175;p10"/>
          <p:cNvSpPr/>
          <p:nvPr/>
        </p:nvSpPr>
        <p:spPr>
          <a:xfrm>
            <a:off x="392814" y="1248427"/>
            <a:ext cx="8422249" cy="383181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Ajay and Vijay have some marbles with them. Ajay told Vijay "if you give me 'x' marbles, both of us will have equal number of marbles". Vijay then told Ajay "if you give me twice as many marbles, I will have 30 more marbles than you would". Find 'x'?</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4</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5</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6</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8</a:t>
            </a:r>
            <a:endParaRPr sz="1800">
              <a:solidFill>
                <a:schemeClr val="dk1"/>
              </a:solidFill>
              <a:latin typeface="Arial"/>
              <a:ea typeface="Arial"/>
              <a:cs typeface="Arial"/>
              <a:sym typeface="Arial"/>
            </a:endParaRPr>
          </a:p>
        </p:txBody>
      </p:sp>
      <p:sp>
        <p:nvSpPr>
          <p:cNvPr id="176" name="Google Shape;176;p10"/>
          <p:cNvSpPr/>
          <p:nvPr/>
        </p:nvSpPr>
        <p:spPr>
          <a:xfrm>
            <a:off x="7010400" y="53340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B</a:t>
            </a:r>
            <a:endParaRPr sz="1800" b="1">
              <a:solidFill>
                <a:schemeClr val="dk1"/>
              </a:solidFill>
              <a:latin typeface="Arial"/>
              <a:ea typeface="Arial"/>
              <a:cs typeface="Arial"/>
              <a:sym typeface="Arial"/>
            </a:endParaRPr>
          </a:p>
        </p:txBody>
      </p:sp>
      <p:sp>
        <p:nvSpPr>
          <p:cNvPr id="177" name="Google Shape;177;p10"/>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04</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7">
                                            <p:txEl>
                                              <p:pRg st="0" end="0"/>
                                            </p:txEl>
                                          </p:spTgt>
                                        </p:tgtEl>
                                        <p:attrNameLst>
                                          <p:attrName>style.visibility</p:attrName>
                                        </p:attrNameLst>
                                      </p:cBhvr>
                                      <p:to>
                                        <p:strVal val="visible"/>
                                      </p:to>
                                    </p:set>
                                    <p:animEffect transition="in" filter="fade">
                                      <p:cBhvr>
                                        <p:cTn id="7" dur="2000"/>
                                        <p:tgtEl>
                                          <p:spTgt spid="1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
                                            <p:txEl>
                                              <p:pRg st="0" end="0"/>
                                            </p:txEl>
                                          </p:spTgt>
                                        </p:tgtEl>
                                        <p:attrNameLst>
                                          <p:attrName>style.visibility</p:attrName>
                                        </p:attrNameLst>
                                      </p:cBhvr>
                                      <p:to>
                                        <p:strVal val="visible"/>
                                      </p:to>
                                    </p:set>
                                    <p:animEffect transition="in" filter="fade">
                                      <p:cBhvr>
                                        <p:cTn id="12" dur="2000"/>
                                        <p:tgtEl>
                                          <p:spTgt spid="1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5">
                                            <p:txEl>
                                              <p:pRg st="1" end="1"/>
                                            </p:txEl>
                                          </p:spTgt>
                                        </p:tgtEl>
                                        <p:attrNameLst>
                                          <p:attrName>style.visibility</p:attrName>
                                        </p:attrNameLst>
                                      </p:cBhvr>
                                      <p:to>
                                        <p:strVal val="visible"/>
                                      </p:to>
                                    </p:set>
                                    <p:animEffect transition="in" filter="fade">
                                      <p:cBhvr>
                                        <p:cTn id="17" dur="2000"/>
                                        <p:tgtEl>
                                          <p:spTgt spid="17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
                                            <p:txEl>
                                              <p:pRg st="2" end="2"/>
                                            </p:txEl>
                                          </p:spTgt>
                                        </p:tgtEl>
                                        <p:attrNameLst>
                                          <p:attrName>style.visibility</p:attrName>
                                        </p:attrNameLst>
                                      </p:cBhvr>
                                      <p:to>
                                        <p:strVal val="visible"/>
                                      </p:to>
                                    </p:set>
                                    <p:animEffect transition="in" filter="fade">
                                      <p:cBhvr>
                                        <p:cTn id="22" dur="2000"/>
                                        <p:tgtEl>
                                          <p:spTgt spid="17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5">
                                            <p:txEl>
                                              <p:pRg st="3" end="3"/>
                                            </p:txEl>
                                          </p:spTgt>
                                        </p:tgtEl>
                                        <p:attrNameLst>
                                          <p:attrName>style.visibility</p:attrName>
                                        </p:attrNameLst>
                                      </p:cBhvr>
                                      <p:to>
                                        <p:strVal val="visible"/>
                                      </p:to>
                                    </p:set>
                                    <p:animEffect transition="in" filter="fade">
                                      <p:cBhvr>
                                        <p:cTn id="27" dur="2000"/>
                                        <p:tgtEl>
                                          <p:spTgt spid="17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5">
                                            <p:txEl>
                                              <p:pRg st="4" end="4"/>
                                            </p:txEl>
                                          </p:spTgt>
                                        </p:tgtEl>
                                        <p:attrNameLst>
                                          <p:attrName>style.visibility</p:attrName>
                                        </p:attrNameLst>
                                      </p:cBhvr>
                                      <p:to>
                                        <p:strVal val="visible"/>
                                      </p:to>
                                    </p:set>
                                    <p:animEffect transition="in" filter="fade">
                                      <p:cBhvr>
                                        <p:cTn id="32" dur="2000"/>
                                        <p:tgtEl>
                                          <p:spTgt spid="17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5">
                                            <p:txEl>
                                              <p:pRg st="5" end="5"/>
                                            </p:txEl>
                                          </p:spTgt>
                                        </p:tgtEl>
                                        <p:attrNameLst>
                                          <p:attrName>style.visibility</p:attrName>
                                        </p:attrNameLst>
                                      </p:cBhvr>
                                      <p:to>
                                        <p:strVal val="visible"/>
                                      </p:to>
                                    </p:set>
                                    <p:animEffect transition="in" filter="fade">
                                      <p:cBhvr>
                                        <p:cTn id="37" dur="2000"/>
                                        <p:tgtEl>
                                          <p:spTgt spid="17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6">
                                            <p:txEl>
                                              <p:pRg st="0" end="0"/>
                                            </p:txEl>
                                          </p:spTgt>
                                        </p:tgtEl>
                                        <p:attrNameLst>
                                          <p:attrName>style.visibility</p:attrName>
                                        </p:attrNameLst>
                                      </p:cBhvr>
                                      <p:to>
                                        <p:strVal val="visible"/>
                                      </p:to>
                                    </p:set>
                                    <p:animEffect transition="in" filter="fade">
                                      <p:cBhvr>
                                        <p:cTn id="42" dur="2000"/>
                                        <p:tgtEl>
                                          <p:spTgt spid="17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11"/>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83" name="Google Shape;183;p11"/>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84" name="Google Shape;184;p11"/>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85" name="Google Shape;185;p11"/>
          <p:cNvSpPr/>
          <p:nvPr/>
        </p:nvSpPr>
        <p:spPr>
          <a:xfrm>
            <a:off x="403012" y="1235650"/>
            <a:ext cx="8412052"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Explanation: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Vijay gives 'x' marbles to Ajay then Vijay and Ajay would have V - x and A + x marbles.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 - x = A + x --- (1)</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If Ajay gives 2x marbles to Vijay then Ajay and Vijay would have A - 2x and V + 2x marbles.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 + 2x - (A - 2x) = 30 =&gt; V - A + 4x = 30 --- (2)</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From (1) we have V - A = 2x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Substituting V - A = 2x in (2)</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6x = 30 =&gt; x = 5.</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86" name="Google Shape;186;p11"/>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Effect transition="in" filter="fade">
                                      <p:cBhvr>
                                        <p:cTn id="7" dur="2000"/>
                                        <p:tgtEl>
                                          <p:spTgt spid="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5">
                                            <p:txEl>
                                              <p:pRg st="0" end="0"/>
                                            </p:txEl>
                                          </p:spTgt>
                                        </p:tgtEl>
                                        <p:attrNameLst>
                                          <p:attrName>style.visibility</p:attrName>
                                        </p:attrNameLst>
                                      </p:cBhvr>
                                      <p:to>
                                        <p:strVal val="visible"/>
                                      </p:to>
                                    </p:set>
                                    <p:animEffect transition="in" filter="fade">
                                      <p:cBhvr>
                                        <p:cTn id="12" dur="2000"/>
                                        <p:tgtEl>
                                          <p:spTgt spid="18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5">
                                            <p:txEl>
                                              <p:pRg st="1" end="1"/>
                                            </p:txEl>
                                          </p:spTgt>
                                        </p:tgtEl>
                                        <p:attrNameLst>
                                          <p:attrName>style.visibility</p:attrName>
                                        </p:attrNameLst>
                                      </p:cBhvr>
                                      <p:to>
                                        <p:strVal val="visible"/>
                                      </p:to>
                                    </p:set>
                                    <p:animEffect transition="in" filter="fade">
                                      <p:cBhvr>
                                        <p:cTn id="17" dur="2000"/>
                                        <p:tgtEl>
                                          <p:spTgt spid="18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5">
                                            <p:txEl>
                                              <p:pRg st="2" end="2"/>
                                            </p:txEl>
                                          </p:spTgt>
                                        </p:tgtEl>
                                        <p:attrNameLst>
                                          <p:attrName>style.visibility</p:attrName>
                                        </p:attrNameLst>
                                      </p:cBhvr>
                                      <p:to>
                                        <p:strVal val="visible"/>
                                      </p:to>
                                    </p:set>
                                    <p:animEffect transition="in" filter="fade">
                                      <p:cBhvr>
                                        <p:cTn id="22" dur="2000"/>
                                        <p:tgtEl>
                                          <p:spTgt spid="18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12"/>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192" name="Google Shape;192;p12"/>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193" name="Google Shape;193;p12"/>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194" name="Google Shape;194;p12"/>
          <p:cNvSpPr/>
          <p:nvPr/>
        </p:nvSpPr>
        <p:spPr>
          <a:xfrm>
            <a:off x="381000" y="1333800"/>
            <a:ext cx="8434064" cy="300082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There are some rabbits and peacocks in a zoo. The total number of their heads is 60 and total number of their legs is 192. Find the number of total rabbits?</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30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36</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40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44</a:t>
            </a:r>
            <a:endParaRPr sz="1800">
              <a:solidFill>
                <a:schemeClr val="dk1"/>
              </a:solidFill>
              <a:latin typeface="Arial"/>
              <a:ea typeface="Arial"/>
              <a:cs typeface="Arial"/>
              <a:sym typeface="Arial"/>
            </a:endParaRPr>
          </a:p>
        </p:txBody>
      </p:sp>
      <p:sp>
        <p:nvSpPr>
          <p:cNvPr id="195" name="Google Shape;195;p12"/>
          <p:cNvSpPr/>
          <p:nvPr/>
        </p:nvSpPr>
        <p:spPr>
          <a:xfrm>
            <a:off x="7162800" y="50292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B</a:t>
            </a:r>
            <a:endParaRPr sz="1800" b="1">
              <a:solidFill>
                <a:schemeClr val="dk1"/>
              </a:solidFill>
              <a:latin typeface="Arial"/>
              <a:ea typeface="Arial"/>
              <a:cs typeface="Arial"/>
              <a:sym typeface="Arial"/>
            </a:endParaRPr>
          </a:p>
        </p:txBody>
      </p:sp>
      <p:sp>
        <p:nvSpPr>
          <p:cNvPr id="196" name="Google Shape;196;p12"/>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05</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animEffect transition="in" filter="fade">
                                      <p:cBhvr>
                                        <p:cTn id="7" dur="2000"/>
                                        <p:tgtEl>
                                          <p:spTgt spid="1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
                                            <p:txEl>
                                              <p:pRg st="0" end="0"/>
                                            </p:txEl>
                                          </p:spTgt>
                                        </p:tgtEl>
                                        <p:attrNameLst>
                                          <p:attrName>style.visibility</p:attrName>
                                        </p:attrNameLst>
                                      </p:cBhvr>
                                      <p:to>
                                        <p:strVal val="visible"/>
                                      </p:to>
                                    </p:set>
                                    <p:animEffect transition="in" filter="fade">
                                      <p:cBhvr>
                                        <p:cTn id="12" dur="2000"/>
                                        <p:tgtEl>
                                          <p:spTgt spid="19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
                                            <p:txEl>
                                              <p:pRg st="1" end="1"/>
                                            </p:txEl>
                                          </p:spTgt>
                                        </p:tgtEl>
                                        <p:attrNameLst>
                                          <p:attrName>style.visibility</p:attrName>
                                        </p:attrNameLst>
                                      </p:cBhvr>
                                      <p:to>
                                        <p:strVal val="visible"/>
                                      </p:to>
                                    </p:set>
                                    <p:animEffect transition="in" filter="fade">
                                      <p:cBhvr>
                                        <p:cTn id="17" dur="2000"/>
                                        <p:tgtEl>
                                          <p:spTgt spid="19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
                                            <p:txEl>
                                              <p:pRg st="2" end="2"/>
                                            </p:txEl>
                                          </p:spTgt>
                                        </p:tgtEl>
                                        <p:attrNameLst>
                                          <p:attrName>style.visibility</p:attrName>
                                        </p:attrNameLst>
                                      </p:cBhvr>
                                      <p:to>
                                        <p:strVal val="visible"/>
                                      </p:to>
                                    </p:set>
                                    <p:animEffect transition="in" filter="fade">
                                      <p:cBhvr>
                                        <p:cTn id="22" dur="2000"/>
                                        <p:tgtEl>
                                          <p:spTgt spid="19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
                                            <p:txEl>
                                              <p:pRg st="3" end="3"/>
                                            </p:txEl>
                                          </p:spTgt>
                                        </p:tgtEl>
                                        <p:attrNameLst>
                                          <p:attrName>style.visibility</p:attrName>
                                        </p:attrNameLst>
                                      </p:cBhvr>
                                      <p:to>
                                        <p:strVal val="visible"/>
                                      </p:to>
                                    </p:set>
                                    <p:animEffect transition="in" filter="fade">
                                      <p:cBhvr>
                                        <p:cTn id="27" dur="2000"/>
                                        <p:tgtEl>
                                          <p:spTgt spid="19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
                                            <p:txEl>
                                              <p:pRg st="4" end="4"/>
                                            </p:txEl>
                                          </p:spTgt>
                                        </p:tgtEl>
                                        <p:attrNameLst>
                                          <p:attrName>style.visibility</p:attrName>
                                        </p:attrNameLst>
                                      </p:cBhvr>
                                      <p:to>
                                        <p:strVal val="visible"/>
                                      </p:to>
                                    </p:set>
                                    <p:animEffect transition="in" filter="fade">
                                      <p:cBhvr>
                                        <p:cTn id="32" dur="2000"/>
                                        <p:tgtEl>
                                          <p:spTgt spid="19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
                                            <p:txEl>
                                              <p:pRg st="5" end="5"/>
                                            </p:txEl>
                                          </p:spTgt>
                                        </p:tgtEl>
                                        <p:attrNameLst>
                                          <p:attrName>style.visibility</p:attrName>
                                        </p:attrNameLst>
                                      </p:cBhvr>
                                      <p:to>
                                        <p:strVal val="visible"/>
                                      </p:to>
                                    </p:set>
                                    <p:animEffect transition="in" filter="fade">
                                      <p:cBhvr>
                                        <p:cTn id="37" dur="2000"/>
                                        <p:tgtEl>
                                          <p:spTgt spid="19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5">
                                            <p:txEl>
                                              <p:pRg st="0" end="0"/>
                                            </p:txEl>
                                          </p:spTgt>
                                        </p:tgtEl>
                                        <p:attrNameLst>
                                          <p:attrName>style.visibility</p:attrName>
                                        </p:attrNameLst>
                                      </p:cBhvr>
                                      <p:to>
                                        <p:strVal val="visible"/>
                                      </p:to>
                                    </p:set>
                                    <p:animEffect transition="in" filter="fade">
                                      <p:cBhvr>
                                        <p:cTn id="42" dur="2000"/>
                                        <p:tgtEl>
                                          <p:spTgt spid="1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13"/>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02" name="Google Shape;202;p13"/>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03" name="Google Shape;203;p13"/>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04" name="Google Shape;204;p13"/>
          <p:cNvSpPr/>
          <p:nvPr/>
        </p:nvSpPr>
        <p:spPr>
          <a:xfrm>
            <a:off x="403012" y="1235650"/>
            <a:ext cx="8412052"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Explanation: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Let the number of rabbits and peacocks be 'r' and 'p' respectively. As each animal has only one head, so r + p = 60 --- (1)</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Each rabbit has 4 legs and each peacock has 2 legs. Total number of legs of rabbits and peacocks, 4r + 2p = 192 --- (2)</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Multiplying equation (1) by 2 and subtracting it from equation (2), we get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2r = 72 =&gt; r = 36.</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05" name="Google Shape;205;p13"/>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
                                            <p:txEl>
                                              <p:pRg st="0" end="0"/>
                                            </p:txEl>
                                          </p:spTgt>
                                        </p:tgtEl>
                                        <p:attrNameLst>
                                          <p:attrName>style.visibility</p:attrName>
                                        </p:attrNameLst>
                                      </p:cBhvr>
                                      <p:to>
                                        <p:strVal val="visible"/>
                                      </p:to>
                                    </p:set>
                                    <p:animEffect transition="in" filter="fade">
                                      <p:cBhvr>
                                        <p:cTn id="7" dur="2000"/>
                                        <p:tgtEl>
                                          <p:spTgt spid="2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
                                            <p:txEl>
                                              <p:pRg st="0" end="0"/>
                                            </p:txEl>
                                          </p:spTgt>
                                        </p:tgtEl>
                                        <p:attrNameLst>
                                          <p:attrName>style.visibility</p:attrName>
                                        </p:attrNameLst>
                                      </p:cBhvr>
                                      <p:to>
                                        <p:strVal val="visible"/>
                                      </p:to>
                                    </p:set>
                                    <p:animEffect transition="in" filter="fade">
                                      <p:cBhvr>
                                        <p:cTn id="12" dur="2000"/>
                                        <p:tgtEl>
                                          <p:spTgt spid="20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4">
                                            <p:txEl>
                                              <p:pRg st="1" end="1"/>
                                            </p:txEl>
                                          </p:spTgt>
                                        </p:tgtEl>
                                        <p:attrNameLst>
                                          <p:attrName>style.visibility</p:attrName>
                                        </p:attrNameLst>
                                      </p:cBhvr>
                                      <p:to>
                                        <p:strVal val="visible"/>
                                      </p:to>
                                    </p:set>
                                    <p:animEffect transition="in" filter="fade">
                                      <p:cBhvr>
                                        <p:cTn id="17" dur="2000"/>
                                        <p:tgtEl>
                                          <p:spTgt spid="20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4">
                                            <p:txEl>
                                              <p:pRg st="2" end="2"/>
                                            </p:txEl>
                                          </p:spTgt>
                                        </p:tgtEl>
                                        <p:attrNameLst>
                                          <p:attrName>style.visibility</p:attrName>
                                        </p:attrNameLst>
                                      </p:cBhvr>
                                      <p:to>
                                        <p:strVal val="visible"/>
                                      </p:to>
                                    </p:set>
                                    <p:animEffect transition="in" filter="fade">
                                      <p:cBhvr>
                                        <p:cTn id="22" dur="2000"/>
                                        <p:tgtEl>
                                          <p:spTgt spid="2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14"/>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11" name="Google Shape;211;p14"/>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12" name="Google Shape;212;p14"/>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13" name="Google Shape;213;p14"/>
          <p:cNvSpPr/>
          <p:nvPr/>
        </p:nvSpPr>
        <p:spPr>
          <a:xfrm>
            <a:off x="419100" y="1219200"/>
            <a:ext cx="8395964" cy="383181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Alok ordered 16 chapatis, 5 plates of rice, 7 plates of mixed vegetable and 6 ice-cream cups. The cost of each chapati is Rs.6, that of each plate of rice is Rs.45 and that of mixed vegetable is Rs.70. The amount that Alok paid the cashier was Rs.961. Find the cost of each ice-cream cup?</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Rs.25</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Rs.22.50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Rs.20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Rs.17.50</a:t>
            </a:r>
            <a:endParaRPr sz="1800">
              <a:solidFill>
                <a:schemeClr val="dk1"/>
              </a:solidFill>
              <a:latin typeface="Arial"/>
              <a:ea typeface="Arial"/>
              <a:cs typeface="Arial"/>
              <a:sym typeface="Arial"/>
            </a:endParaRPr>
          </a:p>
        </p:txBody>
      </p:sp>
      <p:sp>
        <p:nvSpPr>
          <p:cNvPr id="214" name="Google Shape;214;p14"/>
          <p:cNvSpPr/>
          <p:nvPr/>
        </p:nvSpPr>
        <p:spPr>
          <a:xfrm>
            <a:off x="7086600" y="5257800"/>
            <a:ext cx="13174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A</a:t>
            </a:r>
            <a:endParaRPr sz="1800" b="1">
              <a:solidFill>
                <a:schemeClr val="dk1"/>
              </a:solidFill>
              <a:latin typeface="Arial"/>
              <a:ea typeface="Arial"/>
              <a:cs typeface="Arial"/>
              <a:sym typeface="Arial"/>
            </a:endParaRPr>
          </a:p>
        </p:txBody>
      </p:sp>
      <p:sp>
        <p:nvSpPr>
          <p:cNvPr id="215" name="Google Shape;215;p14"/>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06</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Effect transition="in" filter="fade">
                                      <p:cBhvr>
                                        <p:cTn id="7" dur="2000"/>
                                        <p:tgtEl>
                                          <p:spTgt spid="2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3">
                                            <p:txEl>
                                              <p:pRg st="0" end="0"/>
                                            </p:txEl>
                                          </p:spTgt>
                                        </p:tgtEl>
                                        <p:attrNameLst>
                                          <p:attrName>style.visibility</p:attrName>
                                        </p:attrNameLst>
                                      </p:cBhvr>
                                      <p:to>
                                        <p:strVal val="visible"/>
                                      </p:to>
                                    </p:set>
                                    <p:animEffect transition="in" filter="fade">
                                      <p:cBhvr>
                                        <p:cTn id="12" dur="2000"/>
                                        <p:tgtEl>
                                          <p:spTgt spid="2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3">
                                            <p:txEl>
                                              <p:pRg st="1" end="1"/>
                                            </p:txEl>
                                          </p:spTgt>
                                        </p:tgtEl>
                                        <p:attrNameLst>
                                          <p:attrName>style.visibility</p:attrName>
                                        </p:attrNameLst>
                                      </p:cBhvr>
                                      <p:to>
                                        <p:strVal val="visible"/>
                                      </p:to>
                                    </p:set>
                                    <p:animEffect transition="in" filter="fade">
                                      <p:cBhvr>
                                        <p:cTn id="17" dur="2000"/>
                                        <p:tgtEl>
                                          <p:spTgt spid="21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3">
                                            <p:txEl>
                                              <p:pRg st="2" end="2"/>
                                            </p:txEl>
                                          </p:spTgt>
                                        </p:tgtEl>
                                        <p:attrNameLst>
                                          <p:attrName>style.visibility</p:attrName>
                                        </p:attrNameLst>
                                      </p:cBhvr>
                                      <p:to>
                                        <p:strVal val="visible"/>
                                      </p:to>
                                    </p:set>
                                    <p:animEffect transition="in" filter="fade">
                                      <p:cBhvr>
                                        <p:cTn id="22" dur="2000"/>
                                        <p:tgtEl>
                                          <p:spTgt spid="21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3">
                                            <p:txEl>
                                              <p:pRg st="3" end="3"/>
                                            </p:txEl>
                                          </p:spTgt>
                                        </p:tgtEl>
                                        <p:attrNameLst>
                                          <p:attrName>style.visibility</p:attrName>
                                        </p:attrNameLst>
                                      </p:cBhvr>
                                      <p:to>
                                        <p:strVal val="visible"/>
                                      </p:to>
                                    </p:set>
                                    <p:animEffect transition="in" filter="fade">
                                      <p:cBhvr>
                                        <p:cTn id="27" dur="2000"/>
                                        <p:tgtEl>
                                          <p:spTgt spid="21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3">
                                            <p:txEl>
                                              <p:pRg st="4" end="4"/>
                                            </p:txEl>
                                          </p:spTgt>
                                        </p:tgtEl>
                                        <p:attrNameLst>
                                          <p:attrName>style.visibility</p:attrName>
                                        </p:attrNameLst>
                                      </p:cBhvr>
                                      <p:to>
                                        <p:strVal val="visible"/>
                                      </p:to>
                                    </p:set>
                                    <p:animEffect transition="in" filter="fade">
                                      <p:cBhvr>
                                        <p:cTn id="32" dur="2000"/>
                                        <p:tgtEl>
                                          <p:spTgt spid="21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3">
                                            <p:txEl>
                                              <p:pRg st="5" end="5"/>
                                            </p:txEl>
                                          </p:spTgt>
                                        </p:tgtEl>
                                        <p:attrNameLst>
                                          <p:attrName>style.visibility</p:attrName>
                                        </p:attrNameLst>
                                      </p:cBhvr>
                                      <p:to>
                                        <p:strVal val="visible"/>
                                      </p:to>
                                    </p:set>
                                    <p:animEffect transition="in" filter="fade">
                                      <p:cBhvr>
                                        <p:cTn id="37" dur="2000"/>
                                        <p:tgtEl>
                                          <p:spTgt spid="21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4">
                                            <p:txEl>
                                              <p:pRg st="0" end="0"/>
                                            </p:txEl>
                                          </p:spTgt>
                                        </p:tgtEl>
                                        <p:attrNameLst>
                                          <p:attrName>style.visibility</p:attrName>
                                        </p:attrNameLst>
                                      </p:cBhvr>
                                      <p:to>
                                        <p:strVal val="visible"/>
                                      </p:to>
                                    </p:set>
                                    <p:animEffect transition="in" filter="fade">
                                      <p:cBhvr>
                                        <p:cTn id="42" dur="2000"/>
                                        <p:tgtEl>
                                          <p:spTgt spid="2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15"/>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21" name="Google Shape;221;p15"/>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22" name="Google Shape;222;p15"/>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23" name="Google Shape;223;p15"/>
          <p:cNvSpPr/>
          <p:nvPr/>
        </p:nvSpPr>
        <p:spPr>
          <a:xfrm>
            <a:off x="403012" y="1235650"/>
            <a:ext cx="8412052"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Explanation: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Let the cost of each ice-cream cup be Rs.x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16(6) + 5(45) + 7(70) + 6(x) = 961</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96 + 225 + 490 + 6x = 961</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6x = 150 =&gt; x = 25.</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24" name="Google Shape;224;p15"/>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animEffect transition="in" filter="fade">
                                      <p:cBhvr>
                                        <p:cTn id="7" dur="2000"/>
                                        <p:tgtEl>
                                          <p:spTgt spid="2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3">
                                            <p:txEl>
                                              <p:pRg st="0" end="0"/>
                                            </p:txEl>
                                          </p:spTgt>
                                        </p:tgtEl>
                                        <p:attrNameLst>
                                          <p:attrName>style.visibility</p:attrName>
                                        </p:attrNameLst>
                                      </p:cBhvr>
                                      <p:to>
                                        <p:strVal val="visible"/>
                                      </p:to>
                                    </p:set>
                                    <p:animEffect transition="in" filter="fade">
                                      <p:cBhvr>
                                        <p:cTn id="12" dur="2000"/>
                                        <p:tgtEl>
                                          <p:spTgt spid="2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3">
                                            <p:txEl>
                                              <p:pRg st="1" end="1"/>
                                            </p:txEl>
                                          </p:spTgt>
                                        </p:tgtEl>
                                        <p:attrNameLst>
                                          <p:attrName>style.visibility</p:attrName>
                                        </p:attrNameLst>
                                      </p:cBhvr>
                                      <p:to>
                                        <p:strVal val="visible"/>
                                      </p:to>
                                    </p:set>
                                    <p:animEffect transition="in" filter="fade">
                                      <p:cBhvr>
                                        <p:cTn id="17" dur="2000"/>
                                        <p:tgtEl>
                                          <p:spTgt spid="2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3">
                                            <p:txEl>
                                              <p:pRg st="2" end="2"/>
                                            </p:txEl>
                                          </p:spTgt>
                                        </p:tgtEl>
                                        <p:attrNameLst>
                                          <p:attrName>style.visibility</p:attrName>
                                        </p:attrNameLst>
                                      </p:cBhvr>
                                      <p:to>
                                        <p:strVal val="visible"/>
                                      </p:to>
                                    </p:set>
                                    <p:animEffect transition="in" filter="fade">
                                      <p:cBhvr>
                                        <p:cTn id="22" dur="2000"/>
                                        <p:tgtEl>
                                          <p:spTgt spid="2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16"/>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30" name="Google Shape;230;p16"/>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31" name="Google Shape;231;p16"/>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32" name="Google Shape;232;p16"/>
          <p:cNvSpPr/>
          <p:nvPr/>
        </p:nvSpPr>
        <p:spPr>
          <a:xfrm>
            <a:off x="381000" y="1295400"/>
            <a:ext cx="8229600" cy="34163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A bag contains a total of 93 coins in the form of one rupee and 50 paise coins. If the total value of coins in the bag is Rs.56, find the number of 50 paise coins in the bag?</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60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56</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64</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74</a:t>
            </a:r>
            <a:endParaRPr sz="1800">
              <a:solidFill>
                <a:schemeClr val="dk1"/>
              </a:solidFill>
              <a:latin typeface="Arial"/>
              <a:ea typeface="Arial"/>
              <a:cs typeface="Arial"/>
              <a:sym typeface="Arial"/>
            </a:endParaRPr>
          </a:p>
        </p:txBody>
      </p:sp>
      <p:sp>
        <p:nvSpPr>
          <p:cNvPr id="233" name="Google Shape;233;p16"/>
          <p:cNvSpPr/>
          <p:nvPr/>
        </p:nvSpPr>
        <p:spPr>
          <a:xfrm>
            <a:off x="7010400" y="53340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D</a:t>
            </a:r>
            <a:endParaRPr sz="1800" b="1">
              <a:solidFill>
                <a:schemeClr val="dk1"/>
              </a:solidFill>
              <a:latin typeface="Arial"/>
              <a:ea typeface="Arial"/>
              <a:cs typeface="Arial"/>
              <a:sym typeface="Arial"/>
            </a:endParaRPr>
          </a:p>
        </p:txBody>
      </p:sp>
      <p:sp>
        <p:nvSpPr>
          <p:cNvPr id="234" name="Google Shape;234;p16"/>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07</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4">
                                            <p:txEl>
                                              <p:pRg st="0" end="0"/>
                                            </p:txEl>
                                          </p:spTgt>
                                        </p:tgtEl>
                                        <p:attrNameLst>
                                          <p:attrName>style.visibility</p:attrName>
                                        </p:attrNameLst>
                                      </p:cBhvr>
                                      <p:to>
                                        <p:strVal val="visible"/>
                                      </p:to>
                                    </p:set>
                                    <p:animEffect transition="in" filter="fade">
                                      <p:cBhvr>
                                        <p:cTn id="7" dur="2000"/>
                                        <p:tgtEl>
                                          <p:spTgt spid="2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2">
                                            <p:txEl>
                                              <p:pRg st="0" end="0"/>
                                            </p:txEl>
                                          </p:spTgt>
                                        </p:tgtEl>
                                        <p:attrNameLst>
                                          <p:attrName>style.visibility</p:attrName>
                                        </p:attrNameLst>
                                      </p:cBhvr>
                                      <p:to>
                                        <p:strVal val="visible"/>
                                      </p:to>
                                    </p:set>
                                    <p:animEffect transition="in" filter="fade">
                                      <p:cBhvr>
                                        <p:cTn id="12" dur="2000"/>
                                        <p:tgtEl>
                                          <p:spTgt spid="2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2">
                                            <p:txEl>
                                              <p:pRg st="1" end="1"/>
                                            </p:txEl>
                                          </p:spTgt>
                                        </p:tgtEl>
                                        <p:attrNameLst>
                                          <p:attrName>style.visibility</p:attrName>
                                        </p:attrNameLst>
                                      </p:cBhvr>
                                      <p:to>
                                        <p:strVal val="visible"/>
                                      </p:to>
                                    </p:set>
                                    <p:animEffect transition="in" filter="fade">
                                      <p:cBhvr>
                                        <p:cTn id="17" dur="2000"/>
                                        <p:tgtEl>
                                          <p:spTgt spid="23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2">
                                            <p:txEl>
                                              <p:pRg st="2" end="2"/>
                                            </p:txEl>
                                          </p:spTgt>
                                        </p:tgtEl>
                                        <p:attrNameLst>
                                          <p:attrName>style.visibility</p:attrName>
                                        </p:attrNameLst>
                                      </p:cBhvr>
                                      <p:to>
                                        <p:strVal val="visible"/>
                                      </p:to>
                                    </p:set>
                                    <p:animEffect transition="in" filter="fade">
                                      <p:cBhvr>
                                        <p:cTn id="22" dur="2000"/>
                                        <p:tgtEl>
                                          <p:spTgt spid="23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2">
                                            <p:txEl>
                                              <p:pRg st="3" end="3"/>
                                            </p:txEl>
                                          </p:spTgt>
                                        </p:tgtEl>
                                        <p:attrNameLst>
                                          <p:attrName>style.visibility</p:attrName>
                                        </p:attrNameLst>
                                      </p:cBhvr>
                                      <p:to>
                                        <p:strVal val="visible"/>
                                      </p:to>
                                    </p:set>
                                    <p:animEffect transition="in" filter="fade">
                                      <p:cBhvr>
                                        <p:cTn id="27" dur="2000"/>
                                        <p:tgtEl>
                                          <p:spTgt spid="23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2">
                                            <p:txEl>
                                              <p:pRg st="4" end="4"/>
                                            </p:txEl>
                                          </p:spTgt>
                                        </p:tgtEl>
                                        <p:attrNameLst>
                                          <p:attrName>style.visibility</p:attrName>
                                        </p:attrNameLst>
                                      </p:cBhvr>
                                      <p:to>
                                        <p:strVal val="visible"/>
                                      </p:to>
                                    </p:set>
                                    <p:animEffect transition="in" filter="fade">
                                      <p:cBhvr>
                                        <p:cTn id="32" dur="2000"/>
                                        <p:tgtEl>
                                          <p:spTgt spid="23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2">
                                            <p:txEl>
                                              <p:pRg st="5" end="5"/>
                                            </p:txEl>
                                          </p:spTgt>
                                        </p:tgtEl>
                                        <p:attrNameLst>
                                          <p:attrName>style.visibility</p:attrName>
                                        </p:attrNameLst>
                                      </p:cBhvr>
                                      <p:to>
                                        <p:strVal val="visible"/>
                                      </p:to>
                                    </p:set>
                                    <p:animEffect transition="in" filter="fade">
                                      <p:cBhvr>
                                        <p:cTn id="37" dur="2000"/>
                                        <p:tgtEl>
                                          <p:spTgt spid="23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3">
                                            <p:txEl>
                                              <p:pRg st="0" end="0"/>
                                            </p:txEl>
                                          </p:spTgt>
                                        </p:tgtEl>
                                        <p:attrNameLst>
                                          <p:attrName>style.visibility</p:attrName>
                                        </p:attrNameLst>
                                      </p:cBhvr>
                                      <p:to>
                                        <p:strVal val="visible"/>
                                      </p:to>
                                    </p:set>
                                    <p:animEffect transition="in" filter="fade">
                                      <p:cBhvr>
                                        <p:cTn id="42" dur="2000"/>
                                        <p:tgtEl>
                                          <p:spTgt spid="2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17"/>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40" name="Google Shape;240;p17"/>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41" name="Google Shape;241;p17"/>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42" name="Google Shape;242;p17"/>
          <p:cNvSpPr/>
          <p:nvPr/>
        </p:nvSpPr>
        <p:spPr>
          <a:xfrm>
            <a:off x="403012" y="1235650"/>
            <a:ext cx="8412052"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Explanation: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Let the number of one rupee coins in the bag be 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Number of 50 paise coins in the bag is 93 - 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Total value of coins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[100x + 50(93 - x)]paise = 5600 paise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x = 74</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43" name="Google Shape;243;p17"/>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
                                            <p:txEl>
                                              <p:pRg st="0" end="0"/>
                                            </p:txEl>
                                          </p:spTgt>
                                        </p:tgtEl>
                                        <p:attrNameLst>
                                          <p:attrName>style.visibility</p:attrName>
                                        </p:attrNameLst>
                                      </p:cBhvr>
                                      <p:to>
                                        <p:strVal val="visible"/>
                                      </p:to>
                                    </p:set>
                                    <p:animEffect transition="in" filter="fade">
                                      <p:cBhvr>
                                        <p:cTn id="7" dur="2000"/>
                                        <p:tgtEl>
                                          <p:spTgt spid="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2">
                                            <p:txEl>
                                              <p:pRg st="0" end="0"/>
                                            </p:txEl>
                                          </p:spTgt>
                                        </p:tgtEl>
                                        <p:attrNameLst>
                                          <p:attrName>style.visibility</p:attrName>
                                        </p:attrNameLst>
                                      </p:cBhvr>
                                      <p:to>
                                        <p:strVal val="visible"/>
                                      </p:to>
                                    </p:set>
                                    <p:animEffect transition="in" filter="fade">
                                      <p:cBhvr>
                                        <p:cTn id="12" dur="2000"/>
                                        <p:tgtEl>
                                          <p:spTgt spid="2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2">
                                            <p:txEl>
                                              <p:pRg st="1" end="1"/>
                                            </p:txEl>
                                          </p:spTgt>
                                        </p:tgtEl>
                                        <p:attrNameLst>
                                          <p:attrName>style.visibility</p:attrName>
                                        </p:attrNameLst>
                                      </p:cBhvr>
                                      <p:to>
                                        <p:strVal val="visible"/>
                                      </p:to>
                                    </p:set>
                                    <p:animEffect transition="in" filter="fade">
                                      <p:cBhvr>
                                        <p:cTn id="17" dur="2000"/>
                                        <p:tgtEl>
                                          <p:spTgt spid="24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2">
                                            <p:txEl>
                                              <p:pRg st="2" end="2"/>
                                            </p:txEl>
                                          </p:spTgt>
                                        </p:tgtEl>
                                        <p:attrNameLst>
                                          <p:attrName>style.visibility</p:attrName>
                                        </p:attrNameLst>
                                      </p:cBhvr>
                                      <p:to>
                                        <p:strVal val="visible"/>
                                      </p:to>
                                    </p:set>
                                    <p:animEffect transition="in" filter="fade">
                                      <p:cBhvr>
                                        <p:cTn id="22" dur="2000"/>
                                        <p:tgtEl>
                                          <p:spTgt spid="2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18"/>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49" name="Google Shape;249;p18"/>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50" name="Google Shape;250;p18"/>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51" name="Google Shape;251;p18"/>
          <p:cNvSpPr/>
          <p:nvPr/>
        </p:nvSpPr>
        <p:spPr>
          <a:xfrm>
            <a:off x="356864" y="1352367"/>
            <a:ext cx="8458200" cy="33650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Rs.1200 divided among P, Q and R. P gets half of the total amount received by Q and R. Q gets one-third of the total amount received by P and R. Find the amount received by R?</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Rs.400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Rs.500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Rs.300</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Rs.600</a:t>
            </a:r>
            <a:endParaRPr sz="1800">
              <a:solidFill>
                <a:schemeClr val="dk1"/>
              </a:solidFill>
              <a:latin typeface="Arial"/>
              <a:ea typeface="Arial"/>
              <a:cs typeface="Arial"/>
              <a:sym typeface="Arial"/>
            </a:endParaRPr>
          </a:p>
        </p:txBody>
      </p:sp>
      <p:sp>
        <p:nvSpPr>
          <p:cNvPr id="252" name="Google Shape;252;p18"/>
          <p:cNvSpPr/>
          <p:nvPr/>
        </p:nvSpPr>
        <p:spPr>
          <a:xfrm>
            <a:off x="6858000" y="50292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B</a:t>
            </a:r>
            <a:endParaRPr sz="1800" b="1">
              <a:solidFill>
                <a:schemeClr val="dk1"/>
              </a:solidFill>
              <a:latin typeface="Arial"/>
              <a:ea typeface="Arial"/>
              <a:cs typeface="Arial"/>
              <a:sym typeface="Arial"/>
            </a:endParaRPr>
          </a:p>
        </p:txBody>
      </p:sp>
      <p:sp>
        <p:nvSpPr>
          <p:cNvPr id="253" name="Google Shape;253;p18"/>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08</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3">
                                            <p:txEl>
                                              <p:pRg st="0" end="0"/>
                                            </p:txEl>
                                          </p:spTgt>
                                        </p:tgtEl>
                                        <p:attrNameLst>
                                          <p:attrName>style.visibility</p:attrName>
                                        </p:attrNameLst>
                                      </p:cBhvr>
                                      <p:to>
                                        <p:strVal val="visible"/>
                                      </p:to>
                                    </p:set>
                                    <p:animEffect transition="in" filter="fade">
                                      <p:cBhvr>
                                        <p:cTn id="7" dur="2000"/>
                                        <p:tgtEl>
                                          <p:spTgt spid="2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1">
                                            <p:txEl>
                                              <p:pRg st="0" end="0"/>
                                            </p:txEl>
                                          </p:spTgt>
                                        </p:tgtEl>
                                        <p:attrNameLst>
                                          <p:attrName>style.visibility</p:attrName>
                                        </p:attrNameLst>
                                      </p:cBhvr>
                                      <p:to>
                                        <p:strVal val="visible"/>
                                      </p:to>
                                    </p:set>
                                    <p:animEffect transition="in" filter="fade">
                                      <p:cBhvr>
                                        <p:cTn id="12" dur="2000"/>
                                        <p:tgtEl>
                                          <p:spTgt spid="2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1">
                                            <p:txEl>
                                              <p:pRg st="1" end="1"/>
                                            </p:txEl>
                                          </p:spTgt>
                                        </p:tgtEl>
                                        <p:attrNameLst>
                                          <p:attrName>style.visibility</p:attrName>
                                        </p:attrNameLst>
                                      </p:cBhvr>
                                      <p:to>
                                        <p:strVal val="visible"/>
                                      </p:to>
                                    </p:set>
                                    <p:animEffect transition="in" filter="fade">
                                      <p:cBhvr>
                                        <p:cTn id="17" dur="2000"/>
                                        <p:tgtEl>
                                          <p:spTgt spid="2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1">
                                            <p:txEl>
                                              <p:pRg st="2" end="2"/>
                                            </p:txEl>
                                          </p:spTgt>
                                        </p:tgtEl>
                                        <p:attrNameLst>
                                          <p:attrName>style.visibility</p:attrName>
                                        </p:attrNameLst>
                                      </p:cBhvr>
                                      <p:to>
                                        <p:strVal val="visible"/>
                                      </p:to>
                                    </p:set>
                                    <p:animEffect transition="in" filter="fade">
                                      <p:cBhvr>
                                        <p:cTn id="22" dur="2000"/>
                                        <p:tgtEl>
                                          <p:spTgt spid="25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1">
                                            <p:txEl>
                                              <p:pRg st="3" end="3"/>
                                            </p:txEl>
                                          </p:spTgt>
                                        </p:tgtEl>
                                        <p:attrNameLst>
                                          <p:attrName>style.visibility</p:attrName>
                                        </p:attrNameLst>
                                      </p:cBhvr>
                                      <p:to>
                                        <p:strVal val="visible"/>
                                      </p:to>
                                    </p:set>
                                    <p:animEffect transition="in" filter="fade">
                                      <p:cBhvr>
                                        <p:cTn id="27" dur="2000"/>
                                        <p:tgtEl>
                                          <p:spTgt spid="25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1">
                                            <p:txEl>
                                              <p:pRg st="4" end="4"/>
                                            </p:txEl>
                                          </p:spTgt>
                                        </p:tgtEl>
                                        <p:attrNameLst>
                                          <p:attrName>style.visibility</p:attrName>
                                        </p:attrNameLst>
                                      </p:cBhvr>
                                      <p:to>
                                        <p:strVal val="visible"/>
                                      </p:to>
                                    </p:set>
                                    <p:animEffect transition="in" filter="fade">
                                      <p:cBhvr>
                                        <p:cTn id="32" dur="2000"/>
                                        <p:tgtEl>
                                          <p:spTgt spid="25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1">
                                            <p:txEl>
                                              <p:pRg st="5" end="5"/>
                                            </p:txEl>
                                          </p:spTgt>
                                        </p:tgtEl>
                                        <p:attrNameLst>
                                          <p:attrName>style.visibility</p:attrName>
                                        </p:attrNameLst>
                                      </p:cBhvr>
                                      <p:to>
                                        <p:strVal val="visible"/>
                                      </p:to>
                                    </p:set>
                                    <p:animEffect transition="in" filter="fade">
                                      <p:cBhvr>
                                        <p:cTn id="37" dur="2000"/>
                                        <p:tgtEl>
                                          <p:spTgt spid="25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2">
                                            <p:txEl>
                                              <p:pRg st="0" end="0"/>
                                            </p:txEl>
                                          </p:spTgt>
                                        </p:tgtEl>
                                        <p:attrNameLst>
                                          <p:attrName>style.visibility</p:attrName>
                                        </p:attrNameLst>
                                      </p:cBhvr>
                                      <p:to>
                                        <p:strVal val="visible"/>
                                      </p:to>
                                    </p:set>
                                    <p:animEffect transition="in" filter="fade">
                                      <p:cBhvr>
                                        <p:cTn id="42" dur="2000"/>
                                        <p:tgtEl>
                                          <p:spTgt spid="2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pic>
        <p:nvPicPr>
          <p:cNvPr id="259" name="Google Shape;259;p19"/>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60" name="Google Shape;260;p19"/>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61" name="Google Shape;261;p19"/>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62" name="Google Shape;262;p19"/>
          <p:cNvSpPr/>
          <p:nvPr/>
        </p:nvSpPr>
        <p:spPr>
          <a:xfrm>
            <a:off x="403012" y="1235650"/>
            <a:ext cx="8412052"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Explanation: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Let the amounts to be received by P, Q and R be p, q and 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p + q + r = 1200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p = 1/2 (q + r) =&gt; 2p = q + 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Adding 'p' both sides, 3p = p + q + r = 1200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p = Rs.400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q = 1/3 (p + r) =&gt; 3q = p + 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Adding 'q' both sides, 4q = p + q + r = 1200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q = Rs.300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 = 1200 - (p + q) =&gt; r = Rs.500.</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63" name="Google Shape;263;p19"/>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3">
                                            <p:txEl>
                                              <p:pRg st="0" end="0"/>
                                            </p:txEl>
                                          </p:spTgt>
                                        </p:tgtEl>
                                        <p:attrNameLst>
                                          <p:attrName>style.visibility</p:attrName>
                                        </p:attrNameLst>
                                      </p:cBhvr>
                                      <p:to>
                                        <p:strVal val="visible"/>
                                      </p:to>
                                    </p:set>
                                    <p:animEffect transition="in" filter="fade">
                                      <p:cBhvr>
                                        <p:cTn id="7" dur="2000"/>
                                        <p:tgtEl>
                                          <p:spTgt spid="2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2">
                                            <p:txEl>
                                              <p:pRg st="0" end="0"/>
                                            </p:txEl>
                                          </p:spTgt>
                                        </p:tgtEl>
                                        <p:attrNameLst>
                                          <p:attrName>style.visibility</p:attrName>
                                        </p:attrNameLst>
                                      </p:cBhvr>
                                      <p:to>
                                        <p:strVal val="visible"/>
                                      </p:to>
                                    </p:set>
                                    <p:animEffect transition="in" filter="fade">
                                      <p:cBhvr>
                                        <p:cTn id="12" dur="2000"/>
                                        <p:tgtEl>
                                          <p:spTgt spid="2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2">
                                            <p:txEl>
                                              <p:pRg st="1" end="1"/>
                                            </p:txEl>
                                          </p:spTgt>
                                        </p:tgtEl>
                                        <p:attrNameLst>
                                          <p:attrName>style.visibility</p:attrName>
                                        </p:attrNameLst>
                                      </p:cBhvr>
                                      <p:to>
                                        <p:strVal val="visible"/>
                                      </p:to>
                                    </p:set>
                                    <p:animEffect transition="in" filter="fade">
                                      <p:cBhvr>
                                        <p:cTn id="17" dur="2000"/>
                                        <p:tgtEl>
                                          <p:spTgt spid="26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2">
                                            <p:txEl>
                                              <p:pRg st="2" end="2"/>
                                            </p:txEl>
                                          </p:spTgt>
                                        </p:tgtEl>
                                        <p:attrNameLst>
                                          <p:attrName>style.visibility</p:attrName>
                                        </p:attrNameLst>
                                      </p:cBhvr>
                                      <p:to>
                                        <p:strVal val="visible"/>
                                      </p:to>
                                    </p:set>
                                    <p:animEffect transition="in" filter="fade">
                                      <p:cBhvr>
                                        <p:cTn id="22" dur="2000"/>
                                        <p:tgtEl>
                                          <p:spTgt spid="26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p20"/>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69" name="Google Shape;269;p20"/>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70" name="Google Shape;270;p20"/>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71" name="Google Shape;271;p20"/>
          <p:cNvSpPr/>
          <p:nvPr/>
        </p:nvSpPr>
        <p:spPr>
          <a:xfrm>
            <a:off x="429016" y="1295400"/>
            <a:ext cx="838604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The present average age of a couple and their daughter is 35 years. Fifteen years from now, the age of the mother will be equal to the sum of present ages of the father and the daughter. Find the present age of mother?</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43 years</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40 years</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48 years</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45 years</a:t>
            </a:r>
            <a:endParaRPr sz="1800">
              <a:solidFill>
                <a:schemeClr val="dk1"/>
              </a:solidFill>
              <a:latin typeface="Arial"/>
              <a:ea typeface="Arial"/>
              <a:cs typeface="Arial"/>
              <a:sym typeface="Arial"/>
            </a:endParaRPr>
          </a:p>
        </p:txBody>
      </p:sp>
      <p:sp>
        <p:nvSpPr>
          <p:cNvPr id="272" name="Google Shape;272;p20"/>
          <p:cNvSpPr/>
          <p:nvPr/>
        </p:nvSpPr>
        <p:spPr>
          <a:xfrm>
            <a:off x="7086600" y="51054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D</a:t>
            </a:r>
            <a:endParaRPr sz="1800" b="1">
              <a:solidFill>
                <a:schemeClr val="dk1"/>
              </a:solidFill>
              <a:latin typeface="Arial"/>
              <a:ea typeface="Arial"/>
              <a:cs typeface="Arial"/>
              <a:sym typeface="Arial"/>
            </a:endParaRPr>
          </a:p>
        </p:txBody>
      </p:sp>
      <p:sp>
        <p:nvSpPr>
          <p:cNvPr id="273" name="Google Shape;273;p20"/>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09</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3">
                                            <p:txEl>
                                              <p:pRg st="0" end="0"/>
                                            </p:txEl>
                                          </p:spTgt>
                                        </p:tgtEl>
                                        <p:attrNameLst>
                                          <p:attrName>style.visibility</p:attrName>
                                        </p:attrNameLst>
                                      </p:cBhvr>
                                      <p:to>
                                        <p:strVal val="visible"/>
                                      </p:to>
                                    </p:set>
                                    <p:animEffect transition="in" filter="fade">
                                      <p:cBhvr>
                                        <p:cTn id="7" dur="2000"/>
                                        <p:tgtEl>
                                          <p:spTgt spid="2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1">
                                            <p:txEl>
                                              <p:pRg st="0" end="0"/>
                                            </p:txEl>
                                          </p:spTgt>
                                        </p:tgtEl>
                                        <p:attrNameLst>
                                          <p:attrName>style.visibility</p:attrName>
                                        </p:attrNameLst>
                                      </p:cBhvr>
                                      <p:to>
                                        <p:strVal val="visible"/>
                                      </p:to>
                                    </p:set>
                                    <p:animEffect transition="in" filter="fade">
                                      <p:cBhvr>
                                        <p:cTn id="12" dur="2000"/>
                                        <p:tgtEl>
                                          <p:spTgt spid="2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1">
                                            <p:txEl>
                                              <p:pRg st="1" end="1"/>
                                            </p:txEl>
                                          </p:spTgt>
                                        </p:tgtEl>
                                        <p:attrNameLst>
                                          <p:attrName>style.visibility</p:attrName>
                                        </p:attrNameLst>
                                      </p:cBhvr>
                                      <p:to>
                                        <p:strVal val="visible"/>
                                      </p:to>
                                    </p:set>
                                    <p:animEffect transition="in" filter="fade">
                                      <p:cBhvr>
                                        <p:cTn id="17" dur="2000"/>
                                        <p:tgtEl>
                                          <p:spTgt spid="2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1">
                                            <p:txEl>
                                              <p:pRg st="2" end="2"/>
                                            </p:txEl>
                                          </p:spTgt>
                                        </p:tgtEl>
                                        <p:attrNameLst>
                                          <p:attrName>style.visibility</p:attrName>
                                        </p:attrNameLst>
                                      </p:cBhvr>
                                      <p:to>
                                        <p:strVal val="visible"/>
                                      </p:to>
                                    </p:set>
                                    <p:animEffect transition="in" filter="fade">
                                      <p:cBhvr>
                                        <p:cTn id="22" dur="2000"/>
                                        <p:tgtEl>
                                          <p:spTgt spid="27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1">
                                            <p:txEl>
                                              <p:pRg st="3" end="3"/>
                                            </p:txEl>
                                          </p:spTgt>
                                        </p:tgtEl>
                                        <p:attrNameLst>
                                          <p:attrName>style.visibility</p:attrName>
                                        </p:attrNameLst>
                                      </p:cBhvr>
                                      <p:to>
                                        <p:strVal val="visible"/>
                                      </p:to>
                                    </p:set>
                                    <p:animEffect transition="in" filter="fade">
                                      <p:cBhvr>
                                        <p:cTn id="27" dur="2000"/>
                                        <p:tgtEl>
                                          <p:spTgt spid="27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1">
                                            <p:txEl>
                                              <p:pRg st="4" end="4"/>
                                            </p:txEl>
                                          </p:spTgt>
                                        </p:tgtEl>
                                        <p:attrNameLst>
                                          <p:attrName>style.visibility</p:attrName>
                                        </p:attrNameLst>
                                      </p:cBhvr>
                                      <p:to>
                                        <p:strVal val="visible"/>
                                      </p:to>
                                    </p:set>
                                    <p:animEffect transition="in" filter="fade">
                                      <p:cBhvr>
                                        <p:cTn id="32" dur="2000"/>
                                        <p:tgtEl>
                                          <p:spTgt spid="27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1">
                                            <p:txEl>
                                              <p:pRg st="5" end="5"/>
                                            </p:txEl>
                                          </p:spTgt>
                                        </p:tgtEl>
                                        <p:attrNameLst>
                                          <p:attrName>style.visibility</p:attrName>
                                        </p:attrNameLst>
                                      </p:cBhvr>
                                      <p:to>
                                        <p:strVal val="visible"/>
                                      </p:to>
                                    </p:set>
                                    <p:animEffect transition="in" filter="fade">
                                      <p:cBhvr>
                                        <p:cTn id="37" dur="2000"/>
                                        <p:tgtEl>
                                          <p:spTgt spid="27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2">
                                            <p:txEl>
                                              <p:pRg st="0" end="0"/>
                                            </p:txEl>
                                          </p:spTgt>
                                        </p:tgtEl>
                                        <p:attrNameLst>
                                          <p:attrName>style.visibility</p:attrName>
                                        </p:attrNameLst>
                                      </p:cBhvr>
                                      <p:to>
                                        <p:strVal val="visible"/>
                                      </p:to>
                                    </p:set>
                                    <p:animEffect transition="in" filter="fade">
                                      <p:cBhvr>
                                        <p:cTn id="42" dur="2000"/>
                                        <p:tgtEl>
                                          <p:spTgt spid="2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21"/>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79" name="Google Shape;279;p21"/>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80" name="Google Shape;280;p21"/>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81" name="Google Shape;281;p21"/>
          <p:cNvSpPr/>
          <p:nvPr/>
        </p:nvSpPr>
        <p:spPr>
          <a:xfrm>
            <a:off x="403012" y="1235650"/>
            <a:ext cx="8412052" cy="1754326"/>
          </a:xfrm>
          <a:prstGeom prst="rect">
            <a:avLst/>
          </a:prstGeom>
          <a:noFill/>
          <a:ln>
            <a:noFill/>
          </a:ln>
        </p:spPr>
        <p:txBody>
          <a:bodyPr spcFirstLastPara="1" wrap="square" lIns="91425" tIns="45700" rIns="91425" bIns="45700" anchor="t" anchorCtr="0">
            <a:spAutoFit/>
          </a:bodyPr>
          <a:lstStyle/>
          <a:p>
            <a:pPr marL="158750" marR="0" lvl="0" indent="0" algn="l" rtl="0">
              <a:spcBef>
                <a:spcPts val="0"/>
              </a:spcBef>
              <a:spcAft>
                <a:spcPts val="0"/>
              </a:spcAft>
              <a:buNone/>
            </a:pPr>
            <a:r>
              <a:rPr lang="en-US" sz="1800">
                <a:solidFill>
                  <a:schemeClr val="dk1"/>
                </a:solidFill>
                <a:latin typeface="Calibri"/>
                <a:ea typeface="Calibri"/>
                <a:cs typeface="Calibri"/>
                <a:sym typeface="Calibri"/>
              </a:rPr>
              <a:t>(f + m + d)/3 = 35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=&gt; f + m + d = 105 --- (1)</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 + 15 = f + d</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Substituting f + d as m + 15 in (1), we get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2m + 15 = 105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2m = 90 =&gt; m = 45 years.</a:t>
            </a:r>
            <a:endParaRPr sz="1800">
              <a:solidFill>
                <a:schemeClr val="dk1"/>
              </a:solidFill>
              <a:latin typeface="Calibri"/>
              <a:ea typeface="Calibri"/>
              <a:cs typeface="Calibri"/>
              <a:sym typeface="Calibri"/>
            </a:endParaRPr>
          </a:p>
        </p:txBody>
      </p:sp>
      <p:sp>
        <p:nvSpPr>
          <p:cNvPr id="282" name="Google Shape;282;p21"/>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animEffect transition="in" filter="fade">
                                      <p:cBhvr>
                                        <p:cTn id="7" dur="2000"/>
                                        <p:tgtEl>
                                          <p:spTgt spid="2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1">
                                            <p:txEl>
                                              <p:pRg st="0" end="0"/>
                                            </p:txEl>
                                          </p:spTgt>
                                        </p:tgtEl>
                                        <p:attrNameLst>
                                          <p:attrName>style.visibility</p:attrName>
                                        </p:attrNameLst>
                                      </p:cBhvr>
                                      <p:to>
                                        <p:strVal val="visible"/>
                                      </p:to>
                                    </p:set>
                                    <p:animEffect transition="in" filter="fade">
                                      <p:cBhvr>
                                        <p:cTn id="12" dur="2000"/>
                                        <p:tgtEl>
                                          <p:spTgt spid="2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22"/>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88" name="Google Shape;288;p22"/>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89" name="Google Shape;289;p22"/>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290" name="Google Shape;290;p22"/>
          <p:cNvSpPr/>
          <p:nvPr/>
        </p:nvSpPr>
        <p:spPr>
          <a:xfrm>
            <a:off x="457200" y="1371600"/>
            <a:ext cx="8357864" cy="34163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The number obtained by interchanging the two digits of a two-digit number is less than the original number by 45. If the sum of the two digits of the number so obtained is 13, then what is the original number?</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A.</a:t>
            </a:r>
            <a:r>
              <a:rPr lang="en-US" sz="1800">
                <a:solidFill>
                  <a:schemeClr val="dk1"/>
                </a:solidFill>
                <a:latin typeface="Arial"/>
                <a:ea typeface="Arial"/>
                <a:cs typeface="Arial"/>
                <a:sym typeface="Arial"/>
              </a:rPr>
              <a:t> 49</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B.</a:t>
            </a:r>
            <a:r>
              <a:rPr lang="en-US" sz="1800">
                <a:solidFill>
                  <a:schemeClr val="dk1"/>
                </a:solidFill>
                <a:latin typeface="Arial"/>
                <a:ea typeface="Arial"/>
                <a:cs typeface="Arial"/>
                <a:sym typeface="Arial"/>
              </a:rPr>
              <a:t> 94</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C.</a:t>
            </a:r>
            <a:r>
              <a:rPr lang="en-US" sz="1800">
                <a:solidFill>
                  <a:schemeClr val="dk1"/>
                </a:solidFill>
                <a:latin typeface="Arial"/>
                <a:ea typeface="Arial"/>
                <a:cs typeface="Arial"/>
                <a:sym typeface="Arial"/>
              </a:rPr>
              <a:t> 83</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1800" b="1">
                <a:solidFill>
                  <a:schemeClr val="dk1"/>
                </a:solidFill>
                <a:latin typeface="Arial"/>
                <a:ea typeface="Arial"/>
                <a:cs typeface="Arial"/>
                <a:sym typeface="Arial"/>
              </a:rPr>
              <a:t>D.</a:t>
            </a:r>
            <a:r>
              <a:rPr lang="en-US" sz="1800">
                <a:solidFill>
                  <a:schemeClr val="dk1"/>
                </a:solidFill>
                <a:latin typeface="Arial"/>
                <a:ea typeface="Arial"/>
                <a:cs typeface="Arial"/>
                <a:sym typeface="Arial"/>
              </a:rPr>
              <a:t> Either (a) or (b)</a:t>
            </a:r>
            <a:endParaRPr sz="1800">
              <a:solidFill>
                <a:schemeClr val="dk1"/>
              </a:solidFill>
              <a:latin typeface="Arial"/>
              <a:ea typeface="Arial"/>
              <a:cs typeface="Arial"/>
              <a:sym typeface="Arial"/>
            </a:endParaRPr>
          </a:p>
        </p:txBody>
      </p:sp>
      <p:sp>
        <p:nvSpPr>
          <p:cNvPr id="291" name="Google Shape;291;p22"/>
          <p:cNvSpPr/>
          <p:nvPr/>
        </p:nvSpPr>
        <p:spPr>
          <a:xfrm>
            <a:off x="7162800" y="51816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B</a:t>
            </a:r>
            <a:endParaRPr sz="1800" b="1">
              <a:solidFill>
                <a:schemeClr val="dk1"/>
              </a:solidFill>
              <a:latin typeface="Arial"/>
              <a:ea typeface="Arial"/>
              <a:cs typeface="Arial"/>
              <a:sym typeface="Arial"/>
            </a:endParaRPr>
          </a:p>
        </p:txBody>
      </p:sp>
      <p:sp>
        <p:nvSpPr>
          <p:cNvPr id="292" name="Google Shape;292;p22"/>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10</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xEl>
                                              <p:pRg st="0" end="0"/>
                                            </p:txEl>
                                          </p:spTgt>
                                        </p:tgtEl>
                                        <p:attrNameLst>
                                          <p:attrName>style.visibility</p:attrName>
                                        </p:attrNameLst>
                                      </p:cBhvr>
                                      <p:to>
                                        <p:strVal val="visible"/>
                                      </p:to>
                                    </p:set>
                                    <p:animEffect transition="in" filter="fade">
                                      <p:cBhvr>
                                        <p:cTn id="7" dur="2000"/>
                                        <p:tgtEl>
                                          <p:spTgt spid="2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0">
                                            <p:txEl>
                                              <p:pRg st="0" end="0"/>
                                            </p:txEl>
                                          </p:spTgt>
                                        </p:tgtEl>
                                        <p:attrNameLst>
                                          <p:attrName>style.visibility</p:attrName>
                                        </p:attrNameLst>
                                      </p:cBhvr>
                                      <p:to>
                                        <p:strVal val="visible"/>
                                      </p:to>
                                    </p:set>
                                    <p:animEffect transition="in" filter="fade">
                                      <p:cBhvr>
                                        <p:cTn id="12" dur="2000"/>
                                        <p:tgtEl>
                                          <p:spTgt spid="29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0">
                                            <p:txEl>
                                              <p:pRg st="1" end="1"/>
                                            </p:txEl>
                                          </p:spTgt>
                                        </p:tgtEl>
                                        <p:attrNameLst>
                                          <p:attrName>style.visibility</p:attrName>
                                        </p:attrNameLst>
                                      </p:cBhvr>
                                      <p:to>
                                        <p:strVal val="visible"/>
                                      </p:to>
                                    </p:set>
                                    <p:animEffect transition="in" filter="fade">
                                      <p:cBhvr>
                                        <p:cTn id="17" dur="2000"/>
                                        <p:tgtEl>
                                          <p:spTgt spid="29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0">
                                            <p:txEl>
                                              <p:pRg st="2" end="2"/>
                                            </p:txEl>
                                          </p:spTgt>
                                        </p:tgtEl>
                                        <p:attrNameLst>
                                          <p:attrName>style.visibility</p:attrName>
                                        </p:attrNameLst>
                                      </p:cBhvr>
                                      <p:to>
                                        <p:strVal val="visible"/>
                                      </p:to>
                                    </p:set>
                                    <p:animEffect transition="in" filter="fade">
                                      <p:cBhvr>
                                        <p:cTn id="22" dur="2000"/>
                                        <p:tgtEl>
                                          <p:spTgt spid="29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0">
                                            <p:txEl>
                                              <p:pRg st="3" end="3"/>
                                            </p:txEl>
                                          </p:spTgt>
                                        </p:tgtEl>
                                        <p:attrNameLst>
                                          <p:attrName>style.visibility</p:attrName>
                                        </p:attrNameLst>
                                      </p:cBhvr>
                                      <p:to>
                                        <p:strVal val="visible"/>
                                      </p:to>
                                    </p:set>
                                    <p:animEffect transition="in" filter="fade">
                                      <p:cBhvr>
                                        <p:cTn id="27" dur="2000"/>
                                        <p:tgtEl>
                                          <p:spTgt spid="29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0">
                                            <p:txEl>
                                              <p:pRg st="4" end="4"/>
                                            </p:txEl>
                                          </p:spTgt>
                                        </p:tgtEl>
                                        <p:attrNameLst>
                                          <p:attrName>style.visibility</p:attrName>
                                        </p:attrNameLst>
                                      </p:cBhvr>
                                      <p:to>
                                        <p:strVal val="visible"/>
                                      </p:to>
                                    </p:set>
                                    <p:animEffect transition="in" filter="fade">
                                      <p:cBhvr>
                                        <p:cTn id="32" dur="2000"/>
                                        <p:tgtEl>
                                          <p:spTgt spid="29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0">
                                            <p:txEl>
                                              <p:pRg st="5" end="5"/>
                                            </p:txEl>
                                          </p:spTgt>
                                        </p:tgtEl>
                                        <p:attrNameLst>
                                          <p:attrName>style.visibility</p:attrName>
                                        </p:attrNameLst>
                                      </p:cBhvr>
                                      <p:to>
                                        <p:strVal val="visible"/>
                                      </p:to>
                                    </p:set>
                                    <p:animEffect transition="in" filter="fade">
                                      <p:cBhvr>
                                        <p:cTn id="37" dur="2000"/>
                                        <p:tgtEl>
                                          <p:spTgt spid="29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1">
                                            <p:txEl>
                                              <p:pRg st="0" end="0"/>
                                            </p:txEl>
                                          </p:spTgt>
                                        </p:tgtEl>
                                        <p:attrNameLst>
                                          <p:attrName>style.visibility</p:attrName>
                                        </p:attrNameLst>
                                      </p:cBhvr>
                                      <p:to>
                                        <p:strVal val="visible"/>
                                      </p:to>
                                    </p:set>
                                    <p:animEffect transition="in" filter="fade">
                                      <p:cBhvr>
                                        <p:cTn id="42" dur="2000"/>
                                        <p:tgtEl>
                                          <p:spTgt spid="2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23"/>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298" name="Google Shape;298;p23"/>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299" name="Google Shape;299;p23"/>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00" name="Google Shape;300;p23"/>
          <p:cNvSpPr/>
          <p:nvPr/>
        </p:nvSpPr>
        <p:spPr>
          <a:xfrm>
            <a:off x="403012" y="1235650"/>
            <a:ext cx="8412052"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Calibri"/>
                <a:ea typeface="Calibri"/>
                <a:cs typeface="Calibri"/>
                <a:sym typeface="Calibri"/>
              </a:rPr>
              <a:t>Explanation:</a:t>
            </a:r>
            <a:endParaRPr sz="1800" b="1" u="sng">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Let the number be in the form of 10a + b</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Number formed by interchanging a and b = 10b + 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 + b = 13 --- (1)</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10b + a = 10a + b - 45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45 = 9a - 9b =&gt; a - b = 5 --- (2)</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Adding (1) and (2), we get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2a = 18 =&gt; a = 9 and b = 4</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number is: 94.</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301" name="Google Shape;301;p23"/>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1">
                                            <p:txEl>
                                              <p:pRg st="0" end="0"/>
                                            </p:txEl>
                                          </p:spTgt>
                                        </p:tgtEl>
                                        <p:attrNameLst>
                                          <p:attrName>style.visibility</p:attrName>
                                        </p:attrNameLst>
                                      </p:cBhvr>
                                      <p:to>
                                        <p:strVal val="visible"/>
                                      </p:to>
                                    </p:set>
                                    <p:animEffect transition="in" filter="fade">
                                      <p:cBhvr>
                                        <p:cTn id="7" dur="2000"/>
                                        <p:tgtEl>
                                          <p:spTgt spid="3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0">
                                            <p:txEl>
                                              <p:pRg st="0" end="0"/>
                                            </p:txEl>
                                          </p:spTgt>
                                        </p:tgtEl>
                                        <p:attrNameLst>
                                          <p:attrName>style.visibility</p:attrName>
                                        </p:attrNameLst>
                                      </p:cBhvr>
                                      <p:to>
                                        <p:strVal val="visible"/>
                                      </p:to>
                                    </p:set>
                                    <p:animEffect transition="in" filter="fade">
                                      <p:cBhvr>
                                        <p:cTn id="12" dur="2000"/>
                                        <p:tgtEl>
                                          <p:spTgt spid="30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0">
                                            <p:txEl>
                                              <p:pRg st="1" end="1"/>
                                            </p:txEl>
                                          </p:spTgt>
                                        </p:tgtEl>
                                        <p:attrNameLst>
                                          <p:attrName>style.visibility</p:attrName>
                                        </p:attrNameLst>
                                      </p:cBhvr>
                                      <p:to>
                                        <p:strVal val="visible"/>
                                      </p:to>
                                    </p:set>
                                    <p:animEffect transition="in" filter="fade">
                                      <p:cBhvr>
                                        <p:cTn id="17" dur="2000"/>
                                        <p:tgtEl>
                                          <p:spTgt spid="30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0">
                                            <p:txEl>
                                              <p:pRg st="2" end="2"/>
                                            </p:txEl>
                                          </p:spTgt>
                                        </p:tgtEl>
                                        <p:attrNameLst>
                                          <p:attrName>style.visibility</p:attrName>
                                        </p:attrNameLst>
                                      </p:cBhvr>
                                      <p:to>
                                        <p:strVal val="visible"/>
                                      </p:to>
                                    </p:set>
                                    <p:animEffect transition="in" filter="fade">
                                      <p:cBhvr>
                                        <p:cTn id="22" dur="2000"/>
                                        <p:tgtEl>
                                          <p:spTgt spid="3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306" name="Google Shape;306;p24"/>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07" name="Google Shape;307;p24"/>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08" name="Google Shape;308;p24"/>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09" name="Google Shape;309;p24"/>
          <p:cNvSpPr/>
          <p:nvPr/>
        </p:nvSpPr>
        <p:spPr>
          <a:xfrm>
            <a:off x="348974" y="1390389"/>
            <a:ext cx="8466090" cy="34163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The number obtained by interchanging the digits of a two-digit number is less than the original number by 63. If the sum of the digits of the number is 11, what is the original number?</a:t>
            </a: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29                      </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92                      </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 74                      </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 Cannot be determined   </a:t>
            </a:r>
            <a:endParaRPr sz="1800">
              <a:solidFill>
                <a:schemeClr val="dk1"/>
              </a:solidFill>
              <a:latin typeface="Arial"/>
              <a:ea typeface="Arial"/>
              <a:cs typeface="Arial"/>
              <a:sym typeface="Arial"/>
            </a:endParaRPr>
          </a:p>
        </p:txBody>
      </p:sp>
      <p:sp>
        <p:nvSpPr>
          <p:cNvPr id="310" name="Google Shape;310;p24"/>
          <p:cNvSpPr/>
          <p:nvPr/>
        </p:nvSpPr>
        <p:spPr>
          <a:xfrm>
            <a:off x="7239000" y="54102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B</a:t>
            </a:r>
            <a:endParaRPr sz="1800" b="1">
              <a:solidFill>
                <a:schemeClr val="dk1"/>
              </a:solidFill>
              <a:latin typeface="Arial"/>
              <a:ea typeface="Arial"/>
              <a:cs typeface="Arial"/>
              <a:sym typeface="Arial"/>
            </a:endParaRPr>
          </a:p>
        </p:txBody>
      </p:sp>
      <p:sp>
        <p:nvSpPr>
          <p:cNvPr id="311" name="Google Shape;311;p24"/>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11</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1">
                                            <p:txEl>
                                              <p:pRg st="0" end="0"/>
                                            </p:txEl>
                                          </p:spTgt>
                                        </p:tgtEl>
                                        <p:attrNameLst>
                                          <p:attrName>style.visibility</p:attrName>
                                        </p:attrNameLst>
                                      </p:cBhvr>
                                      <p:to>
                                        <p:strVal val="visible"/>
                                      </p:to>
                                    </p:set>
                                    <p:animEffect transition="in" filter="fade">
                                      <p:cBhvr>
                                        <p:cTn id="7" dur="2000"/>
                                        <p:tgtEl>
                                          <p:spTgt spid="3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9">
                                            <p:txEl>
                                              <p:pRg st="0" end="0"/>
                                            </p:txEl>
                                          </p:spTgt>
                                        </p:tgtEl>
                                        <p:attrNameLst>
                                          <p:attrName>style.visibility</p:attrName>
                                        </p:attrNameLst>
                                      </p:cBhvr>
                                      <p:to>
                                        <p:strVal val="visible"/>
                                      </p:to>
                                    </p:set>
                                    <p:animEffect transition="in" filter="fade">
                                      <p:cBhvr>
                                        <p:cTn id="12" dur="2000"/>
                                        <p:tgtEl>
                                          <p:spTgt spid="30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9">
                                            <p:txEl>
                                              <p:pRg st="1" end="1"/>
                                            </p:txEl>
                                          </p:spTgt>
                                        </p:tgtEl>
                                        <p:attrNameLst>
                                          <p:attrName>style.visibility</p:attrName>
                                        </p:attrNameLst>
                                      </p:cBhvr>
                                      <p:to>
                                        <p:strVal val="visible"/>
                                      </p:to>
                                    </p:set>
                                    <p:animEffect transition="in" filter="fade">
                                      <p:cBhvr>
                                        <p:cTn id="17" dur="2000"/>
                                        <p:tgtEl>
                                          <p:spTgt spid="30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9">
                                            <p:txEl>
                                              <p:pRg st="2" end="2"/>
                                            </p:txEl>
                                          </p:spTgt>
                                        </p:tgtEl>
                                        <p:attrNameLst>
                                          <p:attrName>style.visibility</p:attrName>
                                        </p:attrNameLst>
                                      </p:cBhvr>
                                      <p:to>
                                        <p:strVal val="visible"/>
                                      </p:to>
                                    </p:set>
                                    <p:animEffect transition="in" filter="fade">
                                      <p:cBhvr>
                                        <p:cTn id="22" dur="2000"/>
                                        <p:tgtEl>
                                          <p:spTgt spid="30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9">
                                            <p:txEl>
                                              <p:pRg st="3" end="3"/>
                                            </p:txEl>
                                          </p:spTgt>
                                        </p:tgtEl>
                                        <p:attrNameLst>
                                          <p:attrName>style.visibility</p:attrName>
                                        </p:attrNameLst>
                                      </p:cBhvr>
                                      <p:to>
                                        <p:strVal val="visible"/>
                                      </p:to>
                                    </p:set>
                                    <p:animEffect transition="in" filter="fade">
                                      <p:cBhvr>
                                        <p:cTn id="27" dur="2000"/>
                                        <p:tgtEl>
                                          <p:spTgt spid="30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9">
                                            <p:txEl>
                                              <p:pRg st="4" end="4"/>
                                            </p:txEl>
                                          </p:spTgt>
                                        </p:tgtEl>
                                        <p:attrNameLst>
                                          <p:attrName>style.visibility</p:attrName>
                                        </p:attrNameLst>
                                      </p:cBhvr>
                                      <p:to>
                                        <p:strVal val="visible"/>
                                      </p:to>
                                    </p:set>
                                    <p:animEffect transition="in" filter="fade">
                                      <p:cBhvr>
                                        <p:cTn id="32" dur="2000"/>
                                        <p:tgtEl>
                                          <p:spTgt spid="30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9">
                                            <p:txEl>
                                              <p:pRg st="5" end="5"/>
                                            </p:txEl>
                                          </p:spTgt>
                                        </p:tgtEl>
                                        <p:attrNameLst>
                                          <p:attrName>style.visibility</p:attrName>
                                        </p:attrNameLst>
                                      </p:cBhvr>
                                      <p:to>
                                        <p:strVal val="visible"/>
                                      </p:to>
                                    </p:set>
                                    <p:animEffect transition="in" filter="fade">
                                      <p:cBhvr>
                                        <p:cTn id="37" dur="2000"/>
                                        <p:tgtEl>
                                          <p:spTgt spid="30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0">
                                            <p:txEl>
                                              <p:pRg st="0" end="0"/>
                                            </p:txEl>
                                          </p:spTgt>
                                        </p:tgtEl>
                                        <p:attrNameLst>
                                          <p:attrName>style.visibility</p:attrName>
                                        </p:attrNameLst>
                                      </p:cBhvr>
                                      <p:to>
                                        <p:strVal val="visible"/>
                                      </p:to>
                                    </p:set>
                                    <p:animEffect transition="in" filter="fade">
                                      <p:cBhvr>
                                        <p:cTn id="42" dur="2000"/>
                                        <p:tgtEl>
                                          <p:spTgt spid="3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25"/>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17" name="Google Shape;317;p25"/>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18" name="Google Shape;318;p25"/>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19" name="Google Shape;319;p25"/>
          <p:cNvSpPr/>
          <p:nvPr/>
        </p:nvSpPr>
        <p:spPr>
          <a:xfrm>
            <a:off x="403012" y="1235650"/>
            <a:ext cx="8412052"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Solution: 10X + Y – (10Y + X) = 63</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9X – 9Y = 63</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X – Y = 7</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X + Y = 11</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Solving these equations, we get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X = 9, Y = 2</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Required number = 10X + Y</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=&gt; 10 * 9 + 2 = 92</a:t>
            </a:r>
            <a:endParaRPr sz="1800">
              <a:solidFill>
                <a:schemeClr val="dk1"/>
              </a:solidFill>
              <a:latin typeface="Calibri"/>
              <a:ea typeface="Calibri"/>
              <a:cs typeface="Calibri"/>
              <a:sym typeface="Calibri"/>
            </a:endParaRPr>
          </a:p>
          <a:p>
            <a:pPr marL="15875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320" name="Google Shape;320;p25"/>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0">
                                            <p:txEl>
                                              <p:pRg st="0" end="0"/>
                                            </p:txEl>
                                          </p:spTgt>
                                        </p:tgtEl>
                                        <p:attrNameLst>
                                          <p:attrName>style.visibility</p:attrName>
                                        </p:attrNameLst>
                                      </p:cBhvr>
                                      <p:to>
                                        <p:strVal val="visible"/>
                                      </p:to>
                                    </p:set>
                                    <p:animEffect transition="in" filter="fade">
                                      <p:cBhvr>
                                        <p:cTn id="7" dur="2000"/>
                                        <p:tgtEl>
                                          <p:spTgt spid="3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9">
                                            <p:txEl>
                                              <p:pRg st="0" end="0"/>
                                            </p:txEl>
                                          </p:spTgt>
                                        </p:tgtEl>
                                        <p:attrNameLst>
                                          <p:attrName>style.visibility</p:attrName>
                                        </p:attrNameLst>
                                      </p:cBhvr>
                                      <p:to>
                                        <p:strVal val="visible"/>
                                      </p:to>
                                    </p:set>
                                    <p:animEffect transition="in" filter="fade">
                                      <p:cBhvr>
                                        <p:cTn id="12" dur="2000"/>
                                        <p:tgtEl>
                                          <p:spTgt spid="3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9">
                                            <p:txEl>
                                              <p:pRg st="1" end="1"/>
                                            </p:txEl>
                                          </p:spTgt>
                                        </p:tgtEl>
                                        <p:attrNameLst>
                                          <p:attrName>style.visibility</p:attrName>
                                        </p:attrNameLst>
                                      </p:cBhvr>
                                      <p:to>
                                        <p:strVal val="visible"/>
                                      </p:to>
                                    </p:set>
                                    <p:animEffect transition="in" filter="fade">
                                      <p:cBhvr>
                                        <p:cTn id="17" dur="2000"/>
                                        <p:tgtEl>
                                          <p:spTgt spid="31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9">
                                            <p:txEl>
                                              <p:pRg st="2" end="2"/>
                                            </p:txEl>
                                          </p:spTgt>
                                        </p:tgtEl>
                                        <p:attrNameLst>
                                          <p:attrName>style.visibility</p:attrName>
                                        </p:attrNameLst>
                                      </p:cBhvr>
                                      <p:to>
                                        <p:strVal val="visible"/>
                                      </p:to>
                                    </p:set>
                                    <p:animEffect transition="in" filter="fade">
                                      <p:cBhvr>
                                        <p:cTn id="22" dur="2000"/>
                                        <p:tgtEl>
                                          <p:spTgt spid="31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9">
                                            <p:txEl>
                                              <p:pRg st="3" end="3"/>
                                            </p:txEl>
                                          </p:spTgt>
                                        </p:tgtEl>
                                        <p:attrNameLst>
                                          <p:attrName>style.visibility</p:attrName>
                                        </p:attrNameLst>
                                      </p:cBhvr>
                                      <p:to>
                                        <p:strVal val="visible"/>
                                      </p:to>
                                    </p:set>
                                    <p:animEffect transition="in" filter="fade">
                                      <p:cBhvr>
                                        <p:cTn id="27" dur="2000"/>
                                        <p:tgtEl>
                                          <p:spTgt spid="31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9">
                                            <p:txEl>
                                              <p:pRg st="4" end="4"/>
                                            </p:txEl>
                                          </p:spTgt>
                                        </p:tgtEl>
                                        <p:attrNameLst>
                                          <p:attrName>style.visibility</p:attrName>
                                        </p:attrNameLst>
                                      </p:cBhvr>
                                      <p:to>
                                        <p:strVal val="visible"/>
                                      </p:to>
                                    </p:set>
                                    <p:animEffect transition="in" filter="fade">
                                      <p:cBhvr>
                                        <p:cTn id="32" dur="2000"/>
                                        <p:tgtEl>
                                          <p:spTgt spid="31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9">
                                            <p:txEl>
                                              <p:pRg st="5" end="5"/>
                                            </p:txEl>
                                          </p:spTgt>
                                        </p:tgtEl>
                                        <p:attrNameLst>
                                          <p:attrName>style.visibility</p:attrName>
                                        </p:attrNameLst>
                                      </p:cBhvr>
                                      <p:to>
                                        <p:strVal val="visible"/>
                                      </p:to>
                                    </p:set>
                                    <p:animEffect transition="in" filter="fade">
                                      <p:cBhvr>
                                        <p:cTn id="37" dur="2000"/>
                                        <p:tgtEl>
                                          <p:spTgt spid="31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9">
                                            <p:txEl>
                                              <p:pRg st="6" end="6"/>
                                            </p:txEl>
                                          </p:spTgt>
                                        </p:tgtEl>
                                        <p:attrNameLst>
                                          <p:attrName>style.visibility</p:attrName>
                                        </p:attrNameLst>
                                      </p:cBhvr>
                                      <p:to>
                                        <p:strVal val="visible"/>
                                      </p:to>
                                    </p:set>
                                    <p:animEffect transition="in" filter="fade">
                                      <p:cBhvr>
                                        <p:cTn id="42" dur="2000"/>
                                        <p:tgtEl>
                                          <p:spTgt spid="319">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9">
                                            <p:txEl>
                                              <p:pRg st="7" end="7"/>
                                            </p:txEl>
                                          </p:spTgt>
                                        </p:tgtEl>
                                        <p:attrNameLst>
                                          <p:attrName>style.visibility</p:attrName>
                                        </p:attrNameLst>
                                      </p:cBhvr>
                                      <p:to>
                                        <p:strVal val="visible"/>
                                      </p:to>
                                    </p:set>
                                    <p:animEffect transition="in" filter="fade">
                                      <p:cBhvr>
                                        <p:cTn id="47" dur="2000"/>
                                        <p:tgtEl>
                                          <p:spTgt spid="319">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19">
                                            <p:txEl>
                                              <p:pRg st="8" end="8"/>
                                            </p:txEl>
                                          </p:spTgt>
                                        </p:tgtEl>
                                        <p:attrNameLst>
                                          <p:attrName>style.visibility</p:attrName>
                                        </p:attrNameLst>
                                      </p:cBhvr>
                                      <p:to>
                                        <p:strVal val="visible"/>
                                      </p:to>
                                    </p:set>
                                    <p:animEffect transition="in" filter="fade">
                                      <p:cBhvr>
                                        <p:cTn id="52" dur="2000"/>
                                        <p:tgtEl>
                                          <p:spTgt spid="3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26"/>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26" name="Google Shape;326;p26"/>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27" name="Google Shape;327;p26"/>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28" name="Google Shape;328;p26"/>
          <p:cNvSpPr/>
          <p:nvPr/>
        </p:nvSpPr>
        <p:spPr>
          <a:xfrm>
            <a:off x="325512" y="1128385"/>
            <a:ext cx="8458200" cy="46628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Three friends, returning from a movie, stopped to eat at a restaurant. After dinner, they paid their bill and noticed a bowl of mints at the front counter. Sita took 1/3 of the mints, but returned four because she had a momentary pang of guilt. Fatima then took 1/4 of what was left but returned three for similar reasons. Eswari then took half of the remainder but threw two back into the bowl. The bowl had only 17 mints left when the raid was over. How many mints were originally in the bowl?</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38</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31</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48</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None of these</a:t>
            </a:r>
            <a:endParaRPr sz="1800">
              <a:solidFill>
                <a:schemeClr val="dk1"/>
              </a:solidFill>
              <a:latin typeface="Arial"/>
              <a:ea typeface="Arial"/>
              <a:cs typeface="Arial"/>
              <a:sym typeface="Arial"/>
            </a:endParaRPr>
          </a:p>
        </p:txBody>
      </p:sp>
      <p:sp>
        <p:nvSpPr>
          <p:cNvPr id="329" name="Google Shape;329;p26"/>
          <p:cNvSpPr/>
          <p:nvPr/>
        </p:nvSpPr>
        <p:spPr>
          <a:xfrm>
            <a:off x="7239000" y="57912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C</a:t>
            </a:r>
            <a:endParaRPr sz="1800" b="1">
              <a:solidFill>
                <a:schemeClr val="dk1"/>
              </a:solidFill>
              <a:latin typeface="Arial"/>
              <a:ea typeface="Arial"/>
              <a:cs typeface="Arial"/>
              <a:sym typeface="Arial"/>
            </a:endParaRPr>
          </a:p>
        </p:txBody>
      </p:sp>
      <p:sp>
        <p:nvSpPr>
          <p:cNvPr id="330" name="Google Shape;330;p26"/>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12</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0">
                                            <p:txEl>
                                              <p:pRg st="0" end="0"/>
                                            </p:txEl>
                                          </p:spTgt>
                                        </p:tgtEl>
                                        <p:attrNameLst>
                                          <p:attrName>style.visibility</p:attrName>
                                        </p:attrNameLst>
                                      </p:cBhvr>
                                      <p:to>
                                        <p:strVal val="visible"/>
                                      </p:to>
                                    </p:set>
                                    <p:animEffect transition="in" filter="fade">
                                      <p:cBhvr>
                                        <p:cTn id="7" dur="2000"/>
                                        <p:tgtEl>
                                          <p:spTgt spid="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8">
                                            <p:txEl>
                                              <p:pRg st="0" end="0"/>
                                            </p:txEl>
                                          </p:spTgt>
                                        </p:tgtEl>
                                        <p:attrNameLst>
                                          <p:attrName>style.visibility</p:attrName>
                                        </p:attrNameLst>
                                      </p:cBhvr>
                                      <p:to>
                                        <p:strVal val="visible"/>
                                      </p:to>
                                    </p:set>
                                    <p:animEffect transition="in" filter="fade">
                                      <p:cBhvr>
                                        <p:cTn id="12" dur="2000"/>
                                        <p:tgtEl>
                                          <p:spTgt spid="3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8">
                                            <p:txEl>
                                              <p:pRg st="1" end="1"/>
                                            </p:txEl>
                                          </p:spTgt>
                                        </p:tgtEl>
                                        <p:attrNameLst>
                                          <p:attrName>style.visibility</p:attrName>
                                        </p:attrNameLst>
                                      </p:cBhvr>
                                      <p:to>
                                        <p:strVal val="visible"/>
                                      </p:to>
                                    </p:set>
                                    <p:animEffect transition="in" filter="fade">
                                      <p:cBhvr>
                                        <p:cTn id="17" dur="2000"/>
                                        <p:tgtEl>
                                          <p:spTgt spid="32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8">
                                            <p:txEl>
                                              <p:pRg st="2" end="2"/>
                                            </p:txEl>
                                          </p:spTgt>
                                        </p:tgtEl>
                                        <p:attrNameLst>
                                          <p:attrName>style.visibility</p:attrName>
                                        </p:attrNameLst>
                                      </p:cBhvr>
                                      <p:to>
                                        <p:strVal val="visible"/>
                                      </p:to>
                                    </p:set>
                                    <p:animEffect transition="in" filter="fade">
                                      <p:cBhvr>
                                        <p:cTn id="22" dur="2000"/>
                                        <p:tgtEl>
                                          <p:spTgt spid="32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8">
                                            <p:txEl>
                                              <p:pRg st="3" end="3"/>
                                            </p:txEl>
                                          </p:spTgt>
                                        </p:tgtEl>
                                        <p:attrNameLst>
                                          <p:attrName>style.visibility</p:attrName>
                                        </p:attrNameLst>
                                      </p:cBhvr>
                                      <p:to>
                                        <p:strVal val="visible"/>
                                      </p:to>
                                    </p:set>
                                    <p:animEffect transition="in" filter="fade">
                                      <p:cBhvr>
                                        <p:cTn id="27" dur="2000"/>
                                        <p:tgtEl>
                                          <p:spTgt spid="32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8">
                                            <p:txEl>
                                              <p:pRg st="4" end="4"/>
                                            </p:txEl>
                                          </p:spTgt>
                                        </p:tgtEl>
                                        <p:attrNameLst>
                                          <p:attrName>style.visibility</p:attrName>
                                        </p:attrNameLst>
                                      </p:cBhvr>
                                      <p:to>
                                        <p:strVal val="visible"/>
                                      </p:to>
                                    </p:set>
                                    <p:animEffect transition="in" filter="fade">
                                      <p:cBhvr>
                                        <p:cTn id="32" dur="2000"/>
                                        <p:tgtEl>
                                          <p:spTgt spid="32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9">
                                            <p:txEl>
                                              <p:pRg st="0" end="0"/>
                                            </p:txEl>
                                          </p:spTgt>
                                        </p:tgtEl>
                                        <p:attrNameLst>
                                          <p:attrName>style.visibility</p:attrName>
                                        </p:attrNameLst>
                                      </p:cBhvr>
                                      <p:to>
                                        <p:strVal val="visible"/>
                                      </p:to>
                                    </p:set>
                                    <p:animEffect transition="in" filter="fade">
                                      <p:cBhvr>
                                        <p:cTn id="37" dur="2000"/>
                                        <p:tgtEl>
                                          <p:spTgt spid="3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p27"/>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36" name="Google Shape;336;p27"/>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37" name="Google Shape;337;p27"/>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38" name="Google Shape;338;p27"/>
          <p:cNvSpPr/>
          <p:nvPr/>
        </p:nvSpPr>
        <p:spPr>
          <a:xfrm>
            <a:off x="403012" y="1235650"/>
            <a:ext cx="8412052" cy="2585323"/>
          </a:xfrm>
          <a:prstGeom prst="rect">
            <a:avLst/>
          </a:prstGeom>
          <a:noFill/>
          <a:ln>
            <a:noFill/>
          </a:ln>
        </p:spPr>
        <p:txBody>
          <a:bodyPr spcFirstLastPara="1" wrap="square" lIns="91425" tIns="45700" rIns="91425" bIns="45700" anchor="t" anchorCtr="0">
            <a:spAutoFit/>
          </a:bodyPr>
          <a:lstStyle/>
          <a:p>
            <a:pPr marL="158750" marR="0" lvl="0" indent="0" algn="l" rtl="0">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Let's the initial count be 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Sita took 1/3 and returned four = &gt; Current count is X - X/3 + 4 = 2X/3 + 4</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Fatima took 1/4 and returned three = &gt; Current count is 3/4 * (2X/3 + 4) + 3 = X/2 + 3 + 3 = X/2 + 6</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Eshwari took half of remaining and returned two = &gt; 1/2 (X/2 + 6) + 2 = X/4 + 3 + 2 = X/4 + 5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It is given that X/4 + 5 = 17</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X/4 = 12</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X = 48</a:t>
            </a:r>
            <a:endParaRPr sz="1800">
              <a:solidFill>
                <a:schemeClr val="dk1"/>
              </a:solidFill>
              <a:latin typeface="Calibri"/>
              <a:ea typeface="Calibri"/>
              <a:cs typeface="Calibri"/>
              <a:sym typeface="Calibri"/>
            </a:endParaRPr>
          </a:p>
        </p:txBody>
      </p:sp>
      <p:sp>
        <p:nvSpPr>
          <p:cNvPr id="339" name="Google Shape;339;p27"/>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9">
                                            <p:txEl>
                                              <p:pRg st="0" end="0"/>
                                            </p:txEl>
                                          </p:spTgt>
                                        </p:tgtEl>
                                        <p:attrNameLst>
                                          <p:attrName>style.visibility</p:attrName>
                                        </p:attrNameLst>
                                      </p:cBhvr>
                                      <p:to>
                                        <p:strVal val="visible"/>
                                      </p:to>
                                    </p:set>
                                    <p:animEffect transition="in" filter="fade">
                                      <p:cBhvr>
                                        <p:cTn id="7" dur="2000"/>
                                        <p:tgtEl>
                                          <p:spTgt spid="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8">
                                            <p:txEl>
                                              <p:pRg st="0" end="0"/>
                                            </p:txEl>
                                          </p:spTgt>
                                        </p:tgtEl>
                                        <p:attrNameLst>
                                          <p:attrName>style.visibility</p:attrName>
                                        </p:attrNameLst>
                                      </p:cBhvr>
                                      <p:to>
                                        <p:strVal val="visible"/>
                                      </p:to>
                                    </p:set>
                                    <p:animEffect transition="in" filter="fade">
                                      <p:cBhvr>
                                        <p:cTn id="12" dur="2000"/>
                                        <p:tgtEl>
                                          <p:spTgt spid="3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28"/>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45" name="Google Shape;345;p28"/>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46" name="Google Shape;346;p28"/>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47" name="Google Shape;347;p28"/>
          <p:cNvSpPr/>
          <p:nvPr/>
        </p:nvSpPr>
        <p:spPr>
          <a:xfrm>
            <a:off x="304800" y="1143000"/>
            <a:ext cx="8534400" cy="46628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There were a hundred schools in a town. Of these, the number of schools having a play – ground was 30, and these schools had neither a library nor a laboratory. The number of schools having a laboratory alone was twice the number of those having a library only. The number of schools having a laboratory as well as a library was one fourth the number of those having a laboratory alone. The number of schools having either a laboratory or a library or both was 35. What was the ratio of schools having laboratory to those having library?</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1 : 2</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5 : 3</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2 : 1</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2 : 3 </a:t>
            </a:r>
            <a:endParaRPr sz="1800">
              <a:solidFill>
                <a:schemeClr val="dk1"/>
              </a:solidFill>
              <a:latin typeface="Arial"/>
              <a:ea typeface="Arial"/>
              <a:cs typeface="Arial"/>
              <a:sym typeface="Arial"/>
            </a:endParaRPr>
          </a:p>
        </p:txBody>
      </p:sp>
      <p:sp>
        <p:nvSpPr>
          <p:cNvPr id="348" name="Google Shape;348;p28"/>
          <p:cNvSpPr/>
          <p:nvPr/>
        </p:nvSpPr>
        <p:spPr>
          <a:xfrm>
            <a:off x="7239000" y="5791200"/>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B</a:t>
            </a:r>
            <a:endParaRPr sz="1800" b="1">
              <a:solidFill>
                <a:schemeClr val="dk1"/>
              </a:solidFill>
              <a:latin typeface="Arial"/>
              <a:ea typeface="Arial"/>
              <a:cs typeface="Arial"/>
              <a:sym typeface="Arial"/>
            </a:endParaRPr>
          </a:p>
        </p:txBody>
      </p:sp>
      <p:sp>
        <p:nvSpPr>
          <p:cNvPr id="349" name="Google Shape;349;p28"/>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13</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9">
                                            <p:txEl>
                                              <p:pRg st="0" end="0"/>
                                            </p:txEl>
                                          </p:spTgt>
                                        </p:tgtEl>
                                        <p:attrNameLst>
                                          <p:attrName>style.visibility</p:attrName>
                                        </p:attrNameLst>
                                      </p:cBhvr>
                                      <p:to>
                                        <p:strVal val="visible"/>
                                      </p:to>
                                    </p:set>
                                    <p:animEffect transition="in" filter="fade">
                                      <p:cBhvr>
                                        <p:cTn id="7" dur="2000"/>
                                        <p:tgtEl>
                                          <p:spTgt spid="3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7">
                                            <p:txEl>
                                              <p:pRg st="0" end="0"/>
                                            </p:txEl>
                                          </p:spTgt>
                                        </p:tgtEl>
                                        <p:attrNameLst>
                                          <p:attrName>style.visibility</p:attrName>
                                        </p:attrNameLst>
                                      </p:cBhvr>
                                      <p:to>
                                        <p:strVal val="visible"/>
                                      </p:to>
                                    </p:set>
                                    <p:animEffect transition="in" filter="fade">
                                      <p:cBhvr>
                                        <p:cTn id="12" dur="2000"/>
                                        <p:tgtEl>
                                          <p:spTgt spid="3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7">
                                            <p:txEl>
                                              <p:pRg st="1" end="1"/>
                                            </p:txEl>
                                          </p:spTgt>
                                        </p:tgtEl>
                                        <p:attrNameLst>
                                          <p:attrName>style.visibility</p:attrName>
                                        </p:attrNameLst>
                                      </p:cBhvr>
                                      <p:to>
                                        <p:strVal val="visible"/>
                                      </p:to>
                                    </p:set>
                                    <p:animEffect transition="in" filter="fade">
                                      <p:cBhvr>
                                        <p:cTn id="17" dur="2000"/>
                                        <p:tgtEl>
                                          <p:spTgt spid="34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7">
                                            <p:txEl>
                                              <p:pRg st="2" end="2"/>
                                            </p:txEl>
                                          </p:spTgt>
                                        </p:tgtEl>
                                        <p:attrNameLst>
                                          <p:attrName>style.visibility</p:attrName>
                                        </p:attrNameLst>
                                      </p:cBhvr>
                                      <p:to>
                                        <p:strVal val="visible"/>
                                      </p:to>
                                    </p:set>
                                    <p:animEffect transition="in" filter="fade">
                                      <p:cBhvr>
                                        <p:cTn id="22" dur="2000"/>
                                        <p:tgtEl>
                                          <p:spTgt spid="34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7">
                                            <p:txEl>
                                              <p:pRg st="3" end="3"/>
                                            </p:txEl>
                                          </p:spTgt>
                                        </p:tgtEl>
                                        <p:attrNameLst>
                                          <p:attrName>style.visibility</p:attrName>
                                        </p:attrNameLst>
                                      </p:cBhvr>
                                      <p:to>
                                        <p:strVal val="visible"/>
                                      </p:to>
                                    </p:set>
                                    <p:animEffect transition="in" filter="fade">
                                      <p:cBhvr>
                                        <p:cTn id="27" dur="2000"/>
                                        <p:tgtEl>
                                          <p:spTgt spid="34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7">
                                            <p:txEl>
                                              <p:pRg st="4" end="4"/>
                                            </p:txEl>
                                          </p:spTgt>
                                        </p:tgtEl>
                                        <p:attrNameLst>
                                          <p:attrName>style.visibility</p:attrName>
                                        </p:attrNameLst>
                                      </p:cBhvr>
                                      <p:to>
                                        <p:strVal val="visible"/>
                                      </p:to>
                                    </p:set>
                                    <p:animEffect transition="in" filter="fade">
                                      <p:cBhvr>
                                        <p:cTn id="32" dur="2000"/>
                                        <p:tgtEl>
                                          <p:spTgt spid="34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8">
                                            <p:txEl>
                                              <p:pRg st="0" end="0"/>
                                            </p:txEl>
                                          </p:spTgt>
                                        </p:tgtEl>
                                        <p:attrNameLst>
                                          <p:attrName>style.visibility</p:attrName>
                                        </p:attrNameLst>
                                      </p:cBhvr>
                                      <p:to>
                                        <p:strVal val="visible"/>
                                      </p:to>
                                    </p:set>
                                    <p:animEffect transition="in" filter="fade">
                                      <p:cBhvr>
                                        <p:cTn id="37" dur="2000"/>
                                        <p:tgtEl>
                                          <p:spTgt spid="3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29"/>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55" name="Google Shape;355;p29"/>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56" name="Google Shape;356;p29"/>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57" name="Google Shape;357;p29"/>
          <p:cNvSpPr/>
          <p:nvPr/>
        </p:nvSpPr>
        <p:spPr>
          <a:xfrm>
            <a:off x="403012" y="1235650"/>
            <a:ext cx="8412052" cy="3139321"/>
          </a:xfrm>
          <a:prstGeom prst="rect">
            <a:avLst/>
          </a:prstGeom>
          <a:noFill/>
          <a:ln>
            <a:noFill/>
          </a:ln>
        </p:spPr>
        <p:txBody>
          <a:bodyPr spcFirstLastPara="1" wrap="square" lIns="91425" tIns="45700" rIns="91425" bIns="45700" anchor="t" anchorCtr="0">
            <a:spAutoFit/>
          </a:bodyPr>
          <a:lstStyle/>
          <a:p>
            <a:pPr marL="158750" marR="0" lvl="0" indent="0" algn="l" rtl="0">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Total number of schools = 100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Schools with Playgrounds = 30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Number of schools with library alone = 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Number of schools with laboratory alone = 2X</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Number of schools with library and laboratory = 1/4 * 2X = X/2</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Number of schools having either a library or laboratory or both = 35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&gt; X + 2X + X/2 = 35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&gt; X = 10</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Schools having Laboratory = 2 x 10 + 10/2 = 25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Schools having Library = 10 + 5 = 15</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Required ration = 25/15 = 5:3</a:t>
            </a:r>
            <a:endParaRPr sz="1800">
              <a:solidFill>
                <a:schemeClr val="dk1"/>
              </a:solidFill>
              <a:latin typeface="Calibri"/>
              <a:ea typeface="Calibri"/>
              <a:cs typeface="Calibri"/>
              <a:sym typeface="Calibri"/>
            </a:endParaRPr>
          </a:p>
        </p:txBody>
      </p:sp>
      <p:sp>
        <p:nvSpPr>
          <p:cNvPr id="358" name="Google Shape;358;p29"/>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8">
                                            <p:txEl>
                                              <p:pRg st="0" end="0"/>
                                            </p:txEl>
                                          </p:spTgt>
                                        </p:tgtEl>
                                        <p:attrNameLst>
                                          <p:attrName>style.visibility</p:attrName>
                                        </p:attrNameLst>
                                      </p:cBhvr>
                                      <p:to>
                                        <p:strVal val="visible"/>
                                      </p:to>
                                    </p:set>
                                    <p:animEffect transition="in" filter="fade">
                                      <p:cBhvr>
                                        <p:cTn id="7" dur="2000"/>
                                        <p:tgtEl>
                                          <p:spTgt spid="3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7">
                                            <p:txEl>
                                              <p:pRg st="0" end="0"/>
                                            </p:txEl>
                                          </p:spTgt>
                                        </p:tgtEl>
                                        <p:attrNameLst>
                                          <p:attrName>style.visibility</p:attrName>
                                        </p:attrNameLst>
                                      </p:cBhvr>
                                      <p:to>
                                        <p:strVal val="visible"/>
                                      </p:to>
                                    </p:set>
                                    <p:animEffect transition="in" filter="fade">
                                      <p:cBhvr>
                                        <p:cTn id="12" dur="2000"/>
                                        <p:tgtEl>
                                          <p:spTgt spid="3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30"/>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64" name="Google Shape;364;p30"/>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65" name="Google Shape;365;p30"/>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66" name="Google Shape;366;p30"/>
          <p:cNvSpPr/>
          <p:nvPr/>
        </p:nvSpPr>
        <p:spPr>
          <a:xfrm>
            <a:off x="381000" y="1143000"/>
            <a:ext cx="8610600" cy="46628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My son adores chocolates. He likes biscuits. But he hates apples. I told him that he can buy as many chocolates he wishes. But then he must have biscuits twice the number of chocolates and should have apples more than biscuits and chocolates together. Each chocolate cost Re 1. The cost of apple is twice the chocolate and four biscuits are worth one apple. Then which of the following can be the amount that I spent on that evening on my son if number of chocolates, biscuits and apples brought were all integers?</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Rs. 34</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Rs. 33</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Rs. 8</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None of these</a:t>
            </a:r>
            <a:endParaRPr sz="1800">
              <a:solidFill>
                <a:schemeClr val="dk1"/>
              </a:solidFill>
              <a:latin typeface="Arial"/>
              <a:ea typeface="Arial"/>
              <a:cs typeface="Arial"/>
              <a:sym typeface="Arial"/>
            </a:endParaRPr>
          </a:p>
        </p:txBody>
      </p:sp>
      <p:sp>
        <p:nvSpPr>
          <p:cNvPr id="367" name="Google Shape;367;p30"/>
          <p:cNvSpPr/>
          <p:nvPr/>
        </p:nvSpPr>
        <p:spPr>
          <a:xfrm>
            <a:off x="7162800" y="5638800"/>
            <a:ext cx="13174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A</a:t>
            </a:r>
            <a:endParaRPr sz="1800" b="1">
              <a:solidFill>
                <a:schemeClr val="dk1"/>
              </a:solidFill>
              <a:latin typeface="Arial"/>
              <a:ea typeface="Arial"/>
              <a:cs typeface="Arial"/>
              <a:sym typeface="Arial"/>
            </a:endParaRPr>
          </a:p>
        </p:txBody>
      </p:sp>
      <p:sp>
        <p:nvSpPr>
          <p:cNvPr id="368" name="Google Shape;368;p30"/>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14</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8">
                                            <p:txEl>
                                              <p:pRg st="0" end="0"/>
                                            </p:txEl>
                                          </p:spTgt>
                                        </p:tgtEl>
                                        <p:attrNameLst>
                                          <p:attrName>style.visibility</p:attrName>
                                        </p:attrNameLst>
                                      </p:cBhvr>
                                      <p:to>
                                        <p:strVal val="visible"/>
                                      </p:to>
                                    </p:set>
                                    <p:animEffect transition="in" filter="fade">
                                      <p:cBhvr>
                                        <p:cTn id="7" dur="2000"/>
                                        <p:tgtEl>
                                          <p:spTgt spid="3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xEl>
                                              <p:pRg st="0" end="0"/>
                                            </p:txEl>
                                          </p:spTgt>
                                        </p:tgtEl>
                                        <p:attrNameLst>
                                          <p:attrName>style.visibility</p:attrName>
                                        </p:attrNameLst>
                                      </p:cBhvr>
                                      <p:to>
                                        <p:strVal val="visible"/>
                                      </p:to>
                                    </p:set>
                                    <p:animEffect transition="in" filter="fade">
                                      <p:cBhvr>
                                        <p:cTn id="12" dur="2000"/>
                                        <p:tgtEl>
                                          <p:spTgt spid="36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6">
                                            <p:txEl>
                                              <p:pRg st="1" end="1"/>
                                            </p:txEl>
                                          </p:spTgt>
                                        </p:tgtEl>
                                        <p:attrNameLst>
                                          <p:attrName>style.visibility</p:attrName>
                                        </p:attrNameLst>
                                      </p:cBhvr>
                                      <p:to>
                                        <p:strVal val="visible"/>
                                      </p:to>
                                    </p:set>
                                    <p:animEffect transition="in" filter="fade">
                                      <p:cBhvr>
                                        <p:cTn id="17" dur="2000"/>
                                        <p:tgtEl>
                                          <p:spTgt spid="36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6">
                                            <p:txEl>
                                              <p:pRg st="2" end="2"/>
                                            </p:txEl>
                                          </p:spTgt>
                                        </p:tgtEl>
                                        <p:attrNameLst>
                                          <p:attrName>style.visibility</p:attrName>
                                        </p:attrNameLst>
                                      </p:cBhvr>
                                      <p:to>
                                        <p:strVal val="visible"/>
                                      </p:to>
                                    </p:set>
                                    <p:animEffect transition="in" filter="fade">
                                      <p:cBhvr>
                                        <p:cTn id="22" dur="2000"/>
                                        <p:tgtEl>
                                          <p:spTgt spid="36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6">
                                            <p:txEl>
                                              <p:pRg st="3" end="3"/>
                                            </p:txEl>
                                          </p:spTgt>
                                        </p:tgtEl>
                                        <p:attrNameLst>
                                          <p:attrName>style.visibility</p:attrName>
                                        </p:attrNameLst>
                                      </p:cBhvr>
                                      <p:to>
                                        <p:strVal val="visible"/>
                                      </p:to>
                                    </p:set>
                                    <p:animEffect transition="in" filter="fade">
                                      <p:cBhvr>
                                        <p:cTn id="27" dur="2000"/>
                                        <p:tgtEl>
                                          <p:spTgt spid="36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6">
                                            <p:txEl>
                                              <p:pRg st="4" end="4"/>
                                            </p:txEl>
                                          </p:spTgt>
                                        </p:tgtEl>
                                        <p:attrNameLst>
                                          <p:attrName>style.visibility</p:attrName>
                                        </p:attrNameLst>
                                      </p:cBhvr>
                                      <p:to>
                                        <p:strVal val="visible"/>
                                      </p:to>
                                    </p:set>
                                    <p:animEffect transition="in" filter="fade">
                                      <p:cBhvr>
                                        <p:cTn id="32" dur="2000"/>
                                        <p:tgtEl>
                                          <p:spTgt spid="36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7">
                                            <p:txEl>
                                              <p:pRg st="0" end="0"/>
                                            </p:txEl>
                                          </p:spTgt>
                                        </p:tgtEl>
                                        <p:attrNameLst>
                                          <p:attrName>style.visibility</p:attrName>
                                        </p:attrNameLst>
                                      </p:cBhvr>
                                      <p:to>
                                        <p:strVal val="visible"/>
                                      </p:to>
                                    </p:set>
                                    <p:animEffect transition="in" filter="fade">
                                      <p:cBhvr>
                                        <p:cTn id="37" dur="2000"/>
                                        <p:tgtEl>
                                          <p:spTgt spid="3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31"/>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74" name="Google Shape;374;p31"/>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75" name="Google Shape;375;p31"/>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76" name="Google Shape;376;p31"/>
          <p:cNvSpPr/>
          <p:nvPr/>
        </p:nvSpPr>
        <p:spPr>
          <a:xfrm>
            <a:off x="403012" y="1235650"/>
            <a:ext cx="8412052" cy="2308324"/>
          </a:xfrm>
          <a:prstGeom prst="rect">
            <a:avLst/>
          </a:prstGeom>
          <a:noFill/>
          <a:ln>
            <a:noFill/>
          </a:ln>
        </p:spPr>
        <p:txBody>
          <a:bodyPr spcFirstLastPara="1" wrap="square" lIns="91425" tIns="45700" rIns="91425" bIns="45700" anchor="t" anchorCtr="0">
            <a:spAutoFit/>
          </a:bodyPr>
          <a:lstStyle/>
          <a:p>
            <a:pPr marL="158750" marR="0" lvl="0" indent="0" algn="l" rtl="0">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Let he bought x chocolates = &gt; he bought 2x biscuits and 3x + y apples.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Chocolate price = 1 re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Apple price = 2 re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Biscuit price = 1/4 of Apple price = 0.5 re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&gt; the amount is x + 0.5 * 2x + 6x + 2y = 8x + 2y</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Option c not possible as minimum amount is 10 (x = 1, y = 1)</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Option B not possible as the amount (8x + 2y) is always even</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Option A is possible as 8x + 2y = 34 is possible for x = 3, y = 5</a:t>
            </a:r>
            <a:endParaRPr sz="1800">
              <a:solidFill>
                <a:schemeClr val="dk1"/>
              </a:solidFill>
              <a:latin typeface="Calibri"/>
              <a:ea typeface="Calibri"/>
              <a:cs typeface="Calibri"/>
              <a:sym typeface="Calibri"/>
            </a:endParaRPr>
          </a:p>
        </p:txBody>
      </p:sp>
      <p:sp>
        <p:nvSpPr>
          <p:cNvPr id="377" name="Google Shape;377;p31"/>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Explanation: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7">
                                            <p:txEl>
                                              <p:pRg st="0" end="0"/>
                                            </p:txEl>
                                          </p:spTgt>
                                        </p:tgtEl>
                                        <p:attrNameLst>
                                          <p:attrName>style.visibility</p:attrName>
                                        </p:attrNameLst>
                                      </p:cBhvr>
                                      <p:to>
                                        <p:strVal val="visible"/>
                                      </p:to>
                                    </p:set>
                                    <p:animEffect transition="in" filter="fade">
                                      <p:cBhvr>
                                        <p:cTn id="7" dur="2000"/>
                                        <p:tgtEl>
                                          <p:spTgt spid="3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6">
                                            <p:txEl>
                                              <p:pRg st="0" end="0"/>
                                            </p:txEl>
                                          </p:spTgt>
                                        </p:tgtEl>
                                        <p:attrNameLst>
                                          <p:attrName>style.visibility</p:attrName>
                                        </p:attrNameLst>
                                      </p:cBhvr>
                                      <p:to>
                                        <p:strVal val="visible"/>
                                      </p:to>
                                    </p:set>
                                    <p:animEffect transition="in" filter="fade">
                                      <p:cBhvr>
                                        <p:cTn id="12" dur="2000"/>
                                        <p:tgtEl>
                                          <p:spTgt spid="37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32"/>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83" name="Google Shape;383;p32"/>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84" name="Google Shape;384;p32"/>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
        <p:nvSpPr>
          <p:cNvPr id="385" name="Google Shape;385;p32"/>
          <p:cNvSpPr/>
          <p:nvPr/>
        </p:nvSpPr>
        <p:spPr>
          <a:xfrm>
            <a:off x="381000" y="1313145"/>
            <a:ext cx="8434064" cy="34163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chemeClr val="dk1"/>
                </a:solidFill>
                <a:latin typeface="Arial"/>
                <a:ea typeface="Arial"/>
                <a:cs typeface="Arial"/>
                <a:sym typeface="Arial"/>
              </a:rPr>
              <a:t>Once I had been to the post office to buy five-rupee, two-rupee and one-rupee stamps. I paid the clerk Rs. 20, and since he had no change, he gave me three more one-rupee stamps. If the number of stamps of each type that I had ordered initially was more than one, what was the total number of stamps that I bought?</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10</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9</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12</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1800"/>
              <a:buFont typeface="Calibri"/>
              <a:buAutoNum type="alphaUcPeriod"/>
            </a:pPr>
            <a:r>
              <a:rPr lang="en-US" sz="1800">
                <a:solidFill>
                  <a:schemeClr val="dk1"/>
                </a:solidFill>
                <a:latin typeface="Arial"/>
                <a:ea typeface="Arial"/>
                <a:cs typeface="Arial"/>
                <a:sym typeface="Arial"/>
              </a:rPr>
              <a:t>8 </a:t>
            </a:r>
            <a:endParaRPr sz="1800">
              <a:solidFill>
                <a:schemeClr val="dk1"/>
              </a:solidFill>
              <a:latin typeface="Arial"/>
              <a:ea typeface="Arial"/>
              <a:cs typeface="Arial"/>
              <a:sym typeface="Arial"/>
            </a:endParaRPr>
          </a:p>
        </p:txBody>
      </p:sp>
      <p:sp>
        <p:nvSpPr>
          <p:cNvPr id="386" name="Google Shape;386;p32"/>
          <p:cNvSpPr/>
          <p:nvPr/>
        </p:nvSpPr>
        <p:spPr>
          <a:xfrm>
            <a:off x="7239000" y="5638800"/>
            <a:ext cx="13174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Answer: A</a:t>
            </a:r>
            <a:endParaRPr sz="1800" b="1">
              <a:solidFill>
                <a:schemeClr val="dk1"/>
              </a:solidFill>
              <a:latin typeface="Arial"/>
              <a:ea typeface="Arial"/>
              <a:cs typeface="Arial"/>
              <a:sym typeface="Arial"/>
            </a:endParaRPr>
          </a:p>
        </p:txBody>
      </p:sp>
      <p:sp>
        <p:nvSpPr>
          <p:cNvPr id="387" name="Google Shape;387;p32"/>
          <p:cNvSpPr/>
          <p:nvPr/>
        </p:nvSpPr>
        <p:spPr>
          <a:xfrm>
            <a:off x="0" y="233550"/>
            <a:ext cx="6712857"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000" b="1">
                <a:solidFill>
                  <a:schemeClr val="lt1"/>
                </a:solidFill>
                <a:latin typeface="Arial"/>
                <a:ea typeface="Arial"/>
                <a:cs typeface="Arial"/>
                <a:sym typeface="Arial"/>
              </a:rPr>
              <a:t>     Question: 15</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7">
                                            <p:txEl>
                                              <p:pRg st="0" end="0"/>
                                            </p:txEl>
                                          </p:spTgt>
                                        </p:tgtEl>
                                        <p:attrNameLst>
                                          <p:attrName>style.visibility</p:attrName>
                                        </p:attrNameLst>
                                      </p:cBhvr>
                                      <p:to>
                                        <p:strVal val="visible"/>
                                      </p:to>
                                    </p:set>
                                    <p:animEffect transition="in" filter="fade">
                                      <p:cBhvr>
                                        <p:cTn id="7" dur="2000"/>
                                        <p:tgtEl>
                                          <p:spTgt spid="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5">
                                            <p:txEl>
                                              <p:pRg st="0" end="0"/>
                                            </p:txEl>
                                          </p:spTgt>
                                        </p:tgtEl>
                                        <p:attrNameLst>
                                          <p:attrName>style.visibility</p:attrName>
                                        </p:attrNameLst>
                                      </p:cBhvr>
                                      <p:to>
                                        <p:strVal val="visible"/>
                                      </p:to>
                                    </p:set>
                                    <p:animEffect transition="in" filter="fade">
                                      <p:cBhvr>
                                        <p:cTn id="12" dur="2000"/>
                                        <p:tgtEl>
                                          <p:spTgt spid="38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5">
                                            <p:txEl>
                                              <p:pRg st="1" end="1"/>
                                            </p:txEl>
                                          </p:spTgt>
                                        </p:tgtEl>
                                        <p:attrNameLst>
                                          <p:attrName>style.visibility</p:attrName>
                                        </p:attrNameLst>
                                      </p:cBhvr>
                                      <p:to>
                                        <p:strVal val="visible"/>
                                      </p:to>
                                    </p:set>
                                    <p:animEffect transition="in" filter="fade">
                                      <p:cBhvr>
                                        <p:cTn id="17" dur="2000"/>
                                        <p:tgtEl>
                                          <p:spTgt spid="38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5">
                                            <p:txEl>
                                              <p:pRg st="2" end="2"/>
                                            </p:txEl>
                                          </p:spTgt>
                                        </p:tgtEl>
                                        <p:attrNameLst>
                                          <p:attrName>style.visibility</p:attrName>
                                        </p:attrNameLst>
                                      </p:cBhvr>
                                      <p:to>
                                        <p:strVal val="visible"/>
                                      </p:to>
                                    </p:set>
                                    <p:animEffect transition="in" filter="fade">
                                      <p:cBhvr>
                                        <p:cTn id="22" dur="2000"/>
                                        <p:tgtEl>
                                          <p:spTgt spid="38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5">
                                            <p:txEl>
                                              <p:pRg st="3" end="3"/>
                                            </p:txEl>
                                          </p:spTgt>
                                        </p:tgtEl>
                                        <p:attrNameLst>
                                          <p:attrName>style.visibility</p:attrName>
                                        </p:attrNameLst>
                                      </p:cBhvr>
                                      <p:to>
                                        <p:strVal val="visible"/>
                                      </p:to>
                                    </p:set>
                                    <p:animEffect transition="in" filter="fade">
                                      <p:cBhvr>
                                        <p:cTn id="27" dur="2000"/>
                                        <p:tgtEl>
                                          <p:spTgt spid="38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5">
                                            <p:txEl>
                                              <p:pRg st="4" end="4"/>
                                            </p:txEl>
                                          </p:spTgt>
                                        </p:tgtEl>
                                        <p:attrNameLst>
                                          <p:attrName>style.visibility</p:attrName>
                                        </p:attrNameLst>
                                      </p:cBhvr>
                                      <p:to>
                                        <p:strVal val="visible"/>
                                      </p:to>
                                    </p:set>
                                    <p:animEffect transition="in" filter="fade">
                                      <p:cBhvr>
                                        <p:cTn id="32" dur="2000"/>
                                        <p:tgtEl>
                                          <p:spTgt spid="38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6">
                                            <p:txEl>
                                              <p:pRg st="0" end="0"/>
                                            </p:txEl>
                                          </p:spTgt>
                                        </p:tgtEl>
                                        <p:attrNameLst>
                                          <p:attrName>style.visibility</p:attrName>
                                        </p:attrNameLst>
                                      </p:cBhvr>
                                      <p:to>
                                        <p:strVal val="visible"/>
                                      </p:to>
                                    </p:set>
                                    <p:animEffect transition="in" filter="fade">
                                      <p:cBhvr>
                                        <p:cTn id="37" dur="2000"/>
                                        <p:tgtEl>
                                          <p:spTgt spid="3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33"/>
          <p:cNvPicPr preferRelativeResize="0"/>
          <p:nvPr/>
        </p:nvPicPr>
        <p:blipFill rotWithShape="1">
          <a:blip r:embed="rId3">
            <a:alphaModFix/>
          </a:blip>
          <a:srcRect l="41240" t="9528" r="-23987" b="51129"/>
          <a:stretch/>
        </p:blipFill>
        <p:spPr>
          <a:xfrm>
            <a:off x="0" y="5431670"/>
            <a:ext cx="4457700" cy="1420833"/>
          </a:xfrm>
          <a:prstGeom prst="rect">
            <a:avLst/>
          </a:prstGeom>
          <a:noFill/>
          <a:ln>
            <a:noFill/>
          </a:ln>
        </p:spPr>
      </p:pic>
      <p:pic>
        <p:nvPicPr>
          <p:cNvPr id="393" name="Google Shape;393;p33"/>
          <p:cNvPicPr preferRelativeResize="0"/>
          <p:nvPr/>
        </p:nvPicPr>
        <p:blipFill rotWithShape="1">
          <a:blip r:embed="rId4">
            <a:alphaModFix/>
          </a:blip>
          <a:srcRect/>
          <a:stretch/>
        </p:blipFill>
        <p:spPr>
          <a:xfrm>
            <a:off x="7120800" y="311401"/>
            <a:ext cx="1694264" cy="1022399"/>
          </a:xfrm>
          <a:prstGeom prst="rect">
            <a:avLst/>
          </a:prstGeom>
          <a:noFill/>
          <a:ln>
            <a:noFill/>
          </a:ln>
        </p:spPr>
      </p:pic>
      <p:sp>
        <p:nvSpPr>
          <p:cNvPr id="394" name="Google Shape;394;p33"/>
          <p:cNvSpPr txBox="1"/>
          <p:nvPr/>
        </p:nvSpPr>
        <p:spPr>
          <a:xfrm>
            <a:off x="327600" y="311400"/>
            <a:ext cx="4365587" cy="63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DIFFERENT WAYS TO CREATE AN OBJECT</a:t>
            </a:r>
            <a:endParaRPr sz="16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2903</Words>
  <Application>Microsoft Office PowerPoint</Application>
  <PresentationFormat>On-screen Show (4:3)</PresentationFormat>
  <Paragraphs>210</Paragraphs>
  <Slides>33</Slides>
  <Notes>33</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XXXX</dc:creator>
  <cp:lastModifiedBy>POOJITHA</cp:lastModifiedBy>
  <cp:revision>2</cp:revision>
  <dcterms:created xsi:type="dcterms:W3CDTF">2019-12-01T06:39:00Z</dcterms:created>
  <dcterms:modified xsi:type="dcterms:W3CDTF">2024-03-02T08:28:47Z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1033-11.2.0.10093</vt:lpwstr>
  </property>
</Properties>
</file>