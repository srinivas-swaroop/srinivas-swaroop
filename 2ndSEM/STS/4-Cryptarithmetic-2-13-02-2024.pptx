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20" r:id="rId3"/>
    <p:sldId id="298" r:id="rId4"/>
    <p:sldId id="304" r:id="rId5"/>
    <p:sldId id="265" r:id="rId6"/>
    <p:sldId id="306" r:id="rId7"/>
    <p:sldId id="266" r:id="rId8"/>
    <p:sldId id="307" r:id="rId9"/>
    <p:sldId id="268" r:id="rId10"/>
    <p:sldId id="308" r:id="rId11"/>
    <p:sldId id="269" r:id="rId12"/>
    <p:sldId id="309" r:id="rId13"/>
    <p:sldId id="285" r:id="rId14"/>
    <p:sldId id="310" r:id="rId15"/>
    <p:sldId id="286" r:id="rId16"/>
    <p:sldId id="311" r:id="rId17"/>
    <p:sldId id="287" r:id="rId18"/>
    <p:sldId id="312" r:id="rId19"/>
    <p:sldId id="288" r:id="rId20"/>
    <p:sldId id="313" r:id="rId21"/>
    <p:sldId id="291" r:id="rId22"/>
    <p:sldId id="314" r:id="rId23"/>
    <p:sldId id="292" r:id="rId24"/>
    <p:sldId id="293" r:id="rId25"/>
    <p:sldId id="294" r:id="rId26"/>
    <p:sldId id="315" r:id="rId27"/>
    <p:sldId id="295" r:id="rId28"/>
    <p:sldId id="316" r:id="rId29"/>
    <p:sldId id="296" r:id="rId30"/>
    <p:sldId id="317" r:id="rId31"/>
    <p:sldId id="297" r:id="rId32"/>
    <p:sldId id="318" r:id="rId33"/>
    <p:sldId id="300" r:id="rId34"/>
    <p:sldId id="319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7683" autoAdjust="0"/>
  </p:normalViewPr>
  <p:slideViewPr>
    <p:cSldViewPr snapToGrid="0">
      <p:cViewPr>
        <p:scale>
          <a:sx n="66" d="100"/>
          <a:sy n="66" d="100"/>
        </p:scale>
        <p:origin x="-1518" y="-582"/>
      </p:cViewPr>
      <p:guideLst>
        <p:guide orient="horz" pos="2772"/>
        <p:guide orient="horz" pos="828"/>
        <p:guide orient="horz" pos="1140"/>
        <p:guide orient="horz" pos="2451"/>
        <p:guide orient="horz" pos="2196"/>
        <p:guide pos="2208"/>
        <p:guide pos="216"/>
        <p:guide pos="5553"/>
        <p:guide pos="888"/>
        <p:guide pos="2856"/>
        <p:guide pos="4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24078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183600"/>
            <a:ext cx="1022401" cy="766801"/>
          </a:xfrm>
          <a:prstGeom prst="rect">
            <a:avLst/>
          </a:prstGeom>
        </p:spPr>
      </p:pic>
      <p:pic>
        <p:nvPicPr>
          <p:cNvPr id="18" name="Picture 17" descr="A picture containing colorful, colored&#10;&#10;Description generated with very high confidence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3" b="37531"/>
          <a:stretch>
            <a:fillRect/>
          </a:stretch>
        </p:blipFill>
        <p:spPr>
          <a:xfrm>
            <a:off x="0" y="4849200"/>
            <a:ext cx="9144000" cy="294300"/>
          </a:xfrm>
          <a:prstGeom prst="rect">
            <a:avLst/>
          </a:prstGeom>
        </p:spPr>
      </p:pic>
      <p:sp>
        <p:nvSpPr>
          <p:cNvPr id="13" name="Oval 12"/>
          <p:cNvSpPr/>
          <p:nvPr userDrawn="1"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5" name="Oval 24"/>
          <p:cNvSpPr/>
          <p:nvPr userDrawn="1"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6" name="Oval 25"/>
          <p:cNvSpPr/>
          <p:nvPr userDrawn="1"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7" name="Oval 26"/>
          <p:cNvSpPr/>
          <p:nvPr userDrawn="1"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56" y="1836057"/>
            <a:ext cx="5377543" cy="1802494"/>
          </a:xfrm>
        </p:spPr>
        <p:txBody>
          <a:bodyPr/>
          <a:lstStyle/>
          <a:p>
            <a:pPr marL="11430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https://qrgo.page.link/GvQk5</a:t>
            </a:r>
            <a:endParaRPr lang="en-IN" sz="4800" b="1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210457" y="33563"/>
            <a:ext cx="6487886" cy="180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14300" indent="0">
              <a:buFont typeface="Arial" panose="020B0604020202020204"/>
              <a:buNone/>
            </a:pPr>
            <a:r>
              <a:rPr lang="en-US" sz="2800" b="1" dirty="0" smtClean="0">
                <a:solidFill>
                  <a:schemeClr val="tx1"/>
                </a:solidFill>
              </a:rPr>
              <a:t>Word Group Categorization Quiz</a:t>
            </a: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42" y="1395184"/>
            <a:ext cx="2983367" cy="298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66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1143" y="1683657"/>
            <a:ext cx="6487886" cy="1802494"/>
          </a:xfrm>
        </p:spPr>
        <p:txBody>
          <a:bodyPr/>
          <a:lstStyle/>
          <a:p>
            <a:pPr marL="114300" indent="0">
              <a:buNone/>
            </a:pPr>
            <a:r>
              <a:rPr lang="en-US" sz="4800" b="1" dirty="0" smtClean="0">
                <a:solidFill>
                  <a:schemeClr val="tx1"/>
                </a:solidFill>
              </a:rPr>
              <a:t>  CRYPTARITHMETIC</a:t>
            </a:r>
            <a:endParaRPr lang="en-IN" sz="4800" b="1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17600"/>
            <a:ext cx="7814129" cy="2956152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Rules for </a:t>
            </a:r>
            <a:r>
              <a:rPr lang="en-IN" b="1" dirty="0" smtClean="0">
                <a:solidFill>
                  <a:schemeClr val="tx1"/>
                </a:solidFill>
              </a:rPr>
              <a:t>solving </a:t>
            </a:r>
            <a:r>
              <a:rPr lang="en-IN" b="1" dirty="0" err="1">
                <a:solidFill>
                  <a:schemeClr val="tx1"/>
                </a:solidFill>
              </a:rPr>
              <a:t>Cryptarithmetic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smtClean="0">
                <a:solidFill>
                  <a:schemeClr val="tx1"/>
                </a:solidFill>
              </a:rPr>
              <a:t>problems</a:t>
            </a:r>
            <a:endParaRPr lang="en-IN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 Each Letter, Symbol represents </a:t>
            </a:r>
            <a:r>
              <a:rPr lang="en-IN" dirty="0" smtClean="0">
                <a:solidFill>
                  <a:schemeClr val="tx1"/>
                </a:solidFill>
              </a:rPr>
              <a:t>only one digit throughout </a:t>
            </a:r>
            <a:r>
              <a:rPr lang="en-IN" dirty="0">
                <a:solidFill>
                  <a:schemeClr val="tx1"/>
                </a:solidFill>
              </a:rPr>
              <a:t>the </a:t>
            </a:r>
            <a:r>
              <a:rPr lang="en-IN" dirty="0" smtClean="0">
                <a:solidFill>
                  <a:schemeClr val="tx1"/>
                </a:solidFill>
              </a:rPr>
              <a:t>problem</a:t>
            </a:r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 Numbers must not begin with </a:t>
            </a:r>
            <a:r>
              <a:rPr lang="en-IN" dirty="0" smtClean="0">
                <a:solidFill>
                  <a:schemeClr val="tx1"/>
                </a:solidFill>
              </a:rPr>
              <a:t>zero</a:t>
            </a:r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 Aim is to find the value of each letter in the Cryptarithmetic problems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 There must be only one solution to the </a:t>
            </a:r>
            <a:r>
              <a:rPr lang="en-IN" dirty="0" err="1" smtClean="0">
                <a:solidFill>
                  <a:schemeClr val="tx1"/>
                </a:solidFill>
              </a:rPr>
              <a:t>Cryptarithmetic</a:t>
            </a:r>
            <a:r>
              <a:rPr lang="en-IN" dirty="0" smtClean="0">
                <a:solidFill>
                  <a:schemeClr val="tx1"/>
                </a:solidFill>
              </a:rPr>
              <a:t> problems</a:t>
            </a:r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 Carry </a:t>
            </a:r>
            <a:r>
              <a:rPr lang="en-IN" dirty="0">
                <a:solidFill>
                  <a:schemeClr val="tx1"/>
                </a:solidFill>
              </a:rPr>
              <a:t>over can only be 1 in Cryptarithmetic problems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1600" b="1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/>
          <p:nvPr/>
        </p:nvSpPr>
        <p:spPr>
          <a:xfrm>
            <a:off x="0" y="174171"/>
            <a:ext cx="6712857" cy="682172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64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CRYPTARITHMETIC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74625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01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5140" y="1424047"/>
            <a:ext cx="85251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If USA + USSR = PEACE. Find  the value of  P + E + A + C + E?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8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9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10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11</a:t>
            </a:r>
          </a:p>
          <a:p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pPr marL="7199630" indent="-7199630"/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 Answer: C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5140" y="1424047"/>
            <a:ext cx="8525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100"/>
              <a:defRPr/>
            </a:pPr>
            <a:r>
              <a:rPr lang="en-US" sz="1800" dirty="0" smtClean="0"/>
              <a:t>USA + USSR = PEACE</a:t>
            </a:r>
            <a:br>
              <a:rPr lang="en-US" sz="1800" dirty="0" smtClean="0"/>
            </a:br>
            <a:r>
              <a:rPr lang="en-US" sz="1800" dirty="0" smtClean="0"/>
              <a:t>Here P is carry , P = 1</a:t>
            </a:r>
            <a:br>
              <a:rPr lang="en-US" sz="1800" dirty="0" smtClean="0"/>
            </a:br>
            <a:r>
              <a:rPr lang="en-US" sz="1800" dirty="0" smtClean="0"/>
              <a:t>when P = 1, E = 0 with carry 1 AND U = 9</a:t>
            </a:r>
            <a:br>
              <a:rPr lang="en-US" sz="1800" dirty="0" smtClean="0"/>
            </a:br>
            <a:r>
              <a:rPr lang="en-US" sz="1800" dirty="0" smtClean="0"/>
              <a:t>A + R = E = 0 with carry 1.</a:t>
            </a:r>
            <a:br>
              <a:rPr lang="en-US" sz="1800" dirty="0" smtClean="0"/>
            </a:br>
            <a:r>
              <a:rPr lang="en-US" sz="1800" dirty="0" smtClean="0"/>
              <a:t>so, A = 2 and R = 8</a:t>
            </a:r>
            <a:br>
              <a:rPr lang="en-US" sz="1800" dirty="0" smtClean="0"/>
            </a:br>
            <a:r>
              <a:rPr lang="en-US" sz="1800" dirty="0" smtClean="0"/>
              <a:t>U + S = A = 2 with carry 1, S = 3</a:t>
            </a:r>
            <a:br>
              <a:rPr lang="en-US" sz="1800" dirty="0" smtClean="0"/>
            </a:br>
            <a:r>
              <a:rPr lang="en-US" sz="1800" dirty="0" smtClean="0"/>
              <a:t>S + S + 1 = C, 3 + 3 + 1 = c = 7</a:t>
            </a:r>
            <a:br>
              <a:rPr lang="en-US" sz="1800" dirty="0" smtClean="0"/>
            </a:br>
            <a:r>
              <a:rPr lang="en-US" sz="1800" dirty="0" smtClean="0"/>
              <a:t>932 + 9338 = 10270</a:t>
            </a:r>
            <a:br>
              <a:rPr lang="en-US" sz="1800" dirty="0" smtClean="0"/>
            </a:br>
            <a:r>
              <a:rPr lang="en-US" sz="1800" dirty="0" smtClean="0"/>
              <a:t>so ,P + E + A + C + E = 1 + 0 + 2 + 7 + 0 = 10</a:t>
            </a:r>
          </a:p>
          <a:p>
            <a:pPr lvl="0"/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1938"/>
            <a:ext cx="4886325" cy="107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0;p15"/>
          <p:cNvSpPr/>
          <p:nvPr/>
        </p:nvSpPr>
        <p:spPr>
          <a:xfrm>
            <a:off x="0" y="13557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90830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02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2900" y="1276349"/>
            <a:ext cx="84724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/>
              <a:t>If EVER + SINCE = DARWIN assume (E=5),  then find the value of </a:t>
            </a:r>
          </a:p>
          <a:p>
            <a:r>
              <a:rPr lang="en-IN" sz="1800" dirty="0" smtClean="0"/>
              <a:t>D + A + R + W + I + N?</a:t>
            </a:r>
          </a:p>
          <a:p>
            <a:endParaRPr lang="en-IN" sz="1800" dirty="0" smtClean="0"/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/>
              <a:t>24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/>
              <a:t>23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/>
              <a:t>22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 smtClean="0"/>
              <a:t>21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 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 Answer: B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1938"/>
            <a:ext cx="4886325" cy="107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0;p15"/>
          <p:cNvSpPr/>
          <p:nvPr/>
        </p:nvSpPr>
        <p:spPr>
          <a:xfrm>
            <a:off x="0" y="13557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188686"/>
            <a:ext cx="31236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2900" y="1276349"/>
            <a:ext cx="8472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100"/>
              <a:defRPr/>
            </a:pPr>
            <a:r>
              <a:rPr lang="en-US" sz="1800" dirty="0" smtClean="0"/>
              <a:t>EVER = 5653</a:t>
            </a:r>
            <a:br>
              <a:rPr lang="en-US" sz="1800" dirty="0" smtClean="0"/>
            </a:br>
            <a:r>
              <a:rPr lang="en-US" sz="1800" dirty="0" smtClean="0"/>
              <a:t>SINCE = 97825</a:t>
            </a:r>
            <a:br>
              <a:rPr lang="en-US" sz="1800" dirty="0" smtClean="0"/>
            </a:br>
            <a:r>
              <a:rPr lang="en-US" sz="1800" dirty="0" smtClean="0"/>
              <a:t>------------------------------</a:t>
            </a:r>
            <a:br>
              <a:rPr lang="en-US" sz="1800" dirty="0" smtClean="0"/>
            </a:br>
            <a:r>
              <a:rPr lang="en-US" sz="1800" dirty="0" smtClean="0"/>
              <a:t>103478 = DARWIN</a:t>
            </a:r>
          </a:p>
          <a:p>
            <a:pPr>
              <a:buSzPts val="1100"/>
              <a:defRPr/>
            </a:pPr>
            <a:r>
              <a:rPr lang="en-US" sz="1800" dirty="0" smtClean="0"/>
              <a:t>------------------------------</a:t>
            </a:r>
          </a:p>
          <a:p>
            <a:pPr>
              <a:buSzPts val="1100"/>
              <a:defRPr/>
            </a:pPr>
            <a:r>
              <a:rPr lang="en-US" sz="1800" dirty="0" smtClean="0"/>
              <a:t>1 + 0 + 3 + 4 + 7 + 8 = 23</a:t>
            </a:r>
          </a:p>
          <a:p>
            <a:pPr marL="158750">
              <a:buSzPts val="1100"/>
              <a:defRPr/>
            </a:pPr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 smtClean="0"/>
          </a:p>
          <a:p>
            <a:pPr marL="158750" indent="0">
              <a:buNone/>
            </a:pPr>
            <a:endParaRPr lang="en-US" sz="1800" dirty="0" smtClean="0"/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indent="57150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</a:t>
            </a: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 03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2900" y="1276350"/>
            <a:ext cx="84724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If KANSAS + OHIO = OREGON, assume O=5. Then find the value of </a:t>
            </a:r>
          </a:p>
          <a:p>
            <a:r>
              <a:rPr lang="en-US" sz="1800" dirty="0" smtClean="0"/>
              <a:t>G + R + O + S + S?</a:t>
            </a:r>
          </a:p>
          <a:p>
            <a:endParaRPr lang="en-US" sz="1800" dirty="0" smtClean="0"/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7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8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9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10</a:t>
            </a:r>
          </a:p>
          <a:p>
            <a:pPr marL="342900" indent="-342900"/>
            <a:endParaRPr lang="en-US" sz="1800" dirty="0" smtClean="0"/>
          </a:p>
          <a:p>
            <a:pPr marL="342900" indent="-342900"/>
            <a:endParaRPr lang="en-US" sz="1800" dirty="0"/>
          </a:p>
          <a:p>
            <a:pPr marL="342900" indent="-342900"/>
            <a:endParaRPr lang="en-US" sz="1800" dirty="0" smtClean="0"/>
          </a:p>
          <a:p>
            <a:pPr marL="342900" indent="-342900"/>
            <a:r>
              <a:rPr lang="en-US" sz="1800" dirty="0" smtClean="0"/>
              <a:t>                                                                                                                 Answer: D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9910" y="865406"/>
            <a:ext cx="8472488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KANSAS + OHIO = OREGON given the value of O = 5</a:t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KANSAS = 497292</a:t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OHIO = 5865</a:t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OREGON = 503157</a:t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G + R + O + S + S = 1 + 0 + 5 + 2 + 2 = 10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31775">
              <a:tabLst>
                <a:tab pos="231775" algn="l"/>
              </a:tabLst>
            </a:pPr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</a:t>
            </a: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 04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7715" y="986971"/>
            <a:ext cx="83219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If E A T + T H A T = A P </a:t>
            </a:r>
            <a:r>
              <a:rPr lang="en-IN" sz="1800" dirty="0" err="1" smtClean="0">
                <a:solidFill>
                  <a:schemeClr val="tx1"/>
                </a:solidFill>
              </a:rPr>
              <a:t>P</a:t>
            </a:r>
            <a:r>
              <a:rPr lang="en-IN" sz="1800" dirty="0" smtClean="0">
                <a:solidFill>
                  <a:schemeClr val="tx1"/>
                </a:solidFill>
              </a:rPr>
              <a:t> L E, what is the value of  A + T + L ?</a:t>
            </a:r>
          </a:p>
          <a:p>
            <a:pPr marL="114300" indent="0">
              <a:buNone/>
            </a:pPr>
            <a:endParaRPr lang="en-IN" sz="1800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  <a:tabLst>
                <a:tab pos="58420" algn="l"/>
              </a:tabLst>
            </a:pPr>
            <a:r>
              <a:rPr lang="en-IN" sz="1800" dirty="0" smtClean="0">
                <a:solidFill>
                  <a:schemeClr val="tx1"/>
                </a:solidFill>
              </a:rPr>
              <a:t>12</a:t>
            </a:r>
          </a:p>
          <a:p>
            <a:pPr marL="342900" indent="-342900">
              <a:buFont typeface="+mj-lt"/>
              <a:buAutoNum type="alphaUcPeriod"/>
              <a:tabLst>
                <a:tab pos="58420" algn="l"/>
              </a:tabLst>
            </a:pPr>
            <a:r>
              <a:rPr lang="en-IN" sz="1800" dirty="0" smtClean="0">
                <a:solidFill>
                  <a:schemeClr val="tx1"/>
                </a:solidFill>
              </a:rPr>
              <a:t>13</a:t>
            </a:r>
          </a:p>
          <a:p>
            <a:pPr marL="342900" indent="-342900">
              <a:buFont typeface="+mj-lt"/>
              <a:buAutoNum type="alphaUcPeriod"/>
              <a:tabLst>
                <a:tab pos="58420" algn="l"/>
              </a:tabLst>
            </a:pPr>
            <a:r>
              <a:rPr lang="en-IN" sz="1800" dirty="0" smtClean="0">
                <a:solidFill>
                  <a:schemeClr val="tx1"/>
                </a:solidFill>
              </a:rPr>
              <a:t>14</a:t>
            </a:r>
          </a:p>
          <a:p>
            <a:pPr marL="342900" indent="-342900">
              <a:buFont typeface="+mj-lt"/>
              <a:buAutoNum type="alphaUcPeriod"/>
              <a:tabLst>
                <a:tab pos="58420" algn="l"/>
              </a:tabLst>
            </a:pPr>
            <a:r>
              <a:rPr lang="en-IN" sz="1800" dirty="0" smtClean="0">
                <a:solidFill>
                  <a:schemeClr val="tx1"/>
                </a:solidFill>
              </a:rPr>
              <a:t>15</a:t>
            </a:r>
          </a:p>
          <a:p>
            <a:pPr marL="457200" indent="-342900"/>
            <a:endParaRPr lang="en-IN" sz="1800" dirty="0" smtClean="0">
              <a:solidFill>
                <a:schemeClr val="tx1"/>
              </a:solidFill>
            </a:endParaRPr>
          </a:p>
          <a:p>
            <a:pPr marL="457200" indent="-342900"/>
            <a:r>
              <a:rPr lang="en-IN" sz="1800" dirty="0" smtClean="0">
                <a:solidFill>
                  <a:schemeClr val="tx1"/>
                </a:solidFill>
              </a:rPr>
              <a:t>       </a:t>
            </a:r>
          </a:p>
          <a:p>
            <a:pPr marL="457200" indent="-342900"/>
            <a:endParaRPr lang="en-IN" sz="1800" dirty="0">
              <a:solidFill>
                <a:schemeClr val="tx1"/>
              </a:solidFill>
            </a:endParaRPr>
          </a:p>
          <a:p>
            <a:pPr marL="457200" indent="-342900"/>
            <a:endParaRPr lang="en-IN" sz="1800" dirty="0" smtClean="0">
              <a:solidFill>
                <a:schemeClr val="tx1"/>
              </a:solidFill>
            </a:endParaRPr>
          </a:p>
          <a:p>
            <a:pPr marL="457200" indent="-342900"/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</a:t>
            </a:r>
          </a:p>
          <a:p>
            <a:pPr marL="457200" indent="-342900"/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Answer: B</a:t>
            </a:r>
          </a:p>
          <a:p>
            <a:endParaRPr lang="en-IN" sz="18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sz="1800" dirty="0" smtClean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195620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90830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793" y="980622"/>
            <a:ext cx="84864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055">
              <a:buSzPts val="1100"/>
              <a:defRPr/>
            </a:pPr>
            <a:r>
              <a:rPr lang="en-US" sz="1800" dirty="0" smtClean="0"/>
              <a:t>3 digit number (EAT) + 4 digit number(THAT) = 5 digit number(APPLE)</a:t>
            </a:r>
            <a:br>
              <a:rPr lang="en-US" sz="1800" dirty="0" smtClean="0"/>
            </a:br>
            <a:r>
              <a:rPr lang="en-US" sz="1800" dirty="0" smtClean="0"/>
              <a:t>If so, then A can be 1 and p can be 0.</a:t>
            </a:r>
            <a:br>
              <a:rPr lang="en-US" sz="1800" dirty="0" smtClean="0"/>
            </a:br>
            <a:r>
              <a:rPr lang="en-US" sz="1800" dirty="0" smtClean="0"/>
              <a:t>Again here T is yielding a two digit number(10).</a:t>
            </a:r>
            <a:br>
              <a:rPr lang="en-US" sz="1800" dirty="0" smtClean="0"/>
            </a:br>
            <a:r>
              <a:rPr lang="en-US" sz="1800" dirty="0" smtClean="0"/>
              <a:t>So there must be a carry 1 and T = 9.</a:t>
            </a:r>
            <a:br>
              <a:rPr lang="en-US" sz="1800" dirty="0" smtClean="0"/>
            </a:br>
            <a:r>
              <a:rPr lang="en-US" sz="1800" dirty="0" smtClean="0"/>
              <a:t>Now the expression becomes</a:t>
            </a:r>
            <a:br>
              <a:rPr lang="en-US" sz="1800" dirty="0" smtClean="0"/>
            </a:br>
            <a:r>
              <a:rPr lang="en-US" sz="1800" dirty="0" smtClean="0"/>
              <a:t>E 1 9</a:t>
            </a:r>
            <a:br>
              <a:rPr lang="en-US" sz="1800" dirty="0" smtClean="0"/>
            </a:br>
            <a:r>
              <a:rPr lang="en-US" sz="1800" dirty="0" smtClean="0"/>
              <a:t>9 H 1 9</a:t>
            </a:r>
            <a:br>
              <a:rPr lang="en-US" sz="1800" dirty="0" smtClean="0"/>
            </a:br>
            <a:r>
              <a:rPr lang="en-US" sz="1800" dirty="0" smtClean="0"/>
              <a:t>——————-</a:t>
            </a:r>
            <a:br>
              <a:rPr lang="en-US" sz="1800" dirty="0" smtClean="0"/>
            </a:br>
            <a:r>
              <a:rPr lang="en-US" sz="1800" dirty="0" smtClean="0"/>
              <a:t>1 0 0 L E</a:t>
            </a:r>
            <a:br>
              <a:rPr lang="en-US" sz="1800" dirty="0" smtClean="0"/>
            </a:br>
            <a:r>
              <a:rPr lang="en-US" sz="1800" dirty="0" smtClean="0"/>
              <a:t>Now it is clear that E = 8 and L = 3</a:t>
            </a:r>
            <a:br>
              <a:rPr lang="en-US" sz="1800" dirty="0" smtClean="0"/>
            </a:br>
            <a:r>
              <a:rPr lang="en-US" sz="1800" dirty="0" smtClean="0"/>
              <a:t>So, A + T + L = 1 + 9 + 3 =13</a:t>
            </a:r>
            <a:br>
              <a:rPr lang="en-US" sz="1800" dirty="0" smtClean="0"/>
            </a:br>
            <a:endParaRPr lang="en-US" sz="1800" dirty="0" smtClean="0"/>
          </a:p>
          <a:p>
            <a:pPr marL="59055">
              <a:buNone/>
            </a:pPr>
            <a:endParaRPr lang="en-US" sz="1800" dirty="0" smtClean="0"/>
          </a:p>
          <a:p>
            <a:pPr marL="59055"/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257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indent="11620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05 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224" y="1314450"/>
            <a:ext cx="8472164" cy="369331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14300" indent="-114300"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If WAIT + ALL = GIFTS if A = 6, S = 5, </a:t>
            </a:r>
            <a:r>
              <a:rPr lang="en-IN" sz="1800" dirty="0">
                <a:solidFill>
                  <a:schemeClr val="tx1"/>
                </a:solidFill>
              </a:rPr>
              <a:t>t</a:t>
            </a:r>
            <a:r>
              <a:rPr lang="en-IN" sz="1800" dirty="0" smtClean="0">
                <a:solidFill>
                  <a:schemeClr val="tx1"/>
                </a:solidFill>
              </a:rPr>
              <a:t>hen what's the value of  G + I + F + T?</a:t>
            </a:r>
          </a:p>
          <a:p>
            <a:pPr marL="114300" indent="-114300">
              <a:buNone/>
            </a:pPr>
            <a:endParaRPr lang="en-IN" sz="1800" dirty="0" smtClean="0">
              <a:solidFill>
                <a:schemeClr val="tx1"/>
              </a:solidFill>
            </a:endParaRPr>
          </a:p>
          <a:p>
            <a:pPr marL="114300" indent="-1143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  11</a:t>
            </a:r>
          </a:p>
          <a:p>
            <a:pPr marL="114300" indent="-1143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  12</a:t>
            </a:r>
          </a:p>
          <a:p>
            <a:pPr marL="114300" indent="-1143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  13</a:t>
            </a:r>
          </a:p>
          <a:p>
            <a:pPr marL="114300" indent="-114300">
              <a:buFont typeface="+mj-lt"/>
              <a:buAutoNum type="alphaUcPeriod"/>
            </a:pPr>
            <a:r>
              <a:rPr lang="en-IN" sz="1800" dirty="0" smtClean="0">
                <a:solidFill>
                  <a:schemeClr val="tx1"/>
                </a:solidFill>
              </a:rPr>
              <a:t>  14</a:t>
            </a:r>
          </a:p>
          <a:p>
            <a:pPr marL="114300" indent="-114300"/>
            <a:endParaRPr lang="en-IN" sz="1800" dirty="0" smtClean="0">
              <a:solidFill>
                <a:schemeClr val="tx1"/>
              </a:solidFill>
            </a:endParaRPr>
          </a:p>
          <a:p>
            <a:pPr marL="114300" indent="-114300"/>
            <a:endParaRPr lang="en-IN" sz="1800" dirty="0" smtClean="0">
              <a:solidFill>
                <a:schemeClr val="tx1"/>
              </a:solidFill>
            </a:endParaRPr>
          </a:p>
          <a:p>
            <a:pPr marL="114300" indent="-114300"/>
            <a:endParaRPr lang="en-IN" sz="1800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</a:t>
            </a:r>
          </a:p>
          <a:p>
            <a:pPr marL="114300" indent="-114300"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A</a:t>
            </a:r>
          </a:p>
          <a:p>
            <a:pPr marL="114300" indent="-114300">
              <a:buNone/>
            </a:pPr>
            <a:endParaRPr lang="en-IN" sz="1800" dirty="0" smtClean="0">
              <a:solidFill>
                <a:schemeClr val="tx1"/>
              </a:solidFill>
            </a:endParaRPr>
          </a:p>
          <a:p>
            <a:pPr marL="114300" indent="-114300"/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257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17462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081" y="937079"/>
            <a:ext cx="8472164" cy="369331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l-PL" sz="1800" dirty="0" smtClean="0"/>
              <a:t>W A I T</a:t>
            </a:r>
            <a:br>
              <a:rPr lang="pl-PL" sz="1800" dirty="0" smtClean="0"/>
            </a:br>
            <a:r>
              <a:rPr lang="pl-PL" sz="1800" dirty="0" smtClean="0"/>
              <a:t>A L L</a:t>
            </a:r>
            <a:r>
              <a:rPr lang="en-US" sz="1800" dirty="0" smtClean="0"/>
              <a:t>       +</a:t>
            </a:r>
            <a:r>
              <a:rPr lang="pl-PL" sz="1800" dirty="0" smtClean="0"/>
              <a:t/>
            </a:r>
            <a:br>
              <a:rPr lang="pl-PL" sz="1800" dirty="0" smtClean="0"/>
            </a:br>
            <a:r>
              <a:rPr lang="pl-PL" sz="1800" dirty="0" smtClean="0"/>
              <a:t>—————</a:t>
            </a:r>
            <a:br>
              <a:rPr lang="pl-PL" sz="1800" dirty="0" smtClean="0"/>
            </a:br>
            <a:r>
              <a:rPr lang="pl-PL" sz="1800" dirty="0" smtClean="0"/>
              <a:t>G I F T S</a:t>
            </a:r>
            <a:br>
              <a:rPr lang="pl-PL" sz="1800" dirty="0" smtClean="0"/>
            </a:br>
            <a:r>
              <a:rPr lang="pl-PL" sz="1800" dirty="0" smtClean="0"/>
              <a:t/>
            </a:r>
            <a:br>
              <a:rPr lang="pl-PL" sz="1800" dirty="0" smtClean="0"/>
            </a:br>
            <a:r>
              <a:rPr lang="pl-PL" sz="1800" dirty="0" smtClean="0"/>
              <a:t>9 6 0 8</a:t>
            </a:r>
            <a:br>
              <a:rPr lang="pl-PL" sz="1800" dirty="0" smtClean="0"/>
            </a:br>
            <a:r>
              <a:rPr lang="pl-PL" sz="1800" dirty="0" smtClean="0"/>
              <a:t>6 7 7</a:t>
            </a:r>
            <a:r>
              <a:rPr lang="en-US" sz="1800" dirty="0" smtClean="0"/>
              <a:t>       +</a:t>
            </a:r>
            <a:r>
              <a:rPr lang="pl-PL" sz="1800" dirty="0" smtClean="0"/>
              <a:t/>
            </a:r>
            <a:br>
              <a:rPr lang="pl-PL" sz="1800" dirty="0" smtClean="0"/>
            </a:br>
            <a:r>
              <a:rPr lang="pl-PL" sz="1800" dirty="0" smtClean="0"/>
              <a:t>———–</a:t>
            </a:r>
            <a:br>
              <a:rPr lang="pl-PL" sz="1800" dirty="0" smtClean="0"/>
            </a:br>
            <a:r>
              <a:rPr lang="pl-PL" sz="1800" dirty="0" smtClean="0"/>
              <a:t>1 0 2 8 5</a:t>
            </a:r>
            <a:endParaRPr lang="en-US" sz="1800" dirty="0" smtClean="0"/>
          </a:p>
          <a:p>
            <a:r>
              <a:rPr lang="pl-PL" sz="1800" dirty="0" smtClean="0"/>
              <a:t/>
            </a:r>
            <a:br>
              <a:rPr lang="pl-PL" sz="1800" dirty="0" smtClean="0"/>
            </a:br>
            <a:r>
              <a:rPr lang="pl-PL" sz="1800" dirty="0" smtClean="0"/>
              <a:t>Hence G + I + F + T = 11</a:t>
            </a:r>
            <a:br>
              <a:rPr lang="pl-PL" sz="1800" dirty="0" smtClean="0"/>
            </a:br>
            <a:endParaRPr lang="en-IN" sz="1800" dirty="0" smtClean="0"/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indent="5715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06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900" y="1314449"/>
            <a:ext cx="84721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If HEE+SHE= GIHE, assume (I =2), where the alphabets take the values from</a:t>
            </a:r>
          </a:p>
          <a:p>
            <a:r>
              <a:rPr lang="en-US" sz="1800" dirty="0" smtClean="0"/>
              <a:t>(0-9) (S+H+E)?</a:t>
            </a:r>
          </a:p>
          <a:p>
            <a:endParaRPr lang="en-US" sz="1800" dirty="0" smtClean="0"/>
          </a:p>
          <a:p>
            <a:pPr>
              <a:buFont typeface="+mj-lt"/>
              <a:buAutoNum type="alphaUcPeriod"/>
            </a:pPr>
            <a:r>
              <a:rPr lang="en-US" sz="1800" dirty="0" smtClean="0">
                <a:solidFill>
                  <a:schemeClr val="tx1"/>
                </a:solidFill>
              </a:rPr>
              <a:t> 14</a:t>
            </a:r>
          </a:p>
          <a:p>
            <a:pPr>
              <a:buFont typeface="+mj-lt"/>
              <a:buAutoNum type="alphaUcPeriod"/>
            </a:pPr>
            <a:r>
              <a:rPr lang="en-US" sz="1800" dirty="0" smtClean="0">
                <a:solidFill>
                  <a:schemeClr val="tx1"/>
                </a:solidFill>
              </a:rPr>
              <a:t> 15</a:t>
            </a:r>
          </a:p>
          <a:p>
            <a:pPr>
              <a:buFont typeface="+mj-lt"/>
              <a:buAutoNum type="alphaUcPeriod"/>
            </a:pPr>
            <a:r>
              <a:rPr lang="en-US" sz="1800" dirty="0" smtClean="0">
                <a:solidFill>
                  <a:schemeClr val="tx1"/>
                </a:solidFill>
              </a:rPr>
              <a:t> 12</a:t>
            </a:r>
          </a:p>
          <a:p>
            <a:pPr>
              <a:buFont typeface="+mj-lt"/>
              <a:buAutoNum type="alphaUcPeriod"/>
            </a:pPr>
            <a:r>
              <a:rPr lang="en-US" sz="1800" dirty="0" smtClean="0">
                <a:solidFill>
                  <a:schemeClr val="tx1"/>
                </a:solidFill>
              </a:rPr>
              <a:t> 11</a:t>
            </a: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</a:rPr>
              <a:t>    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Answer: C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0328" y="864506"/>
            <a:ext cx="8472164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HEE+ SHE= GIHE    (I=2)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   H  E  </a:t>
            </a:r>
            <a:r>
              <a:rPr lang="en-IN" sz="1800" dirty="0" err="1" smtClean="0">
                <a:solidFill>
                  <a:schemeClr val="tx1"/>
                </a:solidFill>
              </a:rPr>
              <a:t>E</a:t>
            </a:r>
            <a:r>
              <a:rPr lang="en-IN" sz="1800" dirty="0" smtClean="0">
                <a:solidFill>
                  <a:schemeClr val="tx1"/>
                </a:solidFill>
              </a:rPr>
              <a:t>  +            9  0  0  +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   S  H  E          1    3  9  0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---------------      ----------------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G 2  H  E          1    2  9  0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---------------      -----------------</a:t>
            </a:r>
          </a:p>
          <a:p>
            <a:pPr>
              <a:lnSpc>
                <a:spcPct val="15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Then S+H+E=3+9+0=12</a:t>
            </a:r>
          </a:p>
          <a:p>
            <a:pPr>
              <a:lnSpc>
                <a:spcPct val="150000"/>
              </a:lnSpc>
            </a:pPr>
            <a:endParaRPr lang="en-IN" sz="1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157" y="1021847"/>
            <a:ext cx="8520600" cy="341640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fr-FR" dirty="0" smtClean="0"/>
              <a:t/>
            </a:r>
            <a:br>
              <a:rPr lang="fr-FR" dirty="0" smtClean="0"/>
            </a:br>
            <a:endParaRPr lang="en-IN" dirty="0" smtClean="0"/>
          </a:p>
        </p:txBody>
      </p:sp>
      <p:sp>
        <p:nvSpPr>
          <p:cNvPr id="4" name="Google Shape;70;p15"/>
          <p:cNvSpPr>
            <a:spLocks noGrp="1"/>
          </p:cNvSpPr>
          <p:nvPr>
            <p:ph type="title"/>
          </p:nvPr>
        </p:nvSpPr>
        <p:spPr>
          <a:xfrm>
            <a:off x="0" y="211016"/>
            <a:ext cx="6541477" cy="502418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 07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983604" y="110532"/>
            <a:ext cx="1831460" cy="8001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247860" y="820964"/>
            <a:ext cx="83930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EAT+EAT+EAT=BEET if t=0, then find  the value of  TEE+TEE?</a:t>
            </a:r>
          </a:p>
          <a:p>
            <a:endParaRPr lang="en-US" sz="1800" dirty="0" smtClean="0"/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088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077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066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/>
              <a:t>055</a:t>
            </a:r>
          </a:p>
          <a:p>
            <a:pPr marL="342900" indent="-342900"/>
            <a:endParaRPr lang="en-US" sz="1800" dirty="0" smtClean="0"/>
          </a:p>
          <a:p>
            <a:pPr marL="342900" indent="-342900"/>
            <a:r>
              <a:rPr lang="en-US" sz="1800" dirty="0" smtClean="0"/>
              <a:t>    </a:t>
            </a:r>
          </a:p>
          <a:p>
            <a:pPr marL="342900" indent="-342900"/>
            <a:endParaRPr lang="en-US" sz="1800" dirty="0"/>
          </a:p>
          <a:p>
            <a:pPr marL="342900" indent="-342900"/>
            <a:r>
              <a:rPr lang="en-US" sz="1800" dirty="0" smtClean="0"/>
              <a:t>                                                                                                   </a:t>
            </a:r>
          </a:p>
          <a:p>
            <a:pPr marL="342900" indent="-342900"/>
            <a:r>
              <a:rPr lang="en-US" sz="1800" dirty="0" smtClean="0"/>
              <a:t>                                                                                                            </a:t>
            </a:r>
          </a:p>
          <a:p>
            <a:pPr marL="342900" indent="-342900"/>
            <a:r>
              <a:rPr lang="en-US" sz="1800" dirty="0" smtClean="0"/>
              <a:t>                                                                                                             Answer: A</a:t>
            </a:r>
          </a:p>
          <a:p>
            <a:pPr marL="342900" indent="-342900">
              <a:buFont typeface="+mj-lt"/>
              <a:buAutoNum type="alphaUcPeriod"/>
            </a:pPr>
            <a:endParaRPr lang="en-US" sz="1800" dirty="0" smtClean="0"/>
          </a:p>
        </p:txBody>
      </p:sp>
      <p:pic>
        <p:nvPicPr>
          <p:cNvPr id="10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fr-FR" dirty="0" smtClean="0"/>
              <a:t/>
            </a:r>
            <a:br>
              <a:rPr lang="fr-FR" dirty="0" smtClean="0"/>
            </a:br>
            <a:endParaRPr lang="en-IN" dirty="0" smtClean="0"/>
          </a:p>
        </p:txBody>
      </p:sp>
      <p:sp>
        <p:nvSpPr>
          <p:cNvPr id="4" name="Google Shape;70;p15"/>
          <p:cNvSpPr>
            <a:spLocks noGrp="1"/>
          </p:cNvSpPr>
          <p:nvPr>
            <p:ph type="title"/>
          </p:nvPr>
        </p:nvSpPr>
        <p:spPr>
          <a:xfrm>
            <a:off x="0" y="211016"/>
            <a:ext cx="6541477" cy="502418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7980" indent="5905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983604" y="110532"/>
            <a:ext cx="1831460" cy="8001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22032" y="1314450"/>
            <a:ext cx="83930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EAT+EAT+EAT = BEET. As T=0, no carry for A+A+A(3A). Possible values of A and E can be calculated by 1) 3A= E 2) 3A = 10 +E 3) 3A = 20 + E Here Largest carry generated by addition of three one digit number is 27(9+9+9). Hence value of E is less than 7 for equation 3. For Equation 3) Assume value of E is 7. Therefore value of A=9 now carry + E + E + E = BE. (2) + (7) + (7) + (7) = 23. but 7 is not equal to 3. Contradict to our assumption. Try another value of E as 4 for equation 3 E=4 therefore, A = 8. now carry + E + E + E = BE. (2) + (4) + (4) + (4) = 14. hence value satisfied with our prediction. hence E=4 A=8 and B=1 now TEE + TEE = TAA 044 + 044 = 088 In Above Equations A is integer. So take only those values which are divisible by 3.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10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If CROSS+ROADS= DANGER assume (s=3), then find the value of D+A+N+G+E+R? </a:t>
            </a:r>
          </a:p>
          <a:p>
            <a:pPr marL="59055" indent="-59055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59055" indent="-5905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 31</a:t>
            </a:r>
          </a:p>
          <a:p>
            <a:pPr marL="59055" indent="-5905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 21</a:t>
            </a:r>
          </a:p>
          <a:p>
            <a:pPr marL="59055" indent="-5905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 11</a:t>
            </a:r>
          </a:p>
          <a:p>
            <a:pPr marL="59055" indent="-5905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 16</a:t>
            </a:r>
          </a:p>
          <a:p>
            <a:pPr marL="59055" indent="-59055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59055" indent="-59055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A</a:t>
            </a:r>
            <a:r>
              <a:rPr lang="en-US" sz="1600" dirty="0" smtClean="0">
                <a:solidFill>
                  <a:schemeClr val="tx1"/>
                </a:solidFill>
              </a:rPr>
              <a:t/>
            </a:r>
            <a:br>
              <a:rPr lang="en-US" sz="1600" dirty="0" smtClean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08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CROSS= 96233 ROADS=62513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DANGER=1+5+8+7+4+6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Hence the sum of the all is 31</a:t>
            </a: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DOG *GO = BOOO  +  APIG =  BBUDO. Find the value of multiplication then find the value of P and G?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  and 5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  and 6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8  and 7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8  and 4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Answer: B</a:t>
            </a:r>
          </a:p>
          <a:p>
            <a:pPr marL="11430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indent="11620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09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</p:spPr>
        <p:txBody>
          <a:bodyPr/>
          <a:lstStyle/>
          <a:p>
            <a:pPr marL="114300" indent="-114300">
              <a:buNone/>
            </a:pPr>
            <a:r>
              <a:rPr lang="en-IN" dirty="0" smtClean="0">
                <a:solidFill>
                  <a:schemeClr val="tx1"/>
                </a:solidFill>
              </a:rPr>
              <a:t>DOG *  GO = BOOO  +  APIG =  BBUDO</a:t>
            </a:r>
          </a:p>
          <a:p>
            <a:pPr marL="114300" indent="-114300">
              <a:buNone/>
            </a:pPr>
            <a:r>
              <a:rPr lang="en-IN" dirty="0" smtClean="0">
                <a:solidFill>
                  <a:schemeClr val="tx1"/>
                </a:solidFill>
              </a:rPr>
              <a:t>486   *   68  = 3888     + 2916  =   33048</a:t>
            </a:r>
          </a:p>
          <a:p>
            <a:pPr marL="114300" indent="-114300">
              <a:buNone/>
            </a:pPr>
            <a:r>
              <a:rPr lang="en-IN" dirty="0" smtClean="0">
                <a:solidFill>
                  <a:schemeClr val="tx1"/>
                </a:solidFill>
              </a:rPr>
              <a:t>Here the value of P=9  and G=6</a:t>
            </a: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r>
              <a:rPr lang="en-IN" dirty="0" smtClean="0">
                <a:solidFill>
                  <a:schemeClr val="tx1"/>
                </a:solidFill>
              </a:rPr>
              <a:t>..</a:t>
            </a: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4300" indent="-11430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indent="5905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</p:spPr>
        <p:txBody>
          <a:bodyPr/>
          <a:lstStyle/>
          <a:p>
            <a:pPr marL="59055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MAD*BE =  MAD + RAE = AMID, </a:t>
            </a:r>
            <a:r>
              <a:rPr lang="en-IN" dirty="0">
                <a:solidFill>
                  <a:schemeClr val="tx1"/>
                </a:solidFill>
              </a:rPr>
              <a:t>t</a:t>
            </a:r>
            <a:r>
              <a:rPr lang="en-IN" dirty="0" smtClean="0">
                <a:solidFill>
                  <a:schemeClr val="tx1"/>
                </a:solidFill>
              </a:rPr>
              <a:t>hen find the value of multiplication?</a:t>
            </a:r>
          </a:p>
          <a:p>
            <a:pPr marL="59055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59055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9341</a:t>
            </a:r>
          </a:p>
          <a:p>
            <a:pPr marL="59055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9547</a:t>
            </a:r>
          </a:p>
          <a:p>
            <a:pPr marL="59055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9207</a:t>
            </a:r>
          </a:p>
          <a:p>
            <a:pPr marL="59055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9710</a:t>
            </a:r>
          </a:p>
          <a:p>
            <a:pPr marL="59055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59055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59055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59055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Answer: C</a:t>
            </a:r>
          </a:p>
          <a:p>
            <a:pPr marL="59055" indent="0">
              <a:buNone/>
            </a:pP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10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07059"/>
          </a:xfrm>
        </p:spPr>
        <p:txBody>
          <a:bodyPr/>
          <a:lstStyle/>
          <a:p>
            <a:pPr marL="59055" indent="-59055">
              <a:buNone/>
            </a:pPr>
            <a:r>
              <a:rPr lang="en-IN" dirty="0" smtClean="0">
                <a:solidFill>
                  <a:schemeClr val="tx1"/>
                </a:solidFill>
              </a:rPr>
              <a:t>MAD  *  BE =  MAD  + RAE =    AMID  </a:t>
            </a:r>
          </a:p>
          <a:p>
            <a:pPr marL="59055" indent="-59055">
              <a:buNone/>
            </a:pPr>
            <a:r>
              <a:rPr lang="en-IN" dirty="0" smtClean="0">
                <a:solidFill>
                  <a:schemeClr val="tx1"/>
                </a:solidFill>
              </a:rPr>
              <a:t>297    *  31  =  297    + 891  =     9207 </a:t>
            </a:r>
          </a:p>
          <a:p>
            <a:pPr marL="59055" indent="-59055">
              <a:buNone/>
            </a:pPr>
            <a:r>
              <a:rPr lang="en-IN" dirty="0" smtClean="0">
                <a:solidFill>
                  <a:schemeClr val="tx1"/>
                </a:solidFill>
              </a:rPr>
              <a:t>Then the value of the multiplication is  9207</a:t>
            </a:r>
          </a:p>
          <a:p>
            <a:pPr marL="59055" indent="-59055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59055" indent="-59055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</a:t>
            </a:r>
          </a:p>
          <a:p>
            <a:pPr marL="59055" indent="-59055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>
              <a:tabLst>
                <a:tab pos="231775" algn="l"/>
              </a:tabLst>
            </a:pP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116205" indent="-116205">
              <a:buNone/>
            </a:pPr>
            <a:r>
              <a:rPr lang="en-IN" dirty="0" smtClean="0">
                <a:solidFill>
                  <a:schemeClr val="tx1"/>
                </a:solidFill>
              </a:rPr>
              <a:t>HERE = COMES –SHE assume S=8,  find the value of R+H+O?</a:t>
            </a:r>
          </a:p>
          <a:p>
            <a:pPr marL="116205" indent="-116205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6205" indent="-116205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12</a:t>
            </a:r>
          </a:p>
          <a:p>
            <a:pPr marL="116205" indent="-116205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14</a:t>
            </a:r>
          </a:p>
          <a:p>
            <a:pPr marL="116205" indent="-116205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15</a:t>
            </a:r>
          </a:p>
          <a:p>
            <a:pPr marL="116205" indent="-116205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18</a:t>
            </a:r>
          </a:p>
          <a:p>
            <a:pPr marL="116205" indent="-116205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6205" indent="-116205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116205" indent="-116205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116205" indent="-116205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B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290830"/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11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HERE = COMES – SHE which can also be written as HERE + SHE = COMES</a:t>
            </a: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          HERE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            SHE   +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      ------------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     COMES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    --------------</a:t>
            </a: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C = 1, O = 0, H = 9, E + E = S = 8, 2 E =8, And E=4.</a:t>
            </a: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So, COMES – SHE = HERE, 9454 + 894 = 10348</a:t>
            </a: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R + H + O = 5 + 9 + 0 = 14</a:t>
            </a:r>
          </a:p>
          <a:p>
            <a:pPr marL="116205" indent="-1905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7980">
              <a:tabLst>
                <a:tab pos="0" algn="l"/>
              </a:tabLst>
            </a:pPr>
            <a:r>
              <a:rPr 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If EAT+THAT = APPLE, what is the sum of A+P+P+L+E?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12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13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14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15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A</a:t>
            </a: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12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From the given data, the value of A will be 1 because it is the only carry-over possible from the sum of 2 single digit number. T maximum it can take only 9 and there should a carryover for T to give sum as 2 digit number. So T =9, P = 0, A = 1. T + T = 18, the value of E is 8 and 1 will be a carry over to the next column. That is 1 + A + A= L = 3. And finally H = 2. Hence, 819 + 9219 = 10038. A+P+P+L=E = 1+0+0+3+8 = 12.</a:t>
            </a: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indent="-59055">
              <a:tabLst>
                <a:tab pos="231775" algn="l"/>
                <a:tab pos="290195" algn="l"/>
              </a:tabLst>
            </a:pP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600" y="1000349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YOUR + YOU = HEART, assume O=4, then find the value of  Y+U+R+E=?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15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16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17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18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C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indent="5715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13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600" y="1000349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Given the value of O as 4, Y and E cannot be the same, so there should be a carry-over 1. 1 + Y = 10, so E will take 0 and H as 1.  O + Y = A (4 + 9 = 13) i.e. A = 3. Now, U + O (4) =R (which can only be a single digit number), U cannot take 5, 3, 4 and only possibility will be 2. If U is 2, then R will be 6. R + U = T, 6 + 2 = 8(T = 8). Hence, the value of Y + U + R + E = 9 + 2 + 6+ 0 = 17</a:t>
            </a: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TOM + NAG = GOAT, find the value of  G+O+A+T?</a:t>
            </a:r>
          </a:p>
          <a:p>
            <a:pPr marL="116205" indent="-1905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116205" indent="-190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12</a:t>
            </a:r>
          </a:p>
          <a:p>
            <a:pPr marL="116205" indent="-190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14</a:t>
            </a:r>
          </a:p>
          <a:p>
            <a:pPr marL="116205" indent="-190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15</a:t>
            </a:r>
          </a:p>
          <a:p>
            <a:pPr marL="116205" indent="-1905">
              <a:buClrTx/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</a:rPr>
              <a:t> Cannot be determined</a:t>
            </a:r>
          </a:p>
          <a:p>
            <a:pPr marL="116205" indent="-1905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    </a:t>
            </a:r>
          </a:p>
          <a:p>
            <a:pPr marL="116205" indent="-1905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6205" indent="-1905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Answer: D</a:t>
            </a: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34798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14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Adding two single digit number the maximum carry it can have is 1, so G=1.</a:t>
            </a: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O + A = A, from this we can tell that O = 0. T + N = O (O should be a two digit </a:t>
            </a: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number ending in zero, only then G will be 1). Sum of T and N should be 10 </a:t>
            </a:r>
            <a:r>
              <a:rPr lang="en-US" dirty="0" err="1" smtClean="0">
                <a:solidFill>
                  <a:schemeClr val="tx1"/>
                </a:solidFill>
              </a:rPr>
              <a:t>i.e.T</a:t>
            </a:r>
            <a:endParaRPr lang="en-US" dirty="0" smtClean="0">
              <a:solidFill>
                <a:schemeClr val="tx1"/>
              </a:solidFill>
            </a:endParaRP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 (6) + N (4) = 10.  M + G = T, from this we will get the value of M as 1.  </a:t>
            </a: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O=0, G=1, N=4, M=5, T=6 and the left out numbers are 2, 3, 7, 8, 9, from this A</a:t>
            </a:r>
          </a:p>
          <a:p>
            <a:pPr marL="59055" indent="-59055">
              <a:buNone/>
            </a:pPr>
            <a:r>
              <a:rPr lang="en-US" dirty="0" smtClean="0">
                <a:solidFill>
                  <a:schemeClr val="tx1"/>
                </a:solidFill>
              </a:rPr>
              <a:t> can take any value. There is no definite value for A.</a:t>
            </a:r>
          </a:p>
          <a:p>
            <a:pPr marL="59055" indent="-59055"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29083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28731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GET*BY  = BABE  + GET = BEARE, then find the value of multiplication and the value of  E +T +B?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5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6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9</a:t>
            </a:r>
          </a:p>
          <a:p>
            <a:pPr marL="0" indent="0">
              <a:buClrTx/>
              <a:buFont typeface="+mj-lt"/>
              <a:buAutoNum type="alphaUcPeriod"/>
            </a:pPr>
            <a:r>
              <a:rPr lang="en-IN" dirty="0" smtClean="0">
                <a:solidFill>
                  <a:schemeClr val="tx1"/>
                </a:solidFill>
              </a:rPr>
              <a:t> 11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Answer: B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Font typeface="+mj-lt"/>
              <a:buAutoNum type="alphaUcPeriod"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290830">
              <a:tabLst>
                <a:tab pos="290195" algn="l"/>
              </a:tabLst>
            </a:pPr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Question: 15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GET  *  BY  = BABE  + GET = BEARE</a:t>
            </a: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905  *  12   = 1810    + 905  = 10860</a:t>
            </a: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Then the value of  E+T+B= 6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290830"/>
            <a:r>
              <a:rPr lang="en-IN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4"/>
          <a:srcRect l="41241" t="9528" r="-23988" b="51129"/>
          <a:stretch>
            <a:fillRect/>
          </a:stretch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1201</Words>
  <Application>Microsoft Office PowerPoint</Application>
  <PresentationFormat>On-screen Show (16:9)</PresentationFormat>
  <Paragraphs>266</Paragraphs>
  <Slides>34</Slides>
  <Notes>33</Notes>
  <HiddenSlides>15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07</vt:lpstr>
      <vt:lpstr>Explanation:</vt:lpstr>
      <vt:lpstr>Question: 08</vt:lpstr>
      <vt:lpstr>Explanation:</vt:lpstr>
      <vt:lpstr>Question: 09</vt:lpstr>
      <vt:lpstr>Explanation:</vt:lpstr>
      <vt:lpstr>Question: 10</vt:lpstr>
      <vt:lpstr>Explanation:</vt:lpstr>
      <vt:lpstr>Question: 11</vt:lpstr>
      <vt:lpstr>Explanation:</vt:lpstr>
      <vt:lpstr>Question: 12 </vt:lpstr>
      <vt:lpstr>Explanation: </vt:lpstr>
      <vt:lpstr>Question: 13</vt:lpstr>
      <vt:lpstr>Explanation:</vt:lpstr>
      <vt:lpstr>Question: 14</vt:lpstr>
      <vt:lpstr>Explanation:</vt:lpstr>
      <vt:lpstr>Question: 15</vt:lpstr>
      <vt:lpstr>Explanation: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sushmitha</dc:creator>
  <cp:lastModifiedBy>User</cp:lastModifiedBy>
  <cp:revision>436</cp:revision>
  <dcterms:created xsi:type="dcterms:W3CDTF">2019-12-04T07:36:33Z</dcterms:created>
  <dcterms:modified xsi:type="dcterms:W3CDTF">2019-12-06T06:56:57Z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