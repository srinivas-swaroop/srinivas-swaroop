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Robot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222">
          <p15:clr>
            <a:srgbClr val="9AA0A6"/>
          </p15:clr>
        </p15:guide>
        <p15:guide id="2" orient="horz" pos="2755">
          <p15:clr>
            <a:srgbClr val="9AA0A6"/>
          </p15:clr>
        </p15:guide>
        <p15:guide id="3" orient="horz" pos="776">
          <p15:clr>
            <a:srgbClr val="9AA0A6"/>
          </p15:clr>
        </p15:guide>
        <p15:guide id="4" pos="206">
          <p15:clr>
            <a:srgbClr val="9AA0A6"/>
          </p15:clr>
        </p15:guide>
        <p15:guide id="5" pos="5553">
          <p15:clr>
            <a:srgbClr val="9AA0A6"/>
          </p15:clr>
        </p15:guide>
        <p15:guide id="6" orient="horz" pos="914">
          <p15:clr>
            <a:srgbClr val="9AA0A6"/>
          </p15:clr>
        </p15:guide>
        <p15:guide id="7" orient="horz" pos="2451">
          <p15:clr>
            <a:srgbClr val="9AA0A6"/>
          </p15:clr>
        </p15:guide>
        <p15:guide id="8" pos="871">
          <p15:clr>
            <a:srgbClr val="9AA0A6"/>
          </p15:clr>
        </p15:guide>
        <p15:guide id="9" pos="2880">
          <p15:clr>
            <a:srgbClr val="9AA0A6"/>
          </p15:clr>
        </p15:guide>
        <p15:guide id="10" pos="4909">
          <p15:clr>
            <a:srgbClr val="9AA0A6"/>
          </p15:clr>
        </p15:guide>
        <p15:guide id="11" orient="horz" pos="2193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22"/>
        <p:guide pos="2755" orient="horz"/>
        <p:guide pos="776" orient="horz"/>
        <p:guide pos="206"/>
        <p:guide pos="5553"/>
        <p:guide pos="914" orient="horz"/>
        <p:guide pos="2451" orient="horz"/>
        <p:guide pos="871"/>
        <p:guide pos="2880"/>
        <p:guide pos="4909"/>
        <p:guide pos="219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oboto-regular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Cover Slide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81cc398c44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81cc398c44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81cc54d2bd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81cc54d2b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82ec6c1cf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82ec6c1cf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82ec6c1cf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82ec6c1cf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2ec6c1cf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82ec6c1cf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56fbcb5ab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56fbcb5ab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81cc398c44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81cc398c44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81cc398c44_1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81cc398c44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81cc398c44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81cc398c44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1cc398c44_1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1cc398c44_1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81cc398c44_1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81cc398c44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82ec6c1cf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82ec6c1cf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81cc398c44_1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81cc398c44_1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81cc398c44_1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81cc398c44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81cc398c44_1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81cc398c44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81cc398c44_1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81cc398c44_1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1cc398c44_1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1cc398c44_1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81cc398c44_1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81cc398c44_1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81cc398c44_1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81cc398c44_1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81cc398c44_1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81cc398c44_1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82ec6c1cf0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82ec6c1cf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81cc398c44_1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81cc398c44_1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81cc398c44_1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81cc398c44_1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81cc398c44_1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81cc398c44_1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81cc398c44_1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81cc398c44_1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81cc398c44_1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81cc398c44_1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1cc398c44_1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1cc398c44_1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82ec6c1cf0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82ec6c1cf0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81cc398c44_1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81cc398c44_1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81cc398c44_1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81cc398c44_1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81cc398c44_1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81cc398c44_1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81cc398c44_1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81cc398c44_1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81cc398c44_1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81cc398c44_1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81cc398c44_1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81cc398c44_1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81cc398c44_1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81cc398c44_1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81cc398c44_1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81cc398c44_1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81cc398c44_1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81cc398c44_1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81cc398c44_1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81cc398c44_1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826ad4b75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826ad4b75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Relationship Id="rId4" Type="http://schemas.openxmlformats.org/officeDocument/2006/relationships/image" Target="../media/image2.jpg"/><Relationship Id="rId5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8000" y="431425"/>
            <a:ext cx="3527998" cy="4280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Topic Name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327600" y="930575"/>
            <a:ext cx="80976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  <a:p>
            <a:pPr indent="-45720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5720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5720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57200" lvl="0" marL="45720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GB"/>
              <a:t>			 </a:t>
            </a:r>
            <a:r>
              <a:rPr b="1" lang="en-GB" sz="2400"/>
              <a:t>DATA ARRANGEMENT(Circular Relationship)</a:t>
            </a:r>
            <a:endParaRPr b="1"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FFFF"/>
                </a:solidFill>
              </a:rPr>
              <a:t> </a:t>
            </a:r>
            <a:r>
              <a:rPr b="1" lang="en-GB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Circular Arrangement</a:t>
            </a: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384825" y="999450"/>
            <a:ext cx="80769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333333"/>
                </a:solidFill>
                <a:highlight>
                  <a:srgbClr val="FFFFFF"/>
                </a:highlight>
              </a:rPr>
              <a:t>        A Circular arrangement can be defined as an arrangement having a closed loop. Typical examples include situations wherein seating arrangements around a table have to be made. The table can be of any shape and need not necessarily be circular. This is illustrated by the following diagrams.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875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2775" y="2477110"/>
            <a:ext cx="5470700" cy="171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FFFF"/>
                </a:solidFill>
              </a:rPr>
              <a:t> </a:t>
            </a:r>
            <a:r>
              <a:rPr b="1" lang="en-GB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Circular Arrangement</a:t>
            </a: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77575" y="999450"/>
            <a:ext cx="80769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Though the above diagrams look very different in terms of their structure, there would be minimal deviations in the interpretation of some common clues for all these diagrams.</a:t>
            </a:r>
            <a:endParaRPr>
              <a:highlight>
                <a:srgbClr val="FFFFFF"/>
              </a:highlight>
            </a:endParaRPr>
          </a:p>
          <a:p>
            <a:pPr indent="0" lvl="0" marL="0" rtl="0" algn="just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For example, 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highlight>
                  <a:srgbClr val="FFFFFF"/>
                </a:highlight>
              </a:rPr>
              <a:t>A is sitting opposite to D. 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highlight>
                  <a:srgbClr val="FFFFFF"/>
                </a:highlight>
              </a:rPr>
              <a:t>B is sitting to the immediate left of A. 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highlight>
                  <a:srgbClr val="FFFFFF"/>
                </a:highlight>
              </a:rPr>
              <a:t>B is sitting between A and C.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b="1"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FFFF"/>
                </a:solidFill>
              </a:rPr>
              <a:t> Circular Arrangement</a:t>
            </a: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377575" y="999450"/>
            <a:ext cx="80769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highlight>
                  <a:srgbClr val="FFFFFF"/>
                </a:highlight>
              </a:rPr>
              <a:t>Movements around the circular arrangement:</a:t>
            </a:r>
            <a:endParaRPr b="1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FFFFF"/>
                </a:highlight>
              </a:rPr>
              <a:t>For the people facing the centre: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highlight>
                  <a:srgbClr val="FFFFFF"/>
                </a:highlight>
              </a:rPr>
              <a:t>Left movement is called clockwise rotation.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highlight>
                  <a:srgbClr val="FFFFFF"/>
                </a:highlight>
              </a:rPr>
              <a:t>Right movement is called anti-clockwise rotation.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FFFFF"/>
                </a:highlight>
              </a:rPr>
              <a:t>For people facing outside, the opposite is true: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highlight>
                  <a:srgbClr val="FFFFFF"/>
                </a:highlight>
              </a:rPr>
              <a:t>Left movement is called anti-clockwise rotation.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highlight>
                  <a:srgbClr val="FFFFFF"/>
                </a:highlight>
              </a:rPr>
              <a:t>Right movement is called clockwise rotation.</a:t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FFFF"/>
                </a:solidFill>
              </a:rPr>
              <a:t> Directions to Solve</a:t>
            </a: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377575" y="999450"/>
            <a:ext cx="80769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P, Q, R, S, T, U, V and W are sitting round the circle and are facing the centre: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marR="508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P is second to the right of T who is the neighbour of R and V.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marR="50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S is not the neighbour of P.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marR="50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V is the neighbour of U.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marR="50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Q is not between S and W. W is not between U and S.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Which two of the following are not neighbours ?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RV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UV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RP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QW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A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0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GB"/>
              <a:t>From the above diagram R and V are not 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neighbours</a:t>
            </a: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8450" y="1160619"/>
            <a:ext cx="2104000" cy="2121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1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Which one is immediate right to the V ?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P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U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R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T</a:t>
            </a:r>
            <a:endParaRPr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D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2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T is immediate right to the V.</a:t>
            </a:r>
            <a:endParaRPr/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0300" y="930575"/>
            <a:ext cx="2110225" cy="194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3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3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Which of the following is correct ?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P is to the immediate right of Q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R is between U and V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Q is to the immediate left of W</a:t>
            </a:r>
            <a:endParaRPr b="1">
              <a:solidFill>
                <a:srgbClr val="0077CC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U is between W and S</a:t>
            </a:r>
            <a:endParaRPr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 C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4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4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Option C is the correct answer</a:t>
            </a:r>
            <a:endParaRPr/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8275" y="1231200"/>
            <a:ext cx="2687675" cy="22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5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5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5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FFFF"/>
                </a:solidFill>
              </a:rPr>
              <a:t> </a:t>
            </a:r>
            <a:r>
              <a:rPr lang="en-GB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Directions to Solve</a:t>
            </a: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377575" y="999450"/>
            <a:ext cx="80769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666666"/>
                </a:solidFill>
                <a:highlight>
                  <a:srgbClr val="F8F8F8"/>
                </a:highlight>
              </a:rPr>
              <a:t> </a:t>
            </a:r>
            <a:r>
              <a:rPr lang="en-GB">
                <a:highlight>
                  <a:srgbClr val="FFFFFF"/>
                </a:highlight>
              </a:rPr>
              <a:t>Read the following information given below and answer the questions that follow.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</a:pPr>
            <a:r>
              <a:rPr lang="en-GB">
                <a:highlight>
                  <a:srgbClr val="FFFFFF"/>
                </a:highlight>
              </a:rPr>
              <a:t>P, Q, R, S, T, U and V are seven friends and are sitting in a circle facing the center of the circle.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</a:pPr>
            <a:r>
              <a:rPr lang="en-GB">
                <a:highlight>
                  <a:srgbClr val="FFFFFF"/>
                </a:highlight>
              </a:rPr>
              <a:t>V is second to the left of S and is the neighbour of T and U.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</a:pPr>
            <a:r>
              <a:rPr lang="en-GB">
                <a:highlight>
                  <a:srgbClr val="FFFFFF"/>
                </a:highlight>
              </a:rPr>
              <a:t>S is not a neighbour of R or T.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</a:pPr>
            <a:r>
              <a:rPr lang="en-GB">
                <a:highlight>
                  <a:srgbClr val="FFFFFF"/>
                </a:highlight>
              </a:rPr>
              <a:t>P is neighbour of Q and R.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1600"/>
              </a:spcBef>
              <a:spcAft>
                <a:spcPts val="80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6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6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Which of the following is correct?</a:t>
            </a:r>
            <a:endParaRPr>
              <a:highlight>
                <a:srgbClr val="FFFFFF"/>
              </a:highlight>
            </a:endParaRPr>
          </a:p>
          <a:p>
            <a:pPr indent="-317500" lvl="0" marL="457200" marR="1397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Q is between P and S.</a:t>
            </a:r>
            <a:endParaRPr>
              <a:highlight>
                <a:srgbClr val="FFFFFF"/>
              </a:highlight>
            </a:endParaRPr>
          </a:p>
          <a:p>
            <a:pPr indent="-3175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S is between U and P.</a:t>
            </a:r>
            <a:endParaRPr>
              <a:highlight>
                <a:srgbClr val="FFFFFF"/>
              </a:highlight>
            </a:endParaRPr>
          </a:p>
          <a:p>
            <a:pPr indent="-3175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T is to the immediate right of V.</a:t>
            </a:r>
            <a:endParaRPr>
              <a:highlight>
                <a:srgbClr val="FFFFFF"/>
              </a:highlight>
            </a:endParaRPr>
          </a:p>
          <a:p>
            <a:pPr indent="-3175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U is to the immediate left of V.</a:t>
            </a:r>
            <a:endParaRPr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highlight>
                <a:srgbClr val="F8F8F8"/>
              </a:highlight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 A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7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7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The persons are sitting in the following way: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Hence Q is between P and S.</a:t>
            </a:r>
            <a:endParaRPr>
              <a:highlight>
                <a:srgbClr val="FFFFFF"/>
              </a:highlight>
            </a:endParaRPr>
          </a:p>
        </p:txBody>
      </p:sp>
      <p:pic>
        <p:nvPicPr>
          <p:cNvPr id="185" name="Google Shape;18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9475" y="1497200"/>
            <a:ext cx="2310950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8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8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Which of the following has the pair with the second person sitting to the immediate right of the first person?</a:t>
            </a:r>
            <a:endParaRPr>
              <a:highlight>
                <a:srgbClr val="FFFFFF"/>
              </a:highlight>
            </a:endParaRPr>
          </a:p>
          <a:p>
            <a:pPr indent="-317500" lvl="0" marL="457200" marR="1397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QU</a:t>
            </a:r>
            <a:endParaRPr>
              <a:highlight>
                <a:srgbClr val="FFFFFF"/>
              </a:highlight>
            </a:endParaRPr>
          </a:p>
          <a:p>
            <a:pPr indent="-3175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VU</a:t>
            </a:r>
            <a:endParaRPr>
              <a:highlight>
                <a:srgbClr val="FFFFFF"/>
              </a:highlight>
            </a:endParaRPr>
          </a:p>
          <a:p>
            <a:pPr indent="-3175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TR</a:t>
            </a:r>
            <a:endParaRPr>
              <a:highlight>
                <a:srgbClr val="FFFFFF"/>
              </a:highlight>
            </a:endParaRPr>
          </a:p>
          <a:p>
            <a:pPr indent="-3175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PT</a:t>
            </a:r>
            <a:endParaRPr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highlight>
                <a:srgbClr val="F8F8F8"/>
              </a:highlight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 B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9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9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The persons are sitting in the following way: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FFFFF"/>
                </a:highlight>
              </a:rPr>
              <a:t>U is sitting to immediate right of V.</a:t>
            </a:r>
            <a:endParaRPr>
              <a:highlight>
                <a:srgbClr val="FFFFFF"/>
              </a:highlight>
            </a:endParaRPr>
          </a:p>
        </p:txBody>
      </p:sp>
      <p:pic>
        <p:nvPicPr>
          <p:cNvPr id="205" name="Google Shape;20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9475" y="1497200"/>
            <a:ext cx="2310950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0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0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06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Which of the following will be S’s position after T and S interchange their places?</a:t>
            </a:r>
            <a:endParaRPr>
              <a:highlight>
                <a:srgbClr val="FFFFFF"/>
              </a:highlight>
            </a:endParaRPr>
          </a:p>
          <a:p>
            <a:pPr indent="-317500" lvl="0" marL="457200" marR="1397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Neighbour of V and R</a:t>
            </a:r>
            <a:endParaRPr>
              <a:highlight>
                <a:srgbClr val="FFFFFF"/>
              </a:highlight>
            </a:endParaRPr>
          </a:p>
          <a:p>
            <a:pPr indent="-3175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To the immediate left of R</a:t>
            </a:r>
            <a:endParaRPr>
              <a:highlight>
                <a:srgbClr val="FFFFFF"/>
              </a:highlight>
            </a:endParaRPr>
          </a:p>
          <a:p>
            <a:pPr indent="-3175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To the immediate right of U</a:t>
            </a:r>
            <a:endParaRPr>
              <a:highlight>
                <a:srgbClr val="FFFFFF"/>
              </a:highlight>
            </a:endParaRPr>
          </a:p>
          <a:p>
            <a:pPr indent="-3175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Neighbour of R and P</a:t>
            </a:r>
            <a:endParaRPr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highlight>
                <a:srgbClr val="F8F8F8"/>
              </a:highlight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 A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1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1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3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The persons are sitting in the following way: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FFFFF"/>
                </a:highlight>
              </a:rPr>
              <a:t>If S and T will interchange their positions then S will be the neighbour of V and R.</a:t>
            </a:r>
            <a:endParaRPr>
              <a:highlight>
                <a:srgbClr val="FFFFFF"/>
              </a:highlight>
            </a:endParaRPr>
          </a:p>
        </p:txBody>
      </p:sp>
      <p:pic>
        <p:nvPicPr>
          <p:cNvPr id="225" name="Google Shape;22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9475" y="1497200"/>
            <a:ext cx="2310950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2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2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3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Which of the following has the second person sitting between the first and third persons?</a:t>
            </a:r>
            <a:endParaRPr>
              <a:highlight>
                <a:srgbClr val="FFFFFF"/>
              </a:highlight>
            </a:endParaRPr>
          </a:p>
          <a:p>
            <a:pPr indent="-3175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SPQ</a:t>
            </a:r>
            <a:endParaRPr>
              <a:highlight>
                <a:srgbClr val="FFFFFF"/>
              </a:highlight>
            </a:endParaRPr>
          </a:p>
          <a:p>
            <a:pPr indent="-3175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VRT</a:t>
            </a:r>
            <a:endParaRPr>
              <a:highlight>
                <a:srgbClr val="FFFFFF"/>
              </a:highlight>
            </a:endParaRPr>
          </a:p>
          <a:p>
            <a:pPr indent="-3175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QRP</a:t>
            </a:r>
            <a:endParaRPr>
              <a:highlight>
                <a:srgbClr val="FFFFFF"/>
              </a:highlight>
            </a:endParaRPr>
          </a:p>
          <a:p>
            <a:pPr indent="-317500" lvl="0" marL="457200" marR="1397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VUS</a:t>
            </a:r>
            <a:endParaRPr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highlight>
                <a:srgbClr val="F8F8F8"/>
              </a:highlight>
            </a:endParaRPr>
          </a:p>
        </p:txBody>
      </p:sp>
      <p:sp>
        <p:nvSpPr>
          <p:cNvPr id="235" name="Google Shape;235;p32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D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3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3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07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The persons are sitting in the following way: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U is sitting between V and S.</a:t>
            </a:r>
            <a:endParaRPr>
              <a:highlight>
                <a:srgbClr val="FFFFFF"/>
              </a:highlight>
            </a:endParaRPr>
          </a:p>
        </p:txBody>
      </p:sp>
      <p:pic>
        <p:nvPicPr>
          <p:cNvPr id="245" name="Google Shape;24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9475" y="1497200"/>
            <a:ext cx="2310950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4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4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4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FFFF"/>
                </a:solidFill>
              </a:rPr>
              <a:t> </a:t>
            </a:r>
            <a:r>
              <a:rPr lang="en-GB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Directions to Solve</a:t>
            </a: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4"/>
          <p:cNvSpPr txBox="1"/>
          <p:nvPr/>
        </p:nvSpPr>
        <p:spPr>
          <a:xfrm>
            <a:off x="377575" y="999450"/>
            <a:ext cx="80769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Study the information given below and answer the given questions. 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Eight friends A, B, C, D, E, F, G and H are sitting in a circle, but not necessarily in the same order. Four of them are facing outside and four of them are facing the centre.JTS Institute Bank PO Exams -Work Book 27 JTS Institute .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1. E faces outside, Both the immediate neighbours of E face the centre. H sits second to the right of     E. B sits third to the left of E. 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2. D faces the centre. Both the immediate neighbours of D face outside. 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3. G sits second to the left of A. B sits third to the right of H 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4. F is an immediate neighbour of D. C is an immediate neighbour of G. 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5. D is not an immediate neighbour of B.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2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35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5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35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FFFFF"/>
                </a:highlight>
              </a:rPr>
              <a:t>Who amongst the following sits exactly between F and C (and is also their neighbour)?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E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B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A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G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264" name="Google Shape;264;p3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 B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36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6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08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3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Option B is the correct answer.</a:t>
            </a:r>
            <a:endParaRPr/>
          </a:p>
        </p:txBody>
      </p:sp>
      <p:pic>
        <p:nvPicPr>
          <p:cNvPr id="274" name="Google Shape;274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4500" y="1351250"/>
            <a:ext cx="186690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37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7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3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FFFFF"/>
                </a:highlight>
              </a:rPr>
              <a:t>If all the people are made to sit in an alphabetical order, in clockwise direction, starting from A, the position of whom amongst the following remains the same (excluding A )?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E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G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C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F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D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8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8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38"/>
          <p:cNvSpPr txBox="1"/>
          <p:nvPr/>
        </p:nvSpPr>
        <p:spPr>
          <a:xfrm>
            <a:off x="327600" y="930575"/>
            <a:ext cx="77655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Option B is the correct answer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6600" y="964475"/>
            <a:ext cx="2288425" cy="214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39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9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3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55555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Four of the following five are alike in a certain way, based on the information given above and so form a group. Which is the one that does not belong to that group?</a:t>
            </a:r>
            <a:endParaRPr>
              <a:solidFill>
                <a:srgbClr val="555555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Roboto"/>
              <a:buAutoNum type="alphaUcPeriod"/>
            </a:pPr>
            <a:r>
              <a:rPr lang="en-GB">
                <a:solidFill>
                  <a:srgbClr val="555555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HA </a:t>
            </a:r>
            <a:endParaRPr>
              <a:solidFill>
                <a:srgbClr val="555555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Roboto"/>
              <a:buAutoNum type="alphaUcPeriod"/>
            </a:pPr>
            <a:r>
              <a:rPr lang="en-GB">
                <a:solidFill>
                  <a:srgbClr val="555555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FH </a:t>
            </a:r>
            <a:endParaRPr>
              <a:solidFill>
                <a:srgbClr val="555555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Roboto"/>
              <a:buAutoNum type="alphaUcPeriod"/>
            </a:pPr>
            <a:r>
              <a:rPr lang="en-GB">
                <a:solidFill>
                  <a:srgbClr val="555555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GC</a:t>
            </a:r>
            <a:endParaRPr>
              <a:solidFill>
                <a:srgbClr val="555555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Roboto"/>
              <a:buAutoNum type="alphaUcPeriod"/>
            </a:pPr>
            <a:r>
              <a:rPr lang="en-GB">
                <a:solidFill>
                  <a:srgbClr val="555555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DA</a:t>
            </a:r>
            <a:endParaRPr>
              <a:solidFill>
                <a:srgbClr val="555555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 C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40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0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4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Option C is the correct answer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14" name="Google Shape;314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6600" y="964475"/>
            <a:ext cx="2288425" cy="214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41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1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1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FFFF"/>
                </a:solidFill>
              </a:rPr>
              <a:t> </a:t>
            </a:r>
            <a:r>
              <a:rPr lang="en-GB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Directions to Solve</a:t>
            </a: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41"/>
          <p:cNvSpPr txBox="1"/>
          <p:nvPr/>
        </p:nvSpPr>
        <p:spPr>
          <a:xfrm>
            <a:off x="327600" y="1038875"/>
            <a:ext cx="8084100" cy="3272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55555"/>
                </a:solidFill>
                <a:highlight>
                  <a:srgbClr val="FEFEFE"/>
                </a:highlight>
              </a:rPr>
              <a:t>Study the following information carefully and answer the given questions. </a:t>
            </a:r>
            <a:endParaRPr>
              <a:solidFill>
                <a:srgbClr val="555555"/>
              </a:solidFill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55555"/>
                </a:solidFill>
                <a:highlight>
                  <a:srgbClr val="FEFEFE"/>
                </a:highlight>
              </a:rPr>
              <a:t>A, B,C, D, E, F, G and H are sitting around a circle facing the centre but not necessarily in the same order. </a:t>
            </a:r>
            <a:endParaRPr>
              <a:solidFill>
                <a:srgbClr val="555555"/>
              </a:solidFill>
              <a:highlight>
                <a:srgbClr val="FEFEFE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555555"/>
              </a:buClr>
              <a:buSzPts val="1400"/>
              <a:buChar char="➔"/>
            </a:pPr>
            <a:r>
              <a:rPr lang="en-GB">
                <a:solidFill>
                  <a:srgbClr val="555555"/>
                </a:solidFill>
                <a:highlight>
                  <a:srgbClr val="FEFEFE"/>
                </a:highlight>
              </a:rPr>
              <a:t>B sits second to the left of H’s husband. No female is an immediate neighbour of B. </a:t>
            </a:r>
            <a:endParaRPr>
              <a:solidFill>
                <a:srgbClr val="555555"/>
              </a:solidFill>
              <a:highlight>
                <a:srgbClr val="FEFEFE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Char char="➔"/>
            </a:pPr>
            <a:r>
              <a:rPr lang="en-GB">
                <a:solidFill>
                  <a:srgbClr val="555555"/>
                </a:solidFill>
                <a:highlight>
                  <a:srgbClr val="FEFEFE"/>
                </a:highlight>
              </a:rPr>
              <a:t>D’s daughter sits second to the right of F. F is the sister of G. F is not an immediate neighbour of H’s husband. </a:t>
            </a:r>
            <a:endParaRPr>
              <a:solidFill>
                <a:srgbClr val="555555"/>
              </a:solidFill>
              <a:highlight>
                <a:srgbClr val="FEFEFE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Char char="➔"/>
            </a:pPr>
            <a:r>
              <a:rPr lang="en-GB">
                <a:solidFill>
                  <a:srgbClr val="555555"/>
                </a:solidFill>
                <a:highlight>
                  <a:srgbClr val="FEFEFE"/>
                </a:highlight>
              </a:rPr>
              <a:t>Only one person sits between A and F. A is father of G.</a:t>
            </a:r>
            <a:endParaRPr>
              <a:solidFill>
                <a:srgbClr val="555555"/>
              </a:solidFill>
              <a:highlight>
                <a:srgbClr val="FEFEFE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Char char="➔"/>
            </a:pPr>
            <a:r>
              <a:rPr lang="en-GB">
                <a:solidFill>
                  <a:srgbClr val="555555"/>
                </a:solidFill>
                <a:highlight>
                  <a:srgbClr val="FEFEFE"/>
                </a:highlight>
              </a:rPr>
              <a:t> H’s brother D sits on the immediate left of H’s mother. </a:t>
            </a:r>
            <a:endParaRPr>
              <a:solidFill>
                <a:srgbClr val="555555"/>
              </a:solidFill>
              <a:highlight>
                <a:srgbClr val="FEFEFE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Char char="➔"/>
            </a:pPr>
            <a:r>
              <a:rPr lang="en-GB">
                <a:solidFill>
                  <a:srgbClr val="555555"/>
                </a:solidFill>
                <a:highlight>
                  <a:srgbClr val="FEFEFE"/>
                </a:highlight>
              </a:rPr>
              <a:t>Only one person sits between H’s mother and E. </a:t>
            </a:r>
            <a:endParaRPr>
              <a:solidFill>
                <a:srgbClr val="555555"/>
              </a:solidFill>
              <a:highlight>
                <a:srgbClr val="FEFEFE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Char char="➔"/>
            </a:pPr>
            <a:r>
              <a:rPr lang="en-GB">
                <a:solidFill>
                  <a:srgbClr val="555555"/>
                </a:solidFill>
                <a:highlight>
                  <a:srgbClr val="FEFEFE"/>
                </a:highlight>
              </a:rPr>
              <a:t>Only one person sits between H and G. G is the mother of C. G is not an immediate neighbour of E.</a:t>
            </a:r>
            <a:endParaRPr>
              <a:solidFill>
                <a:srgbClr val="555555"/>
              </a:solidFill>
              <a:highlight>
                <a:srgbClr val="FEFEFE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42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2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4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FFFFF"/>
                </a:highlight>
              </a:rPr>
              <a:t>Which of the following is true with respect to the given seating arrangement?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C is cousin of E. 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Hand H’s husband are immediate neighbours of each other. 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No female is an immediate neighbour of C.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H sits third to the left of her daughter. 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B is mother of H.</a:t>
            </a:r>
            <a:endParaRPr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2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E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3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3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11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4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Option E is the correct answer.</a:t>
            </a:r>
            <a:endParaRPr/>
          </a:p>
        </p:txBody>
      </p:sp>
      <p:pic>
        <p:nvPicPr>
          <p:cNvPr id="343" name="Google Shape;343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4863" y="1000338"/>
            <a:ext cx="2714625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44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4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12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4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FFFFF"/>
                </a:highlight>
              </a:rPr>
              <a:t>Four of the following five are alike in a certain way based on the given information and so form a group. Which is the one that does not belong to that group?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F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C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E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H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353" name="Google Shape;353;p44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 B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45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5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45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FFFFF"/>
                </a:highlight>
              </a:rPr>
              <a:t>Except C, all are females.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3" name="Google Shape;363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4863" y="1000338"/>
            <a:ext cx="2714625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46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6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13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4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FFFFF"/>
                </a:highlight>
              </a:rPr>
              <a:t>What is the position of A with respect to his grandchild?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Immediate right 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Third to the right 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Third to the left 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Second to the left</a:t>
            </a:r>
            <a:endParaRPr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73" name="Google Shape;373;p46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A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47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7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4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FFFFF"/>
                </a:highlight>
              </a:rPr>
              <a:t>C</a:t>
            </a:r>
            <a:r>
              <a:rPr lang="en-GB">
                <a:highlight>
                  <a:srgbClr val="FFFFFF"/>
                </a:highlight>
              </a:rPr>
              <a:t> is grandchild of A. Thus A's position with respect to his grand child is immediate right. 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3" name="Google Shape;383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4863" y="1000338"/>
            <a:ext cx="2714625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48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8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14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4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FFFFF"/>
                </a:highlight>
              </a:rPr>
              <a:t>Who amongst the following is D’s daughter?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B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C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E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G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3" name="Google Shape;393;p48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C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49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9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49"/>
          <p:cNvSpPr txBox="1"/>
          <p:nvPr/>
        </p:nvSpPr>
        <p:spPr>
          <a:xfrm>
            <a:off x="327600" y="999450"/>
            <a:ext cx="83940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Option C is the correct answer</a:t>
            </a:r>
            <a:endParaRPr/>
          </a:p>
        </p:txBody>
      </p:sp>
      <p:pic>
        <p:nvPicPr>
          <p:cNvPr id="403" name="Google Shape;403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4863" y="1000338"/>
            <a:ext cx="2714625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50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50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5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15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5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FFFFF"/>
                </a:highlight>
              </a:rPr>
              <a:t>What is the position of A with respect to his mother-in-law?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80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Immediate left 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Third to the right 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Third to the left 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FFFFF"/>
                </a:highlight>
              </a:rPr>
              <a:t>Second to the right</a:t>
            </a:r>
            <a:endParaRPr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2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413" name="Google Shape;413;p50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 D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51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51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5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5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5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B is mother-in-law of A. Hence, A's position with respect to his mother-in-low is second to the ri</a:t>
            </a:r>
            <a:r>
              <a:rPr lang="en-GB">
                <a:highlight>
                  <a:srgbClr val="FFFFFF"/>
                </a:highlight>
              </a:rPr>
              <a:t>ght.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4863" y="1000338"/>
            <a:ext cx="2714625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52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52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5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2800"/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800"/>
              <a:t>THANK YOU</a:t>
            </a:r>
            <a:endParaRPr i="1"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