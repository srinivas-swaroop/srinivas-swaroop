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</p:sldIdLst>
  <p:sldSz cx="9144000" cy="5143500"/>
  <p:notesSz cx="6858000" cy="9144000"/>
  <p:embeddedFontLst>
    <p:embeddedFont>
      <p:font typeface="Roboto" panose="02000000000000000000"/>
      <p:regular r:id="rId56"/>
      <p:bold r:id="rId57"/>
      <p: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2"/>
        <p:guide orient="horz" pos="2755"/>
        <p:guide orient="horz" pos="776"/>
        <p:guide pos="206"/>
        <p:guide pos="5553"/>
        <p:guide orient="horz" pos="914"/>
        <p:guide orient="horz" pos="2451"/>
        <p:guide pos="871"/>
        <p:guide pos="2880"/>
        <p:guide pos="4909"/>
        <p:guide orient="horz" pos="219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8" Type="http://schemas.openxmlformats.org/officeDocument/2006/relationships/font" Target="fonts/font3.fntdata"/><Relationship Id="rId57" Type="http://schemas.openxmlformats.org/officeDocument/2006/relationships/font" Target="fonts/font2.fntdata"/><Relationship Id="rId56" Type="http://schemas.openxmlformats.org/officeDocument/2006/relationships/font" Target="fonts/font1.fntdata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Cover Slide</a:t>
            </a:r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81cc398c44_1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81cc398c44_1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1cc54d2bd_1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1cc54d2bd_1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3020e78a2_1_1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3020e78a2_1_1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3020e78a2_1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3020e78a2_1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3020e78a2_1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3020e78a2_1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3020e78a2_1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3020e78a2_1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83020e78a2_1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83020e78a2_1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83020e78a2_1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83020e78a2_1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3020e78a2_1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3020e78a2_1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83020e78a2_1_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83020e78a2_1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3020e78a2_1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3020e78a2_1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3020e78a2_1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3020e78a2_1_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83020e78a2_1_1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83020e78a2_1_1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83020e78a2_1_1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83020e78a2_1_1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3020e78a2_1_1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83020e78a2_1_1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83020e78a2_1_1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83020e78a2_1_1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3020e78a2_1_1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3020e78a2_1_1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56fbcb5abc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56fbcb5abc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81cc398c44_1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81cc398c44_1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81cc398c44_1_1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81cc398c44_1_1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1cc398c44_1_1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1cc398c44_1_1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1cc398c44_1_1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1cc398c44_1_1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81cc398c44_1_1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81cc398c44_1_1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81cc398c44_1_1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81cc398c44_1_1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81cc398c44_1_1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81cc398c44_1_1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81cc398c44_1_1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81cc398c44_1_1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81cc398c44_1_1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81cc398c44_1_1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81cc398c44_1_2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81cc398c44_1_2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81cc398c44_1_2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81cc398c44_1_2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81cc398c44_1_2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81cc398c44_1_2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81cc398c44_1_2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81cc398c44_1_2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81cc398c44_1_2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81cc398c44_1_2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81cc398c44_1_2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81cc398c44_1_2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81cc398c44_1_2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81cc398c44_1_2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81cc398c44_1_2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81cc398c44_1_2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81cc398c44_1_2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81cc398c44_1_2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81cc398c44_1_2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81cc398c44_1_2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81cc398c44_1_2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81cc398c44_1_2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1cc398c44_1_2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1cc398c44_1_2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81cc398c44_1_3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81cc398c44_1_3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81cc398c44_1_3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81cc398c44_1_3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81cc398c44_1_3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81cc398c44_1_3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1cc398c44_1_3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1cc398c44_1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81cc398c44_1_3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81cc398c44_1_3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1cc398c44_1_3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81cc398c44_1_3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81cc398c44_1_4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81cc398c44_1_4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81cc398c44_1_4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81cc398c44_1_4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826ad4b75f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826ad4b75f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Topic Name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 lang="en-GB"/>
          </a:p>
          <a:p>
            <a:pPr marL="457200" lvl="0" indent="-457200" algn="l" rtl="0">
              <a:spcBef>
                <a:spcPts val="800"/>
              </a:spcBef>
              <a:spcAft>
                <a:spcPts val="0"/>
              </a:spcAft>
              <a:buNone/>
            </a:pPr>
          </a:p>
          <a:p>
            <a:pPr marL="457200" lvl="0" indent="-457200" algn="l" rtl="0">
              <a:spcBef>
                <a:spcPts val="800"/>
              </a:spcBef>
              <a:spcAft>
                <a:spcPts val="0"/>
              </a:spcAft>
              <a:buNone/>
            </a:pPr>
          </a:p>
          <a:p>
            <a:pPr marL="457200" lvl="0" indent="-457200" algn="l" rtl="0">
              <a:spcBef>
                <a:spcPts val="800"/>
              </a:spcBef>
              <a:spcAft>
                <a:spcPts val="0"/>
              </a:spcAft>
              <a:buNone/>
            </a:pPr>
          </a:p>
          <a:p>
            <a:pPr marL="457200" lvl="0" indent="-45720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3000"/>
              <a:t>			                                                                   </a:t>
            </a:r>
            <a:r>
              <a:rPr lang="en-GB" sz="3000" b="1"/>
              <a:t>Preposition       </a:t>
            </a:r>
            <a:endParaRPr sz="3000" b="1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769150" y="1000350"/>
            <a:ext cx="4878650" cy="39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15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Preposition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12700" lvl="0" indent="-3175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Preposition Tells Us The  Position Of  Something In a Relation  To Another.</a:t>
            </a:r>
            <a:endParaRPr lang="en-GB"/>
          </a:p>
          <a:p>
            <a:pPr marL="457200" marR="127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 Preposition Is A Word  Which Is Placed Before A Noun Or A Pronoun To Show Its  Relation With Something Else  In The Sentence.</a:t>
            </a:r>
            <a:endParaRPr lang="en-GB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Here is a list of commonly used prepositions: above, across, against, along, among, around, at, before, behind, below, beneath, beside, between, by, down, from, in, into, near, of, off, on, to, toward, under, upon, with and within.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CC5A0E"/>
                </a:solidFill>
                <a:highlight>
                  <a:srgbClr val="FFFFFF"/>
                </a:highligh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golden preposition rule:</a:t>
            </a:r>
            <a:endParaRPr sz="1800">
              <a:solidFill>
                <a:srgbClr val="CC5A0E"/>
              </a:solidFill>
              <a:highlight>
                <a:srgbClr val="FFFFFF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-GB" b="1">
                <a:solidFill>
                  <a:srgbClr val="333333"/>
                </a:solidFill>
                <a:highlight>
                  <a:srgbClr val="FFFFFF"/>
                </a:highligh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 preposition is followed by a "noun". It is NEVER followed by a verb.</a:t>
            </a:r>
            <a:endParaRPr b="1">
              <a:solidFill>
                <a:srgbClr val="333333"/>
              </a:solidFill>
              <a:highlight>
                <a:srgbClr val="FFFFFF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None/>
            </a:pPr>
          </a:p>
          <a:p>
            <a:pPr marL="457200" marR="12700" lvl="0" indent="0" algn="l" rtl="0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6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Some examples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17550" y="933925"/>
            <a:ext cx="7248300" cy="344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7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Types of preposition</a:t>
            </a: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 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3650" y="1231200"/>
            <a:ext cx="8581951" cy="32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18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</a:t>
            </a: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Categories</a:t>
            </a: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of preposition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321375" y="797925"/>
            <a:ext cx="5561650" cy="434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19"/>
          <p:cNvSpPr txBox="1"/>
          <p:nvPr/>
        </p:nvSpPr>
        <p:spPr>
          <a:xfrm>
            <a:off x="0" y="233550"/>
            <a:ext cx="48369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Preposition of Place </a:t>
            </a:r>
            <a:endParaRPr sz="20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Preposition of place refer to  those preposition which  can be used to show where  something is located.</a:t>
            </a:r>
            <a:endParaRPr lang="en-GB"/>
          </a:p>
          <a:p>
            <a:pPr marL="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Here are some examples for preposition of place: “Above, up, after, on, before, against, by, behind, below, along, near, down,  in, at, across, inside, between, over”</a:t>
            </a:r>
            <a:endParaRPr lang="en-GB"/>
          </a:p>
          <a:p>
            <a:pPr marL="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EXAMPLE</a:t>
            </a:r>
            <a:r>
              <a:rPr lang="en-GB"/>
              <a:t>:</a:t>
            </a:r>
            <a:endParaRPr lang="en-GB"/>
          </a:p>
          <a:p>
            <a:pPr marL="12700" marR="736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aeroplane is flying </a:t>
            </a:r>
            <a:r>
              <a:rPr lang="en-GB">
                <a:solidFill>
                  <a:srgbClr val="FF0000"/>
                </a:solidFill>
              </a:rPr>
              <a:t>above </a:t>
            </a:r>
            <a:r>
              <a:rPr lang="en-GB"/>
              <a:t>the clouds.</a:t>
            </a:r>
            <a:endParaRPr lang="en-GB"/>
          </a:p>
          <a:p>
            <a:pPr marL="12700" marR="736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dog buried the bone </a:t>
            </a:r>
            <a:r>
              <a:rPr lang="en-GB">
                <a:solidFill>
                  <a:srgbClr val="FF0000"/>
                </a:solidFill>
              </a:rPr>
              <a:t>under </a:t>
            </a:r>
            <a:r>
              <a:rPr lang="en-GB"/>
              <a:t>the ground.  </a:t>
            </a:r>
            <a:endParaRPr lang="en-GB"/>
          </a:p>
          <a:p>
            <a:pPr marL="12700" marR="736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house is </a:t>
            </a:r>
            <a:r>
              <a:rPr lang="en-GB">
                <a:solidFill>
                  <a:srgbClr val="FF0000"/>
                </a:solidFill>
              </a:rPr>
              <a:t>at </a:t>
            </a:r>
            <a:r>
              <a:rPr lang="en-GB"/>
              <a:t>the end of the street.</a:t>
            </a:r>
            <a:endParaRPr lang="en-GB"/>
          </a:p>
          <a:p>
            <a:pPr marL="12700" marR="736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The cat ran </a:t>
            </a:r>
            <a:r>
              <a:rPr lang="en-GB">
                <a:solidFill>
                  <a:srgbClr val="FF0000"/>
                </a:solidFill>
              </a:rPr>
              <a:t>across </a:t>
            </a:r>
            <a:r>
              <a:rPr lang="en-GB"/>
              <a:t>the road.</a:t>
            </a:r>
            <a:endParaRPr lang="en-GB"/>
          </a:p>
          <a:p>
            <a:pPr marL="4572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20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Preposition of Time</a:t>
            </a:r>
            <a:endParaRPr sz="20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144780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A preposition of time helps  to link the noun or pronoun with a time value. </a:t>
            </a:r>
            <a:r>
              <a:rPr lang="en-GB"/>
              <a:t>If f</a:t>
            </a:r>
            <a:r>
              <a:rPr lang="en-GB"/>
              <a:t>unctions as  an indicator as to what  point of time did an event occur.</a:t>
            </a:r>
            <a:endParaRPr lang="en-GB"/>
          </a:p>
          <a:p>
            <a:pPr marL="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Here are some examples for preposition of time: “ </a:t>
            </a:r>
            <a:r>
              <a:rPr lang="en-GB" b="1"/>
              <a:t>About, before, for, by, around, in, ago, at, past,</a:t>
            </a:r>
            <a:endParaRPr b="1"/>
          </a:p>
          <a:p>
            <a:pPr marL="12700" marR="342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since, to, on, after, until, between, during “</a:t>
            </a:r>
            <a:endParaRPr b="1"/>
          </a:p>
          <a:p>
            <a:pPr marL="12700" marR="342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EXAMPLE:</a:t>
            </a:r>
            <a:endParaRPr b="1"/>
          </a:p>
          <a:p>
            <a:pPr marL="12700" marR="342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train is </a:t>
            </a:r>
            <a:r>
              <a:rPr lang="en-GB">
                <a:solidFill>
                  <a:srgbClr val="FF0000"/>
                </a:solidFill>
              </a:rPr>
              <a:t>about </a:t>
            </a:r>
            <a:r>
              <a:rPr lang="en-GB"/>
              <a:t>an hour late.</a:t>
            </a:r>
            <a:endParaRPr lang="en-GB"/>
          </a:p>
          <a:p>
            <a:pPr marL="12700" marR="2374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classes begins at 8 o’ clock.  My birthday falls </a:t>
            </a:r>
            <a:r>
              <a:rPr lang="en-GB">
                <a:solidFill>
                  <a:srgbClr val="FF0000"/>
                </a:solidFill>
              </a:rPr>
              <a:t>on </a:t>
            </a:r>
            <a:r>
              <a:rPr lang="en-GB"/>
              <a:t>Wednesday</a:t>
            </a:r>
            <a:endParaRPr lang="en-GB"/>
          </a:p>
          <a:p>
            <a:pPr marL="127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India has been independent </a:t>
            </a:r>
            <a:r>
              <a:rPr lang="en-GB">
                <a:solidFill>
                  <a:srgbClr val="FF0000"/>
                </a:solidFill>
              </a:rPr>
              <a:t>since </a:t>
            </a:r>
            <a:r>
              <a:rPr lang="en-GB"/>
              <a:t>1947.</a:t>
            </a:r>
            <a:endParaRPr lang="en-GB"/>
          </a:p>
          <a:p>
            <a:pPr marL="0" marR="144780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1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21"/>
          <p:cNvSpPr txBox="1"/>
          <p:nvPr/>
        </p:nvSpPr>
        <p:spPr>
          <a:xfrm>
            <a:off x="0" y="233550"/>
            <a:ext cx="6202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</a:rPr>
              <a:t>Preposition of Movement  </a:t>
            </a:r>
            <a:endParaRPr sz="18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A preposition of movement is  used to show movement  to or from a place.</a:t>
            </a:r>
            <a:endParaRPr lang="en-GB"/>
          </a:p>
          <a:p>
            <a:pPr marL="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b="1"/>
              <a:t>Here are some examples for preposition of movement:  “Down, past, into, behind, up, onto, through, off, over,  on, across, at, by, for, after, towards”</a:t>
            </a:r>
            <a:endParaRPr b="1"/>
          </a:p>
          <a:p>
            <a:pPr marL="12700" marR="31369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b="1"/>
              <a:t>Example:</a:t>
            </a:r>
            <a:endParaRPr b="1"/>
          </a:p>
          <a:p>
            <a:pPr marL="12700" marR="313690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/>
              <a:t>The cat has climbed </a:t>
            </a:r>
            <a:r>
              <a:rPr lang="en-GB">
                <a:solidFill>
                  <a:srgbClr val="FF0000"/>
                </a:solidFill>
              </a:rPr>
              <a:t>up </a:t>
            </a:r>
            <a:r>
              <a:rPr lang="en-GB"/>
              <a:t>a tree. </a:t>
            </a:r>
            <a:endParaRPr lang="en-GB"/>
          </a:p>
          <a:p>
            <a:pPr marL="12700" marR="31369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/>
              <a:t>The children got </a:t>
            </a:r>
            <a:r>
              <a:rPr lang="en-GB">
                <a:solidFill>
                  <a:srgbClr val="FF0000"/>
                </a:solidFill>
              </a:rPr>
              <a:t>off </a:t>
            </a:r>
            <a:r>
              <a:rPr lang="en-GB"/>
              <a:t>the bus.</a:t>
            </a:r>
            <a:endParaRPr lang="en-GB"/>
          </a:p>
          <a:p>
            <a:pPr marL="127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/>
              <a:t>She ran </a:t>
            </a:r>
            <a:r>
              <a:rPr lang="en-GB">
                <a:solidFill>
                  <a:srgbClr val="FF0000"/>
                </a:solidFill>
              </a:rPr>
              <a:t>along </a:t>
            </a:r>
            <a:r>
              <a:rPr lang="en-GB"/>
              <a:t>the pavement.</a:t>
            </a:r>
            <a:endParaRPr lang="en-GB"/>
          </a:p>
          <a:p>
            <a:pPr marL="127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The bus goes </a:t>
            </a:r>
            <a:r>
              <a:rPr lang="en-GB">
                <a:solidFill>
                  <a:srgbClr val="FF0000"/>
                </a:solidFill>
              </a:rPr>
              <a:t>towards </a:t>
            </a:r>
            <a:r>
              <a:rPr lang="en-GB"/>
              <a:t>the market</a:t>
            </a:r>
            <a:endParaRPr lang="en-GB"/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22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</a:rPr>
              <a:t>EXAMPLE</a:t>
            </a:r>
            <a:endParaRPr sz="20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</a:rPr>
              <a:t>                     The dog is </a:t>
            </a:r>
            <a:r>
              <a:rPr lang="en-GB" sz="2400" b="1" u="sng">
                <a:solidFill>
                  <a:schemeClr val="dk1"/>
                </a:solidFill>
              </a:rPr>
              <a:t>under</a:t>
            </a:r>
            <a:r>
              <a:rPr lang="en-GB" sz="2400" b="1">
                <a:solidFill>
                  <a:schemeClr val="dk1"/>
                </a:solidFill>
              </a:rPr>
              <a:t> the chair.</a:t>
            </a:r>
            <a:endParaRPr sz="2400" b="1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</a:rPr>
              <a:t>                     The apple  is </a:t>
            </a:r>
            <a:r>
              <a:rPr lang="en-GB" sz="2400" b="1" u="sng">
                <a:solidFill>
                  <a:schemeClr val="dk1"/>
                </a:solidFill>
              </a:rPr>
              <a:t>on</a:t>
            </a:r>
            <a:r>
              <a:rPr lang="en-GB" sz="2400" b="1">
                <a:solidFill>
                  <a:schemeClr val="dk1"/>
                </a:solidFill>
              </a:rPr>
              <a:t> the book.</a:t>
            </a:r>
            <a:endParaRPr sz="2400" b="1">
              <a:solidFill>
                <a:schemeClr val="dk1"/>
              </a:solidFill>
            </a:endParaR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01463" y="3159600"/>
            <a:ext cx="14859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861525" y="1231200"/>
            <a:ext cx="16002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27588" y="993063"/>
            <a:ext cx="181927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6"/>
          <a:srcRect r="-10791"/>
          <a:stretch>
            <a:fillRect/>
          </a:stretch>
        </p:blipFill>
        <p:spPr>
          <a:xfrm>
            <a:off x="2146863" y="2072863"/>
            <a:ext cx="4132313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23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</a:rPr>
              <a:t>EXAMPLE</a:t>
            </a:r>
            <a:endParaRPr sz="20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</a:rPr>
              <a:t>                      The horse is jumping </a:t>
            </a:r>
            <a:r>
              <a:rPr lang="en-GB" sz="2400" b="1">
                <a:solidFill>
                  <a:srgbClr val="FF0000"/>
                </a:solidFill>
              </a:rPr>
              <a:t>over</a:t>
            </a:r>
            <a:r>
              <a:rPr lang="en-GB" sz="2400" b="1">
                <a:solidFill>
                  <a:schemeClr val="dk1"/>
                </a:solidFill>
              </a:rPr>
              <a:t>  the  wall.</a:t>
            </a:r>
            <a:endParaRPr sz="2400" b="1">
              <a:solidFill>
                <a:schemeClr val="dk1"/>
              </a:solidFill>
            </a:endParaR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</a:rPr>
              <a:t>                      The boy is writing  board </a:t>
            </a:r>
            <a:r>
              <a:rPr lang="en-GB" sz="2400" b="1">
                <a:solidFill>
                  <a:srgbClr val="FF0000"/>
                </a:solidFill>
              </a:rPr>
              <a:t>on </a:t>
            </a:r>
            <a:r>
              <a:rPr lang="en-GB" sz="2400" b="1">
                <a:solidFill>
                  <a:schemeClr val="dk1"/>
                </a:solidFill>
              </a:rPr>
              <a:t>the black</a:t>
            </a:r>
            <a:endParaRPr sz="2400" b="1">
              <a:solidFill>
                <a:schemeClr val="dk1"/>
              </a:solidFill>
            </a:endParaR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</a:rPr>
              <a:t>                      The rat is</a:t>
            </a:r>
            <a:r>
              <a:rPr lang="en-GB" sz="2400" b="1">
                <a:solidFill>
                  <a:srgbClr val="FF0000"/>
                </a:solidFill>
              </a:rPr>
              <a:t> near </a:t>
            </a:r>
            <a:r>
              <a:rPr lang="en-GB" sz="2400" b="1">
                <a:solidFill>
                  <a:schemeClr val="dk1"/>
                </a:solidFill>
              </a:rPr>
              <a:t>the cat.</a:t>
            </a:r>
            <a:endParaRPr sz="2400" b="1">
              <a:solidFill>
                <a:schemeClr val="dk1"/>
              </a:solidFill>
            </a:endParaR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</a:endParaR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</a:endParaR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4825" y="1000350"/>
            <a:ext cx="15240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094963" y="2120938"/>
            <a:ext cx="181927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103838" y="3205950"/>
            <a:ext cx="206692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24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</a:rPr>
              <a:t>Preposition </a:t>
            </a:r>
            <a:endParaRPr sz="20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Based on the construction of prepositions  themselves, the prepositions are of four different  kinds: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•Simple Prepositions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GB"/>
              <a:t>•Double Prepositions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GB"/>
              <a:t>•Compound Prepositions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GB"/>
              <a:t>•Participle Prepositions</a:t>
            </a:r>
            <a:endParaRPr lang="en-GB"/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25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17018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Simple Preposition </a:t>
            </a:r>
            <a:r>
              <a:rPr lang="en-GB" sz="18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endParaRPr sz="1800" b="1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276225" y="1088325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170180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Prepositions that consist of  one word and are very simple to understand. These are the most  basic prepositions and are used frequently.</a:t>
            </a:r>
            <a:endParaRPr lang="en-GB"/>
          </a:p>
          <a:p>
            <a:pPr marL="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Here are some examples for simple prepositions:  </a:t>
            </a:r>
            <a:r>
              <a:rPr lang="en-GB" b="1"/>
              <a:t>Above, under, around, through, after, on,</a:t>
            </a:r>
            <a:endParaRPr b="1"/>
          </a:p>
          <a:p>
            <a:pPr marL="0" marR="508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before, about, among, behind, along,  near, down, in, at, across, between, over</a:t>
            </a:r>
            <a:endParaRPr b="1"/>
          </a:p>
          <a:p>
            <a:pPr marL="0" marR="50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Example:</a:t>
            </a:r>
            <a:endParaRPr b="1"/>
          </a:p>
          <a:p>
            <a:pPr marL="1270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The paper is </a:t>
            </a:r>
            <a:r>
              <a:rPr lang="en-GB">
                <a:solidFill>
                  <a:srgbClr val="FF0000"/>
                </a:solidFill>
              </a:rPr>
              <a:t>on </a:t>
            </a:r>
            <a:r>
              <a:rPr lang="en-GB"/>
              <a:t>my desk.</a:t>
            </a:r>
            <a:endParaRPr lang="en-GB"/>
          </a:p>
          <a:p>
            <a:pPr marL="1270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The man was standing </a:t>
            </a:r>
            <a:r>
              <a:rPr lang="en-GB">
                <a:solidFill>
                  <a:srgbClr val="FF0000"/>
                </a:solidFill>
              </a:rPr>
              <a:t>under </a:t>
            </a:r>
            <a:r>
              <a:rPr lang="en-GB"/>
              <a:t>the tree.</a:t>
            </a:r>
            <a:endParaRPr lang="en-GB"/>
          </a:p>
          <a:p>
            <a:pPr marL="12700" marR="990600" lvl="0" indent="0" algn="l" rtl="0">
              <a:lnSpc>
                <a:spcPct val="393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/>
              <a:t>I will meet you near your house </a:t>
            </a:r>
            <a:r>
              <a:rPr lang="en-GB">
                <a:solidFill>
                  <a:srgbClr val="FF0000"/>
                </a:solidFill>
              </a:rPr>
              <a:t>at </a:t>
            </a:r>
            <a:r>
              <a:rPr lang="en-GB"/>
              <a:t>5 p.m.  .</a:t>
            </a:r>
            <a:endParaRPr lang="en-GB"/>
          </a:p>
          <a:p>
            <a:pPr marL="12700" marR="1270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6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26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Double</a:t>
            </a:r>
            <a:r>
              <a:rPr 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preposition</a:t>
            </a:r>
            <a:endParaRPr sz="20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Double prepositions are  two prepositions, but are joined to make a whole new one.</a:t>
            </a:r>
            <a:endParaRPr lang="en-GB"/>
          </a:p>
          <a:p>
            <a:pPr marL="0" marR="12700" lvl="0" indent="0" algn="just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Here are some examples for double prepositions:  </a:t>
            </a:r>
            <a:r>
              <a:rPr lang="en-GB" b="1"/>
              <a:t>Inside, outside, into, onto, upon,</a:t>
            </a:r>
            <a:endParaRPr b="1"/>
          </a:p>
          <a:p>
            <a:pPr marL="12700" marR="876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up to, within, without, amid </a:t>
            </a:r>
            <a:r>
              <a:rPr lang="en-GB"/>
              <a:t> </a:t>
            </a:r>
            <a:endParaRPr lang="en-GB"/>
          </a:p>
          <a:p>
            <a:pPr marL="12700" marR="876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</a:t>
            </a:r>
            <a:endParaRPr lang="en-GB"/>
          </a:p>
          <a:p>
            <a:pPr marL="12700" marR="8763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Outside the house lies a beautiful garden.  It is </a:t>
            </a:r>
            <a:r>
              <a:rPr lang="en-GB">
                <a:solidFill>
                  <a:srgbClr val="FF0000"/>
                </a:solidFill>
              </a:rPr>
              <a:t>up to</a:t>
            </a:r>
            <a:r>
              <a:rPr lang="en-GB"/>
              <a:t> us to find a way out.</a:t>
            </a:r>
            <a:endParaRPr lang="en-GB"/>
          </a:p>
          <a:p>
            <a:pPr marL="1270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The dog jumped </a:t>
            </a:r>
            <a:r>
              <a:rPr lang="en-GB">
                <a:solidFill>
                  <a:srgbClr val="FF0000"/>
                </a:solidFill>
              </a:rPr>
              <a:t>onto</a:t>
            </a:r>
            <a:r>
              <a:rPr lang="en-GB"/>
              <a:t> the bed.</a:t>
            </a:r>
            <a:endParaRPr lang="en-GB"/>
          </a:p>
          <a:p>
            <a:pPr marL="1270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Once </a:t>
            </a:r>
            <a:r>
              <a:rPr lang="en-GB">
                <a:solidFill>
                  <a:srgbClr val="FF0000"/>
                </a:solidFill>
              </a:rPr>
              <a:t>upon </a:t>
            </a:r>
            <a:r>
              <a:rPr lang="en-GB"/>
              <a:t>a time, there lived a king.</a:t>
            </a:r>
            <a:endParaRPr lang="en-GB"/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7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27"/>
          <p:cNvSpPr txBox="1"/>
          <p:nvPr/>
        </p:nvSpPr>
        <p:spPr>
          <a:xfrm>
            <a:off x="0" y="233550"/>
            <a:ext cx="47949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1219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Compound Preposition  </a:t>
            </a:r>
            <a:endParaRPr sz="2000" b="1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Compound prepositions are two  word prepositions. Unlike double  prepositions, compound  prepositions are not joined and  turned into one word. They  remain as two different words.</a:t>
            </a:r>
            <a:endParaRPr lang="en-GB"/>
          </a:p>
          <a:p>
            <a:pPr marL="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Here are some examples for compound prepositions:  </a:t>
            </a:r>
            <a:r>
              <a:rPr lang="en-GB" b="1"/>
              <a:t>According to, apart from, close to, because of, far from, next to, rather than, instead of,  out of, due to, relating to, in front of</a:t>
            </a:r>
            <a:endParaRPr b="1"/>
          </a:p>
          <a:p>
            <a:pPr marL="127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Example:</a:t>
            </a:r>
            <a:endParaRPr lang="en-GB"/>
          </a:p>
          <a:p>
            <a:pPr marL="1270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My car is parked </a:t>
            </a:r>
            <a:r>
              <a:rPr lang="en-GB">
                <a:solidFill>
                  <a:srgbClr val="FF0000"/>
                </a:solidFill>
              </a:rPr>
              <a:t>in front</a:t>
            </a:r>
            <a:r>
              <a:rPr lang="en-GB"/>
              <a:t> of the house.</a:t>
            </a:r>
            <a:endParaRPr lang="en-GB"/>
          </a:p>
          <a:p>
            <a:pPr marL="12700" marR="218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Rita was never </a:t>
            </a:r>
            <a:r>
              <a:rPr lang="en-GB">
                <a:solidFill>
                  <a:srgbClr val="FF0000"/>
                </a:solidFill>
              </a:rPr>
              <a:t>close to </a:t>
            </a:r>
            <a:r>
              <a:rPr lang="en-GB"/>
              <a:t>her parents.  She cannot stay here as of now.</a:t>
            </a:r>
            <a:endParaRPr lang="en-GB"/>
          </a:p>
          <a:p>
            <a:pPr marL="1270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His behaviour is </a:t>
            </a:r>
            <a:r>
              <a:rPr lang="en-GB">
                <a:solidFill>
                  <a:srgbClr val="FF0000"/>
                </a:solidFill>
              </a:rPr>
              <a:t>far from </a:t>
            </a:r>
            <a:r>
              <a:rPr lang="en-GB"/>
              <a:t>normal.</a:t>
            </a:r>
            <a:endParaRPr lang="en-GB"/>
          </a:p>
          <a:p>
            <a:pPr marL="12700" marR="1270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8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28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12192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alt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Participle</a:t>
            </a:r>
            <a:r>
              <a:rPr 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Preposition  </a:t>
            </a:r>
            <a:endParaRPr sz="2000" b="1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FFFFFF"/>
              </a:solidFill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Participle prepositions are basically  participles used as prepositions. A participle is actually a verb  that ends with ‘-en’ or ‘-ing’.</a:t>
            </a:r>
            <a:endParaRPr lang="en-GB"/>
          </a:p>
          <a:p>
            <a:pPr marL="0" marR="4699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Here are some examples for participle prepositions:  </a:t>
            </a:r>
            <a:r>
              <a:rPr lang="en-GB" b="1"/>
              <a:t>Concerning, during, excluding, given, following, failing, respected, provided, pending,  considering, notwithstanding, including</a:t>
            </a:r>
            <a:endParaRPr b="1"/>
          </a:p>
          <a:p>
            <a:pPr marL="0" marR="4699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b="1"/>
              <a:t>Example:</a:t>
            </a:r>
            <a:endParaRPr b="1"/>
          </a:p>
          <a:p>
            <a:pPr marL="254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Everywhere my father went, his dog was </a:t>
            </a:r>
            <a:r>
              <a:rPr lang="en-GB">
                <a:solidFill>
                  <a:srgbClr val="FF0000"/>
                </a:solidFill>
              </a:rPr>
              <a:t>following </a:t>
            </a:r>
            <a:r>
              <a:rPr lang="en-GB"/>
              <a:t>him.</a:t>
            </a:r>
            <a:endParaRPr lang="en-GB"/>
          </a:p>
          <a:p>
            <a:pPr marL="25400" marR="8001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Ram is always curious about anything </a:t>
            </a:r>
            <a:r>
              <a:rPr lang="en-GB">
                <a:solidFill>
                  <a:srgbClr val="FF0000"/>
                </a:solidFill>
              </a:rPr>
              <a:t>concerning </a:t>
            </a:r>
            <a:r>
              <a:rPr lang="en-GB"/>
              <a:t> Shyam.</a:t>
            </a:r>
            <a:endParaRPr lang="en-GB"/>
          </a:p>
          <a:p>
            <a:pPr marL="254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/>
              <a:t>Everybody was invited to the function </a:t>
            </a:r>
            <a:r>
              <a:rPr lang="en-GB">
                <a:solidFill>
                  <a:srgbClr val="FF0000"/>
                </a:solidFill>
              </a:rPr>
              <a:t>barring </a:t>
            </a:r>
            <a:r>
              <a:rPr lang="en-GB"/>
              <a:t>small</a:t>
            </a:r>
            <a:endParaRPr lang="en-GB"/>
          </a:p>
          <a:p>
            <a:pPr marL="25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children.</a:t>
            </a:r>
            <a:endParaRPr lang="en-GB"/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9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9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9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EXAMPLES</a:t>
            </a:r>
            <a:endParaRPr sz="20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</a:t>
            </a:r>
            <a:r>
              <a:rPr lang="en-GB" sz="1800" b="1" i="1">
                <a:solidFill>
                  <a:schemeClr val="dk1"/>
                </a:solidFill>
              </a:rPr>
              <a:t>inside of </a:t>
            </a:r>
            <a:r>
              <a:rPr lang="en-GB" sz="1800">
                <a:solidFill>
                  <a:schemeClr val="dk1"/>
                </a:solidFill>
              </a:rPr>
              <a:t>the auditorium is beautiful.</a:t>
            </a:r>
            <a:endParaRPr sz="180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                Robin is standing </a:t>
            </a:r>
            <a:r>
              <a:rPr lang="en-GB" sz="1800" b="1" i="1">
                <a:solidFill>
                  <a:schemeClr val="dk1"/>
                </a:solidFill>
              </a:rPr>
              <a:t>next to </a:t>
            </a:r>
            <a:r>
              <a:rPr lang="en-GB" sz="1800">
                <a:solidFill>
                  <a:schemeClr val="dk1"/>
                </a:solidFill>
              </a:rPr>
              <a:t>Julie</a:t>
            </a:r>
            <a:r>
              <a:rPr lang="en-GB" sz="1800" b="1">
                <a:solidFill>
                  <a:schemeClr val="dk1"/>
                </a:solidFill>
              </a:rPr>
              <a:t>.</a:t>
            </a:r>
            <a:endParaRPr sz="1800" b="1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</a:endParaRPr>
          </a:p>
          <a:p>
            <a:pPr marL="0" marR="48387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4838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She works </a:t>
            </a:r>
            <a:r>
              <a:rPr lang="en-GB" sz="1800" b="1" i="1">
                <a:solidFill>
                  <a:schemeClr val="dk1"/>
                </a:solidFill>
              </a:rPr>
              <a:t>during</a:t>
            </a:r>
            <a:r>
              <a:rPr lang="en-GB" sz="1800" b="1" i="1">
                <a:solidFill>
                  <a:schemeClr val="dk1"/>
                </a:solidFill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the day  and studies at night</a:t>
            </a:r>
            <a:endParaRPr sz="180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118575" y="1158663"/>
            <a:ext cx="23431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02350" y="1708550"/>
            <a:ext cx="1564449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9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280925" y="3280175"/>
            <a:ext cx="367665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0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30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 b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EXAMPLES</a:t>
            </a:r>
            <a:endParaRPr sz="20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44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entire class went to picnic </a:t>
            </a:r>
            <a:r>
              <a:rPr lang="en-GB" sz="1800" b="1" i="1">
                <a:solidFill>
                  <a:schemeClr val="dk1"/>
                </a:solidFill>
              </a:rPr>
              <a:t>including</a:t>
            </a:r>
            <a:endParaRPr sz="1800" b="1" i="1">
              <a:solidFill>
                <a:schemeClr val="dk1"/>
              </a:solidFill>
            </a:endParaRPr>
          </a:p>
          <a:p>
            <a:pPr marL="2082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teacher.</a:t>
            </a:r>
            <a:endParaRPr sz="1800">
              <a:solidFill>
                <a:schemeClr val="dk1"/>
              </a:solidFill>
            </a:endParaRPr>
          </a:p>
          <a:p>
            <a:pPr marL="2082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                               The toy bear is </a:t>
            </a:r>
            <a:r>
              <a:rPr lang="en-GB" sz="1800" u="sng">
                <a:solidFill>
                  <a:schemeClr val="dk1"/>
                </a:solidFill>
              </a:rPr>
              <a:t>in</a:t>
            </a:r>
            <a:r>
              <a:rPr lang="en-GB" sz="1800">
                <a:solidFill>
                  <a:schemeClr val="dk1"/>
                </a:solidFill>
              </a:rPr>
              <a:t> the box.</a:t>
            </a:r>
            <a:endParaRPr sz="1800">
              <a:solidFill>
                <a:schemeClr val="dk1"/>
              </a:solidFill>
            </a:endParaRPr>
          </a:p>
          <a:p>
            <a:pPr marL="2082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</a:t>
            </a:r>
            <a:r>
              <a:rPr lang="en-GB" sz="1800">
                <a:solidFill>
                  <a:schemeClr val="dk1"/>
                </a:solidFill>
              </a:rPr>
              <a:t>My family is going </a:t>
            </a:r>
            <a:r>
              <a:rPr lang="en-GB" sz="1800" u="sng">
                <a:solidFill>
                  <a:schemeClr val="dk1"/>
                </a:solidFill>
              </a:rPr>
              <a:t>to</a:t>
            </a:r>
            <a:r>
              <a:rPr lang="en-GB" sz="1800">
                <a:solidFill>
                  <a:schemeClr val="dk1"/>
                </a:solidFill>
              </a:rPr>
              <a:t> vacation  this summer.</a:t>
            </a:r>
            <a:endParaRPr sz="1800">
              <a:solidFill>
                <a:schemeClr val="dk1"/>
              </a:solidFill>
            </a:endParaRPr>
          </a:p>
          <a:p>
            <a:pPr marL="12700" marR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</a:p>
        </p:txBody>
      </p:sp>
      <p:pic>
        <p:nvPicPr>
          <p:cNvPr id="218" name="Google Shape;218;p3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48963" y="1057213"/>
            <a:ext cx="1666875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12025" y="1231200"/>
            <a:ext cx="1666875" cy="169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46475" y="2786825"/>
            <a:ext cx="187225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1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1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3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01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8F8F8"/>
                </a:highlight>
              </a:rPr>
              <a:t>He felt very much grateful ____his boss for the kindness he had shown in granting him leave.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to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for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with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on</a:t>
            </a:r>
            <a:endParaRPr>
              <a:highlight>
                <a:srgbClr val="F8F8F8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A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2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3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>
                <a:highlight>
                  <a:srgbClr val="FFFFFF"/>
                </a:highlight>
              </a:rPr>
              <a:t>Grateful takes to after it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3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3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3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02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48" name="Google Shape;248;p3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FFFFF"/>
                </a:highlight>
              </a:rPr>
              <a:t>The consequences of his haughtiness were that his services were dispensed ______by his master.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with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about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from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up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  <p:sp>
        <p:nvSpPr>
          <p:cNvPr id="249" name="Google Shape;249;p3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A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4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3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>
                <a:highlight>
                  <a:srgbClr val="FFFFFF"/>
                </a:highlight>
              </a:rPr>
              <a:t>The services were “dispensed with” and it means 'forgo'. Dispense is followed by with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5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3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03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8F8F8"/>
                </a:highlight>
              </a:rPr>
              <a:t>These days everybody complains __high prices of commodities.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away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of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through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over</a:t>
            </a:r>
            <a:endParaRPr>
              <a:highlight>
                <a:srgbClr val="F8F8F8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  <p:sp>
        <p:nvSpPr>
          <p:cNvPr id="268" name="Google Shape;268;p3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B 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6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6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3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To complain of or about something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7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5" name="Google Shape;285;p3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04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young boy is </a:t>
            </a:r>
            <a:r>
              <a:rPr lang="en-GB" u="sng">
                <a:solidFill>
                  <a:schemeClr val="dk1"/>
                </a:solidFill>
              </a:rPr>
              <a:t>____</a:t>
            </a:r>
            <a:r>
              <a:rPr lang="en-GB">
                <a:solidFill>
                  <a:schemeClr val="dk1"/>
                </a:solidFill>
              </a:rPr>
              <a:t> the phone right now.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solidFill>
                  <a:schemeClr val="dk1"/>
                </a:solidFill>
              </a:rPr>
              <a:t>On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solidFill>
                  <a:schemeClr val="dk1"/>
                </a:solidFill>
              </a:rPr>
              <a:t>In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solidFill>
                  <a:schemeClr val="dk1"/>
                </a:solidFill>
              </a:rPr>
              <a:t>For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solidFill>
                  <a:schemeClr val="dk1"/>
                </a:solidFill>
              </a:rPr>
              <a:t>with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</a:p>
        </p:txBody>
      </p:sp>
      <p:sp>
        <p:nvSpPr>
          <p:cNvPr id="287" name="Google Shape;287;p3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 A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8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8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p3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young boy is on the phone because its simple preposition</a:t>
            </a:r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9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9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4" name="Google Shape;304;p3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05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05" name="Google Shape;305;p3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8F8F8"/>
                </a:highlight>
              </a:rPr>
              <a:t>This book ______________ five sections.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comprises of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comprises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consists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comprises to</a:t>
            </a:r>
            <a:endParaRPr>
              <a:highlight>
                <a:srgbClr val="F8F8F8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</a:p>
        </p:txBody>
      </p:sp>
      <p:sp>
        <p:nvSpPr>
          <p:cNvPr id="306" name="Google Shape;306;p3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 B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0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0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4" name="Google Shape;314;p4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15" name="Google Shape;315;p4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The use of  preposition 'of' after "comprise" is incorrect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1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1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4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06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24" name="Google Shape;324;p4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His fever has taken a turn for the better ______yesterday.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Since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On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From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At </a:t>
            </a:r>
            <a:endParaRPr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800"/>
              </a:spcAft>
              <a:buNone/>
            </a:pPr>
          </a:p>
        </p:txBody>
      </p:sp>
      <p:sp>
        <p:nvSpPr>
          <p:cNvPr id="325" name="Google Shape;325;p4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 A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2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2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3" name="Google Shape;333;p4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Preposition based in time so since it will come</a:t>
            </a:r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3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3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2" name="Google Shape;342;p4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07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43" name="Google Shape;343;p4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 ______rice they had curry.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Besides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Before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During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Over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</a:pPr>
          </a:p>
        </p:txBody>
      </p:sp>
      <p:sp>
        <p:nvSpPr>
          <p:cNvPr id="344" name="Google Shape;344;p4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A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4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2" name="Google Shape;352;p4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07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53" name="Google Shape;353;p4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Besides for preposition of time</a:t>
            </a:r>
            <a:endParaRPr 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5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1" name="Google Shape;361;p4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08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62" name="Google Shape;362;p4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8F8F8"/>
                </a:highlight>
              </a:rPr>
              <a:t>It is surprising indeed that he has an access ____ all the important leaders of the country.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about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by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to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of</a:t>
            </a:r>
            <a:endParaRPr>
              <a:highlight>
                <a:srgbClr val="F8F8F8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>
              <a:highlight>
                <a:srgbClr val="F8F8F8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b="1">
              <a:highlight>
                <a:srgbClr val="FFFFFF"/>
              </a:highlight>
            </a:endParaRPr>
          </a:p>
        </p:txBody>
      </p:sp>
      <p:sp>
        <p:nvSpPr>
          <p:cNvPr id="363" name="Google Shape;363;p4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C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6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6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1" name="Google Shape;371;p4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08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72" name="Google Shape;372;p4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 to have authority or permission</a:t>
            </a:r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4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7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0" name="Google Shape;380;p4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09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81" name="Google Shape;381;p4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8F8F8"/>
                </a:highlight>
              </a:rPr>
              <a:t>The trouble originated ___a petty quarrel.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in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about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to</a:t>
            </a:r>
            <a:endParaRPr>
              <a:highlight>
                <a:srgbClr val="F8F8F8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8F8F8"/>
                </a:highlight>
              </a:rPr>
              <a:t>beside</a:t>
            </a:r>
            <a:endParaRPr>
              <a:highlight>
                <a:srgbClr val="F8F8F8"/>
              </a:highlight>
            </a:endParaRPr>
          </a:p>
          <a:p>
            <a:pPr marL="137160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endParaRPr>
              <a:highlight>
                <a:srgbClr val="F8F8F8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</a:p>
        </p:txBody>
      </p:sp>
      <p:sp>
        <p:nvSpPr>
          <p:cNvPr id="382" name="Google Shape;382;p4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48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8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" name="Google Shape;390;p4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91" name="Google Shape;391;p4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Originated in is the correct usage</a:t>
            </a:r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49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9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9" name="Google Shape;399;p4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10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00" name="Google Shape;400;p4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FFFFF"/>
                </a:highlight>
              </a:rPr>
              <a:t>My uncle apprised me ____ the incident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about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on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in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of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  <p:sp>
        <p:nvSpPr>
          <p:cNvPr id="401" name="Google Shape;401;p4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D 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0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0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9" name="Google Shape;409;p5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10" name="Google Shape;410;p5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1600" marR="101600" lvl="0" indent="0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Apprise is used with of. It denotes being informed</a:t>
            </a:r>
            <a:endParaRPr>
              <a:highlight>
                <a:srgbClr val="FFFFFF"/>
              </a:highlight>
            </a:endParaRPr>
          </a:p>
          <a:p>
            <a:pPr marL="101600" marR="101600" lvl="0" indent="0" algn="l" rtl="0">
              <a:lnSpc>
                <a:spcPct val="169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51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1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8" name="Google Shape;418;p5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11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19" name="Google Shape;419;p5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FFFFF"/>
                </a:highlight>
              </a:rPr>
              <a:t>Their country has no mineral resources to speak __________.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of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in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on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with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  <p:sp>
        <p:nvSpPr>
          <p:cNvPr id="420" name="Google Shape;420;p5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A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52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2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8" name="Google Shape;428;p5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11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29" name="Google Shape;429;p5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To speak ‘of’ mineral means to speak about(Not speech), Speak on means giving speech.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53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3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7" name="Google Shape;437;p5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12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38" name="Google Shape;438;p5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FFFFF"/>
                </a:highlight>
              </a:rPr>
              <a:t>We judge ourselves by our thought, ____________ others judge us by our actions.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when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because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whereas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lest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  <p:sp>
        <p:nvSpPr>
          <p:cNvPr id="439" name="Google Shape;439;p5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C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54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4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7" name="Google Shape;447;p5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48" name="Google Shape;448;p5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There are two ways in which we are judged; one is ‘our thoughts’ whereas other is when our actions are judged.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5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6" name="Google Shape;456;p5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13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57" name="Google Shape;457;p5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FFFFF"/>
                </a:highlight>
              </a:rPr>
              <a:t>We must not carp _____ the errors of our ancestors.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From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With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About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In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  <p:sp>
        <p:nvSpPr>
          <p:cNvPr id="458" name="Google Shape;458;p5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C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6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6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6" name="Google Shape;466;p5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67" name="Google Shape;467;p5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If we find fault with something and complain continuously and unnecessarily about it, we ‘carp’ about/at it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57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7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5" name="Google Shape;475;p5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14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76" name="Google Shape;476;p5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FFFFF"/>
                </a:highlight>
              </a:rPr>
              <a:t>Autotomy is the ability of an animal to ________ a part of its body at will to save itself from predators and attackers.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Cast off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Cast away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Cut of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Cut down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  <p:sp>
        <p:nvSpPr>
          <p:cNvPr id="477" name="Google Shape;477;p5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A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58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8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5" name="Google Shape;485;p5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86" name="Google Shape;486;p58"/>
          <p:cNvSpPr txBox="1"/>
          <p:nvPr/>
        </p:nvSpPr>
        <p:spPr>
          <a:xfrm>
            <a:off x="327600" y="999450"/>
            <a:ext cx="83940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Cast off , means to remove , and hence this is the answer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59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9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4" name="Google Shape;494;p5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15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95" name="Google Shape;495;p5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highlight>
                  <a:srgbClr val="FFFFFF"/>
                </a:highlight>
              </a:rPr>
              <a:t>A preface ...... a book introduces the book.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by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to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of</a:t>
            </a:r>
            <a:endParaRPr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over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>
              <a:highlight>
                <a:srgbClr val="FFFFFF"/>
              </a:highlight>
            </a:endParaRPr>
          </a:p>
        </p:txBody>
      </p:sp>
      <p:sp>
        <p:nvSpPr>
          <p:cNvPr id="496" name="Google Shape;496;p5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Answer: C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60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60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6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4" name="Google Shape;504;p6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05" name="Google Shape;505;p6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A ‘preface’ is an introduction to something and the correct preposition is ‘to’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61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1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8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8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800" i="1"/>
          </a:p>
          <a:p>
            <a:pPr marL="2743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 i="1"/>
              <a:t>THANK YOU</a:t>
            </a:r>
            <a:endParaRPr sz="28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7323</Words>
  <Application>WPS Presentation</Application>
  <PresentationFormat/>
  <Paragraphs>389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Arial</vt:lpstr>
      <vt:lpstr>SimSun</vt:lpstr>
      <vt:lpstr>Wingdings</vt:lpstr>
      <vt:lpstr>Arial</vt:lpstr>
      <vt:lpstr>Roboto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Prasanth P</cp:lastModifiedBy>
  <cp:revision>1</cp:revision>
  <dcterms:created xsi:type="dcterms:W3CDTF">2022-02-22T05:25:03Z</dcterms:created>
  <dcterms:modified xsi:type="dcterms:W3CDTF">2022-02-22T05:25:04Z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A3B655C6B38746DCBA4A0C125A85F90A</vt:lpwstr>
  </property>
  <property fmtid="{D5CDD505-2E9C-101B-9397-08002B2CF9AE}" pid="3" name="KSOProductBuildVer">
    <vt:lpwstr>1033-11.2.0.10311</vt:lpwstr>
  </property>
</Properties>
</file>