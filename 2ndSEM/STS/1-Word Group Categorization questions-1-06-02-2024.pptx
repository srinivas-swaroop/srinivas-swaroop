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72">
          <p15:clr>
            <a:srgbClr val="000000"/>
          </p15:clr>
        </p15:guide>
        <p15:guide id="2" orient="horz" pos="828">
          <p15:clr>
            <a:srgbClr val="000000"/>
          </p15:clr>
        </p15:guide>
        <p15:guide id="3" orient="horz" pos="1140">
          <p15:clr>
            <a:srgbClr val="000000"/>
          </p15:clr>
        </p15:guide>
        <p15:guide id="4" orient="horz" pos="2488">
          <p15:clr>
            <a:srgbClr val="000000"/>
          </p15:clr>
        </p15:guide>
        <p15:guide id="5" orient="horz" pos="2196">
          <p15:clr>
            <a:srgbClr val="000000"/>
          </p15:clr>
        </p15:guide>
        <p15:guide id="6" pos="2174">
          <p15:clr>
            <a:srgbClr val="000000"/>
          </p15:clr>
        </p15:guide>
        <p15:guide id="7" pos="216">
          <p15:clr>
            <a:srgbClr val="000000"/>
          </p15:clr>
        </p15:guide>
        <p15:guide id="8" pos="5552">
          <p15:clr>
            <a:srgbClr val="000000"/>
          </p15:clr>
        </p15:guide>
        <p15:guide id="9" pos="888">
          <p15:clr>
            <a:srgbClr val="000000"/>
          </p15:clr>
        </p15:guide>
        <p15:guide id="10" pos="2856">
          <p15:clr>
            <a:srgbClr val="000000"/>
          </p15:clr>
        </p15:guide>
        <p15:guide id="11" pos="4909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1" roundtripDataSignature="AMtx7mgpRlK6SCvVkP5psdsIbQefMiFm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72" orient="horz"/>
        <p:guide pos="828" orient="horz"/>
        <p:guide pos="1140" orient="horz"/>
        <p:guide pos="2488" orient="horz"/>
        <p:guide pos="2196" orient="horz"/>
        <p:guide pos="2174"/>
        <p:guide pos="216"/>
        <p:guide pos="5552"/>
        <p:guide pos="888"/>
        <p:guide pos="2856"/>
        <p:guide pos="490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" name="Google Shape;24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4" name="Google Shape;3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35" name="Google Shape;35;p44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idx="1" type="body"/>
          </p:nvPr>
        </p:nvSpPr>
        <p:spPr>
          <a:xfrm>
            <a:off x="1197735" y="1683657"/>
            <a:ext cx="6451294" cy="18024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800">
                <a:solidFill>
                  <a:schemeClr val="dk1"/>
                </a:solidFill>
              </a:rPr>
              <a:t>     WORD GROUP </a:t>
            </a:r>
            <a:endParaRPr/>
          </a:p>
          <a:p>
            <a:pPr indent="0" lvl="0" marL="1143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800">
                <a:solidFill>
                  <a:schemeClr val="dk1"/>
                </a:solidFill>
              </a:rPr>
              <a:t>CATEGORISATION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50" name="Google Shape;50;p2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 txBox="1"/>
          <p:nvPr/>
        </p:nvSpPr>
        <p:spPr>
          <a:xfrm>
            <a:off x="220898" y="1102075"/>
            <a:ext cx="8525120" cy="4108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type of reasoning problems, few words are given. The candidate is required to arrange these words in a meaningful or logical sequence.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Example, the sequence of occurrence of events, the sequence of increasing or decreasing the value, size or intensity, etc.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289441" y="3464417"/>
            <a:ext cx="1339403" cy="386366"/>
          </a:xfrm>
          <a:prstGeom prst="roundRect">
            <a:avLst>
              <a:gd fmla="val 16667" name="adj"/>
            </a:avLst>
          </a:prstGeom>
          <a:solidFill>
            <a:srgbClr val="31EAF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083381" y="4301544"/>
            <a:ext cx="1262130" cy="386367"/>
          </a:xfrm>
          <a:prstGeom prst="roundRect">
            <a:avLst>
              <a:gd fmla="val 16667" name="adj"/>
            </a:avLst>
          </a:prstGeom>
          <a:solidFill>
            <a:srgbClr val="31EAF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Marriage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803820" y="3309871"/>
            <a:ext cx="1223493" cy="399245"/>
          </a:xfrm>
          <a:prstGeom prst="roundRect">
            <a:avLst>
              <a:gd fmla="val 0" name="adj"/>
            </a:avLst>
          </a:prstGeom>
          <a:solidFill>
            <a:srgbClr val="31EAF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Funeral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048519" y="4211391"/>
            <a:ext cx="1210614" cy="399245"/>
          </a:xfrm>
          <a:prstGeom prst="roundRect">
            <a:avLst>
              <a:gd fmla="val 16667" name="adj"/>
            </a:avLst>
          </a:prstGeom>
          <a:solidFill>
            <a:srgbClr val="31EAF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Death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988675" y="2588653"/>
            <a:ext cx="1506828" cy="412124"/>
          </a:xfrm>
          <a:prstGeom prst="roundRect">
            <a:avLst>
              <a:gd fmla="val 16667" name="adj"/>
            </a:avLst>
          </a:prstGeom>
          <a:solidFill>
            <a:srgbClr val="31EAF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Birth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3"/>
          <p:cNvCxnSpPr/>
          <p:nvPr/>
        </p:nvCxnSpPr>
        <p:spPr>
          <a:xfrm flipH="1" rot="-5400000">
            <a:off x="7386024" y="2891315"/>
            <a:ext cx="656700" cy="463500"/>
          </a:xfrm>
          <a:prstGeom prst="curvedConnector2">
            <a:avLst/>
          </a:prstGeom>
          <a:noFill/>
          <a:ln cap="flat" cmpd="sng" w="9525">
            <a:solidFill>
              <a:schemeClr val="dk1">
                <a:alpha val="76862"/>
              </a:schemeClr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" name="Google Shape;64;p3"/>
          <p:cNvCxnSpPr>
            <a:stCxn id="58" idx="2"/>
            <a:endCxn id="59" idx="0"/>
          </p:cNvCxnSpPr>
          <p:nvPr/>
        </p:nvCxnSpPr>
        <p:spPr>
          <a:xfrm rot="5400000">
            <a:off x="7611293" y="3953833"/>
            <a:ext cx="450900" cy="2448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chemeClr val="dk1">
                <a:alpha val="76862"/>
              </a:schemeClr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5" name="Google Shape;65;p3"/>
          <p:cNvCxnSpPr>
            <a:stCxn id="59" idx="2"/>
            <a:endCxn id="61" idx="3"/>
          </p:cNvCxnSpPr>
          <p:nvPr/>
        </p:nvCxnSpPr>
        <p:spPr>
          <a:xfrm flipH="1" rot="5400000">
            <a:off x="6848346" y="3821811"/>
            <a:ext cx="276900" cy="1455300"/>
          </a:xfrm>
          <a:prstGeom prst="curvedConnector4">
            <a:avLst>
              <a:gd fmla="val -82557" name="adj1"/>
              <a:gd fmla="val 71682" name="adj2"/>
            </a:avLst>
          </a:prstGeom>
          <a:noFill/>
          <a:ln cap="flat" cmpd="sng" w="9525">
            <a:solidFill>
              <a:schemeClr val="dk1">
                <a:alpha val="76862"/>
              </a:schemeClr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" name="Google Shape;66;p3"/>
          <p:cNvCxnSpPr>
            <a:stCxn id="61" idx="0"/>
            <a:endCxn id="60" idx="2"/>
          </p:cNvCxnSpPr>
          <p:nvPr/>
        </p:nvCxnSpPr>
        <p:spPr>
          <a:xfrm flipH="1" rot="5400000">
            <a:off x="5283626" y="3841191"/>
            <a:ext cx="502200" cy="2382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chemeClr val="dk1">
                <a:alpha val="76862"/>
              </a:schemeClr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" name="Google Shape;67;p3"/>
          <p:cNvCxnSpPr>
            <a:stCxn id="60" idx="0"/>
            <a:endCxn id="62" idx="1"/>
          </p:cNvCxnSpPr>
          <p:nvPr/>
        </p:nvCxnSpPr>
        <p:spPr>
          <a:xfrm rot="-5400000">
            <a:off x="5444517" y="2765821"/>
            <a:ext cx="515100" cy="573000"/>
          </a:xfrm>
          <a:prstGeom prst="curvedConnector2">
            <a:avLst/>
          </a:prstGeom>
          <a:noFill/>
          <a:ln cap="flat" cmpd="sng" w="9525">
            <a:solidFill>
              <a:schemeClr val="dk1">
                <a:alpha val="76862"/>
              </a:schemeClr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8" name="Google Shape;68;p3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 GROUP CATEGORISATION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1" y="4071938"/>
            <a:ext cx="4456089" cy="107156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224477" y="2061468"/>
            <a:ext cx="8590208" cy="216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Arrange the following words in a logical sequence.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DIRECTION:</a:t>
            </a:r>
            <a:endParaRPr/>
          </a:p>
        </p:txBody>
      </p:sp>
      <p:pic>
        <p:nvPicPr>
          <p:cNvPr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1" y="4071938"/>
            <a:ext cx="4456089" cy="107156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206062" y="978793"/>
            <a:ext cx="8590208" cy="341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Grass  2. Curd  3. Milk   4. Cow   5. Butter 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1, 2, 3, 4, 5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2, 3, 4, 5, 1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4, 1, 3, 2, 5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5, 4, 3, 2, 1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Question: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 txBox="1"/>
          <p:nvPr/>
        </p:nvSpPr>
        <p:spPr>
          <a:xfrm>
            <a:off x="309093" y="1068946"/>
            <a:ext cx="8506295" cy="27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know that cow eats grass and then gives milk. With the milk, curd is made and then from curd, butter is made.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Hence logical sequence is Cow, Grass, Milk, Curd, Butter.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Explanation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01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0" y="252156"/>
            <a:ext cx="4786635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167425" y="942350"/>
            <a:ext cx="8577330" cy="378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Word   2. Paragraph   3. Sentence   4. Letters   5. Phrase 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4, 1, 5, 2, 3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4, 1, 3, 5, 2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4, 2, 5, 1, 3</a:t>
            </a:r>
            <a:endParaRPr/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4, 1, 5, 3, 2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321972" y="965915"/>
            <a:ext cx="849341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correct order is 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Letters  Word   Phrase   Sentence   Paragraph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4         1           5              3                2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Explanation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02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/>
        </p:nvSpPr>
        <p:spPr>
          <a:xfrm>
            <a:off x="154547" y="896183"/>
            <a:ext cx="8615966" cy="3830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Family    2. Community    3. Member    4. Locality    5. Country 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3, 1, 2, 4, 5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3, 1, 2, 5, 4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3, 1, 4, 2, 5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U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3, 1, 4, 5, 2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321972" y="965915"/>
            <a:ext cx="8493092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correct order is 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  Family   Community   Locality   Country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3             1                2               4              5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/>
          <p:nvPr/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Explanation: 03</a:t>
            </a:r>
            <a:b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31672" y="836578"/>
            <a:ext cx="8783392" cy="38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Probation   2. Interview   3. Selection   4. Appointment   5. Advertisement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6. Application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5, 6, 3, 2, 4, 1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5, 6, 4, 2, 3, 1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5, 6, 2, 3, 4, 1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6, 5, 4, 2, 3, 1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 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 sz="1600">
              <a:solidFill>
                <a:schemeClr val="dk1"/>
              </a:solidFill>
            </a:endParaRPr>
          </a:p>
        </p:txBody>
      </p:sp>
      <p:pic>
        <p:nvPicPr>
          <p:cNvPr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04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206062" y="1030310"/>
            <a:ext cx="8626238" cy="30493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 correct order is 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Advertisement   Application  Interview  Selection  Appointment   Probation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5                    6                 2              3                 4                  1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04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672" y="887613"/>
            <a:ext cx="8783392" cy="3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Presentation    2. Recommendation    3. Arrival   4. Discussion   5. Introduction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5, 3, 4, 1, 2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3, 5, 4, 2, 1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3, 5, 1, 4, 2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5, 3, 1, 2, 4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 sz="1600">
              <a:solidFill>
                <a:schemeClr val="dk1"/>
              </a:solidFill>
            </a:endParaRPr>
          </a:p>
        </p:txBody>
      </p:sp>
      <p:pic>
        <p:nvPicPr>
          <p:cNvPr id="149" name="Google Shape;1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05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231820" y="1043189"/>
            <a:ext cx="8600480" cy="30163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 correct order is 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Arrival   Introduction   Presentation   Discussion   Recommendation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3              5                    1                    4                        2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7" name="Google Shape;1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05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70309" y="903073"/>
            <a:ext cx="874475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Heel   2. Shoulder   3. Skull   4. Neck   5. Knee    6. Chest    7. Thigh  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8. Stomach     9. Face     10. Hand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3, 4, 7, 9, 2, 5, 8, 10, 6, 1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3, 9, 4, 2, 10, 6, 8, 7, 5, 1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2, 4, 7, 10, 1, 5, 8, 9, 6, 3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4, 7, 10, 1, 9, 6, 2, 5, 8, 3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B</a:t>
            </a:r>
            <a:endParaRPr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600">
              <a:solidFill>
                <a:schemeClr val="dk1"/>
              </a:solidFill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06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270456" y="1152475"/>
            <a:ext cx="8561844" cy="3405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 correct order is 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Skull    Face   Neck    Shoulder   Hand    Chest   Stomach  Thigh   Knee  Heel      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3         9        4             2             10           6            8         7            5       1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06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75" name="Google Shape;175;p16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44551" y="912800"/>
            <a:ext cx="8770513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Hecto    2. Centi    3. Deca    4. Kilo    5. Deci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1, 3, 4, 5, 2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1, 5, 3, 4, 2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2, 5, 3, 1, 4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5, 2, 1, 4, 3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07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218941" y="1004552"/>
            <a:ext cx="8613359" cy="35531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Order is: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Centi  = 1cm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Deci   = 10cm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Deca  = 1000cm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Hecto = 10000cm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Kilo    = 100000cm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07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0" y="1004552"/>
            <a:ext cx="8770513" cy="35531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Andhra Pradesh    2. Universe    3. Tirupati    4. World    5. India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1, 5, 3, 2, 4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2, 1, 3, 5, 4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3, 1, 5, 4, 2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5, 4, 2, 1, 3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 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08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309093" y="862885"/>
            <a:ext cx="8523207" cy="3694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Order is:</a:t>
            </a:r>
            <a:endParaRPr/>
          </a:p>
          <a:p>
            <a:pPr indent="-11430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Tirupati  is a city</a:t>
            </a:r>
            <a:endParaRPr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Andhra Pradesh is a state</a:t>
            </a:r>
            <a:endParaRPr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India is a  Asian country</a:t>
            </a:r>
            <a:endParaRPr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World  is the planet Earth </a:t>
            </a:r>
            <a:endParaRPr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Universe is the name that we use to describe the collection of all the things that exist in space.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08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0" y="991674"/>
            <a:ext cx="8770513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 Frog   2. Grass   3. Grasshopper    4. Eagle   5. Snake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1, 2, 3, 5, 4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2, 3, 1, 5, 4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2, 3, 1, 4, 5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2, 1, 3, 5, 4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B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09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A grasshopper eats grass, and a frog eats a grasshopper.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Snake eats frog and Eagle eats snake.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09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0" y="1004552"/>
            <a:ext cx="8770513" cy="35531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Atomic Age   2. Metallic Age   3. Stone Age   4. Alloy Age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1, 3, 4, 2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2, 3, 1, 4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3, 2, 4, 1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4, 3, 2, 1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10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In order of ages of history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c. Stone Age → b. Metallic Age → d. Alloy Age → a. Atomic Age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10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0" y="1017431"/>
            <a:ext cx="8770513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Elephant    2. Cat    3. Mosquito    4. Tiger    5. Whale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5, 3, 1, 2, 4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3, 2, 4, 1 ,5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1, 3, 5, 4, 2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2, 5, 1, 4, 3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B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245" name="Google Shape;2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Question: 11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 correct order is 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Mosquito    Cat    Tiger   Elephant   Whale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   3             2          4              1             5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11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0" y="978794"/>
            <a:ext cx="8783392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Euphoria     2. Happiness     3. Ambivalence     4. Ecstasy     5. Pleasure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1, 4, 2, 5, 3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2, 1, 3, 4, 5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3, 2, 5, 1, 4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4, 1, 3, 2, 5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12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63" name="Google Shape;263;p27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All the given words stand for 'Joy', but the intensity increases in the order - Ambivalence, Happiness, Pleasure, Euphoria, Ecstasy.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Thus the correct order is 3, 2, 5, 1, 4.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9" name="Google Shape;2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12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71" name="Google Shape;271;p28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0" y="991673"/>
            <a:ext cx="8783392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Choose Odd one out of the options?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PSRQ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SVUT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MNPO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KNML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C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13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79" name="Google Shape;279;p29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PSRQ --&gt; {16, 19, 18, 17} - next 3 alphabets of "P" is written in reverse order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SVUT --&gt; {19, 22, 21, 20} - next 3 alphabets of "S" is written in reverse order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MNPO --&gt; {13, 14, 16, 15}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KNML --&gt; {11, 14, 13, 12} - next 3 alphabets of "K" is written in reverse order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Except "MNPO", others are not in consecutive order.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13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87" name="Google Shape;287;p30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0" y="991674"/>
            <a:ext cx="8796270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Rainbow    2. Rain   3. Sun   4. Happy   5. Child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4, 2, 3, 5, 1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4, 5, 1, 2, 3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2, 1, 4, 5, 3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2, 3, 1, 5, 4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D</a:t>
            </a:r>
            <a:endParaRPr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293" name="Google Shape;2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1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 Question: 14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295" name="Google Shape;295;p31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Firstly Rain falls and then Sun comes and Rainbow forms.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After that Child sees the rainbow and feels Happy.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14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0" y="1017431"/>
            <a:ext cx="8757634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1. Ceiling    2. Room    3. Floor     4. Walls     5. Foundation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5, 4, 1, 3, 2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5, 4, 3, 1, 2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4, 5, 3, 1, 2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UcPeriod"/>
            </a:pPr>
            <a:r>
              <a:rPr lang="en-US">
                <a:solidFill>
                  <a:schemeClr val="dk1"/>
                </a:solidFill>
              </a:rPr>
              <a:t>4, 5, 1, 2, 3</a:t>
            </a:r>
            <a:endParaRPr/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                                                                                                                    </a:t>
            </a:r>
            <a:r>
              <a:rPr i="1" lang="en-US">
                <a:solidFill>
                  <a:schemeClr val="dk1"/>
                </a:solidFill>
              </a:rPr>
              <a:t>Answer: </a:t>
            </a:r>
            <a:r>
              <a:rPr b="1" i="1" lang="en-US">
                <a:solidFill>
                  <a:schemeClr val="dk1"/>
                </a:solidFill>
              </a:rPr>
              <a:t>B</a:t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Question: 15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311" name="Google Shape;311;p33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283335" y="1017431"/>
            <a:ext cx="8548965" cy="35402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The Correct Sequence is: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Foundation    Walls   Ceiling    Floor    Room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     5                 4             1            3       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7" name="Google Shape;3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4"/>
          <p:cNvSpPr/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000">
                <a:solidFill>
                  <a:srgbClr val="FFFFFF"/>
                </a:solidFill>
              </a:rPr>
            </a:br>
            <a:r>
              <a:rPr b="1" lang="en-US" sz="2000">
                <a:solidFill>
                  <a:srgbClr val="FFFFFF"/>
                </a:solidFill>
              </a:rPr>
              <a:t> Explanation: 15</a:t>
            </a:r>
            <a:br>
              <a:rPr b="1" lang="en-US" sz="2000">
                <a:solidFill>
                  <a:srgbClr val="FFFFFF"/>
                </a:solidFill>
              </a:rPr>
            </a:b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319" name="Google Shape;319;p34"/>
          <p:cNvPicPr preferRelativeResize="0"/>
          <p:nvPr/>
        </p:nvPicPr>
        <p:blipFill rotWithShape="1">
          <a:blip r:embed="rId4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              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solidFill>
                  <a:schemeClr val="dk1"/>
                </a:solidFill>
              </a:rPr>
              <a:t>                         THANK YOU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325" name="Google Shape;325;p35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2019-12-02T05:29:12Z</dcterms:created>
  <dc:creator>sushmitha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1033-11.2.0.9070</vt:lpwstr>
  </property>
</Properties>
</file>