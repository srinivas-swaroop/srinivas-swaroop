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9"/>
  </p:notesMasterIdLst>
  <p:sldIdLst>
    <p:sldId id="256" r:id="rId2"/>
    <p:sldId id="257" r:id="rId3"/>
    <p:sldId id="310" r:id="rId4"/>
    <p:sldId id="311" r:id="rId5"/>
    <p:sldId id="291" r:id="rId6"/>
    <p:sldId id="292" r:id="rId7"/>
    <p:sldId id="293" r:id="rId8"/>
    <p:sldId id="312" r:id="rId9"/>
    <p:sldId id="313" r:id="rId10"/>
    <p:sldId id="260" r:id="rId11"/>
    <p:sldId id="277" r:id="rId12"/>
    <p:sldId id="278" r:id="rId13"/>
    <p:sldId id="279" r:id="rId14"/>
    <p:sldId id="280" r:id="rId15"/>
    <p:sldId id="281" r:id="rId16"/>
    <p:sldId id="282" r:id="rId17"/>
    <p:sldId id="283" r:id="rId18"/>
    <p:sldId id="284" r:id="rId19"/>
    <p:sldId id="285" r:id="rId20"/>
    <p:sldId id="288" r:id="rId21"/>
    <p:sldId id="289" r:id="rId22"/>
    <p:sldId id="295" r:id="rId23"/>
    <p:sldId id="294" r:id="rId24"/>
    <p:sldId id="290"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Lst>
  <p:sldSz cx="9144000" cy="5143500" type="screen16x9"/>
  <p:notesSz cx="6858000" cy="9144000"/>
  <p:embeddedFontLst>
    <p:embeddedFont>
      <p:font typeface="Roboto Light" charset="0"/>
      <p:regular r:id="rId40"/>
      <p:bold r:id="rId41"/>
      <p:italic r:id="rId42"/>
      <p:boldItalic r:id="rId43"/>
    </p:embeddedFont>
    <p:embeddedFont>
      <p:font typeface="Cambria Math" pitchFamily="18" charset="0"/>
      <p:regular r:id="rId44"/>
    </p:embeddedFont>
    <p:embeddedFont>
      <p:font typeface="Roboto"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pos="2222">
          <p15:clr>
            <a:srgbClr val="9AA0A6"/>
          </p15:clr>
        </p15:guide>
        <p15:guide id="2" orient="horz" pos="2755">
          <p15:clr>
            <a:srgbClr val="9AA0A6"/>
          </p15:clr>
        </p15:guide>
        <p15:guide id="3" orient="horz" pos="776">
          <p15:clr>
            <a:srgbClr val="9AA0A6"/>
          </p15:clr>
        </p15:guide>
        <p15:guide id="4" pos="206">
          <p15:clr>
            <a:srgbClr val="9AA0A6"/>
          </p15:clr>
        </p15:guide>
        <p15:guide id="5" pos="5553">
          <p15:clr>
            <a:srgbClr val="9AA0A6"/>
          </p15:clr>
        </p15:guide>
        <p15:guide id="6" orient="horz" pos="914">
          <p15:clr>
            <a:srgbClr val="9AA0A6"/>
          </p15:clr>
        </p15:guide>
        <p15:guide id="7" orient="horz" pos="2451">
          <p15:clr>
            <a:srgbClr val="9AA0A6"/>
          </p15:clr>
        </p15:guide>
        <p15:guide id="8" pos="871">
          <p15:clr>
            <a:srgbClr val="9AA0A6"/>
          </p15:clr>
        </p15:guide>
        <p15:guide id="9" pos="2880">
          <p15:clr>
            <a:srgbClr val="9AA0A6"/>
          </p15:clr>
        </p15:guide>
        <p15:guide id="10" pos="4909">
          <p15:clr>
            <a:srgbClr val="9AA0A6"/>
          </p15:clr>
        </p15:guide>
        <p15:guide id="11" orient="horz" pos="219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3" d="100"/>
          <a:sy n="93" d="100"/>
        </p:scale>
        <p:origin x="-714" y="-72"/>
      </p:cViewPr>
      <p:guideLst>
        <p:guide orient="horz" pos="2755"/>
        <p:guide orient="horz" pos="776"/>
        <p:guide orient="horz" pos="914"/>
        <p:guide orient="horz" pos="2451"/>
        <p:guide orient="horz" pos="2193"/>
        <p:guide pos="2222"/>
        <p:guide pos="206"/>
        <p:guide pos="5553"/>
        <p:guide pos="871"/>
        <p:guide pos="2880"/>
        <p:guide pos="490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6066200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Cover Slide</a:t>
            </a:r>
            <a:endParaRPr/>
          </a:p>
        </p:txBody>
      </p:sp>
    </p:spTree>
    <p:extLst>
      <p:ext uri="{BB962C8B-B14F-4D97-AF65-F5344CB8AC3E}">
        <p14:creationId xmlns:p14="http://schemas.microsoft.com/office/powerpoint/2010/main" val="505272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6fbcb5a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56fbcb5a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an image and a bullet list</a:t>
            </a:r>
            <a:endParaRPr/>
          </a:p>
        </p:txBody>
      </p:sp>
    </p:spTree>
    <p:extLst>
      <p:ext uri="{BB962C8B-B14F-4D97-AF65-F5344CB8AC3E}">
        <p14:creationId xmlns:p14="http://schemas.microsoft.com/office/powerpoint/2010/main" val="354656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6fbcb5a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56fbcb5a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3636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6fbcb5a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56fbcb5a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4320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Webinar Cover</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224865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Webinar Cover</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925980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59bc1b10e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59bc1b10e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Webinar Cover</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14711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6fbcb5a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56fbcb5a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2219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572f1b4f3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572f1b4f3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2395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3916151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4018962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98028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1888996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4246536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2003680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777041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2994756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2434354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This is the template for slides with only a bullet list</a:t>
            </a:r>
            <a:endParaRPr/>
          </a:p>
        </p:txBody>
      </p:sp>
    </p:spTree>
    <p:extLst>
      <p:ext uri="{BB962C8B-B14F-4D97-AF65-F5344CB8AC3E}">
        <p14:creationId xmlns:p14="http://schemas.microsoft.com/office/powerpoint/2010/main" val="6389457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7216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6102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8228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447016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0181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516641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4404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59595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50235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20524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3187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56641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602072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84303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88267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36812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47852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56fbcb5ab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56fbcb5ab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2487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
        <p:cNvGrpSpPr/>
        <p:nvPr/>
      </p:nvGrpSpPr>
      <p:grpSpPr>
        <a:xfrm>
          <a:off x="0" y="0"/>
          <a:ext cx="0" cy="0"/>
          <a:chOff x="0" y="0"/>
          <a:chExt cx="0" cy="0"/>
        </a:xfrm>
      </p:grpSpPr>
      <p:sp>
        <p:nvSpPr>
          <p:cNvPr id="11" name="Google Shape;11;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2" name="Google Shape;12;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 name="Google Shape;15;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0" name="Google Shape;20;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 name="Google Shape;27;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jp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jp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jp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pic>
        <p:nvPicPr>
          <p:cNvPr id="51" name="Google Shape;51;p13"/>
          <p:cNvPicPr preferRelativeResize="0"/>
          <p:nvPr/>
        </p:nvPicPr>
        <p:blipFill>
          <a:blip r:embed="rId3">
            <a:alphaModFix/>
          </a:blip>
          <a:stretch>
            <a:fillRect/>
          </a:stretch>
        </p:blipFill>
        <p:spPr>
          <a:xfrm>
            <a:off x="2808000" y="431425"/>
            <a:ext cx="3527998" cy="4280641"/>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4"/>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57" name="Google Shape;57;p14"/>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61" name="Google Shape;61;p14"/>
          <p:cNvSpPr txBox="1"/>
          <p:nvPr/>
        </p:nvSpPr>
        <p:spPr>
          <a:xfrm>
            <a:off x="517560" y="2404153"/>
            <a:ext cx="7880280" cy="1160980"/>
          </a:xfrm>
          <a:prstGeom prst="rect">
            <a:avLst/>
          </a:prstGeom>
          <a:noFill/>
          <a:ln>
            <a:noFill/>
          </a:ln>
        </p:spPr>
        <p:txBody>
          <a:bodyPr spcFirstLastPara="1" wrap="square" lIns="0" tIns="0" rIns="0" bIns="0" anchor="t" anchorCtr="0">
            <a:noAutofit/>
          </a:bodyPr>
          <a:lstStyle/>
          <a:p>
            <a:pPr marL="0" indent="0">
              <a:buNone/>
            </a:pPr>
            <a:r>
              <a:rPr lang="en-US" sz="1800" dirty="0" smtClean="0">
                <a:cs typeface="Arial" panose="020B0604020202020204" pitchFamily="34" charset="0"/>
              </a:rPr>
              <a:t>                         </a:t>
            </a:r>
            <a:r>
              <a:rPr lang="en-US" sz="2000" b="1" dirty="0" smtClean="0">
                <a:cs typeface="Arial" panose="020B0604020202020204" pitchFamily="34" charset="0"/>
              </a:rPr>
              <a:t>RATIOS, PROPORTIONS </a:t>
            </a:r>
            <a:r>
              <a:rPr lang="en-US" sz="2000" b="1" dirty="0" smtClean="0">
                <a:cs typeface="Arial" panose="020B0604020202020204" pitchFamily="34" charset="0"/>
              </a:rPr>
              <a:t>AND VARIATIONS</a:t>
            </a:r>
            <a:endParaRPr lang="en-US" sz="2000" b="1" dirty="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animEffect transition="in" filter="fade">
                                      <p:cBhvr>
                                        <p:cTn id="7" dur="500"/>
                                        <p:tgtEl>
                                          <p:spTgt spid="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4"/>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57" name="Google Shape;57;p14"/>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58" name="Google Shape;58;p14"/>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indent="0">
              <a:buNone/>
            </a:pPr>
            <a:r>
              <a:rPr lang="en-US" sz="2000" b="1" smtClean="0">
                <a:solidFill>
                  <a:schemeClr val="bg1"/>
                </a:solidFill>
                <a:latin typeface="+mj-lt"/>
                <a:cs typeface="Arial" panose="020B0604020202020204" pitchFamily="34" charset="0"/>
              </a:rPr>
              <a:t>   RATIOS</a:t>
            </a:r>
            <a:r>
              <a:rPr lang="en-US" sz="2000" b="1" dirty="0">
                <a:solidFill>
                  <a:schemeClr val="bg1"/>
                </a:solidFill>
                <a:latin typeface="Arial" panose="020B0604020202020204" pitchFamily="34" charset="0"/>
                <a:cs typeface="Arial" panose="020B0604020202020204" pitchFamily="34" charset="0"/>
              </a:rPr>
              <a:t>:</a:t>
            </a:r>
            <a:endParaRPr lang="en-US" sz="2000" b="1" dirty="0">
              <a:latin typeface="Arial" panose="020B0604020202020204" pitchFamily="34" charset="0"/>
              <a:cs typeface="Arial" panose="020B0604020202020204" pitchFamily="34" charset="0"/>
            </a:endParaRPr>
          </a:p>
        </p:txBody>
      </p:sp>
      <p:sp>
        <p:nvSpPr>
          <p:cNvPr id="61" name="Google Shape;61;p14"/>
          <p:cNvSpPr txBox="1"/>
          <p:nvPr/>
        </p:nvSpPr>
        <p:spPr>
          <a:xfrm>
            <a:off x="327600" y="1231200"/>
            <a:ext cx="8487464" cy="2610300"/>
          </a:xfrm>
          <a:prstGeom prst="rect">
            <a:avLst/>
          </a:prstGeom>
          <a:noFill/>
          <a:ln>
            <a:noFill/>
          </a:ln>
        </p:spPr>
        <p:txBody>
          <a:bodyPr spcFirstLastPara="1" wrap="square" lIns="0" tIns="0" rIns="0" bIns="0" anchor="t" anchorCtr="0">
            <a:noAutofit/>
          </a:bodyPr>
          <a:lstStyle/>
          <a:p>
            <a:pPr marL="285750" indent="-285750">
              <a:lnSpc>
                <a:spcPct val="150000"/>
              </a:lnSpc>
              <a:buFont typeface="Arial" pitchFamily="34" charset="0"/>
              <a:buChar char="•"/>
            </a:pPr>
            <a:r>
              <a:rPr lang="en-US" sz="1800" dirty="0" smtClean="0">
                <a:latin typeface="+mn-lt"/>
                <a:cs typeface="Arial" panose="020B0604020202020204" pitchFamily="34" charset="0"/>
              </a:rPr>
              <a:t>A</a:t>
            </a:r>
            <a:r>
              <a:rPr lang="en-US" sz="1800" dirty="0">
                <a:latin typeface="+mn-lt"/>
                <a:cs typeface="Arial" panose="020B0604020202020204" pitchFamily="34" charset="0"/>
              </a:rPr>
              <a:t> </a:t>
            </a:r>
            <a:r>
              <a:rPr lang="en-US" sz="1800" b="1" dirty="0">
                <a:latin typeface="+mn-lt"/>
                <a:cs typeface="Arial" panose="020B0604020202020204" pitchFamily="34" charset="0"/>
              </a:rPr>
              <a:t>ratio</a:t>
            </a:r>
            <a:r>
              <a:rPr lang="en-US" sz="1800" dirty="0">
                <a:latin typeface="+mn-lt"/>
                <a:cs typeface="Arial" panose="020B0604020202020204" pitchFamily="34" charset="0"/>
              </a:rPr>
              <a:t> is a relationship between two numbers indicating how many times the first number contains the second. </a:t>
            </a:r>
            <a:endParaRPr lang="en-US" sz="1800" dirty="0" smtClean="0">
              <a:latin typeface="+mn-lt"/>
              <a:cs typeface="Arial" panose="020B0604020202020204" pitchFamily="34" charset="0"/>
            </a:endParaRPr>
          </a:p>
          <a:p>
            <a:pPr marL="285750" indent="-285750">
              <a:lnSpc>
                <a:spcPct val="150000"/>
              </a:lnSpc>
              <a:buFont typeface="Arial" pitchFamily="34" charset="0"/>
              <a:buChar char="•"/>
            </a:pPr>
            <a:r>
              <a:rPr lang="en-US" sz="1800" dirty="0" smtClean="0">
                <a:latin typeface="+mn-lt"/>
                <a:cs typeface="Arial" panose="020B0604020202020204" pitchFamily="34" charset="0"/>
              </a:rPr>
              <a:t>For</a:t>
            </a:r>
            <a:r>
              <a:rPr lang="en-US" sz="1800" dirty="0">
                <a:latin typeface="+mn-lt"/>
                <a:cs typeface="Arial" panose="020B0604020202020204" pitchFamily="34" charset="0"/>
              </a:rPr>
              <a:t> </a:t>
            </a:r>
            <a:r>
              <a:rPr lang="en-US" sz="1800" b="1" dirty="0">
                <a:latin typeface="+mn-lt"/>
                <a:cs typeface="Arial" panose="020B0604020202020204" pitchFamily="34" charset="0"/>
              </a:rPr>
              <a:t>example</a:t>
            </a:r>
            <a:r>
              <a:rPr lang="en-US" sz="1800" dirty="0">
                <a:latin typeface="+mn-lt"/>
                <a:cs typeface="Arial" panose="020B0604020202020204" pitchFamily="34" charset="0"/>
              </a:rPr>
              <a:t>, if a bowl of fruit contains eight oranges and six lemons, then the </a:t>
            </a:r>
            <a:r>
              <a:rPr lang="en-US" sz="1800" b="1" dirty="0">
                <a:latin typeface="+mn-lt"/>
                <a:cs typeface="Arial" panose="020B0604020202020204" pitchFamily="34" charset="0"/>
              </a:rPr>
              <a:t>ratio</a:t>
            </a:r>
            <a:r>
              <a:rPr lang="en-US" sz="1800" dirty="0">
                <a:latin typeface="+mn-lt"/>
                <a:cs typeface="Arial" panose="020B0604020202020204" pitchFamily="34" charset="0"/>
              </a:rPr>
              <a:t> of oranges to lemons is eight to six (that is, 8∶6, which is equivalent to the </a:t>
            </a:r>
            <a:r>
              <a:rPr lang="en-US" sz="1800" b="1" dirty="0">
                <a:latin typeface="+mn-lt"/>
                <a:cs typeface="Arial" panose="020B0604020202020204" pitchFamily="34" charset="0"/>
              </a:rPr>
              <a:t>ratio</a:t>
            </a:r>
            <a:r>
              <a:rPr lang="en-US" sz="1800" dirty="0">
                <a:latin typeface="+mn-lt"/>
                <a:cs typeface="Arial" panose="020B0604020202020204" pitchFamily="34" charset="0"/>
              </a:rPr>
              <a:t> 4∶3).</a:t>
            </a:r>
          </a:p>
        </p:txBody>
      </p:sp>
    </p:spTree>
    <p:extLst>
      <p:ext uri="{BB962C8B-B14F-4D97-AF65-F5344CB8AC3E}">
        <p14:creationId xmlns:p14="http://schemas.microsoft.com/office/powerpoint/2010/main" val="30611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4"/>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57" name="Google Shape;57;p14"/>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58" name="Google Shape;58;p14"/>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indent="0">
              <a:buNone/>
            </a:pPr>
            <a:r>
              <a:rPr lang="en-US" sz="2000" b="1" dirty="0" smtClean="0">
                <a:solidFill>
                  <a:schemeClr val="bg1"/>
                </a:solidFill>
                <a:latin typeface="+mj-lt"/>
                <a:cs typeface="Arial" panose="020B0604020202020204" pitchFamily="34" charset="0"/>
              </a:rPr>
              <a:t>   PROPORTIONS</a:t>
            </a:r>
            <a:r>
              <a:rPr lang="en-US" sz="2000" b="1" dirty="0" smtClean="0">
                <a:solidFill>
                  <a:schemeClr val="bg1"/>
                </a:solidFill>
                <a:latin typeface="Arial" panose="020B0604020202020204" pitchFamily="34" charset="0"/>
                <a:cs typeface="Arial" panose="020B0604020202020204" pitchFamily="34" charset="0"/>
              </a:rPr>
              <a:t>:</a:t>
            </a:r>
            <a:endParaRPr lang="en-US" sz="2000" b="1" dirty="0">
              <a:latin typeface="Arial" panose="020B0604020202020204" pitchFamily="34" charset="0"/>
              <a:cs typeface="Arial" panose="020B0604020202020204" pitchFamily="34" charset="0"/>
            </a:endParaRPr>
          </a:p>
        </p:txBody>
      </p:sp>
      <p:sp>
        <p:nvSpPr>
          <p:cNvPr id="61" name="Google Shape;61;p14"/>
          <p:cNvSpPr txBox="1"/>
          <p:nvPr/>
        </p:nvSpPr>
        <p:spPr>
          <a:xfrm>
            <a:off x="327600" y="1231200"/>
            <a:ext cx="8420474" cy="2610300"/>
          </a:xfrm>
          <a:prstGeom prst="rect">
            <a:avLst/>
          </a:prstGeom>
          <a:noFill/>
          <a:ln>
            <a:noFill/>
          </a:ln>
        </p:spPr>
        <p:txBody>
          <a:bodyPr spcFirstLastPara="1" wrap="square" lIns="0" tIns="0" rIns="0" bIns="0" anchor="t" anchorCtr="0">
            <a:noAutofit/>
          </a:bodyPr>
          <a:lstStyle/>
          <a:p>
            <a:pPr marL="285750" indent="-285750">
              <a:lnSpc>
                <a:spcPct val="150000"/>
              </a:lnSpc>
              <a:buFont typeface="Arial" pitchFamily="34" charset="0"/>
              <a:buChar char="•"/>
            </a:pPr>
            <a:r>
              <a:rPr lang="en-US" sz="1800" dirty="0">
                <a:latin typeface="+mn-lt"/>
                <a:cs typeface="Arial" panose="020B0604020202020204" pitchFamily="34" charset="0"/>
              </a:rPr>
              <a:t>A </a:t>
            </a:r>
            <a:r>
              <a:rPr lang="en-US" sz="1800" b="1" dirty="0">
                <a:latin typeface="+mn-lt"/>
                <a:cs typeface="Arial" panose="020B0604020202020204" pitchFamily="34" charset="0"/>
              </a:rPr>
              <a:t>proportion</a:t>
            </a:r>
            <a:r>
              <a:rPr lang="en-US" sz="1800" dirty="0">
                <a:latin typeface="+mn-lt"/>
                <a:cs typeface="Arial" panose="020B0604020202020204" pitchFamily="34" charset="0"/>
              </a:rPr>
              <a:t> is simply a statement that two </a:t>
            </a:r>
            <a:r>
              <a:rPr lang="en-US" sz="1800" b="1" dirty="0">
                <a:latin typeface="+mn-lt"/>
                <a:cs typeface="Arial" panose="020B0604020202020204" pitchFamily="34" charset="0"/>
              </a:rPr>
              <a:t>ratios</a:t>
            </a:r>
            <a:r>
              <a:rPr lang="en-US" sz="1800" dirty="0">
                <a:latin typeface="+mn-lt"/>
                <a:cs typeface="Arial" panose="020B0604020202020204" pitchFamily="34" charset="0"/>
              </a:rPr>
              <a:t> are equal. It can be written in two ways: as two equal fractions a/b = c/d; or using a colon, a:b = c:d. ... </a:t>
            </a:r>
            <a:endParaRPr lang="en-US" sz="1800" dirty="0" smtClean="0">
              <a:latin typeface="+mn-lt"/>
              <a:cs typeface="Arial" panose="020B0604020202020204" pitchFamily="34" charset="0"/>
            </a:endParaRPr>
          </a:p>
          <a:p>
            <a:pPr marL="285750" indent="-285750">
              <a:lnSpc>
                <a:spcPct val="150000"/>
              </a:lnSpc>
              <a:buFont typeface="Arial" pitchFamily="34" charset="0"/>
              <a:buChar char="•"/>
            </a:pPr>
            <a:r>
              <a:rPr lang="en-US" sz="1800" dirty="0" smtClean="0">
                <a:latin typeface="+mn-lt"/>
                <a:cs typeface="Arial" panose="020B0604020202020204" pitchFamily="34" charset="0"/>
              </a:rPr>
              <a:t>In </a:t>
            </a:r>
            <a:r>
              <a:rPr lang="en-US" sz="1800" dirty="0">
                <a:latin typeface="+mn-lt"/>
                <a:cs typeface="Arial" panose="020B0604020202020204" pitchFamily="34" charset="0"/>
              </a:rPr>
              <a:t>problems involving </a:t>
            </a:r>
            <a:r>
              <a:rPr lang="en-US" sz="1800" b="1" dirty="0">
                <a:latin typeface="+mn-lt"/>
                <a:cs typeface="Arial" panose="020B0604020202020204" pitchFamily="34" charset="0"/>
              </a:rPr>
              <a:t>proportions</a:t>
            </a:r>
            <a:r>
              <a:rPr lang="en-US" sz="1800" dirty="0">
                <a:latin typeface="+mn-lt"/>
                <a:cs typeface="Arial" panose="020B0604020202020204" pitchFamily="34" charset="0"/>
              </a:rPr>
              <a:t>, we can use cross products to test whether two </a:t>
            </a:r>
            <a:r>
              <a:rPr lang="en-US" sz="1800" b="1" dirty="0">
                <a:latin typeface="+mn-lt"/>
                <a:cs typeface="Arial" panose="020B0604020202020204" pitchFamily="34" charset="0"/>
              </a:rPr>
              <a:t>ratios</a:t>
            </a:r>
            <a:r>
              <a:rPr lang="en-US" sz="1800" dirty="0">
                <a:latin typeface="+mn-lt"/>
                <a:cs typeface="Arial" panose="020B0604020202020204" pitchFamily="34" charset="0"/>
              </a:rPr>
              <a:t> are equal and form a </a:t>
            </a:r>
            <a:r>
              <a:rPr lang="en-US" sz="1800" b="1" dirty="0">
                <a:latin typeface="+mn-lt"/>
                <a:cs typeface="Arial" panose="020B0604020202020204" pitchFamily="34" charset="0"/>
              </a:rPr>
              <a:t>proportion</a:t>
            </a:r>
            <a:r>
              <a:rPr lang="en-US" sz="1800" dirty="0">
                <a:latin typeface="+mn-lt"/>
                <a:cs typeface="Arial" panose="020B0604020202020204" pitchFamily="34" charset="0"/>
              </a:rPr>
              <a:t>.</a:t>
            </a:r>
          </a:p>
          <a:p>
            <a:pPr marL="285750" indent="-285750">
              <a:lnSpc>
                <a:spcPct val="150000"/>
              </a:lnSpc>
              <a:buFont typeface="Arial" pitchFamily="34" charset="0"/>
              <a:buChar char="•"/>
            </a:pPr>
            <a:r>
              <a:rPr lang="en-US" sz="1800" dirty="0" smtClean="0">
                <a:latin typeface="+mn-lt"/>
                <a:cs typeface="Arial" panose="020B0604020202020204" pitchFamily="34" charset="0"/>
              </a:rPr>
              <a:t>A</a:t>
            </a:r>
            <a:r>
              <a:rPr lang="en-US" sz="1800" dirty="0">
                <a:latin typeface="+mn-lt"/>
                <a:cs typeface="Arial" panose="020B0604020202020204" pitchFamily="34" charset="0"/>
              </a:rPr>
              <a:t> </a:t>
            </a:r>
            <a:r>
              <a:rPr lang="en-US" sz="1800" b="1" dirty="0">
                <a:latin typeface="+mn-lt"/>
                <a:cs typeface="Arial" panose="020B0604020202020204" pitchFamily="34" charset="0"/>
              </a:rPr>
              <a:t>proportion</a:t>
            </a:r>
            <a:r>
              <a:rPr lang="en-US" sz="1800" dirty="0">
                <a:latin typeface="+mn-lt"/>
                <a:cs typeface="Arial" panose="020B0604020202020204" pitchFamily="34" charset="0"/>
              </a:rPr>
              <a:t> is an equation with a </a:t>
            </a:r>
            <a:r>
              <a:rPr lang="en-US" sz="1800" b="1" dirty="0">
                <a:latin typeface="+mn-lt"/>
                <a:cs typeface="Arial" panose="020B0604020202020204" pitchFamily="34" charset="0"/>
              </a:rPr>
              <a:t>ratio</a:t>
            </a:r>
            <a:r>
              <a:rPr lang="en-US" sz="1800" dirty="0">
                <a:latin typeface="+mn-lt"/>
                <a:cs typeface="Arial" panose="020B0604020202020204" pitchFamily="34" charset="0"/>
              </a:rPr>
              <a:t> on each side. It is a statement that two </a:t>
            </a:r>
            <a:r>
              <a:rPr lang="en-US" sz="1800" b="1" dirty="0">
                <a:latin typeface="+mn-lt"/>
                <a:cs typeface="Arial" panose="020B0604020202020204" pitchFamily="34" charset="0"/>
              </a:rPr>
              <a:t>ratios</a:t>
            </a:r>
            <a:r>
              <a:rPr lang="en-US" sz="1800" dirty="0">
                <a:latin typeface="+mn-lt"/>
                <a:cs typeface="Arial" panose="020B0604020202020204" pitchFamily="34" charset="0"/>
              </a:rPr>
              <a:t> are equal. 3/4 = 6/8 is an </a:t>
            </a:r>
            <a:r>
              <a:rPr lang="en-US" sz="1800" b="1" dirty="0">
                <a:latin typeface="+mn-lt"/>
                <a:cs typeface="Arial" panose="020B0604020202020204" pitchFamily="34" charset="0"/>
              </a:rPr>
              <a:t>example</a:t>
            </a:r>
            <a:r>
              <a:rPr lang="en-US" sz="1800" dirty="0">
                <a:latin typeface="+mn-lt"/>
                <a:cs typeface="Arial" panose="020B0604020202020204" pitchFamily="34" charset="0"/>
              </a:rPr>
              <a:t> of a </a:t>
            </a:r>
            <a:r>
              <a:rPr lang="en-US" sz="1800" b="1" dirty="0">
                <a:latin typeface="+mn-lt"/>
                <a:cs typeface="Arial" panose="020B0604020202020204" pitchFamily="34" charset="0"/>
              </a:rPr>
              <a:t>proportion.</a:t>
            </a:r>
            <a:endParaRPr lang="en-US" sz="1800" dirty="0">
              <a:latin typeface="+mn-lt"/>
              <a:cs typeface="Arial" panose="020B0604020202020204" pitchFamily="34" charset="0"/>
            </a:endParaRPr>
          </a:p>
          <a:p>
            <a:pPr marL="0" indent="0">
              <a:buNone/>
            </a:pPr>
            <a:endParaRPr lang="en-US" sz="1800" dirty="0">
              <a:latin typeface="+mn-lt"/>
              <a:cs typeface="Arial" panose="020B0604020202020204" pitchFamily="34" charset="0"/>
            </a:endParaRPr>
          </a:p>
        </p:txBody>
      </p:sp>
    </p:spTree>
    <p:extLst>
      <p:ext uri="{BB962C8B-B14F-4D97-AF65-F5344CB8AC3E}">
        <p14:creationId xmlns:p14="http://schemas.microsoft.com/office/powerpoint/2010/main" val="394893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68" name="Google Shape;68;p15"/>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69" name="Google Shape;69;p15"/>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dirty="0" smtClean="0">
                <a:solidFill>
                  <a:schemeClr val="lt1"/>
                </a:solidFill>
                <a:latin typeface="Roboto"/>
                <a:ea typeface="Roboto"/>
                <a:cs typeface="Roboto"/>
                <a:sym typeface="Roboto"/>
              </a:rPr>
              <a:t> VARIATIONS:</a:t>
            </a:r>
            <a:endParaRPr sz="2000" dirty="0">
              <a:solidFill>
                <a:schemeClr val="lt1"/>
              </a:solidFill>
              <a:latin typeface="Roboto"/>
              <a:ea typeface="Roboto"/>
              <a:cs typeface="Roboto"/>
              <a:sym typeface="Roboto"/>
            </a:endParaRPr>
          </a:p>
        </p:txBody>
      </p:sp>
      <p:sp>
        <p:nvSpPr>
          <p:cNvPr id="71" name="Google Shape;71;p15"/>
          <p:cNvSpPr txBox="1"/>
          <p:nvPr/>
        </p:nvSpPr>
        <p:spPr>
          <a:xfrm>
            <a:off x="441789" y="1000349"/>
            <a:ext cx="7890553" cy="2636703"/>
          </a:xfrm>
          <a:prstGeom prst="rect">
            <a:avLst/>
          </a:prstGeom>
          <a:noFill/>
          <a:ln>
            <a:noFill/>
          </a:ln>
        </p:spPr>
        <p:txBody>
          <a:bodyPr spcFirstLastPara="1" wrap="square" lIns="0" tIns="0" rIns="0" bIns="0" anchor="ctr" anchorCtr="0">
            <a:noAutofit/>
          </a:bodyPr>
          <a:lstStyle/>
          <a:p>
            <a:pPr marL="285750" indent="-285750">
              <a:lnSpc>
                <a:spcPct val="150000"/>
              </a:lnSpc>
              <a:buFont typeface="Arial" pitchFamily="34" charset="0"/>
              <a:buChar char="•"/>
            </a:pPr>
            <a:r>
              <a:rPr lang="en-US" sz="1800" dirty="0"/>
              <a:t>Variation deals with how one quantity changes with respect to one or more other quantities. </a:t>
            </a:r>
            <a:endParaRPr lang="en-US" sz="1800" dirty="0" smtClean="0"/>
          </a:p>
          <a:p>
            <a:pPr marL="285750" indent="-285750">
              <a:lnSpc>
                <a:spcPct val="150000"/>
              </a:lnSpc>
              <a:buFont typeface="Arial" pitchFamily="34" charset="0"/>
              <a:buChar char="•"/>
            </a:pPr>
            <a:r>
              <a:rPr lang="en-US" sz="1800" dirty="0" smtClean="0"/>
              <a:t>Two </a:t>
            </a:r>
            <a:r>
              <a:rPr lang="en-US" sz="1800" dirty="0"/>
              <a:t>quantities are said to vary with each other, if there exists a relationship between them such that a change is ‘A’ entails a change in ‘B’ and vice-versa.</a:t>
            </a:r>
          </a:p>
          <a:p>
            <a:pPr marL="285750" indent="-285750">
              <a:lnSpc>
                <a:spcPct val="150000"/>
              </a:lnSpc>
              <a:buFont typeface="Arial" pitchFamily="34" charset="0"/>
              <a:buChar char="•"/>
            </a:pPr>
            <a:r>
              <a:rPr lang="en-US" sz="1800" dirty="0"/>
              <a:t>There are two types of variation: direct variation and inverse variation.</a:t>
            </a:r>
          </a:p>
        </p:txBody>
      </p:sp>
    </p:spTree>
    <p:extLst>
      <p:ext uri="{BB962C8B-B14F-4D97-AF65-F5344CB8AC3E}">
        <p14:creationId xmlns:p14="http://schemas.microsoft.com/office/powerpoint/2010/main" val="1069385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animEffect transition="in" filter="fade">
                                      <p:cBhvr>
                                        <p:cTn id="7" dur="500"/>
                                        <p:tgtEl>
                                          <p:spTgt spid="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
                                            <p:txEl>
                                              <p:pRg st="1" end="1"/>
                                            </p:txEl>
                                          </p:spTgt>
                                        </p:tgtEl>
                                        <p:attrNameLst>
                                          <p:attrName>style.visibility</p:attrName>
                                        </p:attrNameLst>
                                      </p:cBhvr>
                                      <p:to>
                                        <p:strVal val="visible"/>
                                      </p:to>
                                    </p:set>
                                    <p:animEffect transition="in" filter="fade">
                                      <p:cBhvr>
                                        <p:cTn id="12" dur="500"/>
                                        <p:tgtEl>
                                          <p:spTgt spid="71">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1">
                                            <p:txEl>
                                              <p:pRg st="2" end="2"/>
                                            </p:txEl>
                                          </p:spTgt>
                                        </p:tgtEl>
                                        <p:attrNameLst>
                                          <p:attrName>style.visibility</p:attrName>
                                        </p:attrNameLst>
                                      </p:cBhvr>
                                      <p:to>
                                        <p:strVal val="visible"/>
                                      </p:to>
                                    </p:set>
                                    <p:animEffect transition="in" filter="fade">
                                      <p:cBhvr>
                                        <p:cTn id="15" dur="500"/>
                                        <p:tgtEl>
                                          <p:spTgt spid="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68" name="Google Shape;68;p15"/>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69" name="Google Shape;69;p15"/>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 DIRECT </a:t>
            </a:r>
            <a:r>
              <a:rPr lang="en-US" sz="2000" dirty="0" smtClean="0">
                <a:solidFill>
                  <a:schemeClr val="lt1"/>
                </a:solidFill>
                <a:latin typeface="Roboto"/>
                <a:ea typeface="Roboto"/>
                <a:cs typeface="Roboto"/>
                <a:sym typeface="Roboto"/>
              </a:rPr>
              <a:t>VARIATIONS:</a:t>
            </a:r>
            <a:endParaRPr sz="2000" dirty="0">
              <a:solidFill>
                <a:schemeClr val="lt1"/>
              </a:solidFill>
              <a:latin typeface="Roboto"/>
              <a:ea typeface="Roboto"/>
              <a:cs typeface="Roboto"/>
              <a:sym typeface="Roboto"/>
            </a:endParaRPr>
          </a:p>
        </p:txBody>
      </p:sp>
      <p:sp>
        <p:nvSpPr>
          <p:cNvPr id="71" name="Google Shape;71;p15"/>
          <p:cNvSpPr txBox="1"/>
          <p:nvPr/>
        </p:nvSpPr>
        <p:spPr>
          <a:xfrm>
            <a:off x="441789" y="1000350"/>
            <a:ext cx="7890553" cy="1948334"/>
          </a:xfrm>
          <a:prstGeom prst="rect">
            <a:avLst/>
          </a:prstGeom>
          <a:noFill/>
          <a:ln>
            <a:noFill/>
          </a:ln>
        </p:spPr>
        <p:txBody>
          <a:bodyPr spcFirstLastPara="1" wrap="square" lIns="0" tIns="0" rIns="0" bIns="0" anchor="ctr" anchorCtr="0">
            <a:noAutofit/>
          </a:bodyPr>
          <a:lstStyle/>
          <a:p>
            <a:r>
              <a:rPr lang="en-US" sz="1800" dirty="0" smtClean="0"/>
              <a:t>If </a:t>
            </a:r>
            <a:r>
              <a:rPr lang="en-US" sz="1800" dirty="0"/>
              <a:t>Quantity 1 varies directly with Quantity 2; i.e. Quantity 2 increases if Quantity 1 increases and Quantity 2 decreases if Quantity 1 decreases;</a:t>
            </a:r>
          </a:p>
          <a:p>
            <a:r>
              <a:rPr lang="en-US" sz="1800" dirty="0"/>
              <a:t>then they are said to be in direct variation. For example, if Time is constant, the Speed will be directly proportional to the distance. That is, if the Speed is more, then the distance covered will also be more, and vice-versa Speed α Distance</a:t>
            </a:r>
          </a:p>
          <a:p>
            <a:r>
              <a:rPr lang="en-US" sz="1800" dirty="0" smtClean="0"/>
              <a:t>.</a:t>
            </a:r>
            <a:endParaRPr lang="en-US" sz="1800" dirty="0"/>
          </a:p>
        </p:txBody>
      </p:sp>
      <p:pic>
        <p:nvPicPr>
          <p:cNvPr id="2" name="Picture 1"/>
          <p:cNvPicPr>
            <a:picLocks noChangeAspect="1"/>
          </p:cNvPicPr>
          <p:nvPr/>
        </p:nvPicPr>
        <p:blipFill>
          <a:blip r:embed="rId5"/>
          <a:stretch>
            <a:fillRect/>
          </a:stretch>
        </p:blipFill>
        <p:spPr>
          <a:xfrm>
            <a:off x="5371993" y="2476073"/>
            <a:ext cx="2838450" cy="2537716"/>
          </a:xfrm>
          <a:prstGeom prst="rect">
            <a:avLst/>
          </a:prstGeom>
        </p:spPr>
      </p:pic>
    </p:spTree>
    <p:extLst>
      <p:ext uri="{BB962C8B-B14F-4D97-AF65-F5344CB8AC3E}">
        <p14:creationId xmlns:p14="http://schemas.microsoft.com/office/powerpoint/2010/main" val="291050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animEffect transition="in" filter="fade">
                                      <p:cBhvr>
                                        <p:cTn id="7" dur="500"/>
                                        <p:tgtEl>
                                          <p:spTgt spid="7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1">
                                            <p:txEl>
                                              <p:pRg st="1" end="1"/>
                                            </p:txEl>
                                          </p:spTgt>
                                        </p:tgtEl>
                                        <p:attrNameLst>
                                          <p:attrName>style.visibility</p:attrName>
                                        </p:attrNameLst>
                                      </p:cBhvr>
                                      <p:to>
                                        <p:strVal val="visible"/>
                                      </p:to>
                                    </p:set>
                                    <p:animEffect transition="in" filter="fade">
                                      <p:cBhvr>
                                        <p:cTn id="10" dur="500"/>
                                        <p:tgtEl>
                                          <p:spTgt spid="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68" name="Google Shape;68;p15"/>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69" name="Google Shape;69;p15"/>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 INVERSE </a:t>
            </a:r>
            <a:r>
              <a:rPr lang="en-US" sz="2000" dirty="0" smtClean="0">
                <a:solidFill>
                  <a:schemeClr val="lt1"/>
                </a:solidFill>
                <a:latin typeface="Roboto"/>
                <a:ea typeface="Roboto"/>
                <a:cs typeface="Roboto"/>
                <a:sym typeface="Roboto"/>
              </a:rPr>
              <a:t>VARIATIONS:</a:t>
            </a:r>
            <a:endParaRPr sz="2000" dirty="0">
              <a:solidFill>
                <a:schemeClr val="lt1"/>
              </a:solidFill>
              <a:latin typeface="Roboto"/>
              <a:ea typeface="Roboto"/>
              <a:cs typeface="Roboto"/>
              <a:sym typeface="Roboto"/>
            </a:endParaRPr>
          </a:p>
        </p:txBody>
      </p:sp>
      <p:sp>
        <p:nvSpPr>
          <p:cNvPr id="71" name="Google Shape;71;p15"/>
          <p:cNvSpPr txBox="1"/>
          <p:nvPr/>
        </p:nvSpPr>
        <p:spPr>
          <a:xfrm>
            <a:off x="441789" y="1000350"/>
            <a:ext cx="7890553" cy="1660658"/>
          </a:xfrm>
          <a:prstGeom prst="rect">
            <a:avLst/>
          </a:prstGeom>
          <a:noFill/>
          <a:ln>
            <a:noFill/>
          </a:ln>
        </p:spPr>
        <p:txBody>
          <a:bodyPr spcFirstLastPara="1" wrap="square" lIns="0" tIns="0" rIns="0" bIns="0" anchor="ctr" anchorCtr="0">
            <a:noAutofit/>
          </a:bodyPr>
          <a:lstStyle/>
          <a:p>
            <a:r>
              <a:rPr lang="en-US" sz="1800" dirty="0" smtClean="0"/>
              <a:t>If </a:t>
            </a:r>
            <a:r>
              <a:rPr lang="en-US" sz="1800" dirty="0"/>
              <a:t>Quantity 1 varies inversely with Quantity 2, then they are said to be in inverse variation. For example, Speed varies inversely with time; that is if the Speed is more, then the time taken to cover a constant distance will be less. This means that when speed is minimum, then time is maximum; and when speed is maximum, then time is minimum.</a:t>
            </a:r>
          </a:p>
          <a:p>
            <a:r>
              <a:rPr lang="en-US" sz="1800" dirty="0" smtClean="0"/>
              <a:t>.</a:t>
            </a:r>
            <a:endParaRPr lang="en-US" sz="1800" dirty="0"/>
          </a:p>
        </p:txBody>
      </p:sp>
      <p:pic>
        <p:nvPicPr>
          <p:cNvPr id="2" name="Picture 1"/>
          <p:cNvPicPr>
            <a:picLocks noChangeAspect="1"/>
          </p:cNvPicPr>
          <p:nvPr/>
        </p:nvPicPr>
        <p:blipFill>
          <a:blip r:embed="rId5"/>
          <a:stretch>
            <a:fillRect/>
          </a:stretch>
        </p:blipFill>
        <p:spPr>
          <a:xfrm>
            <a:off x="5696812" y="2137025"/>
            <a:ext cx="2847975" cy="2835667"/>
          </a:xfrm>
          <a:prstGeom prst="rect">
            <a:avLst/>
          </a:prstGeom>
        </p:spPr>
      </p:pic>
    </p:spTree>
    <p:extLst>
      <p:ext uri="{BB962C8B-B14F-4D97-AF65-F5344CB8AC3E}">
        <p14:creationId xmlns:p14="http://schemas.microsoft.com/office/powerpoint/2010/main" val="289894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animEffect transition="in" filter="fade">
                                      <p:cBhvr>
                                        <p:cTn id="7" dur="500"/>
                                        <p:tgtEl>
                                          <p:spTgt spid="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4"/>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57" name="Google Shape;57;p14"/>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58" name="Google Shape;58;p14"/>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indent="0">
              <a:buNone/>
            </a:pPr>
            <a:r>
              <a:rPr lang="en-US" sz="2000" b="1" dirty="0" smtClean="0">
                <a:solidFill>
                  <a:schemeClr val="bg1"/>
                </a:solidFill>
                <a:latin typeface="+mj-lt"/>
                <a:cs typeface="Arial" panose="020B0604020202020204" pitchFamily="34" charset="0"/>
              </a:rPr>
              <a:t>   FORMULA:</a:t>
            </a:r>
            <a:endParaRPr lang="en-US" sz="2000" b="1" dirty="0">
              <a:latin typeface="Arial" panose="020B0604020202020204" pitchFamily="34" charset="0"/>
              <a:cs typeface="Arial" panose="020B0604020202020204" pitchFamily="34" charset="0"/>
            </a:endParaRPr>
          </a:p>
        </p:txBody>
      </p:sp>
      <p:sp>
        <p:nvSpPr>
          <p:cNvPr id="61" name="Google Shape;61;p14"/>
          <p:cNvSpPr txBox="1"/>
          <p:nvPr/>
        </p:nvSpPr>
        <p:spPr>
          <a:xfrm>
            <a:off x="327600" y="1231199"/>
            <a:ext cx="6946503" cy="2843975"/>
          </a:xfrm>
          <a:prstGeom prst="rect">
            <a:avLst/>
          </a:prstGeom>
          <a:noFill/>
          <a:ln>
            <a:noFill/>
          </a:ln>
        </p:spPr>
        <p:txBody>
          <a:bodyPr spcFirstLastPara="1" wrap="square" lIns="0" tIns="0" rIns="0" bIns="0" anchor="t" anchorCtr="0">
            <a:noAutofit/>
          </a:bodyPr>
          <a:lstStyle/>
          <a:p>
            <a:r>
              <a:rPr lang="es-ES" sz="1800" dirty="0">
                <a:latin typeface="Arial" panose="020B0604020202020204" pitchFamily="34" charset="0"/>
                <a:cs typeface="Arial" panose="020B0604020202020204" pitchFamily="34" charset="0"/>
              </a:rPr>
              <a:t>If u/v = x/y, then uy = vx</a:t>
            </a:r>
          </a:p>
          <a:p>
            <a:r>
              <a:rPr lang="es-ES" sz="1800" dirty="0">
                <a:latin typeface="Arial" panose="020B0604020202020204" pitchFamily="34" charset="0"/>
                <a:cs typeface="Arial" panose="020B0604020202020204" pitchFamily="34" charset="0"/>
              </a:rPr>
              <a:t>If u/v = x/y, then u/x = v/y</a:t>
            </a:r>
          </a:p>
          <a:p>
            <a:r>
              <a:rPr lang="es-ES" sz="1800" dirty="0">
                <a:latin typeface="Arial" panose="020B0604020202020204" pitchFamily="34" charset="0"/>
                <a:cs typeface="Arial" panose="020B0604020202020204" pitchFamily="34" charset="0"/>
              </a:rPr>
              <a:t>If u/v = x/y, then v/u = y/x</a:t>
            </a:r>
          </a:p>
          <a:p>
            <a:r>
              <a:rPr lang="es-ES" sz="1800" dirty="0">
                <a:latin typeface="Arial" panose="020B0604020202020204" pitchFamily="34" charset="0"/>
                <a:cs typeface="Arial" panose="020B0604020202020204" pitchFamily="34" charset="0"/>
              </a:rPr>
              <a:t>If u/v = x/y, then (u+v)/v = (x+y)/y</a:t>
            </a:r>
          </a:p>
          <a:p>
            <a:r>
              <a:rPr lang="es-ES" sz="1800" dirty="0">
                <a:latin typeface="Arial" panose="020B0604020202020204" pitchFamily="34" charset="0"/>
                <a:cs typeface="Arial" panose="020B0604020202020204" pitchFamily="34" charset="0"/>
              </a:rPr>
              <a:t>If u/v = x/y, then (u-v)/v = (x-y)/y</a:t>
            </a:r>
          </a:p>
          <a:p>
            <a:r>
              <a:rPr lang="es-ES" sz="1800" dirty="0">
                <a:latin typeface="Arial" panose="020B0604020202020204" pitchFamily="34" charset="0"/>
                <a:cs typeface="Arial" panose="020B0604020202020204" pitchFamily="34" charset="0"/>
              </a:rPr>
              <a:t>If u/v = x/y, then (u+v)/ (u-v) = (x+y)/(x-y), which is known as </a:t>
            </a:r>
            <a:r>
              <a:rPr lang="es-ES" sz="1800" dirty="0" smtClean="0">
                <a:latin typeface="Arial" panose="020B0604020202020204" pitchFamily="34" charset="0"/>
                <a:cs typeface="Arial" panose="020B0604020202020204" pitchFamily="34" charset="0"/>
              </a:rPr>
              <a:t>componendo </a:t>
            </a:r>
            <a:r>
              <a:rPr lang="es-ES" sz="1800" dirty="0">
                <a:latin typeface="Arial" panose="020B0604020202020204" pitchFamily="34" charset="0"/>
                <a:cs typeface="Arial" panose="020B0604020202020204" pitchFamily="34" charset="0"/>
              </a:rPr>
              <a:t>-Dividendo Rule</a:t>
            </a:r>
          </a:p>
          <a:p>
            <a:r>
              <a:rPr lang="es-ES" sz="1800" dirty="0">
                <a:latin typeface="Arial" panose="020B0604020202020204" pitchFamily="34" charset="0"/>
                <a:cs typeface="Arial" panose="020B0604020202020204" pitchFamily="34" charset="0"/>
              </a:rPr>
              <a:t>If u/v = v/x, then u/x = u</a:t>
            </a:r>
            <a:r>
              <a:rPr lang="es-ES" sz="1800" baseline="30000" dirty="0">
                <a:latin typeface="Arial" panose="020B0604020202020204" pitchFamily="34" charset="0"/>
                <a:cs typeface="Arial" panose="020B0604020202020204" pitchFamily="34" charset="0"/>
              </a:rPr>
              <a:t>2</a:t>
            </a:r>
            <a:r>
              <a:rPr lang="es-ES" sz="1800" dirty="0">
                <a:latin typeface="Arial" panose="020B0604020202020204" pitchFamily="34" charset="0"/>
                <a:cs typeface="Arial" panose="020B0604020202020204" pitchFamily="34" charset="0"/>
              </a:rPr>
              <a:t>/v</a:t>
            </a:r>
            <a:r>
              <a:rPr lang="es-ES" sz="1800" baseline="30000" dirty="0">
                <a:latin typeface="Arial" panose="020B0604020202020204" pitchFamily="34" charset="0"/>
                <a:cs typeface="Arial" panose="020B0604020202020204" pitchFamily="34" charset="0"/>
              </a:rPr>
              <a:t>2</a:t>
            </a:r>
            <a:endParaRPr lang="es-ES" sz="1800" dirty="0">
              <a:latin typeface="Arial" panose="020B0604020202020204" pitchFamily="34" charset="0"/>
              <a:cs typeface="Arial" panose="020B0604020202020204" pitchFamily="34" charset="0"/>
            </a:endParaRPr>
          </a:p>
          <a:p>
            <a:r>
              <a:rPr lang="es-ES" sz="1800" dirty="0">
                <a:latin typeface="Arial" panose="020B0604020202020204" pitchFamily="34" charset="0"/>
                <a:cs typeface="Arial" panose="020B0604020202020204" pitchFamily="34" charset="0"/>
              </a:rPr>
              <a:t>If u/v = x/y, then u = x and v =y</a:t>
            </a:r>
          </a:p>
          <a:p>
            <a:r>
              <a:rPr lang="es-ES" sz="1800" dirty="0">
                <a:latin typeface="Arial" panose="020B0604020202020204" pitchFamily="34" charset="0"/>
                <a:cs typeface="Arial" panose="020B0604020202020204" pitchFamily="34" charset="0"/>
              </a:rPr>
              <a:t>If a/(b+c) = b/(c+a) = c/(a+b) and a+b+ c ≠0, then a =b = c</a:t>
            </a:r>
          </a:p>
          <a:p>
            <a:pPr marL="0" indent="0">
              <a:buNone/>
            </a:pPr>
            <a:endParaRPr lang="en-US" sz="1800" dirty="0">
              <a:latin typeface="+mn-lt"/>
              <a:cs typeface="Arial" panose="020B0604020202020204" pitchFamily="34" charset="0"/>
            </a:endParaRPr>
          </a:p>
        </p:txBody>
      </p:sp>
    </p:spTree>
    <p:extLst>
      <p:ext uri="{BB962C8B-B14F-4D97-AF65-F5344CB8AC3E}">
        <p14:creationId xmlns:p14="http://schemas.microsoft.com/office/powerpoint/2010/main" val="1112009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79" name="Google Shape;79;p16"/>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80" name="Google Shape;80;p16"/>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000" dirty="0" smtClean="0">
                <a:solidFill>
                  <a:schemeClr val="bg1"/>
                </a:solidFill>
              </a:rPr>
              <a:t>  CONCEPTS:</a:t>
            </a:r>
            <a:endParaRPr sz="2000" dirty="0">
              <a:solidFill>
                <a:schemeClr val="bg1"/>
              </a:solidFill>
            </a:endParaRPr>
          </a:p>
        </p:txBody>
      </p:sp>
      <p:sp>
        <p:nvSpPr>
          <p:cNvPr id="82" name="Google Shape;82;p16"/>
          <p:cNvSpPr txBox="1"/>
          <p:nvPr/>
        </p:nvSpPr>
        <p:spPr>
          <a:xfrm>
            <a:off x="0" y="1446174"/>
            <a:ext cx="10631400" cy="1249776"/>
          </a:xfrm>
          <a:prstGeom prst="rect">
            <a:avLst/>
          </a:prstGeom>
          <a:noFill/>
          <a:ln>
            <a:noFill/>
          </a:ln>
        </p:spPr>
        <p:txBody>
          <a:bodyPr spcFirstLastPara="1" wrap="square" lIns="0" tIns="475200" rIns="0" bIns="0" anchor="t" anchorCtr="0">
            <a:noAutofit/>
          </a:bodyPr>
          <a:lstStyle/>
          <a:p>
            <a:pPr marL="475199" lvl="0" indent="0" algn="l" rtl="0">
              <a:spcBef>
                <a:spcPts val="0"/>
              </a:spcBef>
              <a:spcAft>
                <a:spcPts val="0"/>
              </a:spcAft>
              <a:buNone/>
            </a:pPr>
            <a:endParaRPr sz="2000" dirty="0">
              <a:latin typeface="Roboto Light"/>
              <a:ea typeface="Roboto Light"/>
              <a:cs typeface="Roboto Light"/>
              <a:sym typeface="Roboto Light"/>
            </a:endParaRPr>
          </a:p>
        </p:txBody>
      </p:sp>
      <p:sp>
        <p:nvSpPr>
          <p:cNvPr id="83" name="Google Shape;83;p16"/>
          <p:cNvSpPr txBox="1"/>
          <p:nvPr/>
        </p:nvSpPr>
        <p:spPr>
          <a:xfrm>
            <a:off x="72277" y="1103454"/>
            <a:ext cx="8620018" cy="3184989"/>
          </a:xfrm>
          <a:prstGeom prst="rect">
            <a:avLst/>
          </a:prstGeom>
          <a:noFill/>
          <a:ln>
            <a:noFill/>
          </a:ln>
        </p:spPr>
        <p:txBody>
          <a:bodyPr spcFirstLastPara="1" wrap="square" lIns="0" tIns="0" rIns="0" bIns="0" anchor="t" anchorCtr="0">
            <a:noAutofit/>
          </a:bodyPr>
          <a:lstStyle/>
          <a:p>
            <a:pPr algn="just"/>
            <a:r>
              <a:rPr lang="en-US" sz="1800" dirty="0" smtClean="0">
                <a:latin typeface="Arial" panose="020B0604020202020204" pitchFamily="34" charset="0"/>
                <a:cs typeface="Arial" panose="020B0604020202020204" pitchFamily="34" charset="0"/>
              </a:rPr>
              <a:t>   Suppose </a:t>
            </a:r>
            <a:r>
              <a:rPr lang="en-US" sz="1800" dirty="0">
                <a:latin typeface="Arial" panose="020B0604020202020204" pitchFamily="34" charset="0"/>
                <a:cs typeface="Arial" panose="020B0604020202020204" pitchFamily="34" charset="0"/>
              </a:rPr>
              <a:t>we have two quantities or two numbers or two entities and </a:t>
            </a:r>
            <a:endParaRPr lang="en-US" sz="1800" dirty="0" smtClean="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we have </a:t>
            </a:r>
            <a:r>
              <a:rPr lang="en-US" sz="1800" dirty="0">
                <a:latin typeface="Arial" panose="020B0604020202020204" pitchFamily="34" charset="0"/>
                <a:cs typeface="Arial" panose="020B0604020202020204" pitchFamily="34" charset="0"/>
              </a:rPr>
              <a:t>to find the ratio of these two, then the formula for ratio </a:t>
            </a:r>
            <a:r>
              <a:rPr lang="en-US" sz="1800" dirty="0" smtClean="0">
                <a:latin typeface="Arial" panose="020B0604020202020204" pitchFamily="34" charset="0"/>
                <a:cs typeface="Arial" panose="020B0604020202020204" pitchFamily="34" charset="0"/>
              </a:rPr>
              <a:t>is defined </a:t>
            </a:r>
            <a:r>
              <a:rPr lang="en-US" sz="1800" dirty="0">
                <a:latin typeface="Arial" panose="020B0604020202020204" pitchFamily="34" charset="0"/>
                <a:cs typeface="Arial" panose="020B0604020202020204" pitchFamily="34" charset="0"/>
              </a:rPr>
              <a:t>as;</a:t>
            </a:r>
          </a:p>
          <a:p>
            <a:pPr marL="0" indent="0" algn="just">
              <a:buNone/>
            </a:pPr>
            <a:r>
              <a:rPr lang="en-US" sz="1800" b="1" dirty="0">
                <a:latin typeface="Arial" panose="020B0604020202020204" pitchFamily="34" charset="0"/>
                <a:cs typeface="Arial" panose="020B0604020202020204" pitchFamily="34" charset="0"/>
              </a:rPr>
              <a:t>                        </a:t>
            </a:r>
            <a:r>
              <a:rPr lang="en-US" sz="1800" b="1" dirty="0" smtClean="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a: b ⇒ </a:t>
            </a:r>
            <a:r>
              <a:rPr lang="en-US" sz="1800" b="1" dirty="0" smtClean="0">
                <a:latin typeface="Arial" panose="020B0604020202020204" pitchFamily="34" charset="0"/>
                <a:cs typeface="Arial" panose="020B0604020202020204" pitchFamily="34" charset="0"/>
              </a:rPr>
              <a:t>a/b</a:t>
            </a:r>
            <a:endParaRPr lang="en-US" sz="1800" dirty="0">
              <a:latin typeface="Arial" panose="020B0604020202020204" pitchFamily="34" charset="0"/>
              <a:cs typeface="Arial" panose="020B0604020202020204" pitchFamily="34" charset="0"/>
            </a:endParaRPr>
          </a:p>
          <a:p>
            <a:pPr marL="0" indent="0" algn="just">
              <a:buNone/>
            </a:pP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where </a:t>
            </a:r>
            <a:r>
              <a:rPr lang="en-US" sz="1800" dirty="0">
                <a:latin typeface="Arial" panose="020B0604020202020204" pitchFamily="34" charset="0"/>
                <a:cs typeface="Arial" panose="020B0604020202020204" pitchFamily="34" charset="0"/>
              </a:rPr>
              <a:t>a and b could be any two quantities.</a:t>
            </a:r>
          </a:p>
          <a:p>
            <a:pPr marL="0" indent="0" algn="just">
              <a:buNone/>
            </a:pP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Here</a:t>
            </a:r>
            <a:r>
              <a:rPr lang="en-US" sz="1800" dirty="0">
                <a:latin typeface="Arial" panose="020B0604020202020204" pitchFamily="34" charset="0"/>
                <a:cs typeface="Arial" panose="020B0604020202020204" pitchFamily="34" charset="0"/>
              </a:rPr>
              <a:t>, “a” is called the first term or antecedent, and “b” is called the </a:t>
            </a:r>
            <a:r>
              <a:rPr lang="en-US" sz="1800" dirty="0" smtClean="0">
                <a:latin typeface="Arial" panose="020B0604020202020204" pitchFamily="34" charset="0"/>
                <a:cs typeface="Arial" panose="020B0604020202020204" pitchFamily="34" charset="0"/>
              </a:rPr>
              <a:t> second </a:t>
            </a:r>
            <a:r>
              <a:rPr lang="en-US" sz="1800" dirty="0">
                <a:latin typeface="Arial" panose="020B0604020202020204" pitchFamily="34" charset="0"/>
                <a:cs typeface="Arial" panose="020B0604020202020204" pitchFamily="34" charset="0"/>
              </a:rPr>
              <a:t>term </a:t>
            </a:r>
            <a:endParaRPr lang="en-US" sz="1800" dirty="0" smtClean="0">
              <a:latin typeface="Arial" panose="020B0604020202020204" pitchFamily="34" charset="0"/>
              <a:cs typeface="Arial" panose="020B0604020202020204" pitchFamily="34" charset="0"/>
            </a:endParaRPr>
          </a:p>
          <a:p>
            <a:pPr marL="0" indent="0" algn="just">
              <a:buNone/>
            </a:pP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or   consequent.</a:t>
            </a:r>
            <a:endParaRPr lang="en-US" sz="1800" dirty="0">
              <a:latin typeface="Arial" panose="020B0604020202020204" pitchFamily="34" charset="0"/>
              <a:cs typeface="Arial" panose="020B0604020202020204" pitchFamily="34" charset="0"/>
            </a:endParaRPr>
          </a:p>
          <a:p>
            <a:pPr algn="just"/>
            <a:r>
              <a:rPr lang="en-US" sz="1800" dirty="0" smtClean="0">
                <a:latin typeface="Arial" panose="020B0604020202020204" pitchFamily="34" charset="0"/>
                <a:cs typeface="Arial" panose="020B0604020202020204" pitchFamily="34" charset="0"/>
              </a:rPr>
              <a:t>   Now</a:t>
            </a:r>
            <a:r>
              <a:rPr lang="en-US" sz="1800" dirty="0">
                <a:latin typeface="Arial" panose="020B0604020202020204" pitchFamily="34" charset="0"/>
                <a:cs typeface="Arial" panose="020B0604020202020204" pitchFamily="34" charset="0"/>
              </a:rPr>
              <a:t>, let us assume that, in proportion, the two ratios are </a:t>
            </a:r>
            <a:r>
              <a:rPr lang="en-US" sz="1800" b="1" dirty="0">
                <a:latin typeface="Arial" panose="020B0604020202020204" pitchFamily="34" charset="0"/>
                <a:cs typeface="Arial" panose="020B0604020202020204" pitchFamily="34" charset="0"/>
              </a:rPr>
              <a:t>a:b</a:t>
            </a:r>
            <a:r>
              <a:rPr lang="en-US" sz="1800" dirty="0">
                <a:latin typeface="Arial" panose="020B0604020202020204" pitchFamily="34" charset="0"/>
                <a:cs typeface="Arial" panose="020B0604020202020204" pitchFamily="34" charset="0"/>
              </a:rPr>
              <a:t> &amp; </a:t>
            </a:r>
            <a:r>
              <a:rPr lang="en-US" sz="1800" b="1" dirty="0">
                <a:latin typeface="Arial" panose="020B0604020202020204" pitchFamily="34" charset="0"/>
                <a:cs typeface="Arial" panose="020B0604020202020204" pitchFamily="34" charset="0"/>
              </a:rPr>
              <a:t>c:d. </a:t>
            </a:r>
            <a:endParaRPr lang="en-US" sz="1800" b="1" dirty="0" smtClean="0">
              <a:latin typeface="Arial" panose="020B0604020202020204" pitchFamily="34" charset="0"/>
              <a:cs typeface="Arial" panose="020B0604020202020204" pitchFamily="34" charset="0"/>
            </a:endParaRPr>
          </a:p>
          <a:p>
            <a:pPr algn="just"/>
            <a:r>
              <a:rPr lang="en-US" sz="1800" b="1" dirty="0">
                <a:latin typeface="Arial" panose="020B0604020202020204" pitchFamily="34" charset="0"/>
                <a:cs typeface="Arial" panose="020B0604020202020204" pitchFamily="34" charset="0"/>
              </a:rPr>
              <a:t> </a:t>
            </a:r>
            <a:r>
              <a:rPr lang="en-US" sz="1800" b="1" dirty="0" smtClean="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The </a:t>
            </a:r>
            <a:r>
              <a:rPr lang="en-US" sz="1800" dirty="0">
                <a:latin typeface="Arial" panose="020B0604020202020204" pitchFamily="34" charset="0"/>
                <a:cs typeface="Arial" panose="020B0604020202020204" pitchFamily="34" charset="0"/>
              </a:rPr>
              <a:t>two terms </a:t>
            </a:r>
            <a:r>
              <a:rPr lang="en-US" sz="1800" b="1" dirty="0">
                <a:latin typeface="Arial" panose="020B0604020202020204" pitchFamily="34" charset="0"/>
                <a:cs typeface="Arial" panose="020B0604020202020204" pitchFamily="34" charset="0"/>
              </a:rPr>
              <a:t>‘b’</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‘c’</a:t>
            </a:r>
            <a:r>
              <a:rPr lang="en-US" sz="1800" dirty="0">
                <a:latin typeface="Arial" panose="020B0604020202020204" pitchFamily="34" charset="0"/>
                <a:cs typeface="Arial" panose="020B0604020202020204" pitchFamily="34" charset="0"/>
              </a:rPr>
              <a:t> are called </a:t>
            </a:r>
            <a:r>
              <a:rPr lang="en-US" sz="1800" b="1" dirty="0">
                <a:latin typeface="Arial" panose="020B0604020202020204" pitchFamily="34" charset="0"/>
                <a:cs typeface="Arial" panose="020B0604020202020204" pitchFamily="34" charset="0"/>
              </a:rPr>
              <a:t>‘means or mean term,’</a:t>
            </a:r>
            <a:r>
              <a:rPr lang="en-US" sz="1800" dirty="0">
                <a:latin typeface="Arial" panose="020B0604020202020204" pitchFamily="34" charset="0"/>
                <a:cs typeface="Arial" panose="020B0604020202020204" pitchFamily="34" charset="0"/>
              </a:rPr>
              <a:t> </a:t>
            </a:r>
            <a:endParaRPr lang="en-US" sz="1800" dirty="0" smtClean="0">
              <a:latin typeface="Arial" panose="020B0604020202020204" pitchFamily="34" charset="0"/>
              <a:cs typeface="Arial" panose="020B0604020202020204" pitchFamily="34" charset="0"/>
            </a:endParaRPr>
          </a:p>
          <a:p>
            <a:pPr algn="just"/>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whereas </a:t>
            </a:r>
            <a:r>
              <a:rPr lang="en-US" sz="1800" dirty="0">
                <a:latin typeface="Arial" panose="020B0604020202020204" pitchFamily="34" charset="0"/>
                <a:cs typeface="Arial" panose="020B0604020202020204" pitchFamily="34" charset="0"/>
              </a:rPr>
              <a:t>the terms </a:t>
            </a:r>
            <a:r>
              <a:rPr lang="en-US" sz="1800" b="1" dirty="0">
                <a:latin typeface="Arial" panose="020B0604020202020204" pitchFamily="34" charset="0"/>
                <a:cs typeface="Arial" panose="020B0604020202020204" pitchFamily="34" charset="0"/>
              </a:rPr>
              <a:t>‘a’</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‘d’</a:t>
            </a:r>
            <a:r>
              <a:rPr lang="en-US" sz="1800" dirty="0">
                <a:latin typeface="Arial" panose="020B0604020202020204" pitchFamily="34" charset="0"/>
                <a:cs typeface="Arial" panose="020B0604020202020204" pitchFamily="34" charset="0"/>
              </a:rPr>
              <a:t> are known as ‘</a:t>
            </a:r>
            <a:r>
              <a:rPr lang="en-US" sz="1800" b="1" dirty="0">
                <a:latin typeface="Arial" panose="020B0604020202020204" pitchFamily="34" charset="0"/>
                <a:cs typeface="Arial" panose="020B0604020202020204" pitchFamily="34" charset="0"/>
              </a:rPr>
              <a:t>extremes or extreme terms.’</a:t>
            </a:r>
          </a:p>
          <a:p>
            <a:pPr marL="0" indent="0" algn="just">
              <a:buNone/>
            </a:pPr>
            <a:r>
              <a:rPr lang="en-US" sz="1800" b="1" dirty="0">
                <a:latin typeface="Arial" panose="020B0604020202020204" pitchFamily="34" charset="0"/>
                <a:cs typeface="Arial" panose="020B0604020202020204" pitchFamily="34" charset="0"/>
              </a:rPr>
              <a:t>                                    a/b = c/d or  a : b :: c : d</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737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01</a:t>
            </a:r>
            <a:endParaRPr sz="2000" dirty="0">
              <a:solidFill>
                <a:schemeClr val="lt1"/>
              </a:solidFill>
              <a:latin typeface="Roboto"/>
              <a:ea typeface="Roboto"/>
              <a:cs typeface="Roboto"/>
              <a:sym typeface="Roboto"/>
            </a:endParaRPr>
          </a:p>
        </p:txBody>
      </p:sp>
      <p:sp>
        <p:nvSpPr>
          <p:cNvPr id="95" name="Google Shape;95;p17"/>
          <p:cNvSpPr txBox="1"/>
          <p:nvPr/>
        </p:nvSpPr>
        <p:spPr>
          <a:xfrm>
            <a:off x="327600" y="1231200"/>
            <a:ext cx="8487600" cy="2610300"/>
          </a:xfrm>
          <a:prstGeom prst="rect">
            <a:avLst/>
          </a:prstGeom>
          <a:noFill/>
          <a:ln>
            <a:noFill/>
          </a:ln>
        </p:spPr>
        <p:txBody>
          <a:bodyPr spcFirstLastPara="1" wrap="square" lIns="0" tIns="0" rIns="0" bIns="0" anchor="t" anchorCtr="0">
            <a:noAutofit/>
          </a:bodyPr>
          <a:lstStyle/>
          <a:p>
            <a:pPr lvl="0"/>
            <a:r>
              <a:rPr lang="en-US" sz="1800" dirty="0"/>
              <a:t>For any two numbers </a:t>
            </a:r>
            <a:r>
              <a:rPr lang="en-US" sz="1800" dirty="0" smtClean="0"/>
              <a:t>m, </a:t>
            </a:r>
            <a:r>
              <a:rPr lang="en-US" sz="1800" dirty="0"/>
              <a:t>n ; (</a:t>
            </a:r>
            <a:r>
              <a:rPr lang="en-US" sz="1800" dirty="0" err="1"/>
              <a:t>m+n</a:t>
            </a:r>
            <a:r>
              <a:rPr lang="en-US" sz="1800" dirty="0"/>
              <a:t>) : (m-n) : </a:t>
            </a:r>
            <a:r>
              <a:rPr lang="en-US" sz="1800" dirty="0" err="1"/>
              <a:t>mn</a:t>
            </a:r>
            <a:r>
              <a:rPr lang="en-US" sz="1800" dirty="0"/>
              <a:t> = 7: 1: 60 . Find the value of 1/m : </a:t>
            </a:r>
            <a:r>
              <a:rPr lang="en-US" sz="1800" dirty="0" smtClean="0"/>
              <a:t>1/n</a:t>
            </a:r>
          </a:p>
          <a:p>
            <a:pPr lvl="0"/>
            <a:endParaRPr lang="en-US" sz="1800" dirty="0">
              <a:latin typeface="Roboto Light"/>
              <a:ea typeface="Roboto Light"/>
              <a:cs typeface="Roboto Light"/>
              <a:sym typeface="Roboto Light"/>
            </a:endParaRPr>
          </a:p>
          <a:p>
            <a:pPr marL="457200" lvl="0" indent="-457200">
              <a:buFont typeface="+mj-lt"/>
              <a:buAutoNum type="alphaUcPeriod"/>
            </a:pPr>
            <a:r>
              <a:rPr lang="en-US" sz="1800" dirty="0" smtClean="0">
                <a:latin typeface="Roboto Light"/>
                <a:ea typeface="Roboto Light"/>
                <a:cs typeface="Roboto Light"/>
                <a:sym typeface="Roboto Light"/>
              </a:rPr>
              <a:t>3:4</a:t>
            </a:r>
          </a:p>
          <a:p>
            <a:pPr marL="457200" lvl="0" indent="-457200">
              <a:buFont typeface="+mj-lt"/>
              <a:buAutoNum type="alphaUcPeriod"/>
            </a:pPr>
            <a:r>
              <a:rPr lang="en-US" sz="1800" dirty="0" smtClean="0">
                <a:latin typeface="Roboto Light"/>
                <a:ea typeface="Roboto Light"/>
                <a:cs typeface="Roboto Light"/>
                <a:sym typeface="Roboto Light"/>
              </a:rPr>
              <a:t>4:3</a:t>
            </a:r>
          </a:p>
          <a:p>
            <a:pPr marL="457200" lvl="0" indent="-457200">
              <a:buFont typeface="+mj-lt"/>
              <a:buAutoNum type="alphaUcPeriod"/>
            </a:pPr>
            <a:r>
              <a:rPr lang="en-US" sz="1800" dirty="0" smtClean="0">
                <a:latin typeface="Roboto Light"/>
                <a:ea typeface="Roboto Light"/>
                <a:cs typeface="Roboto Light"/>
                <a:sym typeface="Roboto Light"/>
              </a:rPr>
              <a:t>5:4</a:t>
            </a:r>
          </a:p>
          <a:p>
            <a:pPr marL="457200" lvl="0" indent="-457200">
              <a:buFont typeface="+mj-lt"/>
              <a:buAutoNum type="alphaUcPeriod"/>
            </a:pPr>
            <a:r>
              <a:rPr lang="en-US" sz="1800" dirty="0" smtClean="0">
                <a:latin typeface="Roboto Light"/>
                <a:ea typeface="Roboto Light"/>
                <a:cs typeface="Roboto Light"/>
                <a:sym typeface="Roboto Light"/>
              </a:rPr>
              <a:t>4:5</a:t>
            </a:r>
            <a:endParaRPr sz="1800" dirty="0">
              <a:latin typeface="Roboto Light"/>
              <a:ea typeface="Roboto Light"/>
              <a:cs typeface="Roboto Light"/>
              <a:sym typeface="Roboto Light"/>
            </a:endParaRPr>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A</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sp>
        <p:nvSpPr>
          <p:cNvPr id="95" name="Google Shape;95;p17"/>
          <p:cNvSpPr txBox="1"/>
          <p:nvPr/>
        </p:nvSpPr>
        <p:spPr>
          <a:xfrm>
            <a:off x="327600" y="1231199"/>
            <a:ext cx="6946503" cy="2843975"/>
          </a:xfrm>
          <a:prstGeom prst="rect">
            <a:avLst/>
          </a:prstGeom>
          <a:noFill/>
          <a:ln>
            <a:noFill/>
          </a:ln>
        </p:spPr>
        <p:txBody>
          <a:bodyPr spcFirstLastPara="1" wrap="square" lIns="0" tIns="0" rIns="0" bIns="0" anchor="t" anchorCtr="0">
            <a:noAutofit/>
          </a:bodyPr>
          <a:lstStyle/>
          <a:p>
            <a:pPr lvl="0"/>
            <a:endParaRPr sz="2000" dirty="0">
              <a:latin typeface="Roboto Light"/>
              <a:ea typeface="Roboto Light"/>
              <a:cs typeface="Roboto Light"/>
              <a:sym typeface="Roboto Light"/>
            </a:endParaRPr>
          </a:p>
        </p:txBody>
      </p:sp>
      <p:pic>
        <p:nvPicPr>
          <p:cNvPr id="3" name="Picture 2"/>
          <p:cNvPicPr>
            <a:picLocks noChangeAspect="1"/>
          </p:cNvPicPr>
          <p:nvPr/>
        </p:nvPicPr>
        <p:blipFill>
          <a:blip r:embed="rId5"/>
          <a:stretch>
            <a:fillRect/>
          </a:stretch>
        </p:blipFill>
        <p:spPr>
          <a:xfrm>
            <a:off x="327601" y="1000348"/>
            <a:ext cx="5925562" cy="3074825"/>
          </a:xfrm>
          <a:prstGeom prst="rect">
            <a:avLst/>
          </a:prstGeom>
        </p:spPr>
      </p:pic>
    </p:spTree>
    <p:extLst>
      <p:ext uri="{BB962C8B-B14F-4D97-AF65-F5344CB8AC3E}">
        <p14:creationId xmlns:p14="http://schemas.microsoft.com/office/powerpoint/2010/main" val="549645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02</a:t>
            </a:r>
            <a:endParaRPr sz="2000" dirty="0">
              <a:solidFill>
                <a:schemeClr val="lt1"/>
              </a:solidFill>
              <a:latin typeface="Roboto"/>
              <a:ea typeface="Roboto"/>
              <a:cs typeface="Roboto"/>
              <a:sym typeface="Roboto"/>
            </a:endParaRPr>
          </a:p>
        </p:txBody>
      </p:sp>
      <p:sp>
        <p:nvSpPr>
          <p:cNvPr id="95" name="Google Shape;95;p17"/>
          <p:cNvSpPr txBox="1"/>
          <p:nvPr/>
        </p:nvSpPr>
        <p:spPr>
          <a:xfrm>
            <a:off x="327600" y="1231200"/>
            <a:ext cx="8487600" cy="2610300"/>
          </a:xfrm>
          <a:prstGeom prst="rect">
            <a:avLst/>
          </a:prstGeom>
          <a:noFill/>
          <a:ln>
            <a:noFill/>
          </a:ln>
        </p:spPr>
        <p:txBody>
          <a:bodyPr spcFirstLastPara="1" wrap="square" lIns="0" tIns="0" rIns="0" bIns="0" anchor="t" anchorCtr="0">
            <a:noAutofit/>
          </a:bodyPr>
          <a:lstStyle/>
          <a:p>
            <a:pPr lvl="0"/>
            <a:r>
              <a:rPr lang="en-US" sz="1800" dirty="0" smtClean="0"/>
              <a:t>Vinod have 20 rupees. He bought 1, 2, 5 rupee stamps. They are different in numbers by the reason of no change, the shop keeper gives 3 one rupee stamps. So how many stamps </a:t>
            </a:r>
            <a:r>
              <a:rPr lang="en-US" sz="1800" dirty="0" err="1" smtClean="0"/>
              <a:t>Vinod</a:t>
            </a:r>
            <a:r>
              <a:rPr lang="en-US" sz="1800" dirty="0" smtClean="0"/>
              <a:t> </a:t>
            </a:r>
            <a:r>
              <a:rPr lang="en-US" sz="1800" dirty="0" smtClean="0"/>
              <a:t>have?</a:t>
            </a:r>
            <a:endParaRPr lang="en-US" sz="1800" dirty="0" smtClean="0"/>
          </a:p>
          <a:p>
            <a:pPr lvl="0"/>
            <a:endParaRPr lang="en-US" sz="1800" dirty="0">
              <a:latin typeface="Roboto Light"/>
              <a:ea typeface="Roboto Light"/>
              <a:cs typeface="Roboto Light"/>
              <a:sym typeface="Roboto Light"/>
            </a:endParaRPr>
          </a:p>
          <a:p>
            <a:pPr marL="457200" lvl="0" indent="-457200">
              <a:buFont typeface="+mj-lt"/>
              <a:buAutoNum type="alphaUcPeriod"/>
            </a:pPr>
            <a:r>
              <a:rPr lang="en-US" sz="1800" dirty="0" smtClean="0">
                <a:latin typeface="Roboto Light"/>
                <a:ea typeface="Roboto Light"/>
                <a:cs typeface="Roboto Light"/>
                <a:sym typeface="Roboto Light"/>
              </a:rPr>
              <a:t>10</a:t>
            </a:r>
          </a:p>
          <a:p>
            <a:pPr marL="457200" lvl="0" indent="-457200">
              <a:buFont typeface="+mj-lt"/>
              <a:buAutoNum type="alphaUcPeriod"/>
            </a:pPr>
            <a:r>
              <a:rPr lang="en-US" sz="1800" dirty="0" smtClean="0">
                <a:latin typeface="Roboto Light"/>
                <a:ea typeface="Roboto Light"/>
                <a:cs typeface="Roboto Light"/>
                <a:sym typeface="Roboto Light"/>
              </a:rPr>
              <a:t>18</a:t>
            </a:r>
          </a:p>
          <a:p>
            <a:pPr marL="457200" lvl="0" indent="-457200">
              <a:buFont typeface="+mj-lt"/>
              <a:buAutoNum type="alphaUcPeriod"/>
            </a:pPr>
            <a:r>
              <a:rPr lang="en-US" sz="1800" dirty="0" smtClean="0">
                <a:latin typeface="Roboto Light"/>
                <a:ea typeface="Roboto Light"/>
                <a:cs typeface="Roboto Light"/>
                <a:sym typeface="Roboto Light"/>
              </a:rPr>
              <a:t>12</a:t>
            </a:r>
          </a:p>
          <a:p>
            <a:pPr marL="457200" lvl="0" indent="-457200">
              <a:buFont typeface="+mj-lt"/>
              <a:buAutoNum type="alphaUcPeriod"/>
            </a:pPr>
            <a:r>
              <a:rPr lang="en-US" sz="1800" dirty="0" smtClean="0">
                <a:latin typeface="Roboto Light"/>
                <a:ea typeface="Roboto Light"/>
                <a:cs typeface="Roboto Light"/>
                <a:sym typeface="Roboto Light"/>
              </a:rPr>
              <a:t>15</a:t>
            </a:r>
            <a:endParaRPr sz="1800" dirty="0">
              <a:latin typeface="Roboto Light"/>
              <a:ea typeface="Roboto Light"/>
              <a:cs typeface="Roboto Light"/>
              <a:sym typeface="Roboto Light"/>
            </a:endParaRPr>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A </a:t>
            </a:r>
            <a:endParaRPr lang="en-US" sz="1800" dirty="0"/>
          </a:p>
        </p:txBody>
      </p:sp>
    </p:spTree>
    <p:extLst>
      <p:ext uri="{BB962C8B-B14F-4D97-AF65-F5344CB8AC3E}">
        <p14:creationId xmlns:p14="http://schemas.microsoft.com/office/powerpoint/2010/main" val="2553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sp>
        <p:nvSpPr>
          <p:cNvPr id="95" name="Google Shape;95;p17"/>
          <p:cNvSpPr txBox="1"/>
          <p:nvPr/>
        </p:nvSpPr>
        <p:spPr>
          <a:xfrm>
            <a:off x="327600" y="873304"/>
            <a:ext cx="8652013" cy="3339100"/>
          </a:xfrm>
          <a:prstGeom prst="rect">
            <a:avLst/>
          </a:prstGeom>
          <a:noFill/>
          <a:ln>
            <a:noFill/>
          </a:ln>
        </p:spPr>
        <p:txBody>
          <a:bodyPr spcFirstLastPara="1" wrap="square" lIns="0" tIns="0" rIns="0" bIns="0" anchor="t" anchorCtr="0">
            <a:noAutofit/>
          </a:bodyPr>
          <a:lstStyle/>
          <a:p>
            <a:pPr lvl="0"/>
            <a:r>
              <a:rPr lang="en-US" sz="1800" dirty="0"/>
              <a:t>Given total rupees = 20 </a:t>
            </a:r>
            <a:r>
              <a:rPr lang="en-US" sz="1800" dirty="0" err="1"/>
              <a:t>Rs</a:t>
            </a:r>
            <a:r>
              <a:rPr lang="en-US" sz="1800" dirty="0"/>
              <a:t/>
            </a:r>
            <a:br>
              <a:rPr lang="en-US" sz="1800" dirty="0"/>
            </a:br>
            <a:r>
              <a:rPr lang="en-US" sz="1800" dirty="0"/>
              <a:t>No. of one rupee stamps = 3</a:t>
            </a:r>
            <a:br>
              <a:rPr lang="en-US" sz="1800" dirty="0"/>
            </a:br>
            <a:r>
              <a:rPr lang="en-US" sz="1800" dirty="0"/>
              <a:t>Now, remaining money = </a:t>
            </a:r>
            <a:r>
              <a:rPr lang="en-US" sz="1800" dirty="0" err="1"/>
              <a:t>Rs</a:t>
            </a:r>
            <a:r>
              <a:rPr lang="en-US" sz="1800" dirty="0"/>
              <a:t>. 17</a:t>
            </a:r>
            <a:br>
              <a:rPr lang="en-US" sz="1800" dirty="0"/>
            </a:br>
            <a:r>
              <a:rPr lang="en-US" sz="1800" dirty="0"/>
              <a:t>With that he buys only 2 and 5 rupee stamps</a:t>
            </a:r>
            <a:br>
              <a:rPr lang="en-US" sz="1800" dirty="0"/>
            </a:br>
            <a:r>
              <a:rPr lang="en-US" sz="1800" dirty="0"/>
              <a:t>Let number of </a:t>
            </a:r>
            <a:r>
              <a:rPr lang="en-US" sz="1800" dirty="0" err="1"/>
              <a:t>Rs</a:t>
            </a:r>
            <a:r>
              <a:rPr lang="en-US" sz="1800" dirty="0"/>
              <a:t>. 5 stamps = K</a:t>
            </a:r>
            <a:br>
              <a:rPr lang="en-US" sz="1800" dirty="0"/>
            </a:br>
            <a:r>
              <a:rPr lang="en-US" sz="1800" dirty="0"/>
              <a:t>Let number of </a:t>
            </a:r>
            <a:r>
              <a:rPr lang="en-US" sz="1800" dirty="0" err="1"/>
              <a:t>Rs</a:t>
            </a:r>
            <a:r>
              <a:rPr lang="en-US" sz="1800" dirty="0"/>
              <a:t>. 2 stamps = L</a:t>
            </a:r>
            <a:br>
              <a:rPr lang="en-US" sz="1800" dirty="0"/>
            </a:br>
            <a:r>
              <a:rPr lang="en-US" sz="1800" dirty="0"/>
              <a:t>5K + 2L = 17</a:t>
            </a:r>
            <a:br>
              <a:rPr lang="en-US" sz="1800" dirty="0"/>
            </a:br>
            <a:r>
              <a:rPr lang="en-US" sz="1800" dirty="0"/>
              <a:t>K = 3, L = 1 (possible)</a:t>
            </a:r>
            <a:br>
              <a:rPr lang="en-US" sz="1800" dirty="0"/>
            </a:br>
            <a:r>
              <a:rPr lang="en-US" sz="1800" dirty="0"/>
              <a:t>L = 6, K = 1 (possible)</a:t>
            </a:r>
            <a:br>
              <a:rPr lang="en-US" sz="1800" dirty="0"/>
            </a:br>
            <a:r>
              <a:rPr lang="en-US" sz="1800" dirty="0"/>
              <a:t>=&gt; But given that they are different in number so, K is not equal to 3</a:t>
            </a:r>
            <a:br>
              <a:rPr lang="en-US" sz="1800" dirty="0"/>
            </a:br>
            <a:r>
              <a:rPr lang="en-US" sz="1800" dirty="0"/>
              <a:t>one rupee stamps = </a:t>
            </a:r>
            <a:r>
              <a:rPr lang="en-US" sz="1800" dirty="0" smtClean="0"/>
              <a:t>3,2 </a:t>
            </a:r>
            <a:r>
              <a:rPr lang="en-US" sz="1800" dirty="0"/>
              <a:t>two stamps = </a:t>
            </a:r>
            <a:r>
              <a:rPr lang="en-US" sz="1800" dirty="0" smtClean="0"/>
              <a:t>6,5 </a:t>
            </a:r>
            <a:r>
              <a:rPr lang="en-US" sz="1800" dirty="0"/>
              <a:t>rupee stamps = 1</a:t>
            </a:r>
            <a:br>
              <a:rPr lang="en-US" sz="1800" dirty="0"/>
            </a:br>
            <a:r>
              <a:rPr lang="en-US" sz="1800" dirty="0"/>
              <a:t>Total number of stamps = 10.</a:t>
            </a:r>
            <a:endParaRPr sz="1800" dirty="0">
              <a:latin typeface="Roboto Light"/>
              <a:ea typeface="Roboto Light"/>
              <a:cs typeface="Roboto Light"/>
              <a:sym typeface="Roboto Light"/>
            </a:endParaRPr>
          </a:p>
        </p:txBody>
      </p:sp>
    </p:spTree>
    <p:extLst>
      <p:ext uri="{BB962C8B-B14F-4D97-AF65-F5344CB8AC3E}">
        <p14:creationId xmlns:p14="http://schemas.microsoft.com/office/powerpoint/2010/main" val="3089516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03</a:t>
            </a:r>
            <a:endParaRPr sz="2000" dirty="0">
              <a:solidFill>
                <a:schemeClr val="lt1"/>
              </a:solidFill>
              <a:latin typeface="Roboto"/>
              <a:ea typeface="Roboto"/>
              <a:cs typeface="Roboto"/>
              <a:sym typeface="Roboto"/>
            </a:endParaRPr>
          </a:p>
        </p:txBody>
      </p:sp>
      <p:sp>
        <p:nvSpPr>
          <p:cNvPr id="95" name="Google Shape;95;p17"/>
          <p:cNvSpPr txBox="1"/>
          <p:nvPr/>
        </p:nvSpPr>
        <p:spPr>
          <a:xfrm>
            <a:off x="327599" y="1231200"/>
            <a:ext cx="8621191" cy="2610300"/>
          </a:xfrm>
          <a:prstGeom prst="rect">
            <a:avLst/>
          </a:prstGeom>
          <a:noFill/>
          <a:ln>
            <a:noFill/>
          </a:ln>
        </p:spPr>
        <p:txBody>
          <a:bodyPr spcFirstLastPara="1" wrap="square" lIns="0" tIns="0" rIns="0" bIns="0" anchor="t" anchorCtr="0">
            <a:noAutofit/>
          </a:bodyPr>
          <a:lstStyle/>
          <a:p>
            <a:pPr lvl="0"/>
            <a:r>
              <a:rPr lang="en-US" sz="1800" dirty="0"/>
              <a:t>What is the ratio whose terms differ by 40 and the measure of which is </a:t>
            </a:r>
            <a:r>
              <a:rPr lang="en-US" sz="1800" dirty="0" smtClean="0"/>
              <a:t>2/7?</a:t>
            </a:r>
            <a:endParaRPr lang="en-US" sz="1800" dirty="0" smtClean="0"/>
          </a:p>
          <a:p>
            <a:pPr lvl="0"/>
            <a:endParaRPr lang="en-US" sz="1800" dirty="0">
              <a:latin typeface="Roboto Light"/>
              <a:ea typeface="Roboto Light"/>
              <a:cs typeface="Roboto Light"/>
              <a:sym typeface="Roboto Light"/>
            </a:endParaRPr>
          </a:p>
          <a:p>
            <a:pPr marL="457200" lvl="0" indent="-457200">
              <a:buFont typeface="+mj-lt"/>
              <a:buAutoNum type="alphaUcPeriod"/>
            </a:pPr>
            <a:r>
              <a:rPr lang="en-US" sz="1800" dirty="0" smtClean="0">
                <a:latin typeface="Roboto Light"/>
                <a:ea typeface="Roboto Light"/>
                <a:cs typeface="Roboto Light"/>
                <a:sym typeface="Roboto Light"/>
              </a:rPr>
              <a:t>16:56</a:t>
            </a:r>
          </a:p>
          <a:p>
            <a:pPr marL="457200" lvl="0" indent="-457200">
              <a:buFont typeface="+mj-lt"/>
              <a:buAutoNum type="alphaUcPeriod"/>
            </a:pPr>
            <a:r>
              <a:rPr lang="en-US" sz="1800" dirty="0" smtClean="0">
                <a:latin typeface="Roboto Light"/>
                <a:ea typeface="Roboto Light"/>
                <a:cs typeface="Roboto Light"/>
                <a:sym typeface="Roboto Light"/>
              </a:rPr>
              <a:t>14:56</a:t>
            </a:r>
          </a:p>
          <a:p>
            <a:pPr marL="457200" lvl="0" indent="-457200">
              <a:buFont typeface="+mj-lt"/>
              <a:buAutoNum type="alphaUcPeriod"/>
            </a:pPr>
            <a:r>
              <a:rPr lang="en-US" sz="1800" dirty="0" smtClean="0">
                <a:latin typeface="Roboto Light"/>
                <a:ea typeface="Roboto Light"/>
                <a:cs typeface="Roboto Light"/>
                <a:sym typeface="Roboto Light"/>
              </a:rPr>
              <a:t>15:56</a:t>
            </a:r>
          </a:p>
          <a:p>
            <a:pPr marL="457200" lvl="0" indent="-457200">
              <a:buFont typeface="+mj-lt"/>
              <a:buAutoNum type="alphaUcPeriod"/>
            </a:pPr>
            <a:r>
              <a:rPr lang="en-US" sz="1800" dirty="0" smtClean="0">
                <a:latin typeface="Roboto Light"/>
                <a:ea typeface="Roboto Light"/>
                <a:cs typeface="Roboto Light"/>
                <a:sym typeface="Roboto Light"/>
              </a:rPr>
              <a:t>16:72</a:t>
            </a:r>
            <a:endParaRPr sz="1800" dirty="0">
              <a:latin typeface="Roboto Light"/>
              <a:ea typeface="Roboto Light"/>
              <a:cs typeface="Roboto Light"/>
              <a:sym typeface="Roboto Light"/>
            </a:endParaRPr>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A </a:t>
            </a:r>
            <a:endParaRPr lang="en-US" sz="1800" dirty="0"/>
          </a:p>
        </p:txBody>
      </p:sp>
    </p:spTree>
    <p:extLst>
      <p:ext uri="{BB962C8B-B14F-4D97-AF65-F5344CB8AC3E}">
        <p14:creationId xmlns:p14="http://schemas.microsoft.com/office/powerpoint/2010/main" val="875892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sp>
        <p:nvSpPr>
          <p:cNvPr id="95" name="Google Shape;95;p17"/>
          <p:cNvSpPr txBox="1"/>
          <p:nvPr/>
        </p:nvSpPr>
        <p:spPr>
          <a:xfrm>
            <a:off x="172038" y="873304"/>
            <a:ext cx="8807575" cy="3339100"/>
          </a:xfrm>
          <a:prstGeom prst="rect">
            <a:avLst/>
          </a:prstGeom>
          <a:noFill/>
          <a:ln>
            <a:noFill/>
          </a:ln>
        </p:spPr>
        <p:txBody>
          <a:bodyPr spcFirstLastPara="1" wrap="square" lIns="0" tIns="0" rIns="0" bIns="0" anchor="t" anchorCtr="0">
            <a:noAutofit/>
          </a:bodyPr>
          <a:lstStyle/>
          <a:p>
            <a:r>
              <a:rPr lang="en-US" sz="1800" dirty="0"/>
              <a:t>Let the ratio be x : (x + 40), then ,</a:t>
            </a:r>
          </a:p>
          <a:p>
            <a:r>
              <a:rPr lang="en-US" sz="1800" dirty="0"/>
              <a:t> </a:t>
            </a:r>
          </a:p>
          <a:p>
            <a:pPr lvl="0"/>
            <a:endParaRPr lang="en-US" sz="1800" dirty="0"/>
          </a:p>
          <a:p>
            <a:pPr lvl="0"/>
            <a:endParaRPr lang="en-US" sz="1800" dirty="0"/>
          </a:p>
          <a:p>
            <a:pPr lvl="0"/>
            <a:r>
              <a:rPr lang="en-US" sz="1800" dirty="0" smtClean="0"/>
              <a:t>7x </a:t>
            </a:r>
            <a:r>
              <a:rPr lang="en-US" sz="1800" dirty="0"/>
              <a:t>= 2x + </a:t>
            </a:r>
            <a:r>
              <a:rPr lang="en-US" sz="1800" dirty="0" smtClean="0"/>
              <a:t>80</a:t>
            </a:r>
          </a:p>
          <a:p>
            <a:pPr lvl="0"/>
            <a:r>
              <a:rPr lang="en-US" sz="1800" dirty="0"/>
              <a:t>x = 16 </a:t>
            </a:r>
            <a:endParaRPr lang="en-US" sz="1800" dirty="0" smtClean="0"/>
          </a:p>
          <a:p>
            <a:pPr lvl="0"/>
            <a:r>
              <a:rPr lang="en-US" sz="1800" dirty="0"/>
              <a:t>Required ratio = 16 : 56 </a:t>
            </a:r>
            <a:endParaRPr sz="1800" dirty="0">
              <a:latin typeface="Roboto Light"/>
              <a:ea typeface="Roboto Light"/>
              <a:cs typeface="Roboto Light"/>
              <a:sym typeface="Roboto Light"/>
            </a:endParaRPr>
          </a:p>
        </p:txBody>
      </p:sp>
      <p:pic>
        <p:nvPicPr>
          <p:cNvPr id="2" name="Picture 1"/>
          <p:cNvPicPr>
            <a:picLocks noChangeAspect="1"/>
          </p:cNvPicPr>
          <p:nvPr/>
        </p:nvPicPr>
        <p:blipFill>
          <a:blip r:embed="rId5"/>
          <a:stretch>
            <a:fillRect/>
          </a:stretch>
        </p:blipFill>
        <p:spPr>
          <a:xfrm>
            <a:off x="172038" y="1348504"/>
            <a:ext cx="1101958" cy="634408"/>
          </a:xfrm>
          <a:prstGeom prst="rect">
            <a:avLst/>
          </a:prstGeom>
        </p:spPr>
      </p:pic>
    </p:spTree>
    <p:extLst>
      <p:ext uri="{BB962C8B-B14F-4D97-AF65-F5344CB8AC3E}">
        <p14:creationId xmlns:p14="http://schemas.microsoft.com/office/powerpoint/2010/main" val="19269892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04</a:t>
            </a:r>
            <a:endParaRPr sz="2000" dirty="0">
              <a:solidFill>
                <a:schemeClr val="lt1"/>
              </a:solidFill>
              <a:latin typeface="Roboto"/>
              <a:ea typeface="Roboto"/>
              <a:cs typeface="Roboto"/>
              <a:sym typeface="Roboto"/>
            </a:endParaRPr>
          </a:p>
        </p:txBody>
      </p:sp>
      <p:sp>
        <p:nvSpPr>
          <p:cNvPr id="95" name="Google Shape;95;p17"/>
          <p:cNvSpPr txBox="1"/>
          <p:nvPr/>
        </p:nvSpPr>
        <p:spPr>
          <a:xfrm>
            <a:off x="327599" y="1231200"/>
            <a:ext cx="8621191" cy="2610300"/>
          </a:xfrm>
          <a:prstGeom prst="rect">
            <a:avLst/>
          </a:prstGeom>
          <a:noFill/>
          <a:ln>
            <a:noFill/>
          </a:ln>
        </p:spPr>
        <p:txBody>
          <a:bodyPr spcFirstLastPara="1" wrap="square" lIns="0" tIns="0" rIns="0" bIns="0" anchor="t" anchorCtr="0">
            <a:noAutofit/>
          </a:bodyPr>
          <a:lstStyle/>
          <a:p>
            <a:pPr lvl="0"/>
            <a:r>
              <a:rPr lang="en-US" sz="1800" dirty="0"/>
              <a:t>A cubical block of metal weighs 6 pounds. How much will another cube of the same metal weigh if its sides are twice as long</a:t>
            </a:r>
            <a:r>
              <a:rPr lang="en-US" sz="1800" dirty="0" smtClean="0"/>
              <a:t>?</a:t>
            </a:r>
          </a:p>
          <a:p>
            <a:pPr lvl="0"/>
            <a:endParaRPr lang="en-US" sz="1800" dirty="0">
              <a:latin typeface="Roboto Light"/>
              <a:ea typeface="Roboto Light"/>
              <a:cs typeface="Roboto Light"/>
              <a:sym typeface="Roboto Light"/>
            </a:endParaRPr>
          </a:p>
          <a:p>
            <a:pPr marL="457200" lvl="0" indent="-457200">
              <a:buFont typeface="+mj-lt"/>
              <a:buAutoNum type="alphaUcPeriod"/>
            </a:pPr>
            <a:r>
              <a:rPr lang="en-US" sz="1800" dirty="0" smtClean="0">
                <a:latin typeface="Roboto Light"/>
                <a:ea typeface="Roboto Light"/>
                <a:cs typeface="Roboto Light"/>
                <a:sym typeface="Roboto Light"/>
              </a:rPr>
              <a:t>12</a:t>
            </a:r>
          </a:p>
          <a:p>
            <a:pPr marL="457200" lvl="0" indent="-457200">
              <a:buFont typeface="+mj-lt"/>
              <a:buAutoNum type="alphaUcPeriod"/>
            </a:pPr>
            <a:r>
              <a:rPr lang="en-US" sz="1800" dirty="0" smtClean="0">
                <a:latin typeface="Roboto Light"/>
                <a:ea typeface="Roboto Light"/>
                <a:cs typeface="Roboto Light"/>
                <a:sym typeface="Roboto Light"/>
              </a:rPr>
              <a:t>36</a:t>
            </a:r>
          </a:p>
          <a:p>
            <a:pPr marL="457200" lvl="0" indent="-457200">
              <a:buFont typeface="+mj-lt"/>
              <a:buAutoNum type="alphaUcPeriod"/>
            </a:pPr>
            <a:r>
              <a:rPr lang="en-US" sz="1800" dirty="0" smtClean="0">
                <a:latin typeface="Roboto Light"/>
                <a:ea typeface="Roboto Light"/>
                <a:cs typeface="Roboto Light"/>
                <a:sym typeface="Roboto Light"/>
              </a:rPr>
              <a:t>48</a:t>
            </a:r>
          </a:p>
          <a:p>
            <a:pPr marL="457200" lvl="0" indent="-457200">
              <a:buFont typeface="+mj-lt"/>
              <a:buAutoNum type="alphaUcPeriod"/>
            </a:pPr>
            <a:r>
              <a:rPr lang="en-US" sz="1800" dirty="0" smtClean="0">
                <a:latin typeface="Roboto Light"/>
                <a:ea typeface="Roboto Light"/>
                <a:cs typeface="Roboto Light"/>
                <a:sym typeface="Roboto Light"/>
              </a:rPr>
              <a:t>72</a:t>
            </a:r>
            <a:endParaRPr sz="1800" dirty="0">
              <a:latin typeface="Roboto Light"/>
              <a:ea typeface="Roboto Light"/>
              <a:cs typeface="Roboto Light"/>
              <a:sym typeface="Roboto Light"/>
            </a:endParaRPr>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C </a:t>
            </a:r>
            <a:endParaRPr lang="en-US" sz="1800" dirty="0"/>
          </a:p>
        </p:txBody>
      </p:sp>
    </p:spTree>
    <p:extLst>
      <p:ext uri="{BB962C8B-B14F-4D97-AF65-F5344CB8AC3E}">
        <p14:creationId xmlns:p14="http://schemas.microsoft.com/office/powerpoint/2010/main" val="370561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172038" y="233550"/>
            <a:ext cx="2983362"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sp>
        <p:nvSpPr>
          <p:cNvPr id="95" name="Google Shape;95;p17"/>
          <p:cNvSpPr txBox="1"/>
          <p:nvPr/>
        </p:nvSpPr>
        <p:spPr>
          <a:xfrm>
            <a:off x="172038" y="873304"/>
            <a:ext cx="8807575" cy="3339100"/>
          </a:xfrm>
          <a:prstGeom prst="rect">
            <a:avLst/>
          </a:prstGeom>
          <a:noFill/>
          <a:ln>
            <a:noFill/>
          </a:ln>
        </p:spPr>
        <p:txBody>
          <a:bodyPr spcFirstLastPara="1" wrap="square" lIns="0" tIns="0" rIns="0" bIns="0" anchor="t" anchorCtr="0">
            <a:noAutofit/>
          </a:bodyPr>
          <a:lstStyle/>
          <a:p>
            <a:endParaRPr lang="en-US" sz="2000" dirty="0" smtClean="0"/>
          </a:p>
          <a:p>
            <a:r>
              <a:rPr lang="en-US" sz="1800" dirty="0" smtClean="0"/>
              <a:t>If </a:t>
            </a:r>
            <a:r>
              <a:rPr lang="en-US" sz="1800" dirty="0"/>
              <a:t>you double the sides of a cube, the ratio of the surface areas of the old and new cubes will be 1: 4. The ratio of the volumes of the old and new cubes will be 1: 8.</a:t>
            </a:r>
          </a:p>
          <a:p>
            <a:r>
              <a:rPr lang="en-US" sz="1800" dirty="0"/>
              <a:t>Weight is proportional to volume. So, If the first weighs 6 pounds, the second weighs 6x8 pounds =48.</a:t>
            </a:r>
          </a:p>
        </p:txBody>
      </p:sp>
    </p:spTree>
    <p:extLst>
      <p:ext uri="{BB962C8B-B14F-4D97-AF65-F5344CB8AC3E}">
        <p14:creationId xmlns:p14="http://schemas.microsoft.com/office/powerpoint/2010/main" val="1523759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05</a:t>
            </a:r>
            <a:endParaRPr sz="2000" dirty="0">
              <a:solidFill>
                <a:schemeClr val="lt1"/>
              </a:solidFill>
              <a:latin typeface="Roboto"/>
              <a:ea typeface="Roboto"/>
              <a:cs typeface="Roboto"/>
              <a:sym typeface="Roboto"/>
            </a:endParaRPr>
          </a:p>
        </p:txBody>
      </p:sp>
      <p:sp>
        <p:nvSpPr>
          <p:cNvPr id="95" name="Google Shape;95;p17"/>
          <p:cNvSpPr txBox="1"/>
          <p:nvPr/>
        </p:nvSpPr>
        <p:spPr>
          <a:xfrm>
            <a:off x="327599" y="1231200"/>
            <a:ext cx="8621191" cy="2610300"/>
          </a:xfrm>
          <a:prstGeom prst="rect">
            <a:avLst/>
          </a:prstGeom>
          <a:noFill/>
          <a:ln>
            <a:noFill/>
          </a:ln>
        </p:spPr>
        <p:txBody>
          <a:bodyPr spcFirstLastPara="1" wrap="square" lIns="0" tIns="0" rIns="0" bIns="0" anchor="t" anchorCtr="0">
            <a:noAutofit/>
          </a:bodyPr>
          <a:lstStyle/>
          <a:p>
            <a:pPr lvl="0"/>
            <a:r>
              <a:rPr lang="en-US" sz="1800" dirty="0"/>
              <a:t>A fort has provisions for 60 days. If after 15 days 500 men strengthen them and the food lasts 40 days longer, how many men are there in the fort</a:t>
            </a:r>
            <a:r>
              <a:rPr lang="en-US" sz="1800" dirty="0" smtClean="0"/>
              <a:t>?</a:t>
            </a:r>
          </a:p>
          <a:p>
            <a:pPr lvl="0"/>
            <a:endParaRPr lang="en-US" sz="1800" dirty="0">
              <a:latin typeface="Roboto Light"/>
              <a:ea typeface="Roboto Light"/>
              <a:cs typeface="Roboto Light"/>
              <a:sym typeface="Roboto Light"/>
            </a:endParaRPr>
          </a:p>
          <a:p>
            <a:pPr marL="457200" lvl="0" indent="-457200">
              <a:buFont typeface="+mj-lt"/>
              <a:buAutoNum type="alphaUcPeriod"/>
            </a:pPr>
            <a:r>
              <a:rPr lang="en-US" sz="1800" dirty="0" smtClean="0">
                <a:latin typeface="Roboto Light"/>
                <a:ea typeface="Roboto Light"/>
                <a:cs typeface="Roboto Light"/>
                <a:sym typeface="Roboto Light"/>
              </a:rPr>
              <a:t>3500</a:t>
            </a:r>
          </a:p>
          <a:p>
            <a:pPr marL="457200" lvl="0" indent="-457200">
              <a:buFont typeface="+mj-lt"/>
              <a:buAutoNum type="alphaUcPeriod"/>
            </a:pPr>
            <a:r>
              <a:rPr lang="en-US" sz="1800" dirty="0" smtClean="0">
                <a:latin typeface="Roboto Light"/>
                <a:ea typeface="Roboto Light"/>
                <a:cs typeface="Roboto Light"/>
                <a:sym typeface="Roboto Light"/>
              </a:rPr>
              <a:t>4000</a:t>
            </a:r>
          </a:p>
          <a:p>
            <a:pPr marL="457200" lvl="0" indent="-457200">
              <a:buFont typeface="+mj-lt"/>
              <a:buAutoNum type="alphaUcPeriod"/>
            </a:pPr>
            <a:r>
              <a:rPr lang="en-US" sz="1800" dirty="0" smtClean="0">
                <a:latin typeface="Roboto Light"/>
                <a:ea typeface="Roboto Light"/>
                <a:cs typeface="Roboto Light"/>
                <a:sym typeface="Roboto Light"/>
              </a:rPr>
              <a:t>6000</a:t>
            </a:r>
          </a:p>
          <a:p>
            <a:pPr marL="457200" lvl="0" indent="-457200">
              <a:buFont typeface="+mj-lt"/>
              <a:buAutoNum type="alphaUcPeriod"/>
            </a:pPr>
            <a:r>
              <a:rPr lang="en-US" sz="1800" dirty="0" smtClean="0">
                <a:latin typeface="Roboto Light"/>
                <a:ea typeface="Roboto Light"/>
                <a:cs typeface="Roboto Light"/>
                <a:sym typeface="Roboto Light"/>
              </a:rPr>
              <a:t>None of these</a:t>
            </a:r>
            <a:endParaRPr sz="1800" dirty="0">
              <a:latin typeface="Roboto Light"/>
              <a:ea typeface="Roboto Light"/>
              <a:cs typeface="Roboto Light"/>
              <a:sym typeface="Roboto Light"/>
            </a:endParaRPr>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B</a:t>
            </a:r>
            <a:endParaRPr lang="en-US" sz="1800" dirty="0"/>
          </a:p>
        </p:txBody>
      </p:sp>
    </p:spTree>
    <p:extLst>
      <p:ext uri="{BB962C8B-B14F-4D97-AF65-F5344CB8AC3E}">
        <p14:creationId xmlns:p14="http://schemas.microsoft.com/office/powerpoint/2010/main" val="170977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472611" y="233550"/>
            <a:ext cx="2682789"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3019701300"/>
              </p:ext>
            </p:extLst>
          </p:nvPr>
        </p:nvGraphicFramePr>
        <p:xfrm>
          <a:off x="565080" y="1094060"/>
          <a:ext cx="8096036" cy="3542666"/>
        </p:xfrm>
        <a:graphic>
          <a:graphicData uri="http://schemas.openxmlformats.org/drawingml/2006/table">
            <a:tbl>
              <a:tblPr/>
              <a:tblGrid>
                <a:gridCol w="8096036"/>
              </a:tblGrid>
              <a:tr h="203436">
                <a:tc>
                  <a:txBody>
                    <a:bodyPr/>
                    <a:lstStyle/>
                    <a:p>
                      <a:endParaRPr lang="en-US" sz="1000" dirty="0"/>
                    </a:p>
                  </a:txBody>
                  <a:tcPr marL="27178" marR="27178" marT="27178" marB="27178">
                    <a:lnL>
                      <a:noFill/>
                    </a:lnL>
                    <a:lnR>
                      <a:noFill/>
                    </a:lnR>
                    <a:lnT>
                      <a:noFill/>
                    </a:lnT>
                    <a:lnB>
                      <a:noFill/>
                    </a:lnB>
                  </a:tcPr>
                </a:tc>
              </a:tr>
              <a:tr h="163325">
                <a:tc>
                  <a:txBody>
                    <a:bodyPr/>
                    <a:lstStyle/>
                    <a:p>
                      <a:endParaRPr lang="en-US" sz="1000" dirty="0"/>
                    </a:p>
                  </a:txBody>
                  <a:tcPr marL="6795" marR="6795" marT="6795" marB="6795">
                    <a:lnL>
                      <a:noFill/>
                    </a:lnL>
                    <a:lnR>
                      <a:noFill/>
                    </a:lnR>
                    <a:lnT>
                      <a:noFill/>
                    </a:lnT>
                    <a:lnB>
                      <a:noFill/>
                    </a:lnB>
                    <a:solidFill>
                      <a:srgbClr val="FFFFFF"/>
                    </a:solidFill>
                  </a:tcPr>
                </a:tc>
              </a:tr>
              <a:tr h="149953">
                <a:tc>
                  <a:txBody>
                    <a:bodyPr/>
                    <a:lstStyle/>
                    <a:p>
                      <a:endParaRPr lang="en-US" sz="1000" dirty="0"/>
                    </a:p>
                  </a:txBody>
                  <a:tcPr marL="0" marR="0" marT="0" marB="0">
                    <a:lnL>
                      <a:noFill/>
                    </a:lnL>
                    <a:lnR>
                      <a:noFill/>
                    </a:lnR>
                    <a:lnT>
                      <a:noFill/>
                    </a:lnT>
                    <a:lnB>
                      <a:noFill/>
                    </a:lnB>
                    <a:solidFill>
                      <a:srgbClr val="FFFFFF"/>
                    </a:solidFill>
                  </a:tcPr>
                </a:tc>
              </a:tr>
              <a:tr h="2969073">
                <a:tc>
                  <a:txBody>
                    <a:bodyPr/>
                    <a:lstStyle/>
                    <a:p>
                      <a:r>
                        <a:rPr lang="en-US" sz="1800" dirty="0" smtClean="0">
                          <a:solidFill>
                            <a:srgbClr val="333333"/>
                          </a:solidFill>
                          <a:effectLst/>
                        </a:rPr>
                        <a:t>Let there be 'x' men in the beginning so that after 15 days the food for them is left for </a:t>
                      </a:r>
                      <a:r>
                        <a:rPr lang="en-US" sz="1800" smtClean="0">
                          <a:solidFill>
                            <a:srgbClr val="333333"/>
                          </a:solidFill>
                          <a:effectLst/>
                        </a:rPr>
                        <a:t>45 days.After </a:t>
                      </a:r>
                      <a:r>
                        <a:rPr lang="en-US" sz="1800" dirty="0" smtClean="0">
                          <a:solidFill>
                            <a:srgbClr val="333333"/>
                          </a:solidFill>
                          <a:effectLst/>
                        </a:rPr>
                        <a:t>adding 500 men the food lasts for only 40 days.</a:t>
                      </a:r>
                      <a:br>
                        <a:rPr lang="en-US" sz="1800" dirty="0" smtClean="0">
                          <a:solidFill>
                            <a:srgbClr val="333333"/>
                          </a:solidFill>
                          <a:effectLst/>
                        </a:rPr>
                      </a:br>
                      <a:r>
                        <a:rPr lang="en-US" sz="1800" dirty="0" smtClean="0">
                          <a:solidFill>
                            <a:srgbClr val="333333"/>
                          </a:solidFill>
                          <a:effectLst/>
                        </a:rPr>
                        <a:t>Now (x+500) men can have the same food for 40 days.</a:t>
                      </a:r>
                      <a:br>
                        <a:rPr lang="en-US" sz="1800" dirty="0" smtClean="0">
                          <a:solidFill>
                            <a:srgbClr val="333333"/>
                          </a:solidFill>
                          <a:effectLst/>
                        </a:rPr>
                      </a:br>
                      <a:r>
                        <a:rPr lang="en-US" sz="1800" dirty="0" smtClean="0">
                          <a:solidFill>
                            <a:srgbClr val="333333"/>
                          </a:solidFill>
                          <a:effectLst/>
                        </a:rPr>
                        <a:t>Therefore by equating the amount of food we get,</a:t>
                      </a:r>
                      <a:br>
                        <a:rPr lang="en-US" sz="1800" dirty="0" smtClean="0">
                          <a:solidFill>
                            <a:srgbClr val="333333"/>
                          </a:solidFill>
                          <a:effectLst/>
                        </a:rPr>
                      </a:br>
                      <a:r>
                        <a:rPr lang="en-US" sz="1800" dirty="0" smtClean="0">
                          <a:solidFill>
                            <a:srgbClr val="333333"/>
                          </a:solidFill>
                          <a:effectLst/>
                        </a:rPr>
                        <a:t>45 * x = (x + 500) * 40</a:t>
                      </a:r>
                      <a:br>
                        <a:rPr lang="en-US" sz="1800" dirty="0" smtClean="0">
                          <a:solidFill>
                            <a:srgbClr val="333333"/>
                          </a:solidFill>
                          <a:effectLst/>
                        </a:rPr>
                      </a:br>
                      <a:r>
                        <a:rPr lang="en-US" sz="1800" dirty="0" smtClean="0">
                          <a:solidFill>
                            <a:srgbClr val="333333"/>
                          </a:solidFill>
                          <a:effectLst/>
                        </a:rPr>
                        <a:t>45x = (x+500) * 40</a:t>
                      </a:r>
                      <a:br>
                        <a:rPr lang="en-US" sz="1800" dirty="0" smtClean="0">
                          <a:solidFill>
                            <a:srgbClr val="333333"/>
                          </a:solidFill>
                          <a:effectLst/>
                        </a:rPr>
                      </a:br>
                      <a:r>
                        <a:rPr lang="en-US" sz="1800" dirty="0" smtClean="0">
                          <a:solidFill>
                            <a:srgbClr val="333333"/>
                          </a:solidFill>
                          <a:effectLst/>
                        </a:rPr>
                        <a:t>5x = 20,000</a:t>
                      </a:r>
                      <a:br>
                        <a:rPr lang="en-US" sz="1800" dirty="0" smtClean="0">
                          <a:solidFill>
                            <a:srgbClr val="333333"/>
                          </a:solidFill>
                          <a:effectLst/>
                        </a:rPr>
                      </a:br>
                      <a:r>
                        <a:rPr lang="en-US" sz="1800" dirty="0" smtClean="0">
                          <a:solidFill>
                            <a:srgbClr val="333333"/>
                          </a:solidFill>
                          <a:effectLst/>
                        </a:rPr>
                        <a:t>x </a:t>
                      </a:r>
                      <a:r>
                        <a:rPr lang="en-US" sz="1800" smtClean="0">
                          <a:solidFill>
                            <a:srgbClr val="333333"/>
                          </a:solidFill>
                          <a:effectLst/>
                        </a:rPr>
                        <a:t>= 4,000</a:t>
                      </a:r>
                      <a:r>
                        <a:rPr lang="en-US" sz="1800" baseline="0" smtClean="0">
                          <a:solidFill>
                            <a:srgbClr val="333333"/>
                          </a:solidFill>
                          <a:effectLst/>
                        </a:rPr>
                        <a:t>       </a:t>
                      </a:r>
                      <a:r>
                        <a:rPr lang="en-US" sz="1800" smtClean="0">
                          <a:solidFill>
                            <a:srgbClr val="333333"/>
                          </a:solidFill>
                          <a:effectLst/>
                        </a:rPr>
                        <a:t>Therefore </a:t>
                      </a:r>
                      <a:r>
                        <a:rPr lang="en-US" sz="1800" dirty="0" smtClean="0">
                          <a:solidFill>
                            <a:srgbClr val="333333"/>
                          </a:solidFill>
                          <a:effectLst/>
                        </a:rPr>
                        <a:t>there are 4,000 men in the fort.</a:t>
                      </a:r>
                      <a:br>
                        <a:rPr lang="en-US" sz="1800" dirty="0" smtClean="0">
                          <a:solidFill>
                            <a:srgbClr val="333333"/>
                          </a:solidFill>
                          <a:effectLst/>
                        </a:rPr>
                      </a:br>
                      <a:r>
                        <a:rPr lang="en-US" sz="1800" dirty="0">
                          <a:solidFill>
                            <a:srgbClr val="333333"/>
                          </a:solidFill>
                          <a:effectLst/>
                        </a:rPr>
                        <a:t/>
                      </a:r>
                      <a:br>
                        <a:rPr lang="en-US" sz="1800" dirty="0">
                          <a:solidFill>
                            <a:srgbClr val="333333"/>
                          </a:solidFill>
                          <a:effectLst/>
                        </a:rPr>
                      </a:br>
                      <a:r>
                        <a:rPr lang="en-US" sz="1800" dirty="0">
                          <a:solidFill>
                            <a:srgbClr val="333333"/>
                          </a:solidFill>
                          <a:effectLst/>
                        </a:rPr>
                        <a:t/>
                      </a:r>
                      <a:br>
                        <a:rPr lang="en-US" sz="1800" dirty="0">
                          <a:solidFill>
                            <a:srgbClr val="333333"/>
                          </a:solidFill>
                          <a:effectLst/>
                        </a:rPr>
                      </a:br>
                      <a:endParaRPr lang="en-US" sz="1800" dirty="0">
                        <a:solidFill>
                          <a:srgbClr val="333333"/>
                        </a:solidFill>
                        <a:effectLst/>
                      </a:endParaRPr>
                    </a:p>
                  </a:txBody>
                  <a:tcPr marL="0" marR="0" marT="0" marB="0">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594831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06</a:t>
            </a:r>
            <a:endParaRPr sz="2000" dirty="0">
              <a:solidFill>
                <a:schemeClr val="lt1"/>
              </a:solidFill>
              <a:latin typeface="Roboto"/>
              <a:ea typeface="Roboto"/>
              <a:cs typeface="Roboto"/>
              <a:sym typeface="Roboto"/>
            </a:endParaRPr>
          </a:p>
        </p:txBody>
      </p:sp>
      <p:sp>
        <p:nvSpPr>
          <p:cNvPr id="95" name="Google Shape;95;p17"/>
          <p:cNvSpPr txBox="1"/>
          <p:nvPr/>
        </p:nvSpPr>
        <p:spPr>
          <a:xfrm>
            <a:off x="327599" y="1231200"/>
            <a:ext cx="8621191" cy="2610300"/>
          </a:xfrm>
          <a:prstGeom prst="rect">
            <a:avLst/>
          </a:prstGeom>
          <a:noFill/>
          <a:ln>
            <a:noFill/>
          </a:ln>
        </p:spPr>
        <p:txBody>
          <a:bodyPr spcFirstLastPara="1" wrap="square" lIns="0" tIns="0" rIns="0" bIns="0" anchor="t" anchorCtr="0">
            <a:noAutofit/>
          </a:bodyPr>
          <a:lstStyle/>
          <a:p>
            <a:pPr lvl="0"/>
            <a:r>
              <a:rPr lang="en-US" sz="1800" dirty="0"/>
              <a:t>In a map of scale 1:20,000, what will be the length of the border between Telangana and Andhra </a:t>
            </a:r>
            <a:r>
              <a:rPr lang="en-US" sz="1800" dirty="0" smtClean="0"/>
              <a:t>Prade</a:t>
            </a:r>
            <a:r>
              <a:rPr lang="en-US" sz="1800" dirty="0"/>
              <a:t>sh, if the actual border in 2,250 </a:t>
            </a:r>
            <a:r>
              <a:rPr lang="en-US" sz="1800" dirty="0" err="1"/>
              <a:t>kms</a:t>
            </a:r>
            <a:r>
              <a:rPr lang="en-US" sz="1800" dirty="0" smtClean="0"/>
              <a:t>?</a:t>
            </a:r>
          </a:p>
          <a:p>
            <a:pPr lvl="0"/>
            <a:endParaRPr lang="en-US" sz="1800" dirty="0"/>
          </a:p>
          <a:p>
            <a:pPr marL="342900" lvl="0" indent="-342900">
              <a:buFont typeface="+mj-lt"/>
              <a:buAutoNum type="alphaUcPeriod"/>
            </a:pPr>
            <a:r>
              <a:rPr lang="en-US" sz="1800" dirty="0"/>
              <a:t> 11.25 </a:t>
            </a:r>
            <a:r>
              <a:rPr lang="en-US" sz="1800" dirty="0" err="1" smtClean="0"/>
              <a:t>cms</a:t>
            </a:r>
            <a:endParaRPr lang="en-US" sz="1800" dirty="0" smtClean="0"/>
          </a:p>
          <a:p>
            <a:pPr marL="342900" lvl="0" indent="-342900">
              <a:buFont typeface="+mj-lt"/>
              <a:buAutoNum type="alphaUcPeriod"/>
            </a:pPr>
            <a:r>
              <a:rPr lang="en-US" sz="1800" dirty="0"/>
              <a:t> 112.50 </a:t>
            </a:r>
            <a:r>
              <a:rPr lang="en-US" sz="1800" dirty="0" err="1"/>
              <a:t>cms</a:t>
            </a:r>
            <a:r>
              <a:rPr lang="en-US" sz="1800" dirty="0"/>
              <a:t> </a:t>
            </a:r>
            <a:endParaRPr lang="en-US" sz="1800" dirty="0" smtClean="0"/>
          </a:p>
          <a:p>
            <a:pPr marL="342900" lvl="0" indent="-342900">
              <a:buFont typeface="+mj-lt"/>
              <a:buAutoNum type="alphaUcPeriod"/>
            </a:pPr>
            <a:r>
              <a:rPr lang="en-US" sz="1800" dirty="0"/>
              <a:t> 1125 </a:t>
            </a:r>
            <a:r>
              <a:rPr lang="en-US" sz="1800" dirty="0" err="1"/>
              <a:t>cms</a:t>
            </a:r>
            <a:r>
              <a:rPr lang="en-US" sz="1800" dirty="0"/>
              <a:t> </a:t>
            </a:r>
            <a:endParaRPr lang="en-US" sz="1800" dirty="0" smtClean="0"/>
          </a:p>
          <a:p>
            <a:pPr marL="342900" lvl="0" indent="-342900">
              <a:buFont typeface="+mj-lt"/>
              <a:buAutoNum type="alphaUcPeriod"/>
            </a:pPr>
            <a:r>
              <a:rPr lang="en-US" sz="1800" dirty="0"/>
              <a:t> 11250 </a:t>
            </a:r>
            <a:r>
              <a:rPr lang="en-US" sz="1800" dirty="0" err="1" smtClean="0"/>
              <a:t>cms</a:t>
            </a:r>
            <a:r>
              <a:rPr lang="en-US" sz="1800" dirty="0"/>
              <a:t/>
            </a:r>
            <a:br>
              <a:rPr lang="en-US" sz="1800" dirty="0"/>
            </a:br>
            <a:r>
              <a:rPr lang="en-US" sz="1800" dirty="0"/>
              <a:t/>
            </a:r>
            <a:br>
              <a:rPr lang="en-US" sz="1800" dirty="0"/>
            </a:br>
            <a:r>
              <a:rPr lang="en-US" sz="1800" dirty="0"/>
              <a:t/>
            </a:r>
            <a:br>
              <a:rPr lang="en-US" sz="1800" dirty="0"/>
            </a:br>
            <a:r>
              <a:rPr lang="en-US" sz="1800" dirty="0"/>
              <a:t/>
            </a:r>
            <a:br>
              <a:rPr lang="en-US" sz="1800" dirty="0"/>
            </a:br>
            <a:r>
              <a:rPr lang="en-US" sz="1800" dirty="0"/>
              <a:t/>
            </a:r>
            <a:br>
              <a:rPr lang="en-US" sz="1800" dirty="0"/>
            </a:br>
            <a:endParaRPr sz="1800" dirty="0">
              <a:latin typeface="Roboto Light"/>
              <a:ea typeface="Roboto Light"/>
              <a:cs typeface="Roboto Light"/>
              <a:sym typeface="Roboto Light"/>
            </a:endParaRPr>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D</a:t>
            </a:r>
            <a:endParaRPr lang="en-US" sz="1800" dirty="0"/>
          </a:p>
        </p:txBody>
      </p:sp>
    </p:spTree>
    <p:extLst>
      <p:ext uri="{BB962C8B-B14F-4D97-AF65-F5344CB8AC3E}">
        <p14:creationId xmlns:p14="http://schemas.microsoft.com/office/powerpoint/2010/main" val="75558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2773616536"/>
              </p:ext>
            </p:extLst>
          </p:nvPr>
        </p:nvGraphicFramePr>
        <p:xfrm>
          <a:off x="327600" y="1085721"/>
          <a:ext cx="6793200" cy="1622426"/>
        </p:xfrm>
        <a:graphic>
          <a:graphicData uri="http://schemas.openxmlformats.org/drawingml/2006/table">
            <a:tbl>
              <a:tblPr/>
              <a:tblGrid>
                <a:gridCol w="6793200"/>
              </a:tblGrid>
              <a:tr h="180144">
                <a:tc>
                  <a:txBody>
                    <a:bodyPr/>
                    <a:lstStyle/>
                    <a:p>
                      <a:endParaRPr lang="en-US" sz="1000" dirty="0"/>
                    </a:p>
                  </a:txBody>
                  <a:tcPr marL="27178" marR="27178" marT="27178" marB="27178">
                    <a:lnL>
                      <a:noFill/>
                    </a:lnL>
                    <a:lnR>
                      <a:noFill/>
                    </a:lnR>
                    <a:lnT>
                      <a:noFill/>
                    </a:lnT>
                    <a:lnB>
                      <a:noFill/>
                    </a:lnB>
                  </a:tcPr>
                </a:tc>
              </a:tr>
              <a:tr h="144625">
                <a:tc>
                  <a:txBody>
                    <a:bodyPr/>
                    <a:lstStyle/>
                    <a:p>
                      <a:endParaRPr lang="en-US" sz="1000" dirty="0"/>
                    </a:p>
                  </a:txBody>
                  <a:tcPr marL="6795" marR="6795" marT="6795" marB="6795">
                    <a:lnL>
                      <a:noFill/>
                    </a:lnL>
                    <a:lnR>
                      <a:noFill/>
                    </a:lnR>
                    <a:lnT>
                      <a:noFill/>
                    </a:lnT>
                    <a:lnB>
                      <a:noFill/>
                    </a:lnB>
                    <a:solidFill>
                      <a:srgbClr val="FFFFFF"/>
                    </a:solidFill>
                  </a:tcPr>
                </a:tc>
              </a:tr>
              <a:tr h="132785">
                <a:tc>
                  <a:txBody>
                    <a:bodyPr/>
                    <a:lstStyle/>
                    <a:p>
                      <a:endParaRPr lang="en-US" sz="1000" dirty="0"/>
                    </a:p>
                  </a:txBody>
                  <a:tcPr marL="0" marR="0" marT="0" marB="0">
                    <a:lnL>
                      <a:noFill/>
                    </a:lnL>
                    <a:lnR>
                      <a:noFill/>
                    </a:lnR>
                    <a:lnT>
                      <a:noFill/>
                    </a:lnT>
                    <a:lnB>
                      <a:noFill/>
                    </a:lnB>
                    <a:solidFill>
                      <a:srgbClr val="FFFFFF"/>
                    </a:solidFill>
                  </a:tcPr>
                </a:tc>
              </a:tr>
              <a:tr h="956049">
                <a:tc>
                  <a:txBody>
                    <a:bodyPr/>
                    <a:lstStyle/>
                    <a:p>
                      <a:r>
                        <a:rPr lang="en-US" sz="1800" b="0" i="0" u="none" strike="noStrike" cap="none" dirty="0" smtClean="0">
                          <a:solidFill>
                            <a:schemeClr val="tx1"/>
                          </a:solidFill>
                          <a:effectLst/>
                          <a:latin typeface="+mn-lt"/>
                          <a:ea typeface="+mn-ea"/>
                          <a:cs typeface="+mn-cs"/>
                          <a:sym typeface="Arial"/>
                        </a:rPr>
                        <a:t>The length on the map = 2,250 * 1,00,000 </a:t>
                      </a:r>
                      <a:r>
                        <a:rPr lang="en-US" sz="1800" b="0" i="0" u="none" strike="noStrike" cap="none" dirty="0" err="1" smtClean="0">
                          <a:solidFill>
                            <a:schemeClr val="tx1"/>
                          </a:solidFill>
                          <a:effectLst/>
                          <a:latin typeface="+mn-lt"/>
                          <a:ea typeface="+mn-ea"/>
                          <a:cs typeface="+mn-cs"/>
                          <a:sym typeface="Arial"/>
                        </a:rPr>
                        <a:t>cms</a:t>
                      </a:r>
                      <a:r>
                        <a:rPr lang="en-US" sz="1800" b="0" i="0" u="none" strike="noStrike" cap="none" dirty="0" smtClean="0">
                          <a:solidFill>
                            <a:schemeClr val="tx1"/>
                          </a:solidFill>
                          <a:effectLst/>
                          <a:latin typeface="+mn-lt"/>
                          <a:ea typeface="+mn-ea"/>
                          <a:cs typeface="+mn-cs"/>
                          <a:sym typeface="Arial"/>
                        </a:rPr>
                        <a:t>/20,000 = 11,250 </a:t>
                      </a:r>
                      <a:r>
                        <a:rPr lang="en-US" sz="1800" b="0" i="0" u="none" strike="noStrike" cap="none" dirty="0" err="1" smtClean="0">
                          <a:solidFill>
                            <a:schemeClr val="tx1"/>
                          </a:solidFill>
                          <a:effectLst/>
                          <a:latin typeface="+mn-lt"/>
                          <a:ea typeface="+mn-ea"/>
                          <a:cs typeface="+mn-cs"/>
                          <a:sym typeface="Arial"/>
                        </a:rPr>
                        <a:t>cms</a:t>
                      </a:r>
                      <a:r>
                        <a:rPr lang="en-US" sz="1800" b="0" i="0" u="none" strike="noStrike" cap="none" dirty="0" smtClean="0">
                          <a:solidFill>
                            <a:schemeClr val="tx1"/>
                          </a:solidFill>
                          <a:effectLst/>
                          <a:latin typeface="+mn-lt"/>
                          <a:ea typeface="+mn-ea"/>
                          <a:cs typeface="+mn-cs"/>
                          <a:sym typeface="Arial"/>
                        </a:rPr>
                        <a:t>...</a:t>
                      </a:r>
                      <a:r>
                        <a:rPr lang="en-US" sz="1800" dirty="0" smtClean="0"/>
                        <a:t/>
                      </a:r>
                      <a:br>
                        <a:rPr lang="en-US" sz="1800" dirty="0" smtClean="0"/>
                      </a:br>
                      <a:r>
                        <a:rPr lang="en-US" sz="1800" dirty="0" smtClean="0"/>
                        <a:t/>
                      </a:r>
                      <a:br>
                        <a:rPr lang="en-US" sz="1800" dirty="0" smtClean="0"/>
                      </a:br>
                      <a:endParaRPr lang="en-US" sz="1800" dirty="0">
                        <a:solidFill>
                          <a:srgbClr val="333333"/>
                        </a:solidFill>
                        <a:effectLst/>
                      </a:endParaRPr>
                    </a:p>
                  </a:txBody>
                  <a:tcPr marL="0" marR="0" marT="0" marB="0">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157404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07</a:t>
            </a:r>
            <a:endParaRPr sz="2000" dirty="0">
              <a:solidFill>
                <a:schemeClr val="lt1"/>
              </a:solidFill>
              <a:latin typeface="Roboto"/>
              <a:ea typeface="Roboto"/>
              <a:cs typeface="Roboto"/>
              <a:sym typeface="Roboto"/>
            </a:endParaRPr>
          </a:p>
        </p:txBody>
      </p:sp>
      <mc:AlternateContent xmlns:mc="http://schemas.openxmlformats.org/markup-compatibility/2006">
        <mc:Choice xmlns:a14="http://schemas.microsoft.com/office/drawing/2010/main" Requires="a14">
          <p:sp>
            <p:nvSpPr>
              <p:cNvPr id="95" name="Google Shape;95;p17"/>
              <p:cNvSpPr txBox="1"/>
              <p:nvPr/>
            </p:nvSpPr>
            <p:spPr>
              <a:xfrm>
                <a:off x="327601" y="1000350"/>
                <a:ext cx="7678716" cy="1270240"/>
              </a:xfrm>
              <a:prstGeom prst="rect">
                <a:avLst/>
              </a:prstGeom>
              <a:noFill/>
              <a:ln>
                <a:noFill/>
              </a:ln>
            </p:spPr>
            <p:txBody>
              <a:bodyPr spcFirstLastPara="1" wrap="square" lIns="0" tIns="0" rIns="0" bIns="0" anchor="t" anchorCtr="0">
                <a:noAutofit/>
              </a:bodyPr>
              <a:lstStyle/>
              <a:p>
                <a:r>
                  <a:rPr lang="en-US" sz="1800" dirty="0" smtClean="0"/>
                  <a:t>If</a:t>
                </a:r>
                <a:r>
                  <a:rPr lang="en-US" sz="1800" dirty="0"/>
                  <a:t> </a:t>
                </a:r>
                <a:r>
                  <a:rPr lang="en-US" sz="1800" i="1" dirty="0"/>
                  <a:t>y</a:t>
                </a:r>
                <a:r>
                  <a:rPr lang="en-US" sz="1800" dirty="0"/>
                  <a:t> varies directly as </a:t>
                </a:r>
                <a:r>
                  <a:rPr lang="en-US" sz="1800" i="1" dirty="0"/>
                  <a:t>x</a:t>
                </a:r>
                <a:r>
                  <a:rPr lang="en-US" sz="1800" dirty="0"/>
                  <a:t> and given </a:t>
                </a:r>
                <a:r>
                  <a:rPr lang="en-US" sz="1800" i="1" dirty="0"/>
                  <a:t>y</a:t>
                </a:r>
                <a:r>
                  <a:rPr lang="en-US" sz="1800" dirty="0"/>
                  <a:t> = 9 when </a:t>
                </a:r>
                <a:r>
                  <a:rPr lang="en-US" sz="1800" i="1" dirty="0"/>
                  <a:t>x</a:t>
                </a:r>
                <a:r>
                  <a:rPr lang="en-US" sz="1800" dirty="0"/>
                  <a:t> = 5, find:</a:t>
                </a:r>
              </a:p>
              <a:p>
                <a:pPr marL="342900" indent="-342900">
                  <a:buFont typeface="+mj-lt"/>
                  <a:buAutoNum type="arabicPeriod"/>
                </a:pPr>
                <a:r>
                  <a:rPr lang="en-US" sz="1800" dirty="0"/>
                  <a:t>the equation connecting </a:t>
                </a:r>
                <a:r>
                  <a:rPr lang="en-US" sz="1800" i="1" dirty="0"/>
                  <a:t>x</a:t>
                </a:r>
                <a:r>
                  <a:rPr lang="en-US" sz="1800" dirty="0"/>
                  <a:t> and </a:t>
                </a:r>
                <a:r>
                  <a:rPr lang="en-US" sz="1800" i="1" dirty="0"/>
                  <a:t>y</a:t>
                </a:r>
                <a:endParaRPr lang="en-US" sz="1800" dirty="0"/>
              </a:p>
              <a:p>
                <a:pPr marL="342900" indent="-342900">
                  <a:buFont typeface="+mj-lt"/>
                  <a:buAutoNum type="arabicPeriod"/>
                </a:pPr>
                <a:r>
                  <a:rPr lang="en-US" sz="1800" dirty="0"/>
                  <a:t>the value of </a:t>
                </a:r>
                <a:r>
                  <a:rPr lang="en-US" sz="1800" i="1" dirty="0"/>
                  <a:t>y</a:t>
                </a:r>
                <a:r>
                  <a:rPr lang="en-US" sz="1800" dirty="0"/>
                  <a:t> when </a:t>
                </a:r>
                <a:r>
                  <a:rPr lang="en-US" sz="1800" i="1" dirty="0"/>
                  <a:t>x</a:t>
                </a:r>
                <a:r>
                  <a:rPr lang="en-US" sz="1800" dirty="0"/>
                  <a:t> = 15</a:t>
                </a:r>
              </a:p>
              <a:p>
                <a:pPr marL="342900" indent="-342900">
                  <a:buFont typeface="+mj-lt"/>
                  <a:buAutoNum type="arabicPeriod"/>
                </a:pPr>
                <a:r>
                  <a:rPr lang="en-US" sz="1800" dirty="0"/>
                  <a:t>the value of </a:t>
                </a:r>
                <a:r>
                  <a:rPr lang="en-US" sz="1800" i="1" dirty="0"/>
                  <a:t>x</a:t>
                </a:r>
                <a:r>
                  <a:rPr lang="en-US" sz="1800" dirty="0"/>
                  <a:t> when </a:t>
                </a:r>
                <a:r>
                  <a:rPr lang="en-US" sz="1800" i="1" dirty="0"/>
                  <a:t>y</a:t>
                </a:r>
                <a:r>
                  <a:rPr lang="en-US" sz="1800" dirty="0"/>
                  <a:t> = </a:t>
                </a:r>
                <a:r>
                  <a:rPr lang="en-US" sz="1800" dirty="0" smtClean="0"/>
                  <a:t>6</a:t>
                </a:r>
              </a:p>
              <a:p>
                <a:endParaRPr lang="en-US" sz="1800" dirty="0"/>
              </a:p>
              <a:p>
                <a:pPr marL="342900" indent="-342900">
                  <a:buFont typeface="+mj-lt"/>
                  <a:buAutoNum type="alphaUcPeriod"/>
                </a:pPr>
                <a14:m>
                  <m:oMath xmlns:m="http://schemas.openxmlformats.org/officeDocument/2006/math">
                    <m:f>
                      <m:fPr>
                        <m:ctrlPr>
                          <a:rPr lang="en-US" sz="1800" dirty="0" smtClean="0">
                            <a:latin typeface="Cambria Math"/>
                          </a:rPr>
                        </m:ctrlPr>
                      </m:fPr>
                      <m:num>
                        <m:r>
                          <a:rPr lang="en-US" sz="1800" b="0" i="0" dirty="0" smtClean="0">
                            <a:latin typeface="Cambria Math" panose="02040503050406030204" pitchFamily="18" charset="0"/>
                          </a:rPr>
                          <m:t>9</m:t>
                        </m:r>
                      </m:num>
                      <m:den>
                        <m:r>
                          <a:rPr lang="en-US" sz="1800" b="0" i="0" dirty="0" smtClean="0">
                            <a:latin typeface="Cambria Math" panose="02040503050406030204" pitchFamily="18" charset="0"/>
                          </a:rPr>
                          <m:t>5</m:t>
                        </m:r>
                      </m:den>
                    </m:f>
                  </m:oMath>
                </a14:m>
                <a:r>
                  <a:rPr lang="en-US" sz="1800" dirty="0" smtClean="0"/>
                  <a:t>X,27,</a:t>
                </a:r>
                <a14:m>
                  <m:oMath xmlns:m="http://schemas.openxmlformats.org/officeDocument/2006/math">
                    <m:r>
                      <a:rPr lang="en-US" sz="1800" b="0" i="0" smtClean="0">
                        <a:latin typeface="Cambria Math" panose="02040503050406030204" pitchFamily="18" charset="0"/>
                      </a:rPr>
                      <m:t>3 </m:t>
                    </m:r>
                    <m:f>
                      <m:fPr>
                        <m:ctrlPr>
                          <a:rPr lang="en-US" sz="1800" b="0" smtClean="0">
                            <a:latin typeface="Cambria Math"/>
                          </a:rPr>
                        </m:ctrlPr>
                      </m:fPr>
                      <m:num>
                        <m:r>
                          <a:rPr lang="en-US" sz="1800" b="0" i="0" smtClean="0">
                            <a:latin typeface="Cambria Math" panose="02040503050406030204" pitchFamily="18" charset="0"/>
                          </a:rPr>
                          <m:t>1</m:t>
                        </m:r>
                      </m:num>
                      <m:den>
                        <m:r>
                          <a:rPr lang="en-US" sz="1800" b="0" i="0" smtClean="0">
                            <a:latin typeface="Cambria Math" panose="02040503050406030204" pitchFamily="18" charset="0"/>
                          </a:rPr>
                          <m:t>3</m:t>
                        </m:r>
                      </m:den>
                    </m:f>
                  </m:oMath>
                </a14:m>
                <a:endParaRPr lang="en-US" sz="1800" dirty="0" smtClean="0"/>
              </a:p>
              <a:p>
                <a:pPr marL="342900" indent="-342900">
                  <a:buFont typeface="+mj-lt"/>
                  <a:buAutoNum type="alphaUcPeriod"/>
                </a:pPr>
                <a:r>
                  <a:rPr lang="en-US" sz="1800" dirty="0" smtClean="0"/>
                  <a:t>5X,18,13</a:t>
                </a:r>
              </a:p>
              <a:p>
                <a:pPr marL="342900" indent="-342900">
                  <a:buFont typeface="+mj-lt"/>
                  <a:buAutoNum type="alphaUcPeriod"/>
                </a:pPr>
                <a:r>
                  <a:rPr lang="en-US" sz="1800" dirty="0" smtClean="0"/>
                  <a:t>2X,16,15</a:t>
                </a:r>
              </a:p>
              <a:p>
                <a:pPr marL="342900" indent="-342900">
                  <a:buFont typeface="+mj-lt"/>
                  <a:buAutoNum type="alphaUcPeriod"/>
                </a:pPr>
                <a:r>
                  <a:rPr lang="en-US" sz="1800" dirty="0" smtClean="0"/>
                  <a:t>7X,8,12</a:t>
                </a:r>
              </a:p>
              <a:p>
                <a:endParaRPr lang="en-US" sz="1800" dirty="0" smtClean="0"/>
              </a:p>
              <a:p>
                <a:endParaRPr lang="en-US" sz="1800" dirty="0"/>
              </a:p>
            </p:txBody>
          </p:sp>
        </mc:Choice>
        <mc:Fallback>
          <p:sp>
            <p:nvSpPr>
              <p:cNvPr id="95" name="Google Shape;95;p17"/>
              <p:cNvSpPr txBox="1">
                <a:spLocks noRot="1" noChangeAspect="1" noMove="1" noResize="1" noEditPoints="1" noAdjustHandles="1" noChangeArrowheads="1" noChangeShapeType="1" noTextEdit="1"/>
              </p:cNvSpPr>
              <p:nvPr/>
            </p:nvSpPr>
            <p:spPr>
              <a:xfrm>
                <a:off x="327601" y="1000350"/>
                <a:ext cx="7678716" cy="1270240"/>
              </a:xfrm>
              <a:prstGeom prst="rect">
                <a:avLst/>
              </a:prstGeom>
              <a:blipFill rotWithShape="1">
                <a:blip r:embed="rId5"/>
                <a:stretch>
                  <a:fillRect l="-1906" t="-5769" b="-158654"/>
                </a:stretch>
              </a:blipFill>
              <a:ln>
                <a:noFill/>
              </a:ln>
            </p:spPr>
            <p:txBody>
              <a:bodyPr/>
              <a:lstStyle/>
              <a:p>
                <a:r>
                  <a:rPr lang="en-US">
                    <a:noFill/>
                  </a:rPr>
                  <a:t> </a:t>
                </a:r>
              </a:p>
            </p:txBody>
          </p:sp>
        </mc:Fallback>
      </mc:AlternateContent>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A</a:t>
            </a:r>
            <a:endParaRPr lang="en-US" sz="1800" dirty="0"/>
          </a:p>
        </p:txBody>
      </p:sp>
    </p:spTree>
    <p:extLst>
      <p:ext uri="{BB962C8B-B14F-4D97-AF65-F5344CB8AC3E}">
        <p14:creationId xmlns:p14="http://schemas.microsoft.com/office/powerpoint/2010/main" val="2058623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1" end="1"/>
                                            </p:txEl>
                                          </p:spTgt>
                                        </p:tgtEl>
                                        <p:attrNameLst>
                                          <p:attrName>style.visibility</p:attrName>
                                        </p:attrNameLst>
                                      </p:cBhvr>
                                      <p:to>
                                        <p:strVal val="visible"/>
                                      </p:to>
                                    </p:set>
                                    <p:animEffect transition="in" filter="fade">
                                      <p:cBhvr>
                                        <p:cTn id="10" dur="500"/>
                                        <p:tgtEl>
                                          <p:spTgt spid="9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2" end="2"/>
                                            </p:txEl>
                                          </p:spTgt>
                                        </p:tgtEl>
                                        <p:attrNameLst>
                                          <p:attrName>style.visibility</p:attrName>
                                        </p:attrNameLst>
                                      </p:cBhvr>
                                      <p:to>
                                        <p:strVal val="visible"/>
                                      </p:to>
                                    </p:set>
                                    <p:animEffect transition="in" filter="fade">
                                      <p:cBhvr>
                                        <p:cTn id="13" dur="500"/>
                                        <p:tgtEl>
                                          <p:spTgt spid="9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3" end="3"/>
                                            </p:txEl>
                                          </p:spTgt>
                                        </p:tgtEl>
                                        <p:attrNameLst>
                                          <p:attrName>style.visibility</p:attrName>
                                        </p:attrNameLst>
                                      </p:cBhvr>
                                      <p:to>
                                        <p:strVal val="visible"/>
                                      </p:to>
                                    </p:set>
                                    <p:animEffect transition="in" filter="fade">
                                      <p:cBhvr>
                                        <p:cTn id="16" dur="500"/>
                                        <p:tgtEl>
                                          <p:spTgt spid="9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95">
                                            <p:txEl>
                                              <p:pRg st="6" end="6"/>
                                            </p:txEl>
                                          </p:spTgt>
                                        </p:tgtEl>
                                        <p:attrNameLst>
                                          <p:attrName>style.visibility</p:attrName>
                                        </p:attrNameLst>
                                      </p:cBhvr>
                                      <p:to>
                                        <p:strVal val="visible"/>
                                      </p:to>
                                    </p:set>
                                    <p:animEffect transition="in" filter="fade">
                                      <p:cBhvr>
                                        <p:cTn id="22" dur="500"/>
                                        <p:tgtEl>
                                          <p:spTgt spid="95">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95">
                                            <p:txEl>
                                              <p:pRg st="7" end="7"/>
                                            </p:txEl>
                                          </p:spTgt>
                                        </p:tgtEl>
                                        <p:attrNameLst>
                                          <p:attrName>style.visibility</p:attrName>
                                        </p:attrNameLst>
                                      </p:cBhvr>
                                      <p:to>
                                        <p:strVal val="visible"/>
                                      </p:to>
                                    </p:set>
                                    <p:animEffect transition="in" filter="fade">
                                      <p:cBhvr>
                                        <p:cTn id="25" dur="500"/>
                                        <p:tgtEl>
                                          <p:spTgt spid="95">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95">
                                            <p:txEl>
                                              <p:pRg st="8" end="8"/>
                                            </p:txEl>
                                          </p:spTgt>
                                        </p:tgtEl>
                                        <p:attrNameLst>
                                          <p:attrName>style.visibility</p:attrName>
                                        </p:attrNameLst>
                                      </p:cBhvr>
                                      <p:to>
                                        <p:strVal val="visible"/>
                                      </p:to>
                                    </p:set>
                                    <p:animEffect transition="in" filter="fade">
                                      <p:cBhvr>
                                        <p:cTn id="28" dur="500"/>
                                        <p:tgtEl>
                                          <p:spTgt spid="95">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
                                            <p:txEl>
                                              <p:pRg st="0" end="0"/>
                                            </p:txEl>
                                          </p:spTgt>
                                        </p:tgtEl>
                                        <p:attrNameLst>
                                          <p:attrName>style.visibility</p:attrName>
                                        </p:attrNameLst>
                                      </p:cBhvr>
                                      <p:to>
                                        <p:strVal val="visible"/>
                                      </p:to>
                                    </p:set>
                                    <p:animEffect transition="in" filter="fade">
                                      <p:cBhvr>
                                        <p:cTn id="33"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452062" y="233550"/>
            <a:ext cx="2703337"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2799404437"/>
              </p:ext>
            </p:extLst>
          </p:nvPr>
        </p:nvGraphicFramePr>
        <p:xfrm>
          <a:off x="934948" y="1085721"/>
          <a:ext cx="6185852" cy="1481195"/>
        </p:xfrm>
        <a:graphic>
          <a:graphicData uri="http://schemas.openxmlformats.org/drawingml/2006/table">
            <a:tbl>
              <a:tblPr/>
              <a:tblGrid>
                <a:gridCol w="6185852"/>
              </a:tblGrid>
              <a:tr h="180144">
                <a:tc>
                  <a:txBody>
                    <a:bodyPr/>
                    <a:lstStyle/>
                    <a:p>
                      <a:endParaRPr lang="en-US" sz="1000" dirty="0"/>
                    </a:p>
                  </a:txBody>
                  <a:tcPr marL="27178" marR="27178" marT="27178" marB="27178">
                    <a:lnL>
                      <a:noFill/>
                    </a:lnL>
                    <a:lnR>
                      <a:noFill/>
                    </a:lnR>
                    <a:lnT>
                      <a:noFill/>
                    </a:lnT>
                    <a:lnB>
                      <a:noFill/>
                    </a:lnB>
                  </a:tcPr>
                </a:tc>
              </a:tr>
              <a:tr h="144625">
                <a:tc>
                  <a:txBody>
                    <a:bodyPr/>
                    <a:lstStyle/>
                    <a:p>
                      <a:endParaRPr lang="en-US" sz="1000" dirty="0"/>
                    </a:p>
                  </a:txBody>
                  <a:tcPr marL="6795" marR="6795" marT="6795" marB="6795">
                    <a:lnL>
                      <a:noFill/>
                    </a:lnL>
                    <a:lnR>
                      <a:noFill/>
                    </a:lnR>
                    <a:lnT>
                      <a:noFill/>
                    </a:lnT>
                    <a:lnB>
                      <a:noFill/>
                    </a:lnB>
                    <a:solidFill>
                      <a:srgbClr val="FFFFFF"/>
                    </a:solidFill>
                  </a:tcPr>
                </a:tc>
              </a:tr>
              <a:tr h="132785">
                <a:tc>
                  <a:txBody>
                    <a:bodyPr/>
                    <a:lstStyle/>
                    <a:p>
                      <a:endParaRPr lang="en-US" sz="1000" dirty="0"/>
                    </a:p>
                  </a:txBody>
                  <a:tcPr marL="0" marR="0" marT="0" marB="0">
                    <a:lnL>
                      <a:noFill/>
                    </a:lnL>
                    <a:lnR>
                      <a:noFill/>
                    </a:lnR>
                    <a:lnT>
                      <a:noFill/>
                    </a:lnT>
                    <a:lnB>
                      <a:noFill/>
                    </a:lnB>
                    <a:solidFill>
                      <a:srgbClr val="FFFFFF"/>
                    </a:solidFill>
                  </a:tcPr>
                </a:tc>
              </a:tr>
              <a:tr h="956049">
                <a:tc>
                  <a:txBody>
                    <a:bodyPr/>
                    <a:lstStyle/>
                    <a:p>
                      <a:endParaRPr lang="en-US" sz="1800" dirty="0">
                        <a:solidFill>
                          <a:srgbClr val="333333"/>
                        </a:solidFill>
                        <a:effectLst/>
                      </a:endParaRPr>
                    </a:p>
                  </a:txBody>
                  <a:tcPr marL="0" marR="0" marT="0" marB="0">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5"/>
          <a:stretch>
            <a:fillRect/>
          </a:stretch>
        </p:blipFill>
        <p:spPr>
          <a:xfrm>
            <a:off x="327600" y="750363"/>
            <a:ext cx="5807691" cy="3544236"/>
          </a:xfrm>
          <a:prstGeom prst="rect">
            <a:avLst/>
          </a:prstGeom>
        </p:spPr>
      </p:pic>
    </p:spTree>
    <p:extLst>
      <p:ext uri="{BB962C8B-B14F-4D97-AF65-F5344CB8AC3E}">
        <p14:creationId xmlns:p14="http://schemas.microsoft.com/office/powerpoint/2010/main" val="42444441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08</a:t>
            </a:r>
            <a:endParaRPr sz="2000" dirty="0">
              <a:solidFill>
                <a:schemeClr val="lt1"/>
              </a:solidFill>
              <a:latin typeface="Roboto"/>
              <a:ea typeface="Roboto"/>
              <a:cs typeface="Roboto"/>
              <a:sym typeface="Roboto"/>
            </a:endParaRPr>
          </a:p>
        </p:txBody>
      </p:sp>
      <p:sp>
        <p:nvSpPr>
          <p:cNvPr id="95" name="Google Shape;95;p17"/>
          <p:cNvSpPr txBox="1"/>
          <p:nvPr/>
        </p:nvSpPr>
        <p:spPr>
          <a:xfrm>
            <a:off x="327599" y="1231200"/>
            <a:ext cx="8621191" cy="2610300"/>
          </a:xfrm>
          <a:prstGeom prst="rect">
            <a:avLst/>
          </a:prstGeom>
          <a:noFill/>
          <a:ln>
            <a:noFill/>
          </a:ln>
        </p:spPr>
        <p:txBody>
          <a:bodyPr spcFirstLastPara="1" wrap="square" lIns="0" tIns="0" rIns="0" bIns="0" anchor="t" anchorCtr="0">
            <a:noAutofit/>
          </a:bodyPr>
          <a:lstStyle/>
          <a:p>
            <a:r>
              <a:rPr lang="en-US" sz="1800" dirty="0"/>
              <a:t>The cost of a taxi fare (</a:t>
            </a:r>
            <a:r>
              <a:rPr lang="en-US" sz="1800" i="1" dirty="0"/>
              <a:t>C</a:t>
            </a:r>
            <a:r>
              <a:rPr lang="en-US" sz="1800" dirty="0"/>
              <a:t>) varies directly as the distance (</a:t>
            </a:r>
            <a:r>
              <a:rPr lang="en-US" sz="1800" i="1" dirty="0"/>
              <a:t>D</a:t>
            </a:r>
            <a:r>
              <a:rPr lang="en-US" sz="1800" dirty="0"/>
              <a:t>) travelled. When the distance is 60 km, the cost is $35. Find the cost when the distance is 95 km</a:t>
            </a:r>
            <a:r>
              <a:rPr lang="en-US" sz="1800" dirty="0" smtClean="0"/>
              <a:t>.</a:t>
            </a:r>
          </a:p>
          <a:p>
            <a:endParaRPr lang="en-US" sz="1800" dirty="0"/>
          </a:p>
          <a:p>
            <a:pPr marL="342900" indent="-342900">
              <a:buFont typeface="+mj-lt"/>
              <a:buAutoNum type="alphaUcPeriod"/>
            </a:pPr>
            <a:r>
              <a:rPr lang="en-US" sz="1800" dirty="0" smtClean="0"/>
              <a:t>$54.32</a:t>
            </a:r>
          </a:p>
          <a:p>
            <a:pPr marL="342900" indent="-342900">
              <a:buFont typeface="+mj-lt"/>
              <a:buAutoNum type="alphaUcPeriod"/>
            </a:pPr>
            <a:r>
              <a:rPr lang="en-US" sz="1800" dirty="0" smtClean="0"/>
              <a:t>$55.42</a:t>
            </a:r>
          </a:p>
          <a:p>
            <a:pPr marL="342900" indent="-342900">
              <a:buFont typeface="+mj-lt"/>
              <a:buAutoNum type="alphaUcPeriod"/>
            </a:pPr>
            <a:r>
              <a:rPr lang="en-US" sz="1800" dirty="0" smtClean="0"/>
              <a:t>$56.62</a:t>
            </a:r>
          </a:p>
          <a:p>
            <a:pPr marL="342900" indent="-342900">
              <a:buFont typeface="+mj-lt"/>
              <a:buAutoNum type="alphaUcPeriod"/>
            </a:pPr>
            <a:r>
              <a:rPr lang="en-US" sz="1800" dirty="0" smtClean="0"/>
              <a:t>$58.72</a:t>
            </a:r>
            <a:endParaRPr lang="en-US" sz="1800" dirty="0"/>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B</a:t>
            </a:r>
            <a:endParaRPr lang="en-US" sz="1800" dirty="0"/>
          </a:p>
        </p:txBody>
      </p:sp>
    </p:spTree>
    <p:extLst>
      <p:ext uri="{BB962C8B-B14F-4D97-AF65-F5344CB8AC3E}">
        <p14:creationId xmlns:p14="http://schemas.microsoft.com/office/powerpoint/2010/main" val="2689531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883129638"/>
                  </p:ext>
                </p:extLst>
              </p:nvPr>
            </p:nvGraphicFramePr>
            <p:xfrm>
              <a:off x="327601" y="1085721"/>
              <a:ext cx="7059518" cy="2470153"/>
            </p:xfrm>
            <a:graphic>
              <a:graphicData uri="http://schemas.openxmlformats.org/drawingml/2006/table">
                <a:tbl>
                  <a:tblPr/>
                  <a:tblGrid>
                    <a:gridCol w="7059518"/>
                  </a:tblGrid>
                  <a:tr h="238915">
                    <a:tc>
                      <a:txBody>
                        <a:bodyPr/>
                        <a:lstStyle/>
                        <a:p>
                          <a:endParaRPr lang="en-US" sz="1000" dirty="0"/>
                        </a:p>
                      </a:txBody>
                      <a:tcPr marL="27178" marR="27178" marT="27178" marB="27178">
                        <a:lnL>
                          <a:noFill/>
                        </a:lnL>
                        <a:lnR>
                          <a:noFill/>
                        </a:lnR>
                        <a:lnT>
                          <a:noFill/>
                        </a:lnT>
                        <a:lnB>
                          <a:noFill/>
                        </a:lnB>
                      </a:tcPr>
                    </a:tc>
                  </a:tr>
                  <a:tr h="191808">
                    <a:tc>
                      <a:txBody>
                        <a:bodyPr/>
                        <a:lstStyle/>
                        <a:p>
                          <a:endParaRPr lang="en-US" sz="1000" dirty="0"/>
                        </a:p>
                      </a:txBody>
                      <a:tcPr marL="6795" marR="6795" marT="6795" marB="6795">
                        <a:lnL>
                          <a:noFill/>
                        </a:lnL>
                        <a:lnR>
                          <a:noFill/>
                        </a:lnR>
                        <a:lnT>
                          <a:noFill/>
                        </a:lnT>
                        <a:lnB>
                          <a:noFill/>
                        </a:lnB>
                        <a:solidFill>
                          <a:srgbClr val="FFFFFF"/>
                        </a:solidFill>
                      </a:tcPr>
                    </a:tc>
                  </a:tr>
                  <a:tr h="176104">
                    <a:tc>
                      <a:txBody>
                        <a:bodyPr/>
                        <a:lstStyle/>
                        <a:p>
                          <a:r>
                            <a:rPr lang="en-US" sz="1800" dirty="0" smtClean="0"/>
                            <a:t>C</a:t>
                          </a:r>
                          <a:r>
                            <a:rPr lang="en-US" sz="1800" baseline="0" dirty="0" smtClean="0"/>
                            <a:t> directly proportional to D</a:t>
                          </a:r>
                          <a:endParaRPr lang="en-US" sz="1800" dirty="0"/>
                        </a:p>
                      </a:txBody>
                      <a:tcPr marL="0" marR="0" marT="0" marB="0">
                        <a:lnL>
                          <a:noFill/>
                        </a:lnL>
                        <a:lnR>
                          <a:noFill/>
                        </a:lnR>
                        <a:lnT>
                          <a:noFill/>
                        </a:lnT>
                        <a:lnB>
                          <a:noFill/>
                        </a:lnB>
                        <a:solidFill>
                          <a:srgbClr val="FFFFFF"/>
                        </a:solidFill>
                      </a:tcPr>
                    </a:tc>
                  </a:tr>
                  <a:tr h="1163757">
                    <a:tc>
                      <a:txBody>
                        <a:bodyPr/>
                        <a:lstStyle/>
                        <a:p>
                          <a:endParaRPr lang="en-US" sz="1800" b="0" i="1" u="none" strike="noStrike" cap="none" dirty="0" smtClean="0">
                            <a:solidFill>
                              <a:schemeClr val="tx1"/>
                            </a:solidFill>
                            <a:effectLst/>
                            <a:latin typeface="+mn-lt"/>
                            <a:ea typeface="+mn-ea"/>
                            <a:cs typeface="+mn-cs"/>
                            <a:sym typeface="Arial"/>
                          </a:endParaRPr>
                        </a:p>
                        <a:p>
                          <a:r>
                            <a:rPr lang="en-US" sz="1800" b="0" i="0" u="none" strike="noStrike" cap="none" dirty="0" smtClean="0">
                              <a:solidFill>
                                <a:schemeClr val="tx1"/>
                              </a:solidFill>
                              <a:effectLst/>
                              <a:latin typeface="+mn-lt"/>
                              <a:ea typeface="+mn-ea"/>
                              <a:cs typeface="+mn-cs"/>
                              <a:sym typeface="Arial"/>
                            </a:rPr>
                            <a:t>C = </a:t>
                          </a:r>
                          <a:r>
                            <a:rPr lang="en-US" sz="1800" b="0" i="1" u="none" strike="noStrike" cap="none" dirty="0" smtClean="0">
                              <a:solidFill>
                                <a:schemeClr val="tx1"/>
                              </a:solidFill>
                              <a:effectLst/>
                              <a:latin typeface="+mn-lt"/>
                              <a:ea typeface="+mn-ea"/>
                              <a:cs typeface="+mn-cs"/>
                              <a:sym typeface="Arial"/>
                            </a:rPr>
                            <a:t>kD</a:t>
                          </a:r>
                          <a:r>
                            <a:rPr lang="en-US" sz="1800" b="0" i="0" u="none" strike="noStrike" cap="none" dirty="0" smtClean="0">
                              <a:solidFill>
                                <a:schemeClr val="tx1"/>
                              </a:solidFill>
                              <a:effectLst/>
                              <a:latin typeface="+mn-lt"/>
                              <a:ea typeface="+mn-ea"/>
                              <a:cs typeface="+mn-cs"/>
                              <a:sym typeface="Arial"/>
                            </a:rPr>
                            <a:t>, where </a:t>
                          </a:r>
                          <a:r>
                            <a:rPr lang="en-US" sz="1800" b="0" i="1" u="none" strike="noStrike" cap="none" dirty="0" smtClean="0">
                              <a:solidFill>
                                <a:schemeClr val="tx1"/>
                              </a:solidFill>
                              <a:effectLst/>
                              <a:latin typeface="+mn-lt"/>
                              <a:ea typeface="+mn-ea"/>
                              <a:cs typeface="+mn-cs"/>
                              <a:sym typeface="Arial"/>
                            </a:rPr>
                            <a:t>k</a:t>
                          </a:r>
                          <a:r>
                            <a:rPr lang="en-US" sz="1800" b="0" i="0" u="none" strike="noStrike" cap="none" dirty="0" smtClean="0">
                              <a:solidFill>
                                <a:schemeClr val="tx1"/>
                              </a:solidFill>
                              <a:effectLst/>
                              <a:latin typeface="+mn-lt"/>
                              <a:ea typeface="+mn-ea"/>
                              <a:cs typeface="+mn-cs"/>
                              <a:sym typeface="Arial"/>
                            </a:rPr>
                            <a:t> is a constant.</a:t>
                          </a:r>
                        </a:p>
                        <a:p>
                          <a:r>
                            <a:rPr lang="en-US" sz="1800" b="0" i="0" u="none" strike="noStrike" cap="none" dirty="0" smtClean="0">
                              <a:solidFill>
                                <a:schemeClr val="tx1"/>
                              </a:solidFill>
                              <a:effectLst/>
                              <a:latin typeface="+mn-lt"/>
                              <a:ea typeface="+mn-ea"/>
                              <a:cs typeface="+mn-cs"/>
                              <a:sym typeface="Arial"/>
                            </a:rPr>
                            <a:t>Substitute </a:t>
                          </a:r>
                          <a:r>
                            <a:rPr lang="en-US" sz="1800" b="0" i="1" u="none" strike="noStrike" cap="none" dirty="0" smtClean="0">
                              <a:solidFill>
                                <a:schemeClr val="tx1"/>
                              </a:solidFill>
                              <a:effectLst/>
                              <a:latin typeface="+mn-lt"/>
                              <a:ea typeface="+mn-ea"/>
                              <a:cs typeface="+mn-cs"/>
                              <a:sym typeface="Arial"/>
                            </a:rPr>
                            <a:t>C</a:t>
                          </a:r>
                          <a:r>
                            <a:rPr lang="en-US" sz="1800" b="0" i="0" u="none" strike="noStrike" cap="none" dirty="0" smtClean="0">
                              <a:solidFill>
                                <a:schemeClr val="tx1"/>
                              </a:solidFill>
                              <a:effectLst/>
                              <a:latin typeface="+mn-lt"/>
                              <a:ea typeface="+mn-ea"/>
                              <a:cs typeface="+mn-cs"/>
                              <a:sym typeface="Arial"/>
                            </a:rPr>
                            <a:t> = 35 and </a:t>
                          </a:r>
                          <a:r>
                            <a:rPr lang="en-US" sz="1800" b="0" i="1" u="none" strike="noStrike" cap="none" dirty="0" smtClean="0">
                              <a:solidFill>
                                <a:schemeClr val="tx1"/>
                              </a:solidFill>
                              <a:effectLst/>
                              <a:latin typeface="+mn-lt"/>
                              <a:ea typeface="+mn-ea"/>
                              <a:cs typeface="+mn-cs"/>
                              <a:sym typeface="Arial"/>
                            </a:rPr>
                            <a:t>D</a:t>
                          </a:r>
                          <a:r>
                            <a:rPr lang="en-US" sz="1800" b="0" i="0" u="none" strike="noStrike" cap="none" dirty="0" smtClean="0">
                              <a:solidFill>
                                <a:schemeClr val="tx1"/>
                              </a:solidFill>
                              <a:effectLst/>
                              <a:latin typeface="+mn-lt"/>
                              <a:ea typeface="+mn-ea"/>
                              <a:cs typeface="+mn-cs"/>
                              <a:sym typeface="Arial"/>
                            </a:rPr>
                            <a:t> = 60 into the equation</a:t>
                          </a:r>
                        </a:p>
                        <a:p>
                          <a:r>
                            <a:rPr lang="en-US" sz="1800" b="0" i="0" u="none" strike="noStrike" cap="none" dirty="0" smtClean="0">
                              <a:solidFill>
                                <a:schemeClr val="tx1"/>
                              </a:solidFill>
                              <a:effectLst/>
                              <a:latin typeface="+mn-lt"/>
                              <a:ea typeface="+mn-ea"/>
                              <a:cs typeface="+mn-cs"/>
                              <a:sym typeface="Arial"/>
                            </a:rPr>
                            <a:t>35 = 60</a:t>
                          </a:r>
                          <a:r>
                            <a:rPr lang="en-US" sz="1800" b="0" i="1" u="none" strike="noStrike" cap="none" dirty="0" smtClean="0">
                              <a:solidFill>
                                <a:schemeClr val="tx1"/>
                              </a:solidFill>
                              <a:effectLst/>
                              <a:latin typeface="+mn-lt"/>
                              <a:ea typeface="+mn-ea"/>
                              <a:cs typeface="+mn-cs"/>
                              <a:sym typeface="Arial"/>
                            </a:rPr>
                            <a:t>k </a:t>
                          </a:r>
                          <a:r>
                            <a:rPr lang="en-US" sz="1800" b="0" i="0" u="none" strike="noStrike" cap="none" dirty="0" smtClean="0">
                              <a:solidFill>
                                <a:schemeClr val="tx1"/>
                              </a:solidFill>
                              <a:effectLst/>
                              <a:latin typeface="+mn-lt"/>
                              <a:ea typeface="+mn-ea"/>
                              <a:cs typeface="+mn-cs"/>
                              <a:sym typeface="Arial"/>
                            </a:rPr>
                            <a:t>⇒</a:t>
                          </a:r>
                          <a:r>
                            <a:rPr lang="en-US" sz="1800" b="0" i="1" u="none" strike="noStrike" cap="none" dirty="0" smtClean="0">
                              <a:solidFill>
                                <a:schemeClr val="tx1"/>
                              </a:solidFill>
                              <a:effectLst/>
                              <a:latin typeface="+mn-lt"/>
                              <a:ea typeface="+mn-ea"/>
                              <a:cs typeface="+mn-cs"/>
                              <a:sym typeface="Arial"/>
                            </a:rPr>
                            <a:t>k</a:t>
                          </a:r>
                          <a:r>
                            <a:rPr lang="en-US" sz="1800" b="0" i="0" u="none" strike="noStrike" cap="none" dirty="0" smtClean="0">
                              <a:solidFill>
                                <a:schemeClr val="tx1"/>
                              </a:solidFill>
                              <a:effectLst/>
                              <a:latin typeface="+mn-lt"/>
                              <a:ea typeface="+mn-ea"/>
                              <a:cs typeface="+mn-cs"/>
                              <a:sym typeface="Arial"/>
                            </a:rPr>
                            <a:t> =</a:t>
                          </a:r>
                          <a14:m>
                            <m:oMath xmlns:m="http://schemas.openxmlformats.org/officeDocument/2006/math">
                              <m:f>
                                <m:fPr>
                                  <m:ctrlPr>
                                    <a:rPr lang="en-US" sz="1800" b="0" i="1" u="none" strike="noStrike" cap="none" smtClean="0">
                                      <a:solidFill>
                                        <a:schemeClr val="tx1"/>
                                      </a:solidFill>
                                      <a:effectLst/>
                                      <a:latin typeface="Cambria Math"/>
                                      <a:ea typeface="+mn-ea"/>
                                      <a:cs typeface="+mn-cs"/>
                                      <a:sym typeface="Arial"/>
                                    </a:rPr>
                                  </m:ctrlPr>
                                </m:fPr>
                                <m:num>
                                  <m:r>
                                    <a:rPr lang="en-US" sz="1800" b="0" i="1" u="none" strike="noStrike" cap="none" smtClean="0">
                                      <a:solidFill>
                                        <a:schemeClr val="tx1"/>
                                      </a:solidFill>
                                      <a:effectLst/>
                                      <a:latin typeface="Cambria Math" panose="02040503050406030204" pitchFamily="18" charset="0"/>
                                      <a:ea typeface="+mn-ea"/>
                                      <a:cs typeface="+mn-cs"/>
                                      <a:sym typeface="Arial"/>
                                    </a:rPr>
                                    <m:t>35</m:t>
                                  </m:r>
                                </m:num>
                                <m:den>
                                  <m:r>
                                    <a:rPr lang="en-US" sz="1800" b="0" i="1" u="none" strike="noStrike" cap="none" smtClean="0">
                                      <a:solidFill>
                                        <a:schemeClr val="tx1"/>
                                      </a:solidFill>
                                      <a:effectLst/>
                                      <a:latin typeface="Cambria Math" panose="02040503050406030204" pitchFamily="18" charset="0"/>
                                      <a:ea typeface="+mn-ea"/>
                                      <a:cs typeface="+mn-cs"/>
                                      <a:sym typeface="Arial"/>
                                    </a:rPr>
                                    <m:t>60</m:t>
                                  </m:r>
                                </m:den>
                              </m:f>
                            </m:oMath>
                          </a14:m>
                          <a:r>
                            <a:rPr lang="en-US" sz="1800" b="0" i="0" u="none" strike="noStrike" cap="none" dirty="0" smtClean="0">
                              <a:solidFill>
                                <a:schemeClr val="tx1"/>
                              </a:solidFill>
                              <a:effectLst/>
                              <a:latin typeface="+mn-lt"/>
                              <a:ea typeface="+mn-ea"/>
                              <a:cs typeface="+mn-cs"/>
                              <a:sym typeface="Arial"/>
                            </a:rPr>
                            <a:t>=</a:t>
                          </a:r>
                          <a14:m>
                            <m:oMath xmlns:m="http://schemas.openxmlformats.org/officeDocument/2006/math">
                              <m:f>
                                <m:fPr>
                                  <m:ctrlPr>
                                    <a:rPr lang="en-US" sz="1800" b="0" i="1" u="none" strike="noStrike" cap="none" dirty="0" smtClean="0">
                                      <a:solidFill>
                                        <a:schemeClr val="tx1"/>
                                      </a:solidFill>
                                      <a:effectLst/>
                                      <a:latin typeface="Cambria Math"/>
                                      <a:ea typeface="+mn-ea"/>
                                      <a:cs typeface="+mn-cs"/>
                                      <a:sym typeface="Arial"/>
                                    </a:rPr>
                                  </m:ctrlPr>
                                </m:fPr>
                                <m:num>
                                  <m:r>
                                    <a:rPr lang="en-US" sz="1800" b="0" i="1" u="none" strike="noStrike" cap="none" dirty="0" smtClean="0">
                                      <a:solidFill>
                                        <a:schemeClr val="tx1"/>
                                      </a:solidFill>
                                      <a:effectLst/>
                                      <a:latin typeface="Cambria Math" panose="02040503050406030204" pitchFamily="18" charset="0"/>
                                      <a:ea typeface="+mn-ea"/>
                                      <a:cs typeface="+mn-cs"/>
                                      <a:sym typeface="Arial"/>
                                    </a:rPr>
                                    <m:t>7</m:t>
                                  </m:r>
                                </m:num>
                                <m:den>
                                  <m:r>
                                    <a:rPr lang="en-US" sz="1800" b="0" i="1" u="none" strike="noStrike" cap="none" dirty="0" smtClean="0">
                                      <a:solidFill>
                                        <a:schemeClr val="tx1"/>
                                      </a:solidFill>
                                      <a:effectLst/>
                                      <a:latin typeface="Cambria Math" panose="02040503050406030204" pitchFamily="18" charset="0"/>
                                      <a:ea typeface="+mn-ea"/>
                                      <a:cs typeface="+mn-cs"/>
                                      <a:sym typeface="Arial"/>
                                    </a:rPr>
                                    <m:t>12</m:t>
                                  </m:r>
                                </m:den>
                              </m:f>
                            </m:oMath>
                          </a14:m>
                          <a:endParaRPr lang="en-US" sz="1800" b="0" i="0" u="none" strike="noStrike" cap="none" dirty="0" smtClean="0">
                            <a:solidFill>
                              <a:schemeClr val="tx1"/>
                            </a:solidFill>
                            <a:effectLst/>
                            <a:latin typeface="+mn-lt"/>
                            <a:ea typeface="+mn-ea"/>
                            <a:cs typeface="+mn-cs"/>
                            <a:sym typeface="Arial"/>
                          </a:endParaRPr>
                        </a:p>
                        <a:p>
                          <a:r>
                            <a:rPr lang="en-US" sz="1800" b="0" i="0" u="none" strike="noStrike" cap="none" dirty="0" smtClean="0">
                              <a:solidFill>
                                <a:schemeClr val="tx1"/>
                              </a:solidFill>
                              <a:effectLst/>
                              <a:latin typeface="+mn-lt"/>
                              <a:ea typeface="+mn-ea"/>
                              <a:cs typeface="+mn-cs"/>
                              <a:sym typeface="Arial"/>
                            </a:rPr>
                            <a:t>Substitute </a:t>
                          </a:r>
                          <a:r>
                            <a:rPr lang="en-US" sz="1800" b="0" i="1" u="none" strike="noStrike" cap="none" dirty="0" smtClean="0">
                              <a:solidFill>
                                <a:schemeClr val="tx1"/>
                              </a:solidFill>
                              <a:effectLst/>
                              <a:latin typeface="+mn-lt"/>
                              <a:ea typeface="+mn-ea"/>
                              <a:cs typeface="+mn-cs"/>
                              <a:sym typeface="Arial"/>
                            </a:rPr>
                            <a:t>D</a:t>
                          </a:r>
                          <a:r>
                            <a:rPr lang="en-US" sz="1800" b="0" i="0" u="none" strike="noStrike" cap="none" dirty="0" smtClean="0">
                              <a:solidFill>
                                <a:schemeClr val="tx1"/>
                              </a:solidFill>
                              <a:effectLst/>
                              <a:latin typeface="+mn-lt"/>
                              <a:ea typeface="+mn-ea"/>
                              <a:cs typeface="+mn-cs"/>
                              <a:sym typeface="Arial"/>
                            </a:rPr>
                            <a:t> = 95 into the equation: </a:t>
                          </a:r>
                        </a:p>
                        <a:p>
                          <a:r>
                            <a:rPr lang="en-US" sz="1800" b="0" i="0" u="none" strike="noStrike" cap="none" dirty="0" smtClean="0">
                              <a:solidFill>
                                <a:schemeClr val="tx1"/>
                              </a:solidFill>
                              <a:effectLst/>
                              <a:latin typeface="+mn-lt"/>
                              <a:ea typeface="+mn-ea"/>
                              <a:cs typeface="+mn-cs"/>
                              <a:sym typeface="Arial"/>
                            </a:rPr>
                            <a:t>The cost for 95 km is $55.42</a:t>
                          </a:r>
                          <a:endParaRPr lang="en-US" sz="1800" dirty="0">
                            <a:solidFill>
                              <a:srgbClr val="333333"/>
                            </a:solidFill>
                            <a:effectLst/>
                          </a:endParaRPr>
                        </a:p>
                      </a:txBody>
                      <a:tcPr marL="0" marR="0" marT="0" marB="0">
                        <a:lnL>
                          <a:noFill/>
                        </a:lnL>
                        <a:lnR>
                          <a:noFill/>
                        </a:lnR>
                        <a:lnT>
                          <a:noFill/>
                        </a:lnT>
                        <a:lnB>
                          <a:noFill/>
                        </a:lnB>
                        <a:solidFill>
                          <a:srgbClr val="FFFFFF"/>
                        </a:solidFill>
                      </a:tcPr>
                    </a:tc>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883129638"/>
                  </p:ext>
                </p:extLst>
              </p:nvPr>
            </p:nvGraphicFramePr>
            <p:xfrm>
              <a:off x="327601" y="1085721"/>
              <a:ext cx="7059518" cy="2470153"/>
            </p:xfrm>
            <a:graphic>
              <a:graphicData uri="http://schemas.openxmlformats.org/drawingml/2006/table">
                <a:tbl>
                  <a:tblPr/>
                  <a:tblGrid>
                    <a:gridCol w="7059518"/>
                  </a:tblGrid>
                  <a:tr h="238915">
                    <a:tc>
                      <a:txBody>
                        <a:bodyPr/>
                        <a:lstStyle/>
                        <a:p>
                          <a:endParaRPr lang="en-US" sz="1000" dirty="0"/>
                        </a:p>
                      </a:txBody>
                      <a:tcPr marL="27178" marR="27178" marT="27178" marB="27178">
                        <a:lnL>
                          <a:noFill/>
                        </a:lnL>
                        <a:lnR>
                          <a:noFill/>
                        </a:lnR>
                        <a:lnT>
                          <a:noFill/>
                        </a:lnT>
                        <a:lnB>
                          <a:noFill/>
                        </a:lnB>
                      </a:tcPr>
                    </a:tc>
                  </a:tr>
                  <a:tr h="191808">
                    <a:tc>
                      <a:txBody>
                        <a:bodyPr/>
                        <a:lstStyle/>
                        <a:p>
                          <a:endParaRPr lang="en-US" sz="1000" dirty="0"/>
                        </a:p>
                      </a:txBody>
                      <a:tcPr marL="6795" marR="6795" marT="6795" marB="6795">
                        <a:lnL>
                          <a:noFill/>
                        </a:lnL>
                        <a:lnR>
                          <a:noFill/>
                        </a:lnR>
                        <a:lnT>
                          <a:noFill/>
                        </a:lnT>
                        <a:lnB>
                          <a:noFill/>
                        </a:lnB>
                        <a:solidFill>
                          <a:srgbClr val="FFFFFF"/>
                        </a:solidFill>
                      </a:tcPr>
                    </a:tc>
                  </a:tr>
                  <a:tr h="274320">
                    <a:tc>
                      <a:txBody>
                        <a:bodyPr/>
                        <a:lstStyle/>
                        <a:p>
                          <a:r>
                            <a:rPr lang="en-US" sz="1800" dirty="0" smtClean="0"/>
                            <a:t>C</a:t>
                          </a:r>
                          <a:r>
                            <a:rPr lang="en-US" sz="1800" baseline="0" dirty="0" smtClean="0"/>
                            <a:t> directly proportional to D</a:t>
                          </a:r>
                          <a:endParaRPr lang="en-US" sz="1800" dirty="0"/>
                        </a:p>
                      </a:txBody>
                      <a:tcPr marL="0" marR="0" marT="0" marB="0">
                        <a:lnL>
                          <a:noFill/>
                        </a:lnL>
                        <a:lnR>
                          <a:noFill/>
                        </a:lnR>
                        <a:lnT>
                          <a:noFill/>
                        </a:lnT>
                        <a:lnB>
                          <a:noFill/>
                        </a:lnB>
                        <a:solidFill>
                          <a:srgbClr val="FFFFFF"/>
                        </a:solidFill>
                      </a:tcPr>
                    </a:tc>
                  </a:tr>
                  <a:tr h="1765110">
                    <a:tc>
                      <a:txBody>
                        <a:bodyPr/>
                        <a:lstStyle/>
                        <a:p>
                          <a:endParaRPr lang="en-US"/>
                        </a:p>
                      </a:txBody>
                      <a:tcPr marL="0" marR="0" marT="0" marB="0">
                        <a:lnL>
                          <a:noFill/>
                        </a:lnL>
                        <a:lnR>
                          <a:noFill/>
                        </a:lnR>
                        <a:lnT>
                          <a:noFill/>
                        </a:lnT>
                        <a:lnB>
                          <a:noFill/>
                        </a:lnB>
                        <a:blipFill rotWithShape="0">
                          <a:blip r:embed="rId5"/>
                          <a:stretch>
                            <a:fillRect t="-40000" b="-7931"/>
                          </a:stretch>
                        </a:blipFill>
                      </a:tcPr>
                    </a:tc>
                  </a:tr>
                </a:tbl>
              </a:graphicData>
            </a:graphic>
          </p:graphicFrame>
        </mc:Fallback>
      </mc:AlternateContent>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5" name="Picture 4"/>
          <p:cNvPicPr>
            <a:picLocks noChangeAspect="1"/>
          </p:cNvPicPr>
          <p:nvPr/>
        </p:nvPicPr>
        <p:blipFill>
          <a:blip r:embed="rId6"/>
          <a:stretch>
            <a:fillRect/>
          </a:stretch>
        </p:blipFill>
        <p:spPr>
          <a:xfrm>
            <a:off x="5719333" y="2119330"/>
            <a:ext cx="1901023" cy="777982"/>
          </a:xfrm>
          <a:prstGeom prst="rect">
            <a:avLst/>
          </a:prstGeom>
        </p:spPr>
      </p:pic>
    </p:spTree>
    <p:extLst>
      <p:ext uri="{BB962C8B-B14F-4D97-AF65-F5344CB8AC3E}">
        <p14:creationId xmlns:p14="http://schemas.microsoft.com/office/powerpoint/2010/main" val="16808678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09</a:t>
            </a:r>
            <a:endParaRPr sz="2000" dirty="0">
              <a:solidFill>
                <a:schemeClr val="lt1"/>
              </a:solidFill>
              <a:latin typeface="Roboto"/>
              <a:ea typeface="Roboto"/>
              <a:cs typeface="Roboto"/>
              <a:sym typeface="Roboto"/>
            </a:endParaRPr>
          </a:p>
        </p:txBody>
      </p:sp>
      <mc:AlternateContent xmlns:mc="http://schemas.openxmlformats.org/markup-compatibility/2006" xmlns:a14="http://schemas.microsoft.com/office/drawing/2010/main">
        <mc:Choice Requires="a14">
          <p:sp>
            <p:nvSpPr>
              <p:cNvPr id="95" name="Google Shape;95;p17"/>
              <p:cNvSpPr txBox="1"/>
              <p:nvPr/>
            </p:nvSpPr>
            <p:spPr>
              <a:xfrm>
                <a:off x="327601" y="1000350"/>
                <a:ext cx="7678716" cy="1270240"/>
              </a:xfrm>
              <a:prstGeom prst="rect">
                <a:avLst/>
              </a:prstGeom>
              <a:noFill/>
              <a:ln>
                <a:noFill/>
              </a:ln>
            </p:spPr>
            <p:txBody>
              <a:bodyPr spcFirstLastPara="1" wrap="square" lIns="0" tIns="0" rIns="0" bIns="0" anchor="t" anchorCtr="0">
                <a:noAutofit/>
              </a:bodyPr>
              <a:lstStyle/>
              <a:p>
                <a:r>
                  <a:rPr lang="en-US" sz="1800" dirty="0" smtClean="0"/>
                  <a:t>Given that </a:t>
                </a:r>
                <a:r>
                  <a:rPr lang="en-US" sz="1800" i="1" dirty="0"/>
                  <a:t>y</a:t>
                </a:r>
                <a:r>
                  <a:rPr lang="en-US" sz="1800" dirty="0"/>
                  <a:t> varies directly as the cube of </a:t>
                </a:r>
                <a:r>
                  <a:rPr lang="en-US" sz="1800" i="1" dirty="0"/>
                  <a:t>x</a:t>
                </a:r>
                <a:r>
                  <a:rPr lang="en-US" sz="1800" dirty="0"/>
                  <a:t> and that </a:t>
                </a:r>
                <a:r>
                  <a:rPr lang="en-US" sz="1800" i="1" dirty="0"/>
                  <a:t>y</a:t>
                </a:r>
                <a:r>
                  <a:rPr lang="en-US" sz="1800" dirty="0"/>
                  <a:t> = 21 when </a:t>
                </a:r>
                <a:r>
                  <a:rPr lang="en-US" sz="1800" i="1" dirty="0"/>
                  <a:t>x</a:t>
                </a:r>
                <a:r>
                  <a:rPr lang="en-US" sz="1800" dirty="0"/>
                  <a:t> = 3, calculate the value of </a:t>
                </a:r>
                <a:r>
                  <a:rPr lang="en-US" sz="1800" i="1" dirty="0"/>
                  <a:t>y</a:t>
                </a:r>
                <a:r>
                  <a:rPr lang="en-US" sz="1800" dirty="0"/>
                  <a:t> when </a:t>
                </a:r>
                <a:r>
                  <a:rPr lang="en-US" sz="1800" i="1" dirty="0"/>
                  <a:t>x</a:t>
                </a:r>
                <a:r>
                  <a:rPr lang="en-US" sz="1800" dirty="0"/>
                  <a:t> = 8</a:t>
                </a:r>
                <a:r>
                  <a:rPr lang="en-US" sz="1800" dirty="0" smtClean="0"/>
                  <a:t>.</a:t>
                </a:r>
              </a:p>
              <a:p>
                <a:r>
                  <a:rPr lang="en-US" sz="1800" dirty="0" smtClean="0"/>
                  <a:t>A. 398</a:t>
                </a:r>
                <a14:m>
                  <m:oMath xmlns:m="http://schemas.openxmlformats.org/officeDocument/2006/math">
                    <m:f>
                      <m:fPr>
                        <m:ctrlPr>
                          <a:rPr lang="en-US" sz="2000" i="1" smtClean="0">
                            <a:latin typeface="Cambria Math"/>
                          </a:rPr>
                        </m:ctrlPr>
                      </m:fPr>
                      <m:num>
                        <m:r>
                          <a:rPr lang="en-US" sz="2000" b="0" i="0" smtClean="0">
                            <a:latin typeface="Cambria Math" panose="02040503050406030204" pitchFamily="18" charset="0"/>
                          </a:rPr>
                          <m:t>2</m:t>
                        </m:r>
                      </m:num>
                      <m:den>
                        <m:r>
                          <a:rPr lang="en-US" sz="2000" b="0" i="0" smtClean="0">
                            <a:latin typeface="Cambria Math" panose="02040503050406030204" pitchFamily="18" charset="0"/>
                          </a:rPr>
                          <m:t>9</m:t>
                        </m:r>
                      </m:den>
                    </m:f>
                  </m:oMath>
                </a14:m>
                <a:endParaRPr lang="en-US" sz="2000" dirty="0" smtClean="0"/>
              </a:p>
              <a:p>
                <a:r>
                  <a:rPr lang="en-US" sz="1800" dirty="0" smtClean="0"/>
                  <a:t>B. 52</a:t>
                </a:r>
              </a:p>
              <a:p>
                <a:r>
                  <a:rPr lang="en-US" sz="1800" dirty="0" smtClean="0"/>
                  <a:t>C. 85</a:t>
                </a:r>
              </a:p>
              <a:p>
                <a:r>
                  <a:rPr lang="en-US" sz="1800" dirty="0" smtClean="0"/>
                  <a:t>D. 65</a:t>
                </a:r>
              </a:p>
            </p:txBody>
          </p:sp>
        </mc:Choice>
        <mc:Fallback xmlns="">
          <p:sp>
            <p:nvSpPr>
              <p:cNvPr id="95" name="Google Shape;95;p17"/>
              <p:cNvSpPr txBox="1">
                <a:spLocks noRot="1" noChangeAspect="1" noMove="1" noResize="1" noEditPoints="1" noAdjustHandles="1" noChangeArrowheads="1" noChangeShapeType="1" noTextEdit="1"/>
              </p:cNvSpPr>
              <p:nvPr/>
            </p:nvSpPr>
            <p:spPr>
              <a:xfrm>
                <a:off x="327601" y="1000350"/>
                <a:ext cx="7678716" cy="1270240"/>
              </a:xfrm>
              <a:prstGeom prst="rect">
                <a:avLst/>
              </a:prstGeom>
              <a:blipFill rotWithShape="0">
                <a:blip r:embed="rId5"/>
                <a:stretch>
                  <a:fillRect l="-1906" t="-6250" b="-53846"/>
                </a:stretch>
              </a:blipFill>
              <a:ln>
                <a:noFill/>
              </a:ln>
            </p:spPr>
            <p:txBody>
              <a:bodyPr/>
              <a:lstStyle/>
              <a:p>
                <a:r>
                  <a:rPr lang="en-US">
                    <a:noFill/>
                  </a:rPr>
                  <a:t> </a:t>
                </a:r>
              </a:p>
            </p:txBody>
          </p:sp>
        </mc:Fallback>
      </mc:AlternateContent>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A</a:t>
            </a:r>
            <a:endParaRPr lang="en-US" sz="1800" dirty="0"/>
          </a:p>
        </p:txBody>
      </p:sp>
    </p:spTree>
    <p:extLst>
      <p:ext uri="{BB962C8B-B14F-4D97-AF65-F5344CB8AC3E}">
        <p14:creationId xmlns:p14="http://schemas.microsoft.com/office/powerpoint/2010/main" val="3525001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1" end="1"/>
                                            </p:txEl>
                                          </p:spTgt>
                                        </p:tgtEl>
                                        <p:attrNameLst>
                                          <p:attrName>style.visibility</p:attrName>
                                        </p:attrNameLst>
                                      </p:cBhvr>
                                      <p:to>
                                        <p:strVal val="visible"/>
                                      </p:to>
                                    </p:set>
                                    <p:animEffect transition="in" filter="fade">
                                      <p:cBhvr>
                                        <p:cTn id="10" dur="500"/>
                                        <p:tgtEl>
                                          <p:spTgt spid="9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2" end="2"/>
                                            </p:txEl>
                                          </p:spTgt>
                                        </p:tgtEl>
                                        <p:attrNameLst>
                                          <p:attrName>style.visibility</p:attrName>
                                        </p:attrNameLst>
                                      </p:cBhvr>
                                      <p:to>
                                        <p:strVal val="visible"/>
                                      </p:to>
                                    </p:set>
                                    <p:animEffect transition="in" filter="fade">
                                      <p:cBhvr>
                                        <p:cTn id="13" dur="500"/>
                                        <p:tgtEl>
                                          <p:spTgt spid="9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3" end="3"/>
                                            </p:txEl>
                                          </p:spTgt>
                                        </p:tgtEl>
                                        <p:attrNameLst>
                                          <p:attrName>style.visibility</p:attrName>
                                        </p:attrNameLst>
                                      </p:cBhvr>
                                      <p:to>
                                        <p:strVal val="visible"/>
                                      </p:to>
                                    </p:set>
                                    <p:animEffect transition="in" filter="fade">
                                      <p:cBhvr>
                                        <p:cTn id="16" dur="500"/>
                                        <p:tgtEl>
                                          <p:spTgt spid="9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4" end="4"/>
                                            </p:txEl>
                                          </p:spTgt>
                                        </p:tgtEl>
                                        <p:attrNameLst>
                                          <p:attrName>style.visibility</p:attrName>
                                        </p:attrNameLst>
                                      </p:cBhvr>
                                      <p:to>
                                        <p:strVal val="visible"/>
                                      </p:to>
                                    </p:set>
                                    <p:animEffect transition="in" filter="fade">
                                      <p:cBhvr>
                                        <p:cTn id="19" dur="500"/>
                                        <p:tgtEl>
                                          <p:spTgt spid="9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1428555300"/>
              </p:ext>
            </p:extLst>
          </p:nvPr>
        </p:nvGraphicFramePr>
        <p:xfrm>
          <a:off x="327601" y="1085721"/>
          <a:ext cx="7131438" cy="2725991"/>
        </p:xfrm>
        <a:graphic>
          <a:graphicData uri="http://schemas.openxmlformats.org/drawingml/2006/table">
            <a:tbl>
              <a:tblPr/>
              <a:tblGrid>
                <a:gridCol w="7131438"/>
              </a:tblGrid>
              <a:tr h="1512063">
                <a:tc>
                  <a:txBody>
                    <a:bodyPr/>
                    <a:lstStyle/>
                    <a:p>
                      <a:endParaRPr lang="en-US" sz="1000" dirty="0"/>
                    </a:p>
                  </a:txBody>
                  <a:tcPr marL="27178" marR="27178" marT="27178" marB="27178">
                    <a:lnL>
                      <a:noFill/>
                    </a:lnL>
                    <a:lnR>
                      <a:noFill/>
                    </a:lnR>
                    <a:lnT>
                      <a:noFill/>
                    </a:lnT>
                    <a:lnB>
                      <a:noFill/>
                    </a:lnB>
                  </a:tcPr>
                </a:tc>
              </a:tr>
              <a:tr h="1213928">
                <a:tc>
                  <a:txBody>
                    <a:bodyPr/>
                    <a:lstStyle/>
                    <a:p>
                      <a:endParaRPr lang="en-US" sz="1000" dirty="0"/>
                    </a:p>
                  </a:txBody>
                  <a:tcPr marL="6795" marR="6795" marT="6795" marB="6795">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5"/>
          <a:stretch>
            <a:fillRect/>
          </a:stretch>
        </p:blipFill>
        <p:spPr>
          <a:xfrm>
            <a:off x="327601" y="1085721"/>
            <a:ext cx="6793200" cy="2725991"/>
          </a:xfrm>
          <a:prstGeom prst="rect">
            <a:avLst/>
          </a:prstGeom>
        </p:spPr>
      </p:pic>
    </p:spTree>
    <p:extLst>
      <p:ext uri="{BB962C8B-B14F-4D97-AF65-F5344CB8AC3E}">
        <p14:creationId xmlns:p14="http://schemas.microsoft.com/office/powerpoint/2010/main" val="6615458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10</a:t>
            </a:r>
            <a:endParaRPr sz="2000" dirty="0">
              <a:solidFill>
                <a:schemeClr val="lt1"/>
              </a:solidFill>
              <a:latin typeface="Roboto"/>
              <a:ea typeface="Roboto"/>
              <a:cs typeface="Roboto"/>
              <a:sym typeface="Roboto"/>
            </a:endParaRPr>
          </a:p>
        </p:txBody>
      </p:sp>
      <p:sp>
        <p:nvSpPr>
          <p:cNvPr id="95" name="Google Shape;95;p17"/>
          <p:cNvSpPr txBox="1"/>
          <p:nvPr/>
        </p:nvSpPr>
        <p:spPr>
          <a:xfrm>
            <a:off x="327601" y="1000350"/>
            <a:ext cx="7678716" cy="1270240"/>
          </a:xfrm>
          <a:prstGeom prst="rect">
            <a:avLst/>
          </a:prstGeom>
          <a:noFill/>
          <a:ln>
            <a:noFill/>
          </a:ln>
        </p:spPr>
        <p:txBody>
          <a:bodyPr spcFirstLastPara="1" wrap="square" lIns="0" tIns="0" rIns="0" bIns="0" anchor="t" anchorCtr="0">
            <a:noAutofit/>
          </a:bodyPr>
          <a:lstStyle/>
          <a:p>
            <a:r>
              <a:rPr lang="en-US" sz="1800" dirty="0" smtClean="0"/>
              <a:t>A quantity </a:t>
            </a:r>
            <a:r>
              <a:rPr lang="en-US" sz="1800" i="1" dirty="0"/>
              <a:t>y</a:t>
            </a:r>
            <a:r>
              <a:rPr lang="en-US" sz="1800" dirty="0"/>
              <a:t> varies inversely with the cube of </a:t>
            </a:r>
            <a:r>
              <a:rPr lang="en-US" sz="1800" i="1" dirty="0"/>
              <a:t>x</a:t>
            </a:r>
            <a:r>
              <a:rPr lang="en-US" sz="1800" dirty="0"/>
              <a:t>. If </a:t>
            </a:r>
            <a:r>
              <a:rPr lang="en-US" sz="1800" i="1" dirty="0"/>
              <a:t>y </a:t>
            </a:r>
            <a:r>
              <a:rPr lang="en-US" sz="1800" dirty="0"/>
              <a:t>= 25 when </a:t>
            </a:r>
            <a:r>
              <a:rPr lang="en-US" sz="1800" i="1" dirty="0"/>
              <a:t>x </a:t>
            </a:r>
            <a:r>
              <a:rPr lang="en-US" sz="1800" dirty="0"/>
              <a:t>= 2, find </a:t>
            </a:r>
            <a:r>
              <a:rPr lang="en-US" sz="1800" i="1" dirty="0"/>
              <a:t>y</a:t>
            </a:r>
            <a:r>
              <a:rPr lang="en-US" sz="1800" dirty="0"/>
              <a:t> when </a:t>
            </a:r>
            <a:r>
              <a:rPr lang="en-US" sz="1800" i="1" dirty="0"/>
              <a:t>x</a:t>
            </a:r>
            <a:r>
              <a:rPr lang="en-US" sz="1800" dirty="0"/>
              <a:t> is 6</a:t>
            </a:r>
            <a:r>
              <a:rPr lang="en-US" sz="1800" dirty="0" smtClean="0"/>
              <a:t>.</a:t>
            </a:r>
          </a:p>
          <a:p>
            <a:endParaRPr lang="en-US" sz="1800" dirty="0" smtClean="0"/>
          </a:p>
          <a:p>
            <a:pPr marL="457200" indent="-457200">
              <a:buAutoNum type="alphaUcPeriod"/>
            </a:pPr>
            <a:r>
              <a:rPr lang="en-US" sz="1800" dirty="0" smtClean="0"/>
              <a:t>23/25</a:t>
            </a:r>
          </a:p>
          <a:p>
            <a:pPr marL="457200" indent="-457200">
              <a:buAutoNum type="alphaUcPeriod"/>
            </a:pPr>
            <a:r>
              <a:rPr lang="en-US" sz="1800" dirty="0" smtClean="0"/>
              <a:t>25/27</a:t>
            </a:r>
          </a:p>
          <a:p>
            <a:pPr marL="457200" indent="-457200">
              <a:buAutoNum type="alphaUcPeriod"/>
            </a:pPr>
            <a:r>
              <a:rPr lang="en-US" sz="1800" dirty="0" smtClean="0"/>
              <a:t>28/26</a:t>
            </a:r>
          </a:p>
          <a:p>
            <a:pPr marL="457200" indent="-457200">
              <a:buAutoNum type="alphaUcPeriod"/>
            </a:pPr>
            <a:r>
              <a:rPr lang="en-US" sz="1800" dirty="0" smtClean="0"/>
              <a:t>27/25</a:t>
            </a:r>
          </a:p>
          <a:p>
            <a:endParaRPr lang="en-US" sz="2000" dirty="0" smtClean="0"/>
          </a:p>
          <a:p>
            <a:pPr marL="457200" indent="-457200">
              <a:buAutoNum type="alphaUcPeriod"/>
            </a:pPr>
            <a:endParaRPr lang="en-US" sz="2000" dirty="0"/>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B</a:t>
            </a:r>
            <a:endParaRPr lang="en-US" sz="1800" dirty="0"/>
          </a:p>
        </p:txBody>
      </p:sp>
    </p:spTree>
    <p:extLst>
      <p:ext uri="{BB962C8B-B14F-4D97-AF65-F5344CB8AC3E}">
        <p14:creationId xmlns:p14="http://schemas.microsoft.com/office/powerpoint/2010/main" val="369302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224616309"/>
                  </p:ext>
                </p:extLst>
              </p:nvPr>
            </p:nvGraphicFramePr>
            <p:xfrm>
              <a:off x="327600" y="893853"/>
              <a:ext cx="7722900" cy="3355786"/>
            </p:xfrm>
            <a:graphic>
              <a:graphicData uri="http://schemas.openxmlformats.org/drawingml/2006/table">
                <a:tbl>
                  <a:tblPr/>
                  <a:tblGrid>
                    <a:gridCol w="7722900"/>
                  </a:tblGrid>
                  <a:tr h="3023962">
                    <a:tc>
                      <a:txBody>
                        <a:bodyPr/>
                        <a:lstStyle/>
                        <a:p>
                          <a:r>
                            <a:rPr lang="en-US" sz="1800" b="0" i="0" u="none" strike="noStrike" cap="none" dirty="0" smtClean="0">
                              <a:solidFill>
                                <a:schemeClr val="tx1"/>
                              </a:solidFill>
                              <a:effectLst/>
                              <a:latin typeface="+mn-lt"/>
                              <a:ea typeface="+mn-ea"/>
                              <a:cs typeface="+mn-cs"/>
                              <a:sym typeface="Arial"/>
                            </a:rPr>
                            <a:t>The general formula for inverse variation with a cube is y=k/</a:t>
                          </a:r>
                          <a14:m>
                            <m:oMath xmlns:m="http://schemas.openxmlformats.org/officeDocument/2006/math">
                              <m:sSup>
                                <m:sSupPr>
                                  <m:ctrlPr>
                                    <a:rPr lang="en-US" sz="1800" b="0" i="1" u="none" strike="noStrike" cap="none" smtClean="0">
                                      <a:solidFill>
                                        <a:schemeClr val="tx1"/>
                                      </a:solidFill>
                                      <a:effectLst/>
                                      <a:latin typeface="Cambria Math"/>
                                      <a:ea typeface="+mn-ea"/>
                                      <a:cs typeface="+mn-cs"/>
                                      <a:sym typeface="Arial"/>
                                    </a:rPr>
                                  </m:ctrlPr>
                                </m:sSupPr>
                                <m:e>
                                  <m:r>
                                    <a:rPr lang="en-US" sz="1800" b="0" i="1" u="none" strike="noStrike" cap="none" smtClean="0">
                                      <a:solidFill>
                                        <a:schemeClr val="tx1"/>
                                      </a:solidFill>
                                      <a:effectLst/>
                                      <a:latin typeface="Cambria Math" panose="02040503050406030204" pitchFamily="18" charset="0"/>
                                      <a:ea typeface="+mn-ea"/>
                                      <a:cs typeface="+mn-cs"/>
                                      <a:sym typeface="Arial"/>
                                    </a:rPr>
                                    <m:t>𝑥</m:t>
                                  </m:r>
                                </m:e>
                                <m:sup>
                                  <m:r>
                                    <a:rPr lang="en-US" sz="1800" b="0" i="1" u="none" strike="noStrike" cap="none" smtClean="0">
                                      <a:solidFill>
                                        <a:schemeClr val="tx1"/>
                                      </a:solidFill>
                                      <a:effectLst/>
                                      <a:latin typeface="Cambria Math" panose="02040503050406030204" pitchFamily="18" charset="0"/>
                                      <a:ea typeface="+mn-ea"/>
                                      <a:cs typeface="+mn-cs"/>
                                      <a:sym typeface="Arial"/>
                                    </a:rPr>
                                    <m:t>3</m:t>
                                  </m:r>
                                </m:sup>
                              </m:sSup>
                            </m:oMath>
                          </a14:m>
                          <a:endParaRPr lang="en-US" sz="1800" dirty="0" smtClean="0"/>
                        </a:p>
                        <a:p>
                          <a:r>
                            <a:rPr lang="en-US" sz="1800" b="0" i="0" u="none" strike="noStrike" cap="none" dirty="0" smtClean="0">
                              <a:solidFill>
                                <a:schemeClr val="tx1"/>
                              </a:solidFill>
                              <a:effectLst/>
                              <a:latin typeface="+mn-lt"/>
                              <a:ea typeface="+mn-ea"/>
                              <a:cs typeface="+mn-cs"/>
                              <a:sym typeface="Arial"/>
                            </a:rPr>
                            <a:t>The constant can be found by multiplying </a:t>
                          </a:r>
                          <a:r>
                            <a:rPr lang="en-US" sz="1800" b="0" i="1" u="none" strike="noStrike" cap="none" dirty="0" smtClean="0">
                              <a:solidFill>
                                <a:schemeClr val="tx1"/>
                              </a:solidFill>
                              <a:effectLst/>
                              <a:latin typeface="+mn-lt"/>
                              <a:ea typeface="+mn-ea"/>
                              <a:cs typeface="+mn-cs"/>
                              <a:sym typeface="Arial"/>
                            </a:rPr>
                            <a:t>y</a:t>
                          </a:r>
                          <a:r>
                            <a:rPr lang="en-US" sz="1800" b="0" i="0" u="none" strike="noStrike" cap="none" dirty="0" smtClean="0">
                              <a:solidFill>
                                <a:schemeClr val="tx1"/>
                              </a:solidFill>
                              <a:effectLst/>
                              <a:latin typeface="+mn-lt"/>
                              <a:ea typeface="+mn-ea"/>
                              <a:cs typeface="+mn-cs"/>
                              <a:sym typeface="Arial"/>
                            </a:rPr>
                            <a:t> by the cube of </a:t>
                          </a:r>
                          <a:r>
                            <a:rPr lang="en-US" sz="1800" b="0" i="1" u="none" strike="noStrike" cap="none" dirty="0" smtClean="0">
                              <a:solidFill>
                                <a:schemeClr val="tx1"/>
                              </a:solidFill>
                              <a:effectLst/>
                              <a:latin typeface="+mn-lt"/>
                              <a:ea typeface="+mn-ea"/>
                              <a:cs typeface="+mn-cs"/>
                              <a:sym typeface="Arial"/>
                            </a:rPr>
                            <a:t>x</a:t>
                          </a:r>
                          <a:r>
                            <a:rPr lang="en-US" sz="1800" b="0" i="0" u="none" strike="noStrike" cap="none" dirty="0" smtClean="0">
                              <a:solidFill>
                                <a:schemeClr val="tx1"/>
                              </a:solidFill>
                              <a:effectLst/>
                              <a:latin typeface="+mn-lt"/>
                              <a:ea typeface="+mn-ea"/>
                              <a:cs typeface="+mn-cs"/>
                              <a:sym typeface="Arial"/>
                            </a:rPr>
                            <a:t>.</a:t>
                          </a:r>
                        </a:p>
                        <a:p>
                          <a:r>
                            <a:rPr lang="en-US" sz="1800" b="0" i="0" u="none" strike="noStrike" cap="none" dirty="0" smtClean="0">
                              <a:solidFill>
                                <a:schemeClr val="tx1"/>
                              </a:solidFill>
                              <a:effectLst/>
                              <a:latin typeface="+mn-lt"/>
                              <a:ea typeface="+mn-ea"/>
                              <a:cs typeface="+mn-cs"/>
                              <a:sym typeface="Arial"/>
                            </a:rPr>
                            <a:t> k=</a:t>
                          </a:r>
                          <a14:m>
                            <m:oMath xmlns:m="http://schemas.openxmlformats.org/officeDocument/2006/math">
                              <m:sSup>
                                <m:sSupPr>
                                  <m:ctrlPr>
                                    <a:rPr lang="en-US" sz="1800" b="0" i="1" u="none" strike="noStrike" cap="none" smtClean="0">
                                      <a:solidFill>
                                        <a:schemeClr val="tx1"/>
                                      </a:solidFill>
                                      <a:effectLst/>
                                      <a:latin typeface="Cambria Math"/>
                                      <a:ea typeface="+mn-ea"/>
                                      <a:cs typeface="+mn-cs"/>
                                      <a:sym typeface="Arial"/>
                                    </a:rPr>
                                  </m:ctrlPr>
                                </m:sSupPr>
                                <m:e>
                                  <m:r>
                                    <a:rPr lang="en-US" sz="1800" b="0" i="1" u="none" strike="noStrike" cap="none" smtClean="0">
                                      <a:solidFill>
                                        <a:schemeClr val="tx1"/>
                                      </a:solidFill>
                                      <a:effectLst/>
                                      <a:latin typeface="Cambria Math" panose="02040503050406030204" pitchFamily="18" charset="0"/>
                                      <a:ea typeface="+mn-ea"/>
                                      <a:cs typeface="+mn-cs"/>
                                      <a:sym typeface="Arial"/>
                                    </a:rPr>
                                    <m:t>𝑥</m:t>
                                  </m:r>
                                </m:e>
                                <m:sup>
                                  <m:r>
                                    <a:rPr lang="en-US" sz="1800" b="0" i="1" u="none" strike="noStrike" cap="none" smtClean="0">
                                      <a:solidFill>
                                        <a:schemeClr val="tx1"/>
                                      </a:solidFill>
                                      <a:effectLst/>
                                      <a:latin typeface="Cambria Math" panose="02040503050406030204" pitchFamily="18" charset="0"/>
                                      <a:ea typeface="+mn-ea"/>
                                      <a:cs typeface="+mn-cs"/>
                                      <a:sym typeface="Arial"/>
                                    </a:rPr>
                                    <m:t>3</m:t>
                                  </m:r>
                                </m:sup>
                              </m:sSup>
                            </m:oMath>
                          </a14:m>
                          <a:r>
                            <a:rPr lang="en-US" sz="1800" dirty="0" smtClean="0"/>
                            <a:t>y</a:t>
                          </a:r>
                        </a:p>
                        <a:p>
                          <a:r>
                            <a:rPr lang="en-US" sz="1800" dirty="0" smtClean="0"/>
                            <a:t> k=200</a:t>
                          </a:r>
                        </a:p>
                        <a:p>
                          <a:r>
                            <a:rPr lang="en-US" sz="1800" b="0" i="0" u="none" strike="noStrike" cap="none" dirty="0" smtClean="0">
                              <a:solidFill>
                                <a:schemeClr val="tx1"/>
                              </a:solidFill>
                              <a:effectLst/>
                              <a:latin typeface="+mn-lt"/>
                              <a:ea typeface="+mn-ea"/>
                              <a:cs typeface="+mn-cs"/>
                              <a:sym typeface="Arial"/>
                            </a:rPr>
                            <a:t>Now we use the constant to write an equation that represents this relationship.</a:t>
                          </a:r>
                        </a:p>
                        <a:p>
                          <a:r>
                            <a:rPr lang="en-US" sz="1800" b="0" i="0" u="none" strike="noStrike" cap="none" dirty="0" smtClean="0">
                              <a:solidFill>
                                <a:schemeClr val="tx1"/>
                              </a:solidFill>
                              <a:effectLst/>
                              <a:latin typeface="+mn-lt"/>
                              <a:ea typeface="+mn-ea"/>
                              <a:cs typeface="+mn-cs"/>
                              <a:sym typeface="Arial"/>
                            </a:rPr>
                            <a:t>y=k/</a:t>
                          </a:r>
                          <a14:m>
                            <m:oMath xmlns:m="http://schemas.openxmlformats.org/officeDocument/2006/math">
                              <m:sSup>
                                <m:sSupPr>
                                  <m:ctrlPr>
                                    <a:rPr lang="en-US" sz="1800" b="0" i="1" u="none" strike="noStrike" cap="none" smtClean="0">
                                      <a:solidFill>
                                        <a:schemeClr val="tx1"/>
                                      </a:solidFill>
                                      <a:effectLst/>
                                      <a:latin typeface="Cambria Math"/>
                                      <a:ea typeface="+mn-ea"/>
                                      <a:cs typeface="+mn-cs"/>
                                      <a:sym typeface="Arial"/>
                                    </a:rPr>
                                  </m:ctrlPr>
                                </m:sSupPr>
                                <m:e>
                                  <m:r>
                                    <a:rPr lang="en-US" sz="1800" b="0" i="1" u="none" strike="noStrike" cap="none" smtClean="0">
                                      <a:solidFill>
                                        <a:schemeClr val="tx1"/>
                                      </a:solidFill>
                                      <a:effectLst/>
                                      <a:latin typeface="Cambria Math" panose="02040503050406030204" pitchFamily="18" charset="0"/>
                                      <a:ea typeface="+mn-ea"/>
                                      <a:cs typeface="+mn-cs"/>
                                      <a:sym typeface="Arial"/>
                                    </a:rPr>
                                    <m:t>𝑥</m:t>
                                  </m:r>
                                </m:e>
                                <m:sup>
                                  <m:r>
                                    <a:rPr lang="en-US" sz="1800" b="0" i="1" u="none" strike="noStrike" cap="none" smtClean="0">
                                      <a:solidFill>
                                        <a:schemeClr val="tx1"/>
                                      </a:solidFill>
                                      <a:effectLst/>
                                      <a:latin typeface="Cambria Math" panose="02040503050406030204" pitchFamily="18" charset="0"/>
                                      <a:ea typeface="+mn-ea"/>
                                      <a:cs typeface="+mn-cs"/>
                                      <a:sym typeface="Arial"/>
                                    </a:rPr>
                                    <m:t>3</m:t>
                                  </m:r>
                                </m:sup>
                              </m:sSup>
                            </m:oMath>
                          </a14:m>
                          <a:r>
                            <a:rPr lang="en-US" sz="1800" dirty="0" smtClean="0"/>
                            <a:t> k=200</a:t>
                          </a:r>
                        </a:p>
                        <a:p>
                          <a:r>
                            <a:rPr lang="en-US" sz="1800" b="0" i="0" u="none" strike="noStrike" cap="none" dirty="0" smtClean="0">
                              <a:solidFill>
                                <a:schemeClr val="tx1"/>
                              </a:solidFill>
                              <a:effectLst/>
                              <a:latin typeface="+mn-lt"/>
                              <a:ea typeface="+mn-ea"/>
                              <a:cs typeface="+mn-cs"/>
                              <a:sym typeface="Arial"/>
                            </a:rPr>
                            <a:t>Substitute </a:t>
                          </a:r>
                          <a:r>
                            <a:rPr lang="en-US" sz="1800" b="0" i="1" u="none" strike="noStrike" cap="none" dirty="0" smtClean="0">
                              <a:solidFill>
                                <a:schemeClr val="tx1"/>
                              </a:solidFill>
                              <a:effectLst/>
                              <a:latin typeface="+mn-lt"/>
                              <a:ea typeface="+mn-ea"/>
                              <a:cs typeface="+mn-cs"/>
                              <a:sym typeface="Arial"/>
                            </a:rPr>
                            <a:t>x </a:t>
                          </a:r>
                          <a:r>
                            <a:rPr lang="en-US" sz="1800" b="0" i="0" u="none" strike="noStrike" cap="none" dirty="0" smtClean="0">
                              <a:solidFill>
                                <a:schemeClr val="tx1"/>
                              </a:solidFill>
                              <a:effectLst/>
                              <a:latin typeface="+mn-lt"/>
                              <a:ea typeface="+mn-ea"/>
                              <a:cs typeface="+mn-cs"/>
                              <a:sym typeface="Arial"/>
                            </a:rPr>
                            <a:t>= 6 and solve for </a:t>
                          </a:r>
                          <a:r>
                            <a:rPr lang="en-US" sz="1800" b="0" i="1" u="none" strike="noStrike" cap="none" dirty="0" smtClean="0">
                              <a:solidFill>
                                <a:schemeClr val="tx1"/>
                              </a:solidFill>
                              <a:effectLst/>
                              <a:latin typeface="+mn-lt"/>
                              <a:ea typeface="+mn-ea"/>
                              <a:cs typeface="+mn-cs"/>
                              <a:sym typeface="Arial"/>
                            </a:rPr>
                            <a:t>y</a:t>
                          </a:r>
                          <a:r>
                            <a:rPr lang="en-US" sz="1800" b="0" i="0" u="none" strike="noStrike" cap="none" dirty="0" smtClean="0">
                              <a:solidFill>
                                <a:schemeClr val="tx1"/>
                              </a:solidFill>
                              <a:effectLst/>
                              <a:latin typeface="+mn-lt"/>
                              <a:ea typeface="+mn-ea"/>
                              <a:cs typeface="+mn-cs"/>
                              <a:sym typeface="Arial"/>
                            </a:rPr>
                            <a:t>.</a:t>
                          </a:r>
                        </a:p>
                        <a:p>
                          <a:r>
                            <a:rPr lang="en-US" sz="1800" b="0" i="0" u="none" strike="noStrike" cap="none" dirty="0" smtClean="0">
                              <a:solidFill>
                                <a:schemeClr val="tx1"/>
                              </a:solidFill>
                              <a:effectLst/>
                              <a:latin typeface="+mn-lt"/>
                              <a:ea typeface="+mn-ea"/>
                              <a:cs typeface="+mn-cs"/>
                              <a:sym typeface="Arial"/>
                            </a:rPr>
                            <a:t>y=</a:t>
                          </a:r>
                          <a14:m>
                            <m:oMath xmlns:m="http://schemas.openxmlformats.org/officeDocument/2006/math">
                              <m:f>
                                <m:fPr>
                                  <m:ctrlPr>
                                    <a:rPr lang="en-US" sz="1800" b="0" i="1" u="none" strike="noStrike" cap="none" smtClean="0">
                                      <a:solidFill>
                                        <a:schemeClr val="tx1"/>
                                      </a:solidFill>
                                      <a:effectLst/>
                                      <a:latin typeface="Cambria Math"/>
                                      <a:ea typeface="+mn-ea"/>
                                      <a:cs typeface="+mn-cs"/>
                                      <a:sym typeface="Arial"/>
                                    </a:rPr>
                                  </m:ctrlPr>
                                </m:fPr>
                                <m:num>
                                  <m:r>
                                    <a:rPr lang="en-US" sz="1800" b="0" i="1" u="none" strike="noStrike" cap="none" smtClean="0">
                                      <a:solidFill>
                                        <a:schemeClr val="tx1"/>
                                      </a:solidFill>
                                      <a:effectLst/>
                                      <a:latin typeface="Cambria Math" panose="02040503050406030204" pitchFamily="18" charset="0"/>
                                      <a:ea typeface="+mn-ea"/>
                                      <a:cs typeface="+mn-cs"/>
                                      <a:sym typeface="Arial"/>
                                    </a:rPr>
                                    <m:t>25</m:t>
                                  </m:r>
                                </m:num>
                                <m:den>
                                  <m:r>
                                    <a:rPr lang="en-US" sz="1800" b="0" i="1" u="none" strike="noStrike" cap="none" smtClean="0">
                                      <a:solidFill>
                                        <a:schemeClr val="tx1"/>
                                      </a:solidFill>
                                      <a:effectLst/>
                                      <a:latin typeface="Cambria Math" panose="02040503050406030204" pitchFamily="18" charset="0"/>
                                      <a:ea typeface="+mn-ea"/>
                                      <a:cs typeface="+mn-cs"/>
                                      <a:sym typeface="Arial"/>
                                    </a:rPr>
                                    <m:t>27</m:t>
                                  </m:r>
                                </m:den>
                              </m:f>
                            </m:oMath>
                          </a14:m>
                          <a:endParaRPr lang="en-US" sz="1800" dirty="0" smtClean="0"/>
                        </a:p>
                        <a:p>
                          <a:endParaRPr lang="en-US" sz="1800" dirty="0" smtClean="0"/>
                        </a:p>
                        <a:p>
                          <a:r>
                            <a:rPr lang="en-US" sz="1800" dirty="0" smtClean="0"/>
                            <a:t>                             </a:t>
                          </a:r>
                          <a:endParaRPr lang="en-US" sz="1800" dirty="0"/>
                        </a:p>
                      </a:txBody>
                      <a:tcPr marL="27178" marR="27178" marT="27178" marB="27178">
                        <a:lnL>
                          <a:noFill/>
                        </a:lnL>
                        <a:lnR>
                          <a:noFill/>
                        </a:lnR>
                        <a:lnT>
                          <a:noFill/>
                        </a:lnT>
                        <a:lnB>
                          <a:noFill/>
                        </a:lnB>
                      </a:tcPr>
                    </a:tc>
                  </a:tr>
                  <a:tr h="157360">
                    <a:tc>
                      <a:txBody>
                        <a:bodyPr/>
                        <a:lstStyle/>
                        <a:p>
                          <a:endParaRPr lang="en-US" sz="1000" dirty="0"/>
                        </a:p>
                      </a:txBody>
                      <a:tcPr marL="6795" marR="6795" marT="6795" marB="6795">
                        <a:lnL>
                          <a:noFill/>
                        </a:lnL>
                        <a:lnR>
                          <a:noFill/>
                        </a:lnR>
                        <a:lnT>
                          <a:noFill/>
                        </a:lnT>
                        <a:lnB>
                          <a:noFill/>
                        </a:lnB>
                        <a:solidFill>
                          <a:srgbClr val="FFFFFF"/>
                        </a:solidFill>
                      </a:tcPr>
                    </a:tc>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224616309"/>
                  </p:ext>
                </p:extLst>
              </p:nvPr>
            </p:nvGraphicFramePr>
            <p:xfrm>
              <a:off x="327600" y="893853"/>
              <a:ext cx="7722900" cy="3355786"/>
            </p:xfrm>
            <a:graphic>
              <a:graphicData uri="http://schemas.openxmlformats.org/drawingml/2006/table">
                <a:tbl>
                  <a:tblPr/>
                  <a:tblGrid>
                    <a:gridCol w="7722900"/>
                  </a:tblGrid>
                  <a:tr h="3189796">
                    <a:tc>
                      <a:txBody>
                        <a:bodyPr/>
                        <a:lstStyle/>
                        <a:p>
                          <a:endParaRPr lang="en-US"/>
                        </a:p>
                      </a:txBody>
                      <a:tcPr marL="27178" marR="27178" marT="27178" marB="27178">
                        <a:lnL>
                          <a:noFill/>
                        </a:lnL>
                        <a:lnR>
                          <a:noFill/>
                        </a:lnR>
                        <a:lnT>
                          <a:noFill/>
                        </a:lnT>
                        <a:lnB>
                          <a:noFill/>
                        </a:lnB>
                        <a:blipFill rotWithShape="0">
                          <a:blip r:embed="rId5"/>
                          <a:stretch>
                            <a:fillRect t="-1524" b="-5143"/>
                          </a:stretch>
                        </a:blipFill>
                      </a:tcPr>
                    </a:tc>
                  </a:tr>
                  <a:tr h="165990">
                    <a:tc>
                      <a:txBody>
                        <a:bodyPr/>
                        <a:lstStyle/>
                        <a:p>
                          <a:endParaRPr lang="en-US" sz="1000" dirty="0"/>
                        </a:p>
                      </a:txBody>
                      <a:tcPr marL="6795" marR="6795" marT="6795" marB="6795">
                        <a:lnL>
                          <a:noFill/>
                        </a:lnL>
                        <a:lnR>
                          <a:noFill/>
                        </a:lnR>
                        <a:lnT>
                          <a:noFill/>
                        </a:lnT>
                        <a:lnB>
                          <a:noFill/>
                        </a:lnB>
                        <a:solidFill>
                          <a:srgbClr val="FFFFFF"/>
                        </a:solidFill>
                      </a:tcPr>
                    </a:tc>
                  </a:tr>
                </a:tbl>
              </a:graphicData>
            </a:graphic>
          </p:graphicFrame>
        </mc:Fallback>
      </mc:AlternateContent>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614698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11</a:t>
            </a:r>
            <a:endParaRPr sz="2000" dirty="0">
              <a:solidFill>
                <a:schemeClr val="lt1"/>
              </a:solidFill>
              <a:latin typeface="Roboto"/>
              <a:ea typeface="Roboto"/>
              <a:cs typeface="Roboto"/>
              <a:sym typeface="Roboto"/>
            </a:endParaRPr>
          </a:p>
        </p:txBody>
      </p:sp>
      <p:sp>
        <p:nvSpPr>
          <p:cNvPr id="95" name="Google Shape;95;p17"/>
          <p:cNvSpPr txBox="1"/>
          <p:nvPr/>
        </p:nvSpPr>
        <p:spPr>
          <a:xfrm>
            <a:off x="327601" y="1000350"/>
            <a:ext cx="7678716" cy="1270240"/>
          </a:xfrm>
          <a:prstGeom prst="rect">
            <a:avLst/>
          </a:prstGeom>
          <a:noFill/>
          <a:ln>
            <a:noFill/>
          </a:ln>
        </p:spPr>
        <p:txBody>
          <a:bodyPr spcFirstLastPara="1" wrap="square" lIns="0" tIns="0" rIns="0" bIns="0" anchor="t" anchorCtr="0">
            <a:noAutofit/>
          </a:bodyPr>
          <a:lstStyle/>
          <a:p>
            <a:endParaRPr lang="en-US" sz="2000" dirty="0" smtClean="0"/>
          </a:p>
          <a:p>
            <a:r>
              <a:rPr lang="en-US" sz="1800" dirty="0"/>
              <a:t>If 35 men can reap a field in 8 days; in how many days can 20 men reap the same field</a:t>
            </a:r>
            <a:r>
              <a:rPr lang="en-US" sz="1800" dirty="0" smtClean="0"/>
              <a:t>?</a:t>
            </a:r>
          </a:p>
          <a:p>
            <a:endParaRPr lang="en-US" sz="1800" dirty="0"/>
          </a:p>
          <a:p>
            <a:pPr marL="457200" indent="-457200">
              <a:buFont typeface="+mj-lt"/>
              <a:buAutoNum type="alphaUcPeriod"/>
            </a:pPr>
            <a:r>
              <a:rPr lang="en-US" sz="1800" dirty="0" smtClean="0"/>
              <a:t>15days</a:t>
            </a:r>
          </a:p>
          <a:p>
            <a:pPr marL="457200" indent="-457200">
              <a:buFont typeface="+mj-lt"/>
              <a:buAutoNum type="alphaUcPeriod"/>
            </a:pPr>
            <a:r>
              <a:rPr lang="en-US" sz="1800" dirty="0" smtClean="0"/>
              <a:t>16days</a:t>
            </a:r>
          </a:p>
          <a:p>
            <a:pPr marL="457200" indent="-457200">
              <a:buFont typeface="+mj-lt"/>
              <a:buAutoNum type="alphaUcPeriod"/>
            </a:pPr>
            <a:r>
              <a:rPr lang="en-US" sz="1800" dirty="0" smtClean="0"/>
              <a:t>14days</a:t>
            </a:r>
          </a:p>
          <a:p>
            <a:pPr marL="457200" indent="-457200">
              <a:buFont typeface="+mj-lt"/>
              <a:buAutoNum type="alphaUcPeriod"/>
            </a:pPr>
            <a:r>
              <a:rPr lang="en-US" sz="1800" dirty="0" smtClean="0"/>
              <a:t>10days</a:t>
            </a:r>
            <a:endParaRPr lang="en-US" sz="1800" dirty="0"/>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C</a:t>
            </a:r>
            <a:endParaRPr lang="en-US" sz="1800" dirty="0"/>
          </a:p>
        </p:txBody>
      </p:sp>
    </p:spTree>
    <p:extLst>
      <p:ext uri="{BB962C8B-B14F-4D97-AF65-F5344CB8AC3E}">
        <p14:creationId xmlns:p14="http://schemas.microsoft.com/office/powerpoint/2010/main" val="1014168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1" end="1"/>
                                            </p:txEl>
                                          </p:spTgt>
                                        </p:tgtEl>
                                        <p:attrNameLst>
                                          <p:attrName>style.visibility</p:attrName>
                                        </p:attrNameLst>
                                      </p:cBhvr>
                                      <p:to>
                                        <p:strVal val="visible"/>
                                      </p:to>
                                    </p:set>
                                    <p:animEffect transition="in" filter="fade">
                                      <p:cBhvr>
                                        <p:cTn id="7" dur="500"/>
                                        <p:tgtEl>
                                          <p:spTgt spid="9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3" end="3"/>
                                            </p:txEl>
                                          </p:spTgt>
                                        </p:tgtEl>
                                        <p:attrNameLst>
                                          <p:attrName>style.visibility</p:attrName>
                                        </p:attrNameLst>
                                      </p:cBhvr>
                                      <p:to>
                                        <p:strVal val="visible"/>
                                      </p:to>
                                    </p:set>
                                    <p:animEffect transition="in" filter="fade">
                                      <p:cBhvr>
                                        <p:cTn id="10" dur="500"/>
                                        <p:tgtEl>
                                          <p:spTgt spid="95">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4" end="4"/>
                                            </p:txEl>
                                          </p:spTgt>
                                        </p:tgtEl>
                                        <p:attrNameLst>
                                          <p:attrName>style.visibility</p:attrName>
                                        </p:attrNameLst>
                                      </p:cBhvr>
                                      <p:to>
                                        <p:strVal val="visible"/>
                                      </p:to>
                                    </p:set>
                                    <p:animEffect transition="in" filter="fade">
                                      <p:cBhvr>
                                        <p:cTn id="13" dur="500"/>
                                        <p:tgtEl>
                                          <p:spTgt spid="95">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5" end="5"/>
                                            </p:txEl>
                                          </p:spTgt>
                                        </p:tgtEl>
                                        <p:attrNameLst>
                                          <p:attrName>style.visibility</p:attrName>
                                        </p:attrNameLst>
                                      </p:cBhvr>
                                      <p:to>
                                        <p:strVal val="visible"/>
                                      </p:to>
                                    </p:set>
                                    <p:animEffect transition="in" filter="fade">
                                      <p:cBhvr>
                                        <p:cTn id="16" dur="500"/>
                                        <p:tgtEl>
                                          <p:spTgt spid="95">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6" end="6"/>
                                            </p:txEl>
                                          </p:spTgt>
                                        </p:tgtEl>
                                        <p:attrNameLst>
                                          <p:attrName>style.visibility</p:attrName>
                                        </p:attrNameLst>
                                      </p:cBhvr>
                                      <p:to>
                                        <p:strVal val="visible"/>
                                      </p:to>
                                    </p:set>
                                    <p:animEffect transition="in" filter="fade">
                                      <p:cBhvr>
                                        <p:cTn id="19" dur="500"/>
                                        <p:tgtEl>
                                          <p:spTgt spid="95">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2786836812"/>
              </p:ext>
            </p:extLst>
          </p:nvPr>
        </p:nvGraphicFramePr>
        <p:xfrm>
          <a:off x="327600" y="893853"/>
          <a:ext cx="7131439" cy="2414906"/>
        </p:xfrm>
        <a:graphic>
          <a:graphicData uri="http://schemas.openxmlformats.org/drawingml/2006/table">
            <a:tbl>
              <a:tblPr/>
              <a:tblGrid>
                <a:gridCol w="7131439"/>
              </a:tblGrid>
              <a:tr h="1669634">
                <a:tc>
                  <a:txBody>
                    <a:bodyPr/>
                    <a:lstStyle/>
                    <a:p>
                      <a:r>
                        <a:rPr lang="en-US" sz="1800" b="0" i="0" u="none" strike="noStrike" cap="none" dirty="0" smtClean="0">
                          <a:solidFill>
                            <a:schemeClr val="tx1"/>
                          </a:solidFill>
                          <a:effectLst/>
                          <a:latin typeface="+mn-lt"/>
                          <a:ea typeface="+mn-ea"/>
                          <a:cs typeface="+mn-cs"/>
                          <a:sym typeface="Arial"/>
                        </a:rPr>
                        <a:t>35 men can reap the field in 8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1 man can reap the field in (35 × 8) days   </a:t>
                      </a:r>
                      <a:r>
                        <a:rPr lang="en-US" sz="1800" b="1" i="0" u="none" strike="noStrike" cap="none" dirty="0" smtClean="0">
                          <a:solidFill>
                            <a:schemeClr val="tx1"/>
                          </a:solidFill>
                          <a:effectLst/>
                          <a:latin typeface="+mn-lt"/>
                          <a:ea typeface="+mn-ea"/>
                          <a:cs typeface="+mn-cs"/>
                          <a:sym typeface="Arial"/>
                        </a:rPr>
                        <a:t>[less men, more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20 men can reap the field in (35 × 8)/20 days  </a:t>
                      </a:r>
                      <a:r>
                        <a:rPr lang="en-US" sz="1800" b="1" i="0" u="none" strike="noStrike" cap="none" dirty="0" smtClean="0">
                          <a:solidFill>
                            <a:schemeClr val="tx1"/>
                          </a:solidFill>
                          <a:effectLst/>
                          <a:latin typeface="+mn-lt"/>
                          <a:ea typeface="+mn-ea"/>
                          <a:cs typeface="+mn-cs"/>
                          <a:sym typeface="Arial"/>
                        </a:rPr>
                        <a:t>[more men, more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                                          = 14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Hence, 20 men can reap the field in 14 days.</a:t>
                      </a:r>
                      <a:endParaRPr lang="en-US" sz="1800" dirty="0" smtClean="0"/>
                    </a:p>
                    <a:p>
                      <a:endParaRPr lang="en-US" sz="1800" dirty="0" smtClean="0"/>
                    </a:p>
                    <a:p>
                      <a:r>
                        <a:rPr lang="en-US" sz="1800" dirty="0" smtClean="0"/>
                        <a:t>                             </a:t>
                      </a:r>
                      <a:endParaRPr lang="en-US" sz="1800" dirty="0"/>
                    </a:p>
                  </a:txBody>
                  <a:tcPr marL="27178" marR="27178" marT="27178" marB="27178">
                    <a:lnL>
                      <a:noFill/>
                    </a:lnL>
                    <a:lnR>
                      <a:noFill/>
                    </a:lnR>
                    <a:lnT>
                      <a:noFill/>
                    </a:lnT>
                    <a:lnB>
                      <a:noFill/>
                    </a:lnB>
                  </a:tcPr>
                </a:tc>
              </a:tr>
              <a:tr h="97520">
                <a:tc>
                  <a:txBody>
                    <a:bodyPr/>
                    <a:lstStyle/>
                    <a:p>
                      <a:endParaRPr lang="en-US" sz="1000" dirty="0"/>
                    </a:p>
                  </a:txBody>
                  <a:tcPr marL="6795" marR="6795" marT="6795" marB="6795">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078431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12</a:t>
            </a:r>
            <a:endParaRPr sz="2000" dirty="0">
              <a:solidFill>
                <a:schemeClr val="lt1"/>
              </a:solidFill>
              <a:latin typeface="Roboto"/>
              <a:ea typeface="Roboto"/>
              <a:cs typeface="Roboto"/>
              <a:sym typeface="Roboto"/>
            </a:endParaRPr>
          </a:p>
        </p:txBody>
      </p:sp>
      <p:sp>
        <p:nvSpPr>
          <p:cNvPr id="95" name="Google Shape;95;p17"/>
          <p:cNvSpPr txBox="1"/>
          <p:nvPr/>
        </p:nvSpPr>
        <p:spPr>
          <a:xfrm>
            <a:off x="327601" y="1000350"/>
            <a:ext cx="7678716" cy="1270240"/>
          </a:xfrm>
          <a:prstGeom prst="rect">
            <a:avLst/>
          </a:prstGeom>
          <a:noFill/>
          <a:ln>
            <a:noFill/>
          </a:ln>
        </p:spPr>
        <p:txBody>
          <a:bodyPr spcFirstLastPara="1" wrap="square" lIns="0" tIns="0" rIns="0" bIns="0" anchor="t" anchorCtr="0">
            <a:noAutofit/>
          </a:bodyPr>
          <a:lstStyle/>
          <a:p>
            <a:r>
              <a:rPr lang="en-US" sz="1800" dirty="0"/>
              <a:t>6 oxen or 8 cows can graze a field in 28 days. How long would 9 oxen and 2 cows take to graze the same field?</a:t>
            </a:r>
            <a:br>
              <a:rPr lang="en-US" sz="1800" dirty="0"/>
            </a:br>
            <a:endParaRPr lang="en-US" sz="1800" dirty="0" smtClean="0"/>
          </a:p>
          <a:p>
            <a:pPr marL="342900" indent="-342900">
              <a:buFont typeface="+mj-lt"/>
              <a:buAutoNum type="alphaUcPeriod"/>
            </a:pPr>
            <a:r>
              <a:rPr lang="en-US" sz="1800" dirty="0" smtClean="0"/>
              <a:t>16days</a:t>
            </a:r>
          </a:p>
          <a:p>
            <a:pPr marL="342900" indent="-342900">
              <a:buFont typeface="+mj-lt"/>
              <a:buAutoNum type="alphaUcPeriod"/>
            </a:pPr>
            <a:r>
              <a:rPr lang="en-US" sz="1800" dirty="0" smtClean="0"/>
              <a:t>15days</a:t>
            </a:r>
          </a:p>
          <a:p>
            <a:pPr marL="342900" indent="-342900">
              <a:buFont typeface="+mj-lt"/>
              <a:buAutoNum type="alphaUcPeriod"/>
            </a:pPr>
            <a:r>
              <a:rPr lang="en-US" sz="1800" dirty="0" smtClean="0"/>
              <a:t>20days</a:t>
            </a:r>
          </a:p>
          <a:p>
            <a:pPr marL="342900" indent="-342900">
              <a:buFont typeface="+mj-lt"/>
              <a:buAutoNum type="alphaUcPeriod"/>
            </a:pPr>
            <a:r>
              <a:rPr lang="en-US" sz="1800" dirty="0" smtClean="0"/>
              <a:t>14days</a:t>
            </a:r>
          </a:p>
          <a:p>
            <a:endParaRPr lang="en-US" sz="1800" dirty="0" smtClean="0"/>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A</a:t>
            </a:r>
            <a:endParaRPr lang="en-US" sz="1800" dirty="0"/>
          </a:p>
        </p:txBody>
      </p:sp>
    </p:spTree>
    <p:extLst>
      <p:ext uri="{BB962C8B-B14F-4D97-AF65-F5344CB8AC3E}">
        <p14:creationId xmlns:p14="http://schemas.microsoft.com/office/powerpoint/2010/main" val="284308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1" end="1"/>
                                            </p:txEl>
                                          </p:spTgt>
                                        </p:tgtEl>
                                        <p:attrNameLst>
                                          <p:attrName>style.visibility</p:attrName>
                                        </p:attrNameLst>
                                      </p:cBhvr>
                                      <p:to>
                                        <p:strVal val="visible"/>
                                      </p:to>
                                    </p:set>
                                    <p:animEffect transition="in" filter="fade">
                                      <p:cBhvr>
                                        <p:cTn id="10" dur="500"/>
                                        <p:tgtEl>
                                          <p:spTgt spid="9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2" end="2"/>
                                            </p:txEl>
                                          </p:spTgt>
                                        </p:tgtEl>
                                        <p:attrNameLst>
                                          <p:attrName>style.visibility</p:attrName>
                                        </p:attrNameLst>
                                      </p:cBhvr>
                                      <p:to>
                                        <p:strVal val="visible"/>
                                      </p:to>
                                    </p:set>
                                    <p:animEffect transition="in" filter="fade">
                                      <p:cBhvr>
                                        <p:cTn id="13" dur="500"/>
                                        <p:tgtEl>
                                          <p:spTgt spid="9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3" end="3"/>
                                            </p:txEl>
                                          </p:spTgt>
                                        </p:tgtEl>
                                        <p:attrNameLst>
                                          <p:attrName>style.visibility</p:attrName>
                                        </p:attrNameLst>
                                      </p:cBhvr>
                                      <p:to>
                                        <p:strVal val="visible"/>
                                      </p:to>
                                    </p:set>
                                    <p:animEffect transition="in" filter="fade">
                                      <p:cBhvr>
                                        <p:cTn id="16" dur="500"/>
                                        <p:tgtEl>
                                          <p:spTgt spid="9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4" end="4"/>
                                            </p:txEl>
                                          </p:spTgt>
                                        </p:tgtEl>
                                        <p:attrNameLst>
                                          <p:attrName>style.visibility</p:attrName>
                                        </p:attrNameLst>
                                      </p:cBhvr>
                                      <p:to>
                                        <p:strVal val="visible"/>
                                      </p:to>
                                    </p:set>
                                    <p:animEffect transition="in" filter="fade">
                                      <p:cBhvr>
                                        <p:cTn id="19" dur="500"/>
                                        <p:tgtEl>
                                          <p:spTgt spid="9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760288" y="233550"/>
            <a:ext cx="2395112"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1788247791"/>
              </p:ext>
            </p:extLst>
          </p:nvPr>
        </p:nvGraphicFramePr>
        <p:xfrm>
          <a:off x="760289" y="893853"/>
          <a:ext cx="6698750" cy="3237866"/>
        </p:xfrm>
        <a:graphic>
          <a:graphicData uri="http://schemas.openxmlformats.org/drawingml/2006/table">
            <a:tbl>
              <a:tblPr/>
              <a:tblGrid>
                <a:gridCol w="6698750"/>
              </a:tblGrid>
              <a:tr h="2642980">
                <a:tc>
                  <a:txBody>
                    <a:bodyPr/>
                    <a:lstStyle/>
                    <a:p>
                      <a:r>
                        <a:rPr lang="en-US" sz="1800" b="0" i="0" u="none" strike="noStrike" cap="none" dirty="0" smtClean="0">
                          <a:solidFill>
                            <a:schemeClr val="tx1"/>
                          </a:solidFill>
                          <a:effectLst/>
                          <a:latin typeface="+mn-lt"/>
                          <a:ea typeface="+mn-ea"/>
                          <a:cs typeface="+mn-cs"/>
                          <a:sym typeface="Arial"/>
                        </a:rPr>
                        <a:t>6 oxen = 8 cows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 1 ox = 8/6 cows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 9 oxen ≡ (8/6 × 9) cows = 12 cows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 (9 oxen + 2 cows) ≡ (12 cows + 2 cows) = 14 cows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Now, 8 cows can graze the field in 28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1 cow can graze the field in (28 × 8) days   </a:t>
                      </a:r>
                      <a:r>
                        <a:rPr lang="en-US" sz="1800" b="1" i="0" u="none" strike="noStrike" cap="none" dirty="0" smtClean="0">
                          <a:solidFill>
                            <a:schemeClr val="tx1"/>
                          </a:solidFill>
                          <a:effectLst/>
                          <a:latin typeface="+mn-lt"/>
                          <a:ea typeface="+mn-ea"/>
                          <a:cs typeface="+mn-cs"/>
                          <a:sym typeface="Arial"/>
                        </a:rPr>
                        <a:t>[less cows, more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14 cows can graze the field in (28 × 8)/14 days  </a:t>
                      </a:r>
                      <a:r>
                        <a:rPr lang="en-US" sz="1800" b="1" i="0" u="none" strike="noStrike" cap="none" dirty="0" smtClean="0">
                          <a:solidFill>
                            <a:schemeClr val="tx1"/>
                          </a:solidFill>
                          <a:effectLst/>
                          <a:latin typeface="+mn-lt"/>
                          <a:ea typeface="+mn-ea"/>
                          <a:cs typeface="+mn-cs"/>
                          <a:sym typeface="Arial"/>
                        </a:rPr>
                        <a:t/>
                      </a:r>
                      <a:br>
                        <a:rPr lang="en-US" sz="1800" b="1" i="0" u="none" strike="noStrike" cap="none" dirty="0" smtClean="0">
                          <a:solidFill>
                            <a:schemeClr val="tx1"/>
                          </a:solidFill>
                          <a:effectLst/>
                          <a:latin typeface="+mn-lt"/>
                          <a:ea typeface="+mn-ea"/>
                          <a:cs typeface="+mn-cs"/>
                          <a:sym typeface="Arial"/>
                        </a:rPr>
                      </a:br>
                      <a:r>
                        <a:rPr lang="en-US" sz="1800" b="1" i="0" u="none" strike="noStrike" cap="none" dirty="0" smtClean="0">
                          <a:solidFill>
                            <a:schemeClr val="tx1"/>
                          </a:solidFill>
                          <a:effectLst/>
                          <a:latin typeface="+mn-lt"/>
                          <a:ea typeface="+mn-ea"/>
                          <a:cs typeface="+mn-cs"/>
                          <a:sym typeface="Arial"/>
                        </a:rPr>
                        <a:t>                                                                 [more cows, less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                                              = 16 days</a:t>
                      </a: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Hence, 9 oxen and 2 cows can graze the field in 16 days.</a:t>
                      </a:r>
                      <a:r>
                        <a:rPr lang="en-US" sz="1800" dirty="0" smtClean="0"/>
                        <a:t>                             </a:t>
                      </a:r>
                      <a:endParaRPr lang="en-US" sz="1800" dirty="0"/>
                    </a:p>
                  </a:txBody>
                  <a:tcPr marL="27178" marR="27178" marT="27178" marB="27178">
                    <a:lnL>
                      <a:noFill/>
                    </a:lnL>
                    <a:lnR>
                      <a:noFill/>
                    </a:lnR>
                    <a:lnT>
                      <a:noFill/>
                    </a:lnT>
                    <a:lnB>
                      <a:noFill/>
                    </a:lnB>
                  </a:tcPr>
                </a:tc>
              </a:tr>
              <a:tr h="131041">
                <a:tc>
                  <a:txBody>
                    <a:bodyPr/>
                    <a:lstStyle/>
                    <a:p>
                      <a:endParaRPr lang="en-US" sz="1000" dirty="0"/>
                    </a:p>
                  </a:txBody>
                  <a:tcPr marL="6795" marR="6795" marT="6795" marB="6795">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997250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13</a:t>
            </a:r>
            <a:endParaRPr sz="2000" dirty="0">
              <a:solidFill>
                <a:schemeClr val="lt1"/>
              </a:solidFill>
              <a:latin typeface="Roboto"/>
              <a:ea typeface="Roboto"/>
              <a:cs typeface="Roboto"/>
              <a:sym typeface="Roboto"/>
            </a:endParaRPr>
          </a:p>
        </p:txBody>
      </p:sp>
      <p:sp>
        <p:nvSpPr>
          <p:cNvPr id="95" name="Google Shape;95;p17"/>
          <p:cNvSpPr txBox="1"/>
          <p:nvPr/>
        </p:nvSpPr>
        <p:spPr>
          <a:xfrm>
            <a:off x="327601" y="1000350"/>
            <a:ext cx="7678716" cy="1270240"/>
          </a:xfrm>
          <a:prstGeom prst="rect">
            <a:avLst/>
          </a:prstGeom>
          <a:noFill/>
          <a:ln>
            <a:noFill/>
          </a:ln>
        </p:spPr>
        <p:txBody>
          <a:bodyPr spcFirstLastPara="1" wrap="square" lIns="0" tIns="0" rIns="0" bIns="0" anchor="t" anchorCtr="0">
            <a:noAutofit/>
          </a:bodyPr>
          <a:lstStyle/>
          <a:p>
            <a:r>
              <a:rPr lang="en-US" sz="1800" dirty="0"/>
              <a:t>6 typists working 5 hours a day can type the manuscript of a book in 16 days. How many days will 4 typists take to do the same job, each working 6 hours a day</a:t>
            </a:r>
            <a:r>
              <a:rPr lang="en-US" sz="1800" dirty="0" smtClean="0"/>
              <a:t>?</a:t>
            </a:r>
          </a:p>
          <a:p>
            <a:endParaRPr lang="en-US" sz="1800" dirty="0"/>
          </a:p>
          <a:p>
            <a:pPr marL="342900" indent="-342900">
              <a:buFont typeface="+mj-lt"/>
              <a:buAutoNum type="alphaUcPeriod"/>
            </a:pPr>
            <a:r>
              <a:rPr lang="en-US" sz="1800" dirty="0" smtClean="0"/>
              <a:t>15days</a:t>
            </a:r>
          </a:p>
          <a:p>
            <a:pPr marL="342900" indent="-342900">
              <a:buFont typeface="+mj-lt"/>
              <a:buAutoNum type="alphaUcPeriod"/>
            </a:pPr>
            <a:r>
              <a:rPr lang="en-US" sz="1800" dirty="0" smtClean="0"/>
              <a:t>30days</a:t>
            </a:r>
          </a:p>
          <a:p>
            <a:pPr marL="342900" indent="-342900">
              <a:buFont typeface="+mj-lt"/>
              <a:buAutoNum type="alphaUcPeriod"/>
            </a:pPr>
            <a:r>
              <a:rPr lang="en-US" sz="1800" dirty="0" smtClean="0"/>
              <a:t>20days</a:t>
            </a:r>
          </a:p>
          <a:p>
            <a:pPr marL="342900" indent="-342900">
              <a:buFont typeface="+mj-lt"/>
              <a:buAutoNum type="alphaUcPeriod"/>
            </a:pPr>
            <a:r>
              <a:rPr lang="en-US" sz="1800" dirty="0" smtClean="0"/>
              <a:t>40days</a:t>
            </a:r>
          </a:p>
          <a:p>
            <a:endParaRPr lang="en-US" sz="1800" i="1" dirty="0"/>
          </a:p>
          <a:p>
            <a:r>
              <a:rPr lang="en-US" sz="1800" dirty="0"/>
              <a:t/>
            </a:r>
            <a:br>
              <a:rPr lang="en-US" sz="1800" dirty="0"/>
            </a:br>
            <a:endParaRPr lang="en-US" sz="1800" dirty="0" smtClean="0"/>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C</a:t>
            </a:r>
            <a:endParaRPr lang="en-US" sz="1800" dirty="0"/>
          </a:p>
        </p:txBody>
      </p:sp>
    </p:spTree>
    <p:extLst>
      <p:ext uri="{BB962C8B-B14F-4D97-AF65-F5344CB8AC3E}">
        <p14:creationId xmlns:p14="http://schemas.microsoft.com/office/powerpoint/2010/main" val="26899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400692" y="233550"/>
            <a:ext cx="2754708"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2072213120"/>
              </p:ext>
            </p:extLst>
          </p:nvPr>
        </p:nvGraphicFramePr>
        <p:xfrm>
          <a:off x="400692" y="893853"/>
          <a:ext cx="8178229" cy="3237866"/>
        </p:xfrm>
        <a:graphic>
          <a:graphicData uri="http://schemas.openxmlformats.org/drawingml/2006/table">
            <a:tbl>
              <a:tblPr/>
              <a:tblGrid>
                <a:gridCol w="8178229"/>
              </a:tblGrid>
              <a:tr h="3038189">
                <a:tc>
                  <a:txBody>
                    <a:bodyPr/>
                    <a:lstStyle/>
                    <a:p>
                      <a:r>
                        <a:rPr lang="en-US" sz="1800" b="0" i="0" u="none" strike="noStrike" cap="none" dirty="0" smtClean="0">
                          <a:solidFill>
                            <a:schemeClr val="tx1"/>
                          </a:solidFill>
                          <a:effectLst/>
                          <a:latin typeface="+mn-lt"/>
                          <a:ea typeface="+mn-ea"/>
                          <a:cs typeface="+mn-cs"/>
                          <a:sym typeface="Arial"/>
                        </a:rPr>
                        <a:t>6 typists working 5 hours a day can finish the job in 16 days</a:t>
                      </a:r>
                      <a:br>
                        <a:rPr lang="en-US" sz="1800" b="0" i="0" u="none" strike="noStrike" cap="none" dirty="0" smtClean="0">
                          <a:solidFill>
                            <a:schemeClr val="tx1"/>
                          </a:solidFill>
                          <a:effectLst/>
                          <a:latin typeface="+mn-lt"/>
                          <a:ea typeface="+mn-ea"/>
                          <a:cs typeface="+mn-cs"/>
                          <a:sym typeface="Arial"/>
                        </a:rPr>
                      </a:br>
                      <a:r>
                        <a:rPr lang="en-US" sz="1800" b="0" i="0" u="none" strike="noStrike" cap="none" dirty="0" smtClean="0">
                          <a:solidFill>
                            <a:schemeClr val="tx1"/>
                          </a:solidFill>
                          <a:effectLst/>
                          <a:latin typeface="+mn-lt"/>
                          <a:ea typeface="+mn-ea"/>
                          <a:cs typeface="+mn-cs"/>
                          <a:sym typeface="Arial"/>
                        </a:rPr>
                        <a:t>6 typists working 1 hour a day can finish it in (16 × 5) days  </a:t>
                      </a:r>
                      <a:r>
                        <a:rPr lang="en-US" sz="1800" b="1" i="0" u="none" strike="noStrike" cap="none" dirty="0" smtClean="0">
                          <a:solidFill>
                            <a:schemeClr val="tx1"/>
                          </a:solidFill>
                          <a:effectLst/>
                          <a:latin typeface="+mn-lt"/>
                          <a:ea typeface="+mn-ea"/>
                          <a:cs typeface="+mn-cs"/>
                          <a:sym typeface="Arial"/>
                        </a:rPr>
                        <a:t/>
                      </a:r>
                      <a:br>
                        <a:rPr lang="en-US" sz="1800" b="1" i="0" u="none" strike="noStrike" cap="none" dirty="0" smtClean="0">
                          <a:solidFill>
                            <a:schemeClr val="tx1"/>
                          </a:solidFill>
                          <a:effectLst/>
                          <a:latin typeface="+mn-lt"/>
                          <a:ea typeface="+mn-ea"/>
                          <a:cs typeface="+mn-cs"/>
                          <a:sym typeface="Arial"/>
                        </a:rPr>
                      </a:br>
                      <a:r>
                        <a:rPr lang="en-US" sz="1800" b="1" i="0" u="none" strike="noStrike" cap="none" dirty="0" smtClean="0">
                          <a:solidFill>
                            <a:schemeClr val="tx1"/>
                          </a:solidFill>
                          <a:effectLst/>
                          <a:latin typeface="+mn-lt"/>
                          <a:ea typeface="+mn-ea"/>
                          <a:cs typeface="+mn-cs"/>
                          <a:sym typeface="Arial"/>
                        </a:rPr>
                        <a:t>                                                         [less hours per day, more days]</a:t>
                      </a:r>
                      <a:r>
                        <a:rPr lang="en-US" sz="1800" b="0" i="0" u="none" strike="noStrike" cap="none" dirty="0" smtClean="0">
                          <a:solidFill>
                            <a:schemeClr val="tx1"/>
                          </a:solidFill>
                          <a:effectLst/>
                          <a:latin typeface="+mn-lt"/>
                          <a:ea typeface="+mn-ea"/>
                          <a:cs typeface="+mn-cs"/>
                          <a:sym typeface="Arial"/>
                        </a:rPr>
                        <a:t/>
                      </a:r>
                      <a:br>
                        <a:rPr lang="en-US" sz="1800" b="0" i="0" u="none" strike="noStrike" cap="none" dirty="0" smtClean="0">
                          <a:solidFill>
                            <a:schemeClr val="tx1"/>
                          </a:solidFill>
                          <a:effectLst/>
                          <a:latin typeface="+mn-lt"/>
                          <a:ea typeface="+mn-ea"/>
                          <a:cs typeface="+mn-cs"/>
                          <a:sym typeface="Arial"/>
                        </a:rPr>
                      </a:br>
                      <a:r>
                        <a:rPr lang="en-US" sz="1800" b="0" i="0" u="none" strike="noStrike" cap="none" dirty="0" smtClean="0">
                          <a:solidFill>
                            <a:schemeClr val="tx1"/>
                          </a:solidFill>
                          <a:effectLst/>
                          <a:latin typeface="+mn-lt"/>
                          <a:ea typeface="+mn-ea"/>
                          <a:cs typeface="+mn-cs"/>
                          <a:sym typeface="Arial"/>
                        </a:rPr>
                        <a:t>1 typist working 1 hour a day can finish it in (16 × 5 x 6)/6 days  </a:t>
                      </a:r>
                      <a:r>
                        <a:rPr lang="en-US" sz="1800" b="1" i="0" u="none" strike="noStrike" cap="none" dirty="0" smtClean="0">
                          <a:solidFill>
                            <a:schemeClr val="tx1"/>
                          </a:solidFill>
                          <a:effectLst/>
                          <a:latin typeface="+mn-lt"/>
                          <a:ea typeface="+mn-ea"/>
                          <a:cs typeface="+mn-cs"/>
                          <a:sym typeface="Arial"/>
                        </a:rPr>
                        <a:t/>
                      </a:r>
                      <a:br>
                        <a:rPr lang="en-US" sz="1800" b="1" i="0" u="none" strike="noStrike" cap="none" dirty="0" smtClean="0">
                          <a:solidFill>
                            <a:schemeClr val="tx1"/>
                          </a:solidFill>
                          <a:effectLst/>
                          <a:latin typeface="+mn-lt"/>
                          <a:ea typeface="+mn-ea"/>
                          <a:cs typeface="+mn-cs"/>
                          <a:sym typeface="Arial"/>
                        </a:rPr>
                      </a:br>
                      <a:r>
                        <a:rPr lang="en-US" sz="1800" b="1" i="0" u="none" strike="noStrike" cap="none" dirty="0" smtClean="0">
                          <a:solidFill>
                            <a:schemeClr val="tx1"/>
                          </a:solidFill>
                          <a:effectLst/>
                          <a:latin typeface="+mn-lt"/>
                          <a:ea typeface="+mn-ea"/>
                          <a:cs typeface="+mn-cs"/>
                          <a:sym typeface="Arial"/>
                        </a:rPr>
                        <a:t>                                                          [less typists, more days]</a:t>
                      </a:r>
                      <a:r>
                        <a:rPr lang="en-US" sz="1800" b="0" i="0" u="none" strike="noStrike" cap="none" dirty="0" smtClean="0">
                          <a:solidFill>
                            <a:schemeClr val="tx1"/>
                          </a:solidFill>
                          <a:effectLst/>
                          <a:latin typeface="+mn-lt"/>
                          <a:ea typeface="+mn-ea"/>
                          <a:cs typeface="+mn-cs"/>
                          <a:sym typeface="Arial"/>
                        </a:rPr>
                        <a:t/>
                      </a:r>
                      <a:br>
                        <a:rPr lang="en-US" sz="1800" b="0" i="0" u="none" strike="noStrike" cap="none" dirty="0" smtClean="0">
                          <a:solidFill>
                            <a:schemeClr val="tx1"/>
                          </a:solidFill>
                          <a:effectLst/>
                          <a:latin typeface="+mn-lt"/>
                          <a:ea typeface="+mn-ea"/>
                          <a:cs typeface="+mn-cs"/>
                          <a:sym typeface="Arial"/>
                        </a:rPr>
                      </a:br>
                      <a:r>
                        <a:rPr lang="en-US" sz="1800" b="0" i="0" u="none" strike="noStrike" cap="none" dirty="0" smtClean="0">
                          <a:solidFill>
                            <a:schemeClr val="tx1"/>
                          </a:solidFill>
                          <a:effectLst/>
                          <a:latin typeface="+mn-lt"/>
                          <a:ea typeface="+mn-ea"/>
                          <a:cs typeface="+mn-cs"/>
                          <a:sym typeface="Arial"/>
                        </a:rPr>
                        <a:t>1 typist working 6 hours a day can finish it in 6 days  </a:t>
                      </a:r>
                      <a:r>
                        <a:rPr lang="en-US" sz="1800" b="1" i="0" u="none" strike="noStrike" cap="none" dirty="0" smtClean="0">
                          <a:solidFill>
                            <a:schemeClr val="tx1"/>
                          </a:solidFill>
                          <a:effectLst/>
                          <a:latin typeface="+mn-lt"/>
                          <a:ea typeface="+mn-ea"/>
                          <a:cs typeface="+mn-cs"/>
                          <a:sym typeface="Arial"/>
                        </a:rPr>
                        <a:t/>
                      </a:r>
                      <a:br>
                        <a:rPr lang="en-US" sz="1800" b="1" i="0" u="none" strike="noStrike" cap="none" dirty="0" smtClean="0">
                          <a:solidFill>
                            <a:schemeClr val="tx1"/>
                          </a:solidFill>
                          <a:effectLst/>
                          <a:latin typeface="+mn-lt"/>
                          <a:ea typeface="+mn-ea"/>
                          <a:cs typeface="+mn-cs"/>
                          <a:sym typeface="Arial"/>
                        </a:rPr>
                      </a:br>
                      <a:r>
                        <a:rPr lang="en-US" sz="1800" b="1" i="0" u="none" strike="noStrike" cap="none" dirty="0" smtClean="0">
                          <a:solidFill>
                            <a:schemeClr val="tx1"/>
                          </a:solidFill>
                          <a:effectLst/>
                          <a:latin typeface="+mn-lt"/>
                          <a:ea typeface="+mn-ea"/>
                          <a:cs typeface="+mn-cs"/>
                          <a:sym typeface="Arial"/>
                        </a:rPr>
                        <a:t>                                                         [more hours per day, less days]</a:t>
                      </a:r>
                      <a:r>
                        <a:rPr lang="en-US" sz="1800" b="0" i="0" u="none" strike="noStrike" cap="none" dirty="0" smtClean="0">
                          <a:solidFill>
                            <a:schemeClr val="tx1"/>
                          </a:solidFill>
                          <a:effectLst/>
                          <a:latin typeface="+mn-lt"/>
                          <a:ea typeface="+mn-ea"/>
                          <a:cs typeface="+mn-cs"/>
                          <a:sym typeface="Arial"/>
                        </a:rPr>
                        <a:t/>
                      </a:r>
                      <a:br>
                        <a:rPr lang="en-US" sz="1800" b="0" i="0" u="none" strike="noStrike" cap="none" dirty="0" smtClean="0">
                          <a:solidFill>
                            <a:schemeClr val="tx1"/>
                          </a:solidFill>
                          <a:effectLst/>
                          <a:latin typeface="+mn-lt"/>
                          <a:ea typeface="+mn-ea"/>
                          <a:cs typeface="+mn-cs"/>
                          <a:sym typeface="Arial"/>
                        </a:rPr>
                      </a:br>
                      <a:r>
                        <a:rPr lang="en-US" sz="1800" b="0" i="0" u="none" strike="noStrike" cap="none" dirty="0" smtClean="0">
                          <a:solidFill>
                            <a:schemeClr val="tx1"/>
                          </a:solidFill>
                          <a:effectLst/>
                          <a:latin typeface="+mn-lt"/>
                          <a:ea typeface="+mn-ea"/>
                          <a:cs typeface="+mn-cs"/>
                          <a:sym typeface="Arial"/>
                        </a:rPr>
                        <a:t>4 typists working 6 hours a day can finish it (16 × 5 × 6)/(6 × 4) days</a:t>
                      </a:r>
                    </a:p>
                    <a:p>
                      <a:r>
                        <a:rPr lang="en-US" sz="1800" b="0" i="0" u="none" strike="noStrike" cap="none" dirty="0" smtClean="0">
                          <a:solidFill>
                            <a:schemeClr val="tx1"/>
                          </a:solidFill>
                          <a:effectLst/>
                          <a:latin typeface="+mn-lt"/>
                          <a:ea typeface="+mn-ea"/>
                          <a:cs typeface="+mn-cs"/>
                          <a:sym typeface="Arial"/>
                        </a:rPr>
                        <a:t>                                                                  = 20 days.</a:t>
                      </a:r>
                      <a:br>
                        <a:rPr lang="en-US" sz="1800" b="0" i="0" u="none" strike="noStrike" cap="none" dirty="0" smtClean="0">
                          <a:solidFill>
                            <a:schemeClr val="tx1"/>
                          </a:solidFill>
                          <a:effectLst/>
                          <a:latin typeface="+mn-lt"/>
                          <a:ea typeface="+mn-ea"/>
                          <a:cs typeface="+mn-cs"/>
                          <a:sym typeface="Arial"/>
                        </a:rPr>
                      </a:br>
                      <a:r>
                        <a:rPr lang="en-US" sz="1800" b="0" i="0" u="none" strike="noStrike" cap="none" dirty="0" smtClean="0">
                          <a:solidFill>
                            <a:schemeClr val="tx1"/>
                          </a:solidFill>
                          <a:effectLst/>
                          <a:latin typeface="+mn-lt"/>
                          <a:ea typeface="+mn-ea"/>
                          <a:cs typeface="+mn-cs"/>
                          <a:sym typeface="Arial"/>
                        </a:rPr>
                        <a:t>Hence, 4 typists working 6 hours a day can finish the job in 20 days.</a:t>
                      </a:r>
                    </a:p>
                    <a:p>
                      <a:endParaRPr lang="en-US" sz="1800" dirty="0"/>
                    </a:p>
                  </a:txBody>
                  <a:tcPr marL="27178" marR="27178" marT="27178" marB="27178">
                    <a:lnL>
                      <a:noFill/>
                    </a:lnL>
                    <a:lnR>
                      <a:noFill/>
                    </a:lnR>
                    <a:lnT>
                      <a:noFill/>
                    </a:lnT>
                    <a:lnB>
                      <a:noFill/>
                    </a:lnB>
                  </a:tcPr>
                </a:tc>
              </a:tr>
              <a:tr h="143133">
                <a:tc>
                  <a:txBody>
                    <a:bodyPr/>
                    <a:lstStyle/>
                    <a:p>
                      <a:endParaRPr lang="en-US" sz="1000" dirty="0"/>
                    </a:p>
                  </a:txBody>
                  <a:tcPr marL="6795" marR="6795" marT="6795" marB="6795">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72492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dirty="0" smtClean="0">
                <a:solidFill>
                  <a:schemeClr val="lt1"/>
                </a:solidFill>
                <a:latin typeface="Roboto"/>
                <a:ea typeface="Roboto"/>
                <a:cs typeface="Roboto"/>
                <a:sym typeface="Roboto"/>
              </a:rPr>
              <a:t>Question: 14</a:t>
            </a:r>
            <a:endParaRPr sz="2000" dirty="0">
              <a:solidFill>
                <a:schemeClr val="lt1"/>
              </a:solidFill>
              <a:latin typeface="Roboto"/>
              <a:ea typeface="Roboto"/>
              <a:cs typeface="Roboto"/>
              <a:sym typeface="Roboto"/>
            </a:endParaRPr>
          </a:p>
        </p:txBody>
      </p:sp>
      <p:sp>
        <p:nvSpPr>
          <p:cNvPr id="95" name="Google Shape;95;p17"/>
          <p:cNvSpPr txBox="1"/>
          <p:nvPr/>
        </p:nvSpPr>
        <p:spPr>
          <a:xfrm>
            <a:off x="327601" y="1000350"/>
            <a:ext cx="7678716" cy="1270240"/>
          </a:xfrm>
          <a:prstGeom prst="rect">
            <a:avLst/>
          </a:prstGeom>
          <a:noFill/>
          <a:ln>
            <a:noFill/>
          </a:ln>
        </p:spPr>
        <p:txBody>
          <a:bodyPr spcFirstLastPara="1" wrap="square" lIns="0" tIns="0" rIns="0" bIns="0" anchor="t" anchorCtr="0">
            <a:noAutofit/>
          </a:bodyPr>
          <a:lstStyle/>
          <a:p>
            <a:r>
              <a:rPr lang="en-US" sz="1800" dirty="0" smtClean="0"/>
              <a:t>If </a:t>
            </a:r>
            <a:r>
              <a:rPr lang="en-US" sz="1800" dirty="0"/>
              <a:t>0.75: x :: 5:8, then x is equal to</a:t>
            </a:r>
            <a:r>
              <a:rPr lang="en-US" sz="1800" dirty="0" smtClean="0"/>
              <a:t>:</a:t>
            </a:r>
          </a:p>
          <a:p>
            <a:endParaRPr lang="en-US" sz="1800" i="1" dirty="0" smtClean="0"/>
          </a:p>
          <a:p>
            <a:pPr marL="342900" indent="-342900">
              <a:buFont typeface="+mj-lt"/>
              <a:buAutoNum type="alphaUcPeriod"/>
            </a:pPr>
            <a:r>
              <a:rPr lang="en-US" sz="1800" dirty="0" smtClean="0"/>
              <a:t>1.12</a:t>
            </a:r>
          </a:p>
          <a:p>
            <a:pPr marL="342900" indent="-342900">
              <a:buFont typeface="+mj-lt"/>
              <a:buAutoNum type="alphaUcPeriod"/>
            </a:pPr>
            <a:r>
              <a:rPr lang="en-US" sz="1800" dirty="0" smtClean="0"/>
              <a:t>1.16</a:t>
            </a:r>
          </a:p>
          <a:p>
            <a:pPr marL="342900" indent="-342900">
              <a:buFont typeface="+mj-lt"/>
              <a:buAutoNum type="alphaUcPeriod"/>
            </a:pPr>
            <a:r>
              <a:rPr lang="en-US" sz="1800" dirty="0" smtClean="0"/>
              <a:t>1.20</a:t>
            </a:r>
          </a:p>
          <a:p>
            <a:pPr marL="342900" indent="-342900">
              <a:buFont typeface="+mj-lt"/>
              <a:buAutoNum type="alphaUcPeriod"/>
            </a:pPr>
            <a:r>
              <a:rPr lang="en-US" sz="1800" dirty="0" smtClean="0"/>
              <a:t>1.30</a:t>
            </a:r>
            <a:endParaRPr lang="en-US" sz="1800" dirty="0"/>
          </a:p>
          <a:p>
            <a:endParaRPr lang="en-US" sz="1800" i="1" dirty="0"/>
          </a:p>
          <a:p>
            <a:r>
              <a:rPr lang="en-US" sz="1800" dirty="0"/>
              <a:t/>
            </a:r>
            <a:br>
              <a:rPr lang="en-US" sz="1800" dirty="0"/>
            </a:br>
            <a:endParaRPr lang="en-US" sz="1800" dirty="0" smtClean="0"/>
          </a:p>
        </p:txBody>
      </p:sp>
      <p:sp>
        <p:nvSpPr>
          <p:cNvPr id="2" name="TextBox 1"/>
          <p:cNvSpPr txBox="1"/>
          <p:nvPr/>
        </p:nvSpPr>
        <p:spPr>
          <a:xfrm>
            <a:off x="6791218" y="3739793"/>
            <a:ext cx="1756881" cy="369332"/>
          </a:xfrm>
          <a:prstGeom prst="rect">
            <a:avLst/>
          </a:prstGeom>
          <a:noFill/>
        </p:spPr>
        <p:txBody>
          <a:bodyPr wrap="square" rtlCol="0">
            <a:spAutoFit/>
          </a:bodyPr>
          <a:lstStyle/>
          <a:p>
            <a:r>
              <a:rPr lang="en-US" sz="1800" dirty="0" smtClean="0"/>
              <a:t>Answer: C</a:t>
            </a:r>
            <a:endParaRPr lang="en-US" sz="1800" dirty="0"/>
          </a:p>
        </p:txBody>
      </p:sp>
    </p:spTree>
    <p:extLst>
      <p:ext uri="{BB962C8B-B14F-4D97-AF65-F5344CB8AC3E}">
        <p14:creationId xmlns:p14="http://schemas.microsoft.com/office/powerpoint/2010/main" val="230120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
                                            <p:txEl>
                                              <p:pRg st="0" end="0"/>
                                            </p:txEl>
                                          </p:spTgt>
                                        </p:tgtEl>
                                        <p:attrNameLst>
                                          <p:attrName>style.visibility</p:attrName>
                                        </p:attrNameLst>
                                      </p:cBhvr>
                                      <p:to>
                                        <p:strVal val="visible"/>
                                      </p:to>
                                    </p:set>
                                    <p:animEffect transition="in" filter="fade">
                                      <p:cBhvr>
                                        <p:cTn id="7" dur="500"/>
                                        <p:tgtEl>
                                          <p:spTgt spid="9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
                                            <p:txEl>
                                              <p:pRg st="2" end="2"/>
                                            </p:txEl>
                                          </p:spTgt>
                                        </p:tgtEl>
                                        <p:attrNameLst>
                                          <p:attrName>style.visibility</p:attrName>
                                        </p:attrNameLst>
                                      </p:cBhvr>
                                      <p:to>
                                        <p:strVal val="visible"/>
                                      </p:to>
                                    </p:set>
                                    <p:animEffect transition="in" filter="fade">
                                      <p:cBhvr>
                                        <p:cTn id="10" dur="500"/>
                                        <p:tgtEl>
                                          <p:spTgt spid="9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Effect transition="in" filter="fade">
                                      <p:cBhvr>
                                        <p:cTn id="13" dur="500"/>
                                        <p:tgtEl>
                                          <p:spTgt spid="9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5">
                                            <p:txEl>
                                              <p:pRg st="4" end="4"/>
                                            </p:txEl>
                                          </p:spTgt>
                                        </p:tgtEl>
                                        <p:attrNameLst>
                                          <p:attrName>style.visibility</p:attrName>
                                        </p:attrNameLst>
                                      </p:cBhvr>
                                      <p:to>
                                        <p:strVal val="visible"/>
                                      </p:to>
                                    </p:set>
                                    <p:animEffect transition="in" filter="fade">
                                      <p:cBhvr>
                                        <p:cTn id="16" dur="500"/>
                                        <p:tgtEl>
                                          <p:spTgt spid="95">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Effect transition="in" filter="fade">
                                      <p:cBhvr>
                                        <p:cTn id="19" dur="500"/>
                                        <p:tgtEl>
                                          <p:spTgt spid="9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
                                            <p:txEl>
                                              <p:pRg st="0" end="0"/>
                                            </p:txEl>
                                          </p:spTgt>
                                        </p:tgtEl>
                                        <p:attrNameLst>
                                          <p:attrName>style.visibility</p:attrName>
                                        </p:attrNameLst>
                                      </p:cBhvr>
                                      <p:to>
                                        <p:strVal val="visible"/>
                                      </p:to>
                                    </p:set>
                                    <p:animEffect transition="in" filter="fade">
                                      <p:cBhvr>
                                        <p:cTn id="24"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l="41241" t="9528" r="-23988" b="51129"/>
          <a:stretch/>
        </p:blipFill>
        <p:spPr>
          <a:xfrm>
            <a:off x="0" y="4075175"/>
            <a:ext cx="4457700" cy="1065625"/>
          </a:xfrm>
          <a:prstGeom prst="rect">
            <a:avLst/>
          </a:prstGeom>
          <a:noFill/>
          <a:ln>
            <a:noFill/>
          </a:ln>
        </p:spPr>
      </p:pic>
      <p:pic>
        <p:nvPicPr>
          <p:cNvPr id="92" name="Google Shape;92;p17"/>
          <p:cNvPicPr preferRelativeResize="0"/>
          <p:nvPr/>
        </p:nvPicPr>
        <p:blipFill>
          <a:blip r:embed="rId4">
            <a:alphaModFix/>
          </a:blip>
          <a:stretch>
            <a:fillRect/>
          </a:stretch>
        </p:blipFill>
        <p:spPr>
          <a:xfrm>
            <a:off x="7120800" y="233550"/>
            <a:ext cx="1694264" cy="766799"/>
          </a:xfrm>
          <a:prstGeom prst="rect">
            <a:avLst/>
          </a:prstGeom>
          <a:noFill/>
          <a:ln>
            <a:noFill/>
          </a:ln>
        </p:spPr>
      </p:pic>
      <p:sp>
        <p:nvSpPr>
          <p:cNvPr id="93" name="Google Shape;93;p17"/>
          <p:cNvSpPr/>
          <p:nvPr/>
        </p:nvSpPr>
        <p:spPr>
          <a:xfrm>
            <a:off x="0" y="233550"/>
            <a:ext cx="3528000" cy="475200"/>
          </a:xfrm>
          <a:prstGeom prst="homePlate">
            <a:avLst>
              <a:gd name="adj" fmla="val 50000"/>
            </a:avLst>
          </a:prstGeom>
          <a:solidFill>
            <a:srgbClr val="5F1E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p:nvPr/>
        </p:nvSpPr>
        <p:spPr>
          <a:xfrm>
            <a:off x="327600" y="233550"/>
            <a:ext cx="2827800" cy="475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000" smtClean="0">
                <a:solidFill>
                  <a:schemeClr val="lt1"/>
                </a:solidFill>
                <a:latin typeface="Roboto"/>
                <a:ea typeface="Roboto"/>
                <a:cs typeface="Roboto"/>
                <a:sym typeface="Roboto"/>
              </a:rPr>
              <a:t>Solution:</a:t>
            </a:r>
            <a:endParaRPr sz="2000" dirty="0">
              <a:solidFill>
                <a:schemeClr val="lt1"/>
              </a:solidFill>
              <a:latin typeface="Roboto"/>
              <a:ea typeface="Roboto"/>
              <a:cs typeface="Roboto"/>
              <a:sym typeface="Roboto"/>
            </a:endParaRPr>
          </a:p>
        </p:txBody>
      </p:sp>
      <p:graphicFrame>
        <p:nvGraphicFramePr>
          <p:cNvPr id="2" name="Table 1"/>
          <p:cNvGraphicFramePr>
            <a:graphicFrameLocks noGrp="1"/>
          </p:cNvGraphicFramePr>
          <p:nvPr>
            <p:extLst>
              <p:ext uri="{D42A27DB-BD31-4B8C-83A1-F6EECF244321}">
                <p14:modId xmlns:p14="http://schemas.microsoft.com/office/powerpoint/2010/main" val="2467421330"/>
              </p:ext>
            </p:extLst>
          </p:nvPr>
        </p:nvGraphicFramePr>
        <p:xfrm>
          <a:off x="327600" y="893853"/>
          <a:ext cx="8251321" cy="3204179"/>
        </p:xfrm>
        <a:graphic>
          <a:graphicData uri="http://schemas.openxmlformats.org/drawingml/2006/table">
            <a:tbl>
              <a:tblPr/>
              <a:tblGrid>
                <a:gridCol w="8251321"/>
              </a:tblGrid>
              <a:tr h="3038189">
                <a:tc>
                  <a:txBody>
                    <a:bodyPr/>
                    <a:lstStyle/>
                    <a:p>
                      <a:r>
                        <a:rPr lang="en-US" sz="1800" b="0" i="0" u="none" strike="noStrike" cap="none" dirty="0" smtClean="0">
                          <a:solidFill>
                            <a:schemeClr val="tx1"/>
                          </a:solidFill>
                          <a:effectLst/>
                          <a:latin typeface="+mn-lt"/>
                          <a:ea typeface="+mn-ea"/>
                          <a:cs typeface="+mn-cs"/>
                          <a:sym typeface="Arial"/>
                        </a:rPr>
                        <a:t>(x * 5) = (0.75 *8)</a:t>
                      </a:r>
                      <a:r>
                        <a:rPr lang="en-US" sz="1800" dirty="0" smtClean="0"/>
                        <a:t/>
                      </a:r>
                      <a:br>
                        <a:rPr lang="en-US" sz="1800" dirty="0" smtClean="0"/>
                      </a:br>
                      <a:r>
                        <a:rPr lang="en-US" sz="1800" dirty="0" smtClean="0"/>
                        <a:t/>
                      </a:r>
                      <a:br>
                        <a:rPr lang="en-US" sz="1800" dirty="0" smtClean="0"/>
                      </a:br>
                      <a:r>
                        <a:rPr lang="en-US" sz="1800" b="0" i="0" u="none" strike="noStrike" cap="none" dirty="0" smtClean="0">
                          <a:solidFill>
                            <a:schemeClr val="tx1"/>
                          </a:solidFill>
                          <a:effectLst/>
                          <a:latin typeface="+mn-lt"/>
                          <a:ea typeface="+mn-ea"/>
                          <a:cs typeface="+mn-cs"/>
                          <a:sym typeface="Arial"/>
                        </a:rPr>
                        <a:t>X=6/5 = 1.20</a:t>
                      </a:r>
                      <a:endParaRPr lang="en-US" sz="1800" dirty="0"/>
                    </a:p>
                  </a:txBody>
                  <a:tcPr marL="27178" marR="27178" marT="27178" marB="27178">
                    <a:lnL>
                      <a:noFill/>
                    </a:lnL>
                    <a:lnR>
                      <a:noFill/>
                    </a:lnR>
                    <a:lnT>
                      <a:noFill/>
                    </a:lnT>
                    <a:lnB>
                      <a:noFill/>
                    </a:lnB>
                  </a:tcPr>
                </a:tc>
              </a:tr>
              <a:tr h="143133">
                <a:tc>
                  <a:txBody>
                    <a:bodyPr/>
                    <a:lstStyle/>
                    <a:p>
                      <a:endParaRPr lang="en-US" sz="1000" dirty="0"/>
                    </a:p>
                  </a:txBody>
                  <a:tcPr marL="6795" marR="6795" marT="6795" marB="6795">
                    <a:lnL>
                      <a:noFill/>
                    </a:lnL>
                    <a:lnR>
                      <a:noFill/>
                    </a:lnR>
                    <a:lnT>
                      <a:noFill/>
                    </a:lnT>
                    <a:lnB>
                      <a:noFill/>
                    </a:lnB>
                    <a:solidFill>
                      <a:srgbClr val="FFFFFF"/>
                    </a:solidFill>
                  </a:tcPr>
                </a:tc>
              </a:tr>
            </a:tbl>
          </a:graphicData>
        </a:graphic>
      </p:graphicFrame>
      <p:sp>
        <p:nvSpPr>
          <p:cNvPr id="3" name="Rectangle 1"/>
          <p:cNvSpPr>
            <a:spLocks noChangeArrowheads="1"/>
          </p:cNvSpPr>
          <p:nvPr/>
        </p:nvSpPr>
        <p:spPr bwMode="auto">
          <a:xfrm>
            <a:off x="94363" y="1150938"/>
            <a:ext cx="8011947" cy="1068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544172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2156</TotalTime>
  <Words>1149</Words>
  <Application>Microsoft Office PowerPoint</Application>
  <PresentationFormat>On-screen Show (16:9)</PresentationFormat>
  <Paragraphs>224</Paragraphs>
  <Slides>37</Slides>
  <Notes>37</Notes>
  <HiddenSlides>14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Roboto Light</vt:lpstr>
      <vt:lpstr>Cambria Math</vt:lpstr>
      <vt:lpstr>Roboto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siva thevan</dc:creator>
  <cp:lastModifiedBy>User</cp:lastModifiedBy>
  <cp:revision>35</cp:revision>
  <dcterms:modified xsi:type="dcterms:W3CDTF">2019-12-15T02:56:29Z</dcterms:modified>
</cp:coreProperties>
</file>