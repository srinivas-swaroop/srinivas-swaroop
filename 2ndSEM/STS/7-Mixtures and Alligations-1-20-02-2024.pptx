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98" r:id="rId5"/>
    <p:sldId id="366" r:id="rId6"/>
    <p:sldId id="304" r:id="rId7"/>
    <p:sldId id="350" r:id="rId8"/>
    <p:sldId id="317" r:id="rId9"/>
    <p:sldId id="342" r:id="rId10"/>
    <p:sldId id="407" r:id="rId11"/>
    <p:sldId id="408" r:id="rId12"/>
    <p:sldId id="269" r:id="rId13"/>
    <p:sldId id="345" r:id="rId14"/>
    <p:sldId id="346" r:id="rId15"/>
    <p:sldId id="352" r:id="rId16"/>
    <p:sldId id="286" r:id="rId17"/>
    <p:sldId id="353" r:id="rId18"/>
    <p:sldId id="354" r:id="rId19"/>
    <p:sldId id="288" r:id="rId20"/>
    <p:sldId id="357" r:id="rId21"/>
    <p:sldId id="335" r:id="rId22"/>
    <p:sldId id="292" r:id="rId23"/>
    <p:sldId id="358" r:id="rId24"/>
    <p:sldId id="347" r:id="rId25"/>
    <p:sldId id="348" r:id="rId26"/>
    <p:sldId id="293" r:id="rId27"/>
    <p:sldId id="349" r:id="rId28"/>
    <p:sldId id="294" r:id="rId29"/>
    <p:sldId id="360" r:id="rId30"/>
    <p:sldId id="295" r:id="rId31"/>
    <p:sldId id="296" r:id="rId32"/>
    <p:sldId id="361" r:id="rId33"/>
    <p:sldId id="362" r:id="rId34"/>
    <p:sldId id="341" r:id="rId35"/>
    <p:sldId id="363" r:id="rId36"/>
    <p:sldId id="297" r:id="rId37"/>
    <p:sldId id="364" r:id="rId38"/>
    <p:sldId id="365" r:id="rId3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9068" autoAdjust="0"/>
  </p:normalViewPr>
  <p:slideViewPr>
    <p:cSldViewPr snapToGrid="0">
      <p:cViewPr>
        <p:scale>
          <a:sx n="75" d="100"/>
          <a:sy n="75" d="100"/>
        </p:scale>
        <p:origin x="-1248" y="-288"/>
      </p:cViewPr>
      <p:guideLst>
        <p:guide orient="horz" pos="2772"/>
        <p:guide orient="horz" pos="792"/>
        <p:guide orient="horz" pos="1161"/>
        <p:guide orient="horz" pos="2472"/>
        <p:guide orient="horz" pos="2168"/>
        <p:guide pos="2174"/>
        <p:guide pos="144"/>
        <p:guide pos="5552"/>
        <p:guide pos="888"/>
        <p:guide pos="2808"/>
        <p:guide pos="490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I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I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59bc1b10e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59bc1b10e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59bc1b10e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59bc1b10e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59bc1b10e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59bc1b10e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59bc1b10e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59bc1b10e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59bc1b10e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59bc1b10e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IN" b="0" dirty="0">
              <a:effectLst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59bc1b10e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59bc1b10e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IN" b="0" dirty="0">
              <a:effectLst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59bc1b10e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59bc1b10e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59bc1b10e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59bc1b10e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59bc1b10e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59bc1b10e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b="0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59bc1b10e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59bc1b10e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b="0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59bc1b10e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59bc1b10e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59bc1b10e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59bc1b10e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59bc1b10e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59bc1b10e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IN" sz="1100" b="0" i="0" u="none" strike="noStrike" cap="none" dirty="0">
              <a:solidFill>
                <a:srgbClr val="000000"/>
              </a:solidFill>
              <a:effectLst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IN" sz="1100" b="0" i="0" u="none" strike="noStrike" cap="none" dirty="0">
              <a:solidFill>
                <a:srgbClr val="000000"/>
              </a:solidFill>
              <a:effectLst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IN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IN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IN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IN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IN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IN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IN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IN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IN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IN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IN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IN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IN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IN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IN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IN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IN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I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1" name="Google Shape;3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5" name="Google Shape;35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6" name="Google Shape;36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0" name="Google Shape;4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" name="Google Shape;43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logo&#10;&#10;Description generated with high confidence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6800" y="183600"/>
            <a:ext cx="1022401" cy="766801"/>
          </a:xfrm>
          <a:prstGeom prst="rect">
            <a:avLst/>
          </a:prstGeom>
        </p:spPr>
      </p:pic>
      <p:pic>
        <p:nvPicPr>
          <p:cNvPr id="18" name="Picture 17" descr="A picture containing colorful, colored&#10;&#10;Description generated with very high confidence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603" b="37531"/>
          <a:stretch>
            <a:fillRect/>
          </a:stretch>
        </p:blipFill>
        <p:spPr>
          <a:xfrm>
            <a:off x="0" y="4849200"/>
            <a:ext cx="9144000" cy="294300"/>
          </a:xfrm>
          <a:prstGeom prst="rect">
            <a:avLst/>
          </a:prstGeom>
        </p:spPr>
      </p:pic>
      <p:sp>
        <p:nvSpPr>
          <p:cNvPr id="13" name="Oval 12"/>
          <p:cNvSpPr/>
          <p:nvPr userDrawn="1"/>
        </p:nvSpPr>
        <p:spPr>
          <a:xfrm>
            <a:off x="8946830" y="4943496"/>
            <a:ext cx="57600" cy="432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50" dirty="0"/>
          </a:p>
        </p:txBody>
      </p:sp>
      <p:sp>
        <p:nvSpPr>
          <p:cNvPr id="25" name="Oval 24"/>
          <p:cNvSpPr/>
          <p:nvPr userDrawn="1"/>
        </p:nvSpPr>
        <p:spPr>
          <a:xfrm>
            <a:off x="8870400" y="4943496"/>
            <a:ext cx="57600" cy="432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50" dirty="0"/>
          </a:p>
        </p:txBody>
      </p:sp>
      <p:sp>
        <p:nvSpPr>
          <p:cNvPr id="26" name="Oval 25"/>
          <p:cNvSpPr/>
          <p:nvPr userDrawn="1"/>
        </p:nvSpPr>
        <p:spPr>
          <a:xfrm>
            <a:off x="8793970" y="4943496"/>
            <a:ext cx="57600" cy="432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50" dirty="0"/>
          </a:p>
        </p:txBody>
      </p:sp>
      <p:sp>
        <p:nvSpPr>
          <p:cNvPr id="27" name="Oval 26"/>
          <p:cNvSpPr/>
          <p:nvPr userDrawn="1"/>
        </p:nvSpPr>
        <p:spPr>
          <a:xfrm>
            <a:off x="8717540" y="4943496"/>
            <a:ext cx="57600" cy="432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image" Target="../media/image4.jpe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image" Target="../media/image4.jpe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1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image" Target="../media/image4.jpe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image" Target="../media/image4.jpe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image" Target="../media/image4.jpe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0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3.png"/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image" Target="../media/image4.jpe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13.png"/><Relationship Id="rId1" Type="http://schemas.openxmlformats.org/officeDocument/2006/relationships/image" Target="../media/image4.jpe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9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15.png"/><Relationship Id="rId1" Type="http://schemas.openxmlformats.org/officeDocument/2006/relationships/image" Target="../media/image4.jpeg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0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16.png"/><Relationship Id="rId1" Type="http://schemas.openxmlformats.org/officeDocument/2006/relationships/image" Target="../media/image4.jpeg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17.png"/><Relationship Id="rId1" Type="http://schemas.openxmlformats.org/officeDocument/2006/relationships/image" Target="../media/image4.jpeg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3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18.png"/><Relationship Id="rId1" Type="http://schemas.openxmlformats.org/officeDocument/2006/relationships/image" Target="../media/image4.jpeg"/></Relationships>
</file>

<file path=ppt/slides/_rels/slide3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19.png"/><Relationship Id="rId1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2808000" y="431425"/>
            <a:ext cx="3527998" cy="42806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1781" y="2038985"/>
            <a:ext cx="8331835" cy="1139190"/>
          </a:xfrm>
        </p:spPr>
        <p:txBody>
          <a:bodyPr/>
          <a:lstStyle/>
          <a:p>
            <a:pPr marL="114300" indent="0">
              <a:buNone/>
            </a:pPr>
            <a:r>
              <a:rPr lang="en-IN" sz="3600" b="1" dirty="0">
                <a:solidFill>
                  <a:schemeClr val="tx1"/>
                </a:solidFill>
              </a:rPr>
              <a:t>https://qrgo.page</a:t>
            </a:r>
            <a:r>
              <a:rPr lang="en-IN" sz="3600" b="1" dirty="0" smtClean="0">
                <a:solidFill>
                  <a:schemeClr val="tx1"/>
                </a:solidFill>
              </a:rPr>
              <a:t>.</a:t>
            </a:r>
            <a:endParaRPr lang="en-IN" sz="3600" b="1" dirty="0" smtClean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IN" sz="3600" b="1" dirty="0" smtClean="0">
                <a:solidFill>
                  <a:schemeClr val="tx1"/>
                </a:solidFill>
              </a:rPr>
              <a:t>link/WL1w5</a:t>
            </a:r>
            <a:endParaRPr lang="en-IN" sz="3600" b="1" dirty="0" smtClean="0">
              <a:solidFill>
                <a:schemeClr val="tx1"/>
              </a:solidFill>
            </a:endParaRPr>
          </a:p>
        </p:txBody>
      </p:sp>
      <p:pic>
        <p:nvPicPr>
          <p:cNvPr id="4" name="Google Shape;69;p15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7082971" y="174171"/>
            <a:ext cx="1959429" cy="826178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68;p15"/>
          <p:cNvPicPr preferRelativeResize="0"/>
          <p:nvPr/>
        </p:nvPicPr>
        <p:blipFill rotWithShape="1">
          <a:blip r:embed="rId2"/>
          <a:srcRect l="41241" t="9528" r="-23988" b="51129"/>
          <a:stretch>
            <a:fillRect/>
          </a:stretch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 Placeholder 2"/>
          <p:cNvSpPr txBox="1"/>
          <p:nvPr/>
        </p:nvSpPr>
        <p:spPr>
          <a:xfrm>
            <a:off x="291781" y="17665"/>
            <a:ext cx="6147119" cy="1139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Char char="●"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114300" indent="0">
              <a:buFont typeface="Arial" panose="020B0604020202020204"/>
              <a:buNone/>
            </a:pPr>
            <a:r>
              <a:rPr lang="en-IN" sz="3600" b="1" dirty="0" smtClean="0">
                <a:solidFill>
                  <a:schemeClr val="tx1"/>
                </a:solidFill>
              </a:rPr>
              <a:t>Ratios, Proportions and Variations Quiz</a:t>
            </a:r>
            <a:endParaRPr lang="en-IN" sz="3600" b="1" dirty="0" smtClean="0">
              <a:solidFill>
                <a:schemeClr val="tx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046" y="1073150"/>
            <a:ext cx="3879850" cy="387985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5750" y="1315085"/>
            <a:ext cx="8331835" cy="1139190"/>
          </a:xfrm>
        </p:spPr>
        <p:txBody>
          <a:bodyPr/>
          <a:lstStyle/>
          <a:p>
            <a:pPr marL="114300" indent="0" algn="ctr">
              <a:buNone/>
            </a:pPr>
            <a:endParaRPr lang="en-IN" sz="3600" b="1" dirty="0" smtClean="0">
              <a:solidFill>
                <a:schemeClr val="tx1"/>
              </a:solidFill>
            </a:endParaRPr>
          </a:p>
          <a:p>
            <a:pPr marL="114300" indent="0" algn="ctr">
              <a:buNone/>
            </a:pPr>
            <a:r>
              <a:rPr lang="en-IN" sz="3600" b="1" dirty="0" smtClean="0">
                <a:solidFill>
                  <a:schemeClr val="tx1"/>
                </a:solidFill>
              </a:rPr>
              <a:t>MIXTURES AND ALLIGATIONS</a:t>
            </a:r>
            <a:endParaRPr lang="en-IN" sz="3600" b="1" dirty="0" smtClean="0">
              <a:solidFill>
                <a:schemeClr val="tx1"/>
              </a:solidFill>
            </a:endParaRPr>
          </a:p>
        </p:txBody>
      </p:sp>
      <p:pic>
        <p:nvPicPr>
          <p:cNvPr id="4" name="Google Shape;69;p15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7082971" y="174171"/>
            <a:ext cx="1959429" cy="826178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68;p15"/>
          <p:cNvPicPr preferRelativeResize="0"/>
          <p:nvPr/>
        </p:nvPicPr>
        <p:blipFill rotWithShape="1">
          <a:blip r:embed="rId2"/>
          <a:srcRect l="41241" t="9528" r="-23988" b="51129"/>
          <a:stretch>
            <a:fillRect/>
          </a:stretch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/>
          <p:cNvPicPr preferRelativeResize="0"/>
          <p:nvPr/>
        </p:nvPicPr>
        <p:blipFill rotWithShape="1">
          <a:blip r:embed="rId1"/>
          <a:srcRect l="41241" t="9528" r="-23988" b="51129"/>
          <a:stretch>
            <a:fillRect/>
          </a:stretch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0" y="141638"/>
            <a:ext cx="6712857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1" y="141778"/>
            <a:ext cx="35052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  Concepts:</a:t>
            </a:r>
            <a:endParaRPr lang="en-US" sz="25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66700" y="850900"/>
            <a:ext cx="8877300" cy="3276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1800" b="1" dirty="0" smtClean="0"/>
              <a:t> </a:t>
            </a:r>
            <a:r>
              <a:rPr lang="en-US" sz="1800" b="1" dirty="0" err="1" smtClean="0">
                <a:solidFill>
                  <a:schemeClr val="tx1"/>
                </a:solidFill>
              </a:rPr>
              <a:t>Alligation</a:t>
            </a:r>
            <a:r>
              <a:rPr lang="en-US" sz="1800" b="1" dirty="0" smtClean="0">
                <a:solidFill>
                  <a:schemeClr val="tx1"/>
                </a:solidFill>
              </a:rPr>
              <a:t>: </a:t>
            </a:r>
            <a:r>
              <a:rPr lang="en-US" sz="1800" dirty="0" smtClean="0">
                <a:solidFill>
                  <a:schemeClr val="tx1"/>
                </a:solidFill>
              </a:rPr>
              <a:t>It is the rule that enables us to find the ratio in which two or more ingredients at the given price must be mixed to produce a mixture of desired price.</a:t>
            </a:r>
            <a:endParaRPr lang="en-US" sz="1800" dirty="0" smtClean="0">
              <a:solidFill>
                <a:schemeClr val="tx1"/>
              </a:solidFill>
            </a:endParaRPr>
          </a:p>
          <a:p>
            <a:pPr indent="0">
              <a:buFont typeface="Wingdings" panose="05000000000000000000" pitchFamily="2" charset="2"/>
              <a:buNone/>
            </a:pPr>
            <a:endParaRPr lang="en-US" sz="1800" dirty="0" smtClean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1800" b="1" dirty="0" smtClean="0">
                <a:solidFill>
                  <a:schemeClr val="tx1"/>
                </a:solidFill>
              </a:rPr>
              <a:t> Mean Price: </a:t>
            </a:r>
            <a:r>
              <a:rPr lang="en-US" sz="1800" dirty="0" smtClean="0">
                <a:solidFill>
                  <a:schemeClr val="tx1"/>
                </a:solidFill>
              </a:rPr>
              <a:t>The cost of a unit quantity of the mixture is called the mean price.</a:t>
            </a:r>
            <a:endParaRPr lang="en-US" sz="1800" dirty="0" smtClean="0">
              <a:solidFill>
                <a:schemeClr val="tx1"/>
              </a:solidFill>
            </a:endParaRPr>
          </a:p>
          <a:p>
            <a:pPr indent="0">
              <a:buFont typeface="Wingdings" panose="05000000000000000000" pitchFamily="2" charset="2"/>
              <a:buNone/>
            </a:pPr>
            <a:endParaRPr lang="en-US" sz="1800" dirty="0" smtClean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1800" b="1" dirty="0" smtClean="0">
                <a:solidFill>
                  <a:schemeClr val="tx1"/>
                </a:solidFill>
              </a:rPr>
              <a:t> Rule of </a:t>
            </a:r>
            <a:r>
              <a:rPr lang="en-US" sz="1800" b="1" dirty="0" err="1" smtClean="0">
                <a:solidFill>
                  <a:schemeClr val="tx1"/>
                </a:solidFill>
              </a:rPr>
              <a:t>Alligation</a:t>
            </a:r>
            <a:r>
              <a:rPr lang="en-US" sz="1800" b="1" dirty="0" smtClean="0">
                <a:solidFill>
                  <a:schemeClr val="tx1"/>
                </a:solidFill>
              </a:rPr>
              <a:t>: </a:t>
            </a:r>
            <a:r>
              <a:rPr lang="en-US" sz="1800" dirty="0" smtClean="0">
                <a:solidFill>
                  <a:schemeClr val="tx1"/>
                </a:solidFill>
              </a:rPr>
              <a:t>If two ingredients are mixed, then</a:t>
            </a:r>
            <a:endParaRPr lang="en-US" sz="1800" dirty="0" smtClean="0">
              <a:solidFill>
                <a:schemeClr val="tx1"/>
              </a:solidFill>
            </a:endParaRPr>
          </a:p>
          <a:p>
            <a:endParaRPr lang="en-US" sz="1800" dirty="0" smtClean="0">
              <a:solidFill>
                <a:schemeClr val="tx1"/>
              </a:solidFill>
            </a:endParaRPr>
          </a:p>
          <a:p>
            <a:endParaRPr lang="en-US" sz="1800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en-US" sz="18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71725" y="3305810"/>
            <a:ext cx="5842000" cy="140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/>
          <p:cNvPicPr preferRelativeResize="0"/>
          <p:nvPr/>
        </p:nvPicPr>
        <p:blipFill rotWithShape="1">
          <a:blip r:embed="rId1"/>
          <a:srcRect l="41241" t="9528" r="-23988" b="51129"/>
          <a:stretch>
            <a:fillRect/>
          </a:stretch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0" y="141638"/>
            <a:ext cx="6712857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1" y="141778"/>
            <a:ext cx="35052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  Concepts:</a:t>
            </a:r>
            <a:endParaRPr lang="en-US" sz="25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4800" y="828674"/>
            <a:ext cx="6781800" cy="18637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Rectangle 7"/>
          <p:cNvSpPr/>
          <p:nvPr/>
        </p:nvSpPr>
        <p:spPr>
          <a:xfrm>
            <a:off x="317500" y="2654300"/>
            <a:ext cx="88265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 smtClean="0"/>
              <a:t>(Cheaper quantity) : (Dearer quantity) = (</a:t>
            </a:r>
            <a:r>
              <a:rPr lang="en-US" sz="1800" i="1" dirty="0" smtClean="0"/>
              <a:t>d</a:t>
            </a:r>
            <a:r>
              <a:rPr lang="en-US" sz="1800" dirty="0" smtClean="0"/>
              <a:t> - </a:t>
            </a:r>
            <a:r>
              <a:rPr lang="en-US" sz="1800" i="1" dirty="0" smtClean="0"/>
              <a:t>m</a:t>
            </a:r>
            <a:r>
              <a:rPr lang="en-US" sz="1800" dirty="0" smtClean="0"/>
              <a:t>) : (</a:t>
            </a:r>
            <a:r>
              <a:rPr lang="en-US" sz="1800" i="1" dirty="0" smtClean="0"/>
              <a:t>m</a:t>
            </a:r>
            <a:r>
              <a:rPr lang="en-US" sz="1800" dirty="0" smtClean="0"/>
              <a:t> - </a:t>
            </a:r>
            <a:r>
              <a:rPr lang="en-US" sz="1800" i="1" dirty="0" smtClean="0"/>
              <a:t>c</a:t>
            </a:r>
            <a:r>
              <a:rPr lang="en-US" sz="1800" dirty="0" smtClean="0"/>
              <a:t>).</a:t>
            </a:r>
            <a:endParaRPr lang="en-US" sz="1800" dirty="0" smtClean="0"/>
          </a:p>
          <a:p>
            <a:endParaRPr lang="en-US" sz="1800" dirty="0" smtClean="0"/>
          </a:p>
          <a:p>
            <a:pPr>
              <a:buFont typeface="Wingdings" panose="05000000000000000000" pitchFamily="2" charset="2"/>
              <a:buChar char="v"/>
            </a:pPr>
            <a:r>
              <a:rPr lang="en-US" sz="1800" dirty="0" smtClean="0"/>
              <a:t> Suppose a container contains </a:t>
            </a:r>
            <a:r>
              <a:rPr lang="en-US" sz="1800" i="1" dirty="0" smtClean="0"/>
              <a:t>x</a:t>
            </a:r>
            <a:r>
              <a:rPr lang="en-US" sz="1800" dirty="0" smtClean="0"/>
              <a:t> of liquid from which </a:t>
            </a:r>
            <a:r>
              <a:rPr lang="en-US" sz="1800" i="1" dirty="0" smtClean="0"/>
              <a:t>y</a:t>
            </a:r>
            <a:r>
              <a:rPr lang="en-US" sz="1800" dirty="0" smtClean="0"/>
              <a:t> units are taken out and replaced by water.</a:t>
            </a:r>
            <a:endParaRPr lang="en-US" sz="1800" dirty="0" smtClean="0"/>
          </a:p>
          <a:p>
            <a:r>
              <a:rPr lang="en-US" sz="1800" dirty="0" smtClean="0"/>
              <a:t>After </a:t>
            </a:r>
            <a:r>
              <a:rPr lang="en-US" sz="1800" i="1" dirty="0" smtClean="0"/>
              <a:t>n</a:t>
            </a:r>
            <a:r>
              <a:rPr lang="en-US" sz="1800" dirty="0" smtClean="0"/>
              <a:t> operations, the quantity of pure liquid = [x(1-(y/x))^n] units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/>
          <p:cNvPicPr preferRelativeResize="0"/>
          <p:nvPr/>
        </p:nvPicPr>
        <p:blipFill rotWithShape="1">
          <a:blip r:embed="rId1"/>
          <a:srcRect l="41241" t="9528" r="-23988" b="51129"/>
          <a:stretch>
            <a:fillRect/>
          </a:stretch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0" y="141638"/>
            <a:ext cx="6712857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0" y="141778"/>
            <a:ext cx="350520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  Question 01</a:t>
            </a:r>
            <a:r>
              <a:rPr lang="en-US" sz="25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:</a:t>
            </a:r>
            <a:endParaRPr lang="en-US" sz="25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286000" y="2167890"/>
          <a:ext cx="4572000" cy="80772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5250" marR="142875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0" marR="142875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66700" y="660400"/>
            <a:ext cx="8623300" cy="40472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t">
              <a:lnSpc>
                <a:spcPct val="150000"/>
              </a:lnSpc>
            </a:pPr>
            <a:r>
              <a:rPr lang="en-US" sz="1800" dirty="0" smtClean="0"/>
              <a:t>In what ratio must rice at Rs 9.30 per kg be mixed with rice at </a:t>
            </a:r>
            <a:endParaRPr lang="en-US" sz="1800" dirty="0" smtClean="0"/>
          </a:p>
          <a:p>
            <a:pPr fontAlgn="t">
              <a:lnSpc>
                <a:spcPct val="150000"/>
              </a:lnSpc>
            </a:pPr>
            <a:r>
              <a:rPr lang="en-US" sz="1800" dirty="0" smtClean="0"/>
              <a:t>Rs 10.80 per kg so that the mixture be worth Rs 10 per kg?</a:t>
            </a:r>
            <a:endParaRPr lang="en-US" sz="1800" dirty="0" smtClean="0"/>
          </a:p>
          <a:p>
            <a:pPr fontAlgn="t">
              <a:lnSpc>
                <a:spcPct val="150000"/>
              </a:lnSpc>
            </a:pPr>
            <a:endParaRPr lang="en-US" sz="1800" dirty="0" smtClean="0"/>
          </a:p>
          <a:p>
            <a:pPr fontAlgn="t">
              <a:lnSpc>
                <a:spcPct val="150000"/>
              </a:lnSpc>
            </a:pPr>
            <a:r>
              <a:rPr lang="en-US" sz="1800" dirty="0" smtClean="0"/>
              <a:t>A. 6:5</a:t>
            </a:r>
            <a:endParaRPr lang="en-US" sz="1800" dirty="0" smtClean="0"/>
          </a:p>
          <a:p>
            <a:pPr fontAlgn="t">
              <a:lnSpc>
                <a:spcPct val="150000"/>
              </a:lnSpc>
            </a:pPr>
            <a:r>
              <a:rPr lang="en-US" sz="1800" dirty="0" smtClean="0"/>
              <a:t>B. 8:7</a:t>
            </a:r>
            <a:endParaRPr lang="en-US" sz="1800" dirty="0" smtClean="0"/>
          </a:p>
          <a:p>
            <a:pPr fontAlgn="t">
              <a:lnSpc>
                <a:spcPct val="150000"/>
              </a:lnSpc>
            </a:pPr>
            <a:r>
              <a:rPr lang="en-US" sz="1800" dirty="0" smtClean="0"/>
              <a:t>C. 3:7</a:t>
            </a:r>
            <a:endParaRPr lang="en-US" sz="1800" dirty="0" smtClean="0"/>
          </a:p>
          <a:p>
            <a:pPr fontAlgn="t">
              <a:lnSpc>
                <a:spcPct val="150000"/>
              </a:lnSpc>
            </a:pPr>
            <a:r>
              <a:rPr lang="en-US" sz="1800" dirty="0" smtClean="0"/>
              <a:t>D. 6:1</a:t>
            </a:r>
            <a:endParaRPr lang="en-US" sz="1800" dirty="0" smtClean="0"/>
          </a:p>
          <a:p>
            <a:pPr fontAlgn="t">
              <a:lnSpc>
                <a:spcPct val="150000"/>
              </a:lnSpc>
            </a:pPr>
            <a:endParaRPr lang="en-US" sz="1800" dirty="0" smtClean="0"/>
          </a:p>
          <a:p>
            <a:pPr fontAlgn="t">
              <a:lnSpc>
                <a:spcPct val="150000"/>
              </a:lnSpc>
            </a:pPr>
            <a:r>
              <a:rPr lang="en-US" sz="1800" dirty="0" smtClean="0"/>
              <a:t>							</a:t>
            </a:r>
            <a:r>
              <a:rPr lang="en-US" sz="1800" b="1" dirty="0" smtClean="0"/>
              <a:t>Answer: B</a:t>
            </a:r>
            <a:endParaRPr lang="en-US" sz="1800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/>
          <p:cNvPicPr preferRelativeResize="0"/>
          <p:nvPr/>
        </p:nvPicPr>
        <p:blipFill rotWithShape="1">
          <a:blip r:embed="rId1"/>
          <a:srcRect l="41241" t="9528" r="-23988" b="51129"/>
          <a:stretch>
            <a:fillRect/>
          </a:stretch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0" y="141638"/>
            <a:ext cx="6712857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0" y="141778"/>
            <a:ext cx="350520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  Explanation:</a:t>
            </a:r>
            <a:endParaRPr lang="en-US" sz="25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286000" y="2167890"/>
          <a:ext cx="4572000" cy="80772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5250" marR="142875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0" marR="142875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30200" y="812800"/>
            <a:ext cx="85852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/>
              <a:t>C.P of 1 Kg                   C.P of 1 Kg</a:t>
            </a:r>
            <a:endParaRPr lang="en-US" sz="1800" dirty="0" smtClean="0"/>
          </a:p>
          <a:p>
            <a:r>
              <a:rPr lang="en-US" sz="1800" dirty="0" smtClean="0"/>
              <a:t>rice of 1st                   rice of 2nd</a:t>
            </a:r>
            <a:endParaRPr lang="en-US" sz="1800" dirty="0" smtClean="0"/>
          </a:p>
          <a:p>
            <a:r>
              <a:rPr lang="en-US" sz="1800" dirty="0" smtClean="0"/>
              <a:t>kind (930p)                kind (1080p)</a:t>
            </a:r>
            <a:endParaRPr lang="en-US" sz="1800" dirty="0" smtClean="0"/>
          </a:p>
          <a:p>
            <a:r>
              <a:rPr lang="en-US" sz="1800" dirty="0" smtClean="0"/>
              <a:t> </a:t>
            </a:r>
            <a:endParaRPr lang="en-US" sz="1800" dirty="0" smtClean="0"/>
          </a:p>
          <a:p>
            <a:r>
              <a:rPr lang="en-US" sz="1800" dirty="0" smtClean="0"/>
              <a:t>             \                        /</a:t>
            </a:r>
            <a:br>
              <a:rPr lang="en-US" sz="1800" dirty="0" smtClean="0"/>
            </a:br>
            <a:r>
              <a:rPr lang="en-US" sz="1800" dirty="0" smtClean="0"/>
              <a:t>                Mean Price</a:t>
            </a:r>
            <a:endParaRPr lang="en-US" sz="1800" dirty="0" smtClean="0"/>
          </a:p>
          <a:p>
            <a:r>
              <a:rPr lang="en-US" sz="1800" dirty="0" smtClean="0"/>
              <a:t>                  (1000p)</a:t>
            </a:r>
            <a:endParaRPr lang="en-US" sz="1800" dirty="0" smtClean="0"/>
          </a:p>
          <a:p>
            <a:r>
              <a:rPr lang="en-US" sz="1800" dirty="0" smtClean="0"/>
              <a:t>             /                       \</a:t>
            </a:r>
            <a:endParaRPr lang="en-US" sz="1800" dirty="0" smtClean="0"/>
          </a:p>
          <a:p>
            <a:r>
              <a:rPr lang="en-US" sz="1800" dirty="0" smtClean="0"/>
              <a:t> </a:t>
            </a:r>
            <a:endParaRPr lang="en-US" sz="1800" dirty="0" smtClean="0"/>
          </a:p>
          <a:p>
            <a:r>
              <a:rPr lang="en-US" sz="1800" dirty="0" smtClean="0"/>
              <a:t>   (1080 – 1000)  :        (1000 -  930)</a:t>
            </a:r>
            <a:endParaRPr lang="en-US" sz="1800" dirty="0" smtClean="0"/>
          </a:p>
          <a:p>
            <a:r>
              <a:rPr lang="en-US" sz="1800" dirty="0" smtClean="0"/>
              <a:t>             80                             70</a:t>
            </a:r>
            <a:endParaRPr lang="en-US" sz="1800" dirty="0" smtClean="0"/>
          </a:p>
          <a:p>
            <a:r>
              <a:rPr lang="en-US" sz="1800" dirty="0" smtClean="0"/>
              <a:t>Thus, required ratio = 80 : 70 = </a:t>
            </a:r>
            <a:r>
              <a:rPr lang="en-US" sz="1800" b="1" dirty="0" smtClean="0"/>
              <a:t>8 : 7</a:t>
            </a:r>
            <a:endParaRPr lang="en-US" sz="1800" dirty="0" smtClean="0"/>
          </a:p>
          <a:p>
            <a:endParaRPr lang="en-US" sz="18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/>
          <p:cNvPicPr preferRelativeResize="0"/>
          <p:nvPr/>
        </p:nvPicPr>
        <p:blipFill rotWithShape="1">
          <a:blip r:embed="rId1"/>
          <a:srcRect l="41241" t="9528" r="-23988" b="51129"/>
          <a:stretch>
            <a:fillRect/>
          </a:stretch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0" y="181536"/>
            <a:ext cx="6712857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5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  Question 02:</a:t>
            </a:r>
            <a:endParaRPr lang="en-US" sz="25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71462" y="673100"/>
            <a:ext cx="88011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2" indent="-342900">
              <a:lnSpc>
                <a:spcPct val="150000"/>
              </a:lnSpc>
            </a:pPr>
            <a:endParaRPr lang="en-US" sz="1800" dirty="0" smtClean="0"/>
          </a:p>
          <a:p>
            <a:pPr marL="342900" lvl="2" indent="-342900">
              <a:lnSpc>
                <a:spcPct val="150000"/>
              </a:lnSpc>
            </a:pPr>
            <a:endParaRPr lang="en-US" sz="1800" dirty="0"/>
          </a:p>
          <a:p>
            <a:endParaRPr lang="en-US" sz="1600" dirty="0"/>
          </a:p>
        </p:txBody>
      </p:sp>
      <p:sp>
        <p:nvSpPr>
          <p:cNvPr id="8" name="Rectangle 7"/>
          <p:cNvSpPr/>
          <p:nvPr/>
        </p:nvSpPr>
        <p:spPr>
          <a:xfrm>
            <a:off x="317500" y="736601"/>
            <a:ext cx="8826500" cy="46628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t">
              <a:lnSpc>
                <a:spcPct val="150000"/>
              </a:lnSpc>
            </a:pPr>
            <a:r>
              <a:rPr lang="en-US" sz="1800" dirty="0" smtClean="0"/>
              <a:t>In what ratio must wheat at </a:t>
            </a:r>
            <a:r>
              <a:rPr lang="en-US" sz="1800" dirty="0" err="1" smtClean="0"/>
              <a:t>Rs</a:t>
            </a:r>
            <a:r>
              <a:rPr lang="en-US" sz="1800" dirty="0" smtClean="0"/>
              <a:t>. 3.20 per kg be mixed with</a:t>
            </a:r>
            <a:endParaRPr lang="en-US" sz="1800" dirty="0" smtClean="0"/>
          </a:p>
          <a:p>
            <a:pPr fontAlgn="t">
              <a:lnSpc>
                <a:spcPct val="150000"/>
              </a:lnSpc>
            </a:pPr>
            <a:r>
              <a:rPr lang="en-US" sz="1800" dirty="0" smtClean="0"/>
              <a:t>wheat at </a:t>
            </a:r>
            <a:r>
              <a:rPr lang="en-US" sz="1800" dirty="0" err="1" smtClean="0"/>
              <a:t>Rs</a:t>
            </a:r>
            <a:r>
              <a:rPr lang="en-US" sz="1800" dirty="0" smtClean="0"/>
              <a:t>. 2.90 per kg so that the mixture be worth </a:t>
            </a:r>
            <a:r>
              <a:rPr lang="en-US" sz="1800" dirty="0" err="1" smtClean="0"/>
              <a:t>Rs</a:t>
            </a:r>
            <a:r>
              <a:rPr lang="en-US" sz="1800" dirty="0" smtClean="0"/>
              <a:t>. 3.08 per kg?</a:t>
            </a:r>
            <a:endParaRPr lang="en-US" sz="1800" dirty="0" smtClean="0"/>
          </a:p>
          <a:p>
            <a:pPr fontAlgn="t">
              <a:lnSpc>
                <a:spcPct val="150000"/>
              </a:lnSpc>
            </a:pPr>
            <a:endParaRPr lang="en-US" sz="1800" dirty="0" smtClean="0"/>
          </a:p>
          <a:p>
            <a:pPr fontAlgn="t">
              <a:lnSpc>
                <a:spcPct val="150000"/>
              </a:lnSpc>
            </a:pPr>
            <a:r>
              <a:rPr lang="en-US" sz="1800" dirty="0" smtClean="0"/>
              <a:t>A. 3 : 4</a:t>
            </a:r>
            <a:endParaRPr lang="en-US" sz="1800" dirty="0" smtClean="0"/>
          </a:p>
          <a:p>
            <a:pPr fontAlgn="t">
              <a:lnSpc>
                <a:spcPct val="150000"/>
              </a:lnSpc>
            </a:pPr>
            <a:r>
              <a:rPr lang="en-US" sz="1800" dirty="0" smtClean="0"/>
              <a:t>B. 2 : 3</a:t>
            </a:r>
            <a:endParaRPr lang="en-US" sz="1800" dirty="0" smtClean="0"/>
          </a:p>
          <a:p>
            <a:pPr fontAlgn="t">
              <a:lnSpc>
                <a:spcPct val="150000"/>
              </a:lnSpc>
            </a:pPr>
            <a:r>
              <a:rPr lang="en-US" sz="1800" dirty="0" smtClean="0"/>
              <a:t>C. 3 : 2</a:t>
            </a:r>
            <a:endParaRPr lang="en-US" sz="1800" dirty="0" smtClean="0"/>
          </a:p>
          <a:p>
            <a:pPr fontAlgn="t">
              <a:lnSpc>
                <a:spcPct val="150000"/>
              </a:lnSpc>
            </a:pPr>
            <a:r>
              <a:rPr lang="en-US" sz="1800" dirty="0" smtClean="0"/>
              <a:t>D. 4 : 3</a:t>
            </a:r>
            <a:endParaRPr lang="en-US" sz="1800" dirty="0" smtClean="0"/>
          </a:p>
          <a:p>
            <a:pPr fontAlgn="t">
              <a:lnSpc>
                <a:spcPct val="150000"/>
              </a:lnSpc>
            </a:pPr>
            <a:endParaRPr lang="en-US" sz="1800" dirty="0" smtClean="0"/>
          </a:p>
          <a:p>
            <a:pPr fontAlgn="t">
              <a:lnSpc>
                <a:spcPct val="150000"/>
              </a:lnSpc>
            </a:pPr>
            <a:r>
              <a:rPr lang="en-US" sz="1800" dirty="0" smtClean="0"/>
              <a:t>							</a:t>
            </a:r>
            <a:r>
              <a:rPr lang="en-US" sz="1800" b="1" dirty="0" smtClean="0"/>
              <a:t>Answer: </a:t>
            </a:r>
            <a:r>
              <a:rPr lang="en-US" sz="1800" b="1" dirty="0" smtClean="0"/>
              <a:t>C</a:t>
            </a:r>
            <a:r>
              <a:rPr lang="en-US" sz="1800" dirty="0" smtClean="0"/>
              <a:t>						</a:t>
            </a:r>
            <a:endParaRPr lang="en-US" sz="1800" dirty="0" smtClean="0"/>
          </a:p>
          <a:p>
            <a:pPr>
              <a:lnSpc>
                <a:spcPct val="150000"/>
              </a:lnSpc>
            </a:pP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/>
          <p:cNvPicPr preferRelativeResize="0"/>
          <p:nvPr/>
        </p:nvPicPr>
        <p:blipFill rotWithShape="1">
          <a:blip r:embed="rId1"/>
          <a:srcRect l="41241" t="9528" r="-23988" b="51129"/>
          <a:stretch>
            <a:fillRect/>
          </a:stretch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0" y="181536"/>
            <a:ext cx="6712857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5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  Explanation:</a:t>
            </a:r>
            <a:endParaRPr lang="en-US" sz="25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71462" y="673100"/>
            <a:ext cx="88011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2" indent="-342900">
              <a:lnSpc>
                <a:spcPct val="150000"/>
              </a:lnSpc>
            </a:pPr>
            <a:endParaRPr lang="en-US" sz="1800" dirty="0" smtClean="0"/>
          </a:p>
          <a:p>
            <a:pPr marL="342900" lvl="2" indent="-342900">
              <a:lnSpc>
                <a:spcPct val="150000"/>
              </a:lnSpc>
            </a:pPr>
            <a:endParaRPr lang="en-US" sz="1800" dirty="0"/>
          </a:p>
          <a:p>
            <a:endParaRPr lang="en-US" sz="1600" dirty="0"/>
          </a:p>
        </p:txBody>
      </p:sp>
      <p:sp>
        <p:nvSpPr>
          <p:cNvPr id="9" name="Rectangle 8"/>
          <p:cNvSpPr/>
          <p:nvPr/>
        </p:nvSpPr>
        <p:spPr>
          <a:xfrm>
            <a:off x="381000" y="660401"/>
            <a:ext cx="87630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 smtClean="0"/>
              <a:t>C.P of a unit quantity of 1st kind  = Rs. 3.20</a:t>
            </a:r>
            <a:br>
              <a:rPr lang="en-US" sz="1800" dirty="0" smtClean="0"/>
            </a:br>
            <a:r>
              <a:rPr lang="en-US" sz="1800" dirty="0" smtClean="0"/>
              <a:t>C.P of a unit quantity of 2nd kind  = Rs. 2.90</a:t>
            </a:r>
            <a:br>
              <a:rPr lang="en-US" sz="1800" dirty="0" smtClean="0"/>
            </a:br>
            <a:r>
              <a:rPr lang="en-US" sz="1800" dirty="0" smtClean="0"/>
              <a:t>Mean price = Rs.3.08</a:t>
            </a:r>
            <a:endParaRPr lang="en-US" sz="1800" dirty="0" smtClean="0"/>
          </a:p>
          <a:p>
            <a:r>
              <a:rPr lang="en-US" sz="1800" dirty="0" smtClean="0"/>
              <a:t>C.P of unit quantity         C.P of unit quantity</a:t>
            </a:r>
            <a:endParaRPr lang="en-US" sz="1800" dirty="0" smtClean="0"/>
          </a:p>
          <a:p>
            <a:r>
              <a:rPr lang="en-US" sz="1800" dirty="0" smtClean="0"/>
              <a:t>of 1st kind                         of 2nd kind</a:t>
            </a:r>
            <a:endParaRPr lang="en-US" sz="1800" dirty="0" smtClean="0"/>
          </a:p>
          <a:p>
            <a:r>
              <a:rPr lang="en-US" sz="1800" dirty="0" smtClean="0"/>
              <a:t>    (Rs. 3.20)                         (Rs. 2.90)</a:t>
            </a:r>
            <a:endParaRPr lang="en-US" sz="1800" dirty="0" smtClean="0"/>
          </a:p>
          <a:p>
            <a:r>
              <a:rPr lang="en-US" sz="1800" dirty="0" smtClean="0"/>
              <a:t> </a:t>
            </a:r>
            <a:endParaRPr lang="en-US" sz="1800" dirty="0" smtClean="0"/>
          </a:p>
          <a:p>
            <a:r>
              <a:rPr lang="en-US" sz="1800" dirty="0" smtClean="0"/>
              <a:t>                     \                       /</a:t>
            </a:r>
            <a:br>
              <a:rPr lang="en-US" sz="1800" dirty="0" smtClean="0"/>
            </a:br>
            <a:r>
              <a:rPr lang="en-US" sz="1800" dirty="0" smtClean="0"/>
              <a:t>                        Mean Price</a:t>
            </a:r>
            <a:endParaRPr lang="en-US" sz="1800" dirty="0" smtClean="0"/>
          </a:p>
          <a:p>
            <a:r>
              <a:rPr lang="en-US" sz="1800" dirty="0" smtClean="0"/>
              <a:t>                         (Rs.3.08)</a:t>
            </a:r>
            <a:endParaRPr lang="en-US" sz="1800" dirty="0" smtClean="0"/>
          </a:p>
          <a:p>
            <a:r>
              <a:rPr lang="en-US" sz="1800" dirty="0" smtClean="0"/>
              <a:t>                    /                        \</a:t>
            </a:r>
            <a:endParaRPr lang="en-US" sz="1800" dirty="0" smtClean="0"/>
          </a:p>
          <a:p>
            <a:r>
              <a:rPr lang="en-US" sz="1800" dirty="0" smtClean="0"/>
              <a:t> </a:t>
            </a:r>
            <a:endParaRPr lang="en-US" sz="1800" dirty="0" smtClean="0"/>
          </a:p>
          <a:p>
            <a:r>
              <a:rPr lang="en-US" sz="1800" dirty="0" smtClean="0"/>
              <a:t> (3.08 – 2.90)          :           (3.20 – 3.08)</a:t>
            </a:r>
            <a:endParaRPr lang="en-US" sz="1800" dirty="0" smtClean="0"/>
          </a:p>
          <a:p>
            <a:r>
              <a:rPr lang="en-US" sz="1800" dirty="0" smtClean="0"/>
              <a:t>       0.18                                      0.12</a:t>
            </a:r>
            <a:endParaRPr lang="en-US" sz="1800" dirty="0" smtClean="0"/>
          </a:p>
          <a:p>
            <a:br>
              <a:rPr lang="en-US" sz="1800" dirty="0" smtClean="0"/>
            </a:br>
            <a:r>
              <a:rPr lang="en-US" sz="1800" dirty="0" smtClean="0"/>
              <a:t>			Required ratio = 0.18 : 0.12 =</a:t>
            </a:r>
            <a:r>
              <a:rPr lang="en-US" sz="1800" b="1" dirty="0" smtClean="0"/>
              <a:t> 3 : 2</a:t>
            </a:r>
            <a:endParaRPr lang="en-US" sz="18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/>
          <p:cNvPicPr preferRelativeResize="0"/>
          <p:nvPr/>
        </p:nvPicPr>
        <p:blipFill rotWithShape="1">
          <a:blip r:embed="rId1"/>
          <a:srcRect l="41241" t="9528" r="-23988" b="51129"/>
          <a:stretch>
            <a:fillRect/>
          </a:stretch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0" y="168772"/>
            <a:ext cx="6712857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0" y="149125"/>
            <a:ext cx="4786635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 sz="25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   Question 0</a:t>
            </a:r>
            <a:r>
              <a:rPr lang="en-IN" sz="25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4</a:t>
            </a:r>
            <a:r>
              <a:rPr lang="en-IN" sz="25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:</a:t>
            </a:r>
            <a:endParaRPr lang="en-US" sz="25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97485" y="829945"/>
            <a:ext cx="887730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t">
              <a:lnSpc>
                <a:spcPct val="150000"/>
              </a:lnSpc>
            </a:pPr>
            <a:r>
              <a:rPr lang="en-US" sz="1800" dirty="0" smtClean="0"/>
              <a:t>In what proportion must rice at Rs. 3.10 per kg be mixed with</a:t>
            </a:r>
            <a:endParaRPr lang="en-US" sz="1800" dirty="0" smtClean="0"/>
          </a:p>
          <a:p>
            <a:pPr fontAlgn="t">
              <a:lnSpc>
                <a:spcPct val="150000"/>
              </a:lnSpc>
            </a:pPr>
            <a:r>
              <a:rPr lang="en-US" sz="1800" dirty="0" smtClean="0"/>
              <a:t>rice at Rs. 3.60 per kg so that the mixture be worth Rs. 3.25 per kg?</a:t>
            </a:r>
            <a:endParaRPr lang="en-US" sz="1800" dirty="0" smtClean="0"/>
          </a:p>
          <a:p>
            <a:pPr fontAlgn="t">
              <a:lnSpc>
                <a:spcPct val="150000"/>
              </a:lnSpc>
            </a:pPr>
            <a:endParaRPr lang="en-US" sz="1800" dirty="0" smtClean="0"/>
          </a:p>
          <a:p>
            <a:pPr fontAlgn="t">
              <a:lnSpc>
                <a:spcPct val="150000"/>
              </a:lnSpc>
            </a:pPr>
            <a:r>
              <a:rPr lang="en-US" sz="1800" dirty="0" smtClean="0"/>
              <a:t>A. 3 : 7</a:t>
            </a:r>
            <a:endParaRPr lang="en-US" sz="1800" dirty="0" smtClean="0"/>
          </a:p>
          <a:p>
            <a:pPr fontAlgn="t">
              <a:lnSpc>
                <a:spcPct val="150000"/>
              </a:lnSpc>
            </a:pPr>
            <a:r>
              <a:rPr lang="en-US" sz="1800" dirty="0" smtClean="0"/>
              <a:t>B. 5 : 3</a:t>
            </a:r>
            <a:endParaRPr lang="en-US" sz="1800" dirty="0" smtClean="0"/>
          </a:p>
          <a:p>
            <a:pPr fontAlgn="t">
              <a:lnSpc>
                <a:spcPct val="150000"/>
              </a:lnSpc>
            </a:pPr>
            <a:r>
              <a:rPr lang="en-US" sz="1800" dirty="0" smtClean="0"/>
              <a:t>C. 3 : 5</a:t>
            </a:r>
            <a:endParaRPr lang="en-US" sz="1800" dirty="0" smtClean="0"/>
          </a:p>
          <a:p>
            <a:pPr fontAlgn="t">
              <a:lnSpc>
                <a:spcPct val="150000"/>
              </a:lnSpc>
            </a:pPr>
            <a:r>
              <a:rPr lang="en-US" sz="1800" dirty="0" smtClean="0"/>
              <a:t>D. 7 : 3</a:t>
            </a:r>
            <a:endParaRPr lang="en-US" sz="1800" dirty="0" smtClean="0"/>
          </a:p>
          <a:p>
            <a:pPr fontAlgn="t">
              <a:lnSpc>
                <a:spcPct val="150000"/>
              </a:lnSpc>
            </a:pPr>
            <a:endParaRPr lang="en-US" sz="1800" dirty="0" smtClean="0"/>
          </a:p>
          <a:p>
            <a:pPr fontAlgn="t">
              <a:lnSpc>
                <a:spcPct val="150000"/>
              </a:lnSpc>
            </a:pPr>
            <a:r>
              <a:rPr lang="en-US" sz="1800" dirty="0" smtClean="0"/>
              <a:t>							</a:t>
            </a:r>
            <a:r>
              <a:rPr lang="en-US" sz="1800" b="1" dirty="0" smtClean="0"/>
              <a:t>Answer: D</a:t>
            </a:r>
            <a:endParaRPr lang="en-US" sz="1800" dirty="0" smtClean="0"/>
          </a:p>
          <a:p>
            <a:pPr>
              <a:lnSpc>
                <a:spcPct val="150000"/>
              </a:lnSpc>
            </a:pPr>
            <a:endParaRPr lang="en-US" sz="18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/>
          <p:cNvPicPr preferRelativeResize="0"/>
          <p:nvPr/>
        </p:nvPicPr>
        <p:blipFill rotWithShape="1">
          <a:blip r:embed="rId1"/>
          <a:srcRect l="41241" t="9528" r="-23988" b="51129"/>
          <a:stretch>
            <a:fillRect/>
          </a:stretch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0" y="168772"/>
            <a:ext cx="6712857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0" y="149125"/>
            <a:ext cx="4786635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 sz="25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  Explanation</a:t>
            </a:r>
            <a:r>
              <a:rPr lang="en-IN" sz="25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:</a:t>
            </a:r>
            <a:endParaRPr lang="en-US" sz="25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04800" y="694313"/>
            <a:ext cx="88392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 smtClean="0"/>
              <a:t>C.P of a unit quantity of 1st kind  = 310p (in </a:t>
            </a:r>
            <a:r>
              <a:rPr lang="en-US" sz="1800" dirty="0" err="1" smtClean="0"/>
              <a:t>paise</a:t>
            </a:r>
            <a:r>
              <a:rPr lang="en-US" sz="1800" dirty="0" smtClean="0"/>
              <a:t>)</a:t>
            </a:r>
            <a:br>
              <a:rPr lang="en-US" sz="1800" dirty="0" smtClean="0"/>
            </a:br>
            <a:r>
              <a:rPr lang="en-US" sz="1800" dirty="0" smtClean="0"/>
              <a:t>C.P of a unit quantity of 2nd kind  = 360p</a:t>
            </a:r>
            <a:br>
              <a:rPr lang="en-US" sz="1800" dirty="0" smtClean="0"/>
            </a:br>
            <a:r>
              <a:rPr lang="en-US" sz="1800" dirty="0" smtClean="0"/>
              <a:t>Mean price = 325p</a:t>
            </a:r>
            <a:endParaRPr lang="en-US" sz="1800" dirty="0" smtClean="0"/>
          </a:p>
          <a:p>
            <a:r>
              <a:rPr lang="en-US" sz="1800" dirty="0" smtClean="0"/>
              <a:t>C.P of unit quantity         C.P of unit quantity</a:t>
            </a:r>
            <a:endParaRPr lang="en-US" sz="1800" dirty="0" smtClean="0"/>
          </a:p>
          <a:p>
            <a:r>
              <a:rPr lang="en-US" sz="1800" dirty="0" smtClean="0"/>
              <a:t>of 1st kind                         of 2nd kind</a:t>
            </a:r>
            <a:endParaRPr lang="en-US" sz="1800" dirty="0" smtClean="0"/>
          </a:p>
          <a:p>
            <a:r>
              <a:rPr lang="en-US" sz="1800" dirty="0" smtClean="0"/>
              <a:t>    (310p)                         (360p)</a:t>
            </a:r>
            <a:endParaRPr lang="en-US" sz="1800" dirty="0" smtClean="0"/>
          </a:p>
          <a:p>
            <a:r>
              <a:rPr lang="en-US" sz="1800" dirty="0" smtClean="0"/>
              <a:t> </a:t>
            </a:r>
            <a:endParaRPr lang="en-US" sz="1800" dirty="0" smtClean="0"/>
          </a:p>
          <a:p>
            <a:r>
              <a:rPr lang="en-US" sz="1800" dirty="0" smtClean="0"/>
              <a:t>                     \                       /</a:t>
            </a:r>
            <a:br>
              <a:rPr lang="en-US" sz="1800" dirty="0" smtClean="0"/>
            </a:br>
            <a:r>
              <a:rPr lang="en-US" sz="1800" dirty="0" smtClean="0"/>
              <a:t>                        Mean Price</a:t>
            </a:r>
            <a:endParaRPr lang="en-US" sz="1800" dirty="0" smtClean="0"/>
          </a:p>
          <a:p>
            <a:r>
              <a:rPr lang="en-US" sz="1800" dirty="0" smtClean="0"/>
              <a:t>                         (325p)</a:t>
            </a:r>
            <a:endParaRPr lang="en-US" sz="1800" dirty="0" smtClean="0"/>
          </a:p>
          <a:p>
            <a:r>
              <a:rPr lang="en-US" sz="1800" dirty="0" smtClean="0"/>
              <a:t>                    /                        \</a:t>
            </a:r>
            <a:endParaRPr lang="en-US" sz="1800" dirty="0" smtClean="0"/>
          </a:p>
          <a:p>
            <a:r>
              <a:rPr lang="en-US" sz="1800" dirty="0" smtClean="0"/>
              <a:t> </a:t>
            </a:r>
            <a:endParaRPr lang="en-US" sz="1800" dirty="0" smtClean="0"/>
          </a:p>
          <a:p>
            <a:r>
              <a:rPr lang="en-US" sz="1800" dirty="0" smtClean="0"/>
              <a:t> (360 – 325)          :           (325 – 310)</a:t>
            </a:r>
            <a:endParaRPr lang="en-US" sz="1800" dirty="0" smtClean="0"/>
          </a:p>
          <a:p>
            <a:r>
              <a:rPr lang="en-US" sz="1800" dirty="0" smtClean="0"/>
              <a:t>       35                                       15</a:t>
            </a:r>
            <a:endParaRPr lang="en-US" sz="1800" dirty="0" smtClean="0"/>
          </a:p>
          <a:p>
            <a:r>
              <a:rPr lang="en-US" sz="1800" dirty="0" smtClean="0"/>
              <a:t>			Required ratio = 35 : 15 = 7 : 3</a:t>
            </a:r>
            <a:br>
              <a:rPr lang="en-US" sz="1800" dirty="0" smtClean="0"/>
            </a:br>
            <a:r>
              <a:rPr lang="en-US" sz="1800" dirty="0" smtClean="0"/>
              <a:t>			They must be mixed in the ratio</a:t>
            </a:r>
            <a:r>
              <a:rPr lang="en-US" sz="1800" b="1" dirty="0" smtClean="0"/>
              <a:t> 7 : 3</a:t>
            </a:r>
            <a:endParaRPr lang="en-US" sz="18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/>
          <p:cNvPicPr preferRelativeResize="0"/>
          <p:nvPr/>
        </p:nvPicPr>
        <p:blipFill rotWithShape="1">
          <a:blip r:embed="rId1"/>
          <a:srcRect l="41241" t="9528" r="-23988" b="51129"/>
          <a:stretch>
            <a:fillRect/>
          </a:stretch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0" y="162267"/>
            <a:ext cx="6712857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IN" sz="25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  Question 05</a:t>
            </a:r>
            <a:r>
              <a:rPr lang="en-IN" sz="25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:</a:t>
            </a:r>
            <a:endParaRPr lang="en-US" sz="25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00355" y="883285"/>
            <a:ext cx="8864600" cy="41088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dirty="0" smtClean="0"/>
              <a:t>In what ratio must tea at Rs. 62 per kg be mixed with tea at</a:t>
            </a:r>
            <a:endParaRPr lang="en-US" sz="1800" dirty="0" smtClean="0"/>
          </a:p>
          <a:p>
            <a:pPr>
              <a:lnSpc>
                <a:spcPct val="150000"/>
              </a:lnSpc>
            </a:pPr>
            <a:r>
              <a:rPr lang="en-US" sz="1800" dirty="0" smtClean="0"/>
              <a:t>Rs. 72 per kg so that the mixture must be worth Rs. 64.50 per kg?</a:t>
            </a:r>
            <a:endParaRPr lang="en-US" sz="1800" dirty="0" smtClean="0"/>
          </a:p>
          <a:p>
            <a:pPr fontAlgn="t">
              <a:lnSpc>
                <a:spcPct val="150000"/>
              </a:lnSpc>
            </a:pPr>
            <a:endParaRPr lang="en-US" sz="1800" dirty="0" smtClean="0"/>
          </a:p>
          <a:p>
            <a:pPr fontAlgn="t">
              <a:lnSpc>
                <a:spcPct val="150000"/>
              </a:lnSpc>
            </a:pPr>
            <a:r>
              <a:rPr lang="en-US" sz="1800" dirty="0" smtClean="0"/>
              <a:t>A. 1 : 3</a:t>
            </a:r>
            <a:endParaRPr lang="en-US" sz="1800" dirty="0" smtClean="0"/>
          </a:p>
          <a:p>
            <a:pPr fontAlgn="t">
              <a:lnSpc>
                <a:spcPct val="150000"/>
              </a:lnSpc>
            </a:pPr>
            <a:r>
              <a:rPr lang="en-US" sz="1800" dirty="0" smtClean="0"/>
              <a:t>B. 2 : 3</a:t>
            </a:r>
            <a:endParaRPr lang="en-US" sz="1800" dirty="0" smtClean="0"/>
          </a:p>
          <a:p>
            <a:pPr fontAlgn="t">
              <a:lnSpc>
                <a:spcPct val="150000"/>
              </a:lnSpc>
            </a:pPr>
            <a:r>
              <a:rPr lang="en-US" sz="1800" dirty="0" smtClean="0"/>
              <a:t>C. 3 : 1</a:t>
            </a:r>
            <a:endParaRPr lang="en-US" sz="1800" dirty="0" smtClean="0"/>
          </a:p>
          <a:p>
            <a:pPr fontAlgn="t">
              <a:lnSpc>
                <a:spcPct val="150000"/>
              </a:lnSpc>
            </a:pPr>
            <a:r>
              <a:rPr lang="en-US" sz="1800" dirty="0" smtClean="0"/>
              <a:t>D. 3 : 2</a:t>
            </a:r>
            <a:endParaRPr lang="en-US" sz="1800" dirty="0" smtClean="0"/>
          </a:p>
          <a:p>
            <a:pPr fontAlgn="t">
              <a:lnSpc>
                <a:spcPct val="150000"/>
              </a:lnSpc>
            </a:pPr>
            <a:endParaRPr lang="en-US" sz="1800" dirty="0" smtClean="0"/>
          </a:p>
          <a:p>
            <a:pPr fontAlgn="t">
              <a:lnSpc>
                <a:spcPct val="150000"/>
              </a:lnSpc>
            </a:pPr>
            <a:r>
              <a:rPr lang="en-US" sz="1800" dirty="0" smtClean="0"/>
              <a:t>							</a:t>
            </a:r>
            <a:r>
              <a:rPr lang="en-US" sz="1800" b="1" dirty="0" smtClean="0"/>
              <a:t>Answer: C</a:t>
            </a:r>
            <a:endParaRPr lang="en-US" sz="1800" dirty="0" smtClean="0"/>
          </a:p>
          <a:p>
            <a:endParaRPr lang="en-US" sz="1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/>
          <p:cNvPicPr preferRelativeResize="0"/>
          <p:nvPr/>
        </p:nvPicPr>
        <p:blipFill rotWithShape="1">
          <a:blip r:embed="rId1"/>
          <a:srcRect l="41241" t="9528" r="-23988" b="51129"/>
          <a:stretch>
            <a:fillRect/>
          </a:stretch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0" y="162267"/>
            <a:ext cx="6712857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IN" sz="25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  Explanation:</a:t>
            </a:r>
            <a:endParaRPr lang="en-US" sz="25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79400" y="647700"/>
            <a:ext cx="8864600" cy="49410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 smtClean="0"/>
              <a:t>C.P of a unit quantity of 1st kind  = Rs. 62</a:t>
            </a:r>
            <a:br>
              <a:rPr lang="en-US" sz="1800" dirty="0" smtClean="0"/>
            </a:br>
            <a:r>
              <a:rPr lang="en-US" sz="1800" dirty="0" smtClean="0"/>
              <a:t>C.P of a unit quantity of 2nd kind  = Rs. 72</a:t>
            </a:r>
            <a:br>
              <a:rPr lang="en-US" sz="1800" dirty="0" smtClean="0"/>
            </a:br>
            <a:r>
              <a:rPr lang="en-US" sz="1800" dirty="0" smtClean="0"/>
              <a:t>Mean price = Rs. 64.50</a:t>
            </a:r>
            <a:endParaRPr lang="en-US" sz="1800" dirty="0" smtClean="0"/>
          </a:p>
          <a:p>
            <a:r>
              <a:rPr lang="en-US" sz="1800" dirty="0" smtClean="0"/>
              <a:t>C.P of unit quantity         C.P of unit quantity</a:t>
            </a:r>
            <a:endParaRPr lang="en-US" sz="1800" dirty="0" smtClean="0"/>
          </a:p>
          <a:p>
            <a:r>
              <a:rPr lang="en-US" sz="1800" dirty="0" smtClean="0"/>
              <a:t>of 1st kind                         of 2nd kind</a:t>
            </a:r>
            <a:endParaRPr lang="en-US" sz="1800" dirty="0" smtClean="0"/>
          </a:p>
          <a:p>
            <a:r>
              <a:rPr lang="en-US" sz="1800" dirty="0" smtClean="0"/>
              <a:t>    (Rs. 62)                             (Rs. 72)</a:t>
            </a:r>
            <a:endParaRPr lang="en-US" sz="1800" dirty="0" smtClean="0"/>
          </a:p>
          <a:p>
            <a:r>
              <a:rPr lang="en-US" sz="1800" dirty="0" smtClean="0"/>
              <a:t> </a:t>
            </a:r>
            <a:endParaRPr lang="en-US" sz="1800" dirty="0" smtClean="0"/>
          </a:p>
          <a:p>
            <a:r>
              <a:rPr lang="en-US" sz="1800" dirty="0" smtClean="0"/>
              <a:t>                     \                       /</a:t>
            </a:r>
            <a:br>
              <a:rPr lang="en-US" sz="1800" dirty="0" smtClean="0"/>
            </a:br>
            <a:r>
              <a:rPr lang="en-US" sz="1800" dirty="0" smtClean="0"/>
              <a:t>                        Mean Price</a:t>
            </a:r>
            <a:endParaRPr lang="en-US" sz="1800" dirty="0" smtClean="0"/>
          </a:p>
          <a:p>
            <a:r>
              <a:rPr lang="en-US" sz="1800" dirty="0" smtClean="0"/>
              <a:t>                         (Rs. 64.50)</a:t>
            </a:r>
            <a:endParaRPr lang="en-US" sz="1800" dirty="0" smtClean="0"/>
          </a:p>
          <a:p>
            <a:r>
              <a:rPr lang="en-US" sz="1800" dirty="0" smtClean="0"/>
              <a:t>                    /                        \</a:t>
            </a:r>
            <a:endParaRPr lang="en-US" sz="1800" dirty="0" smtClean="0"/>
          </a:p>
          <a:p>
            <a:r>
              <a:rPr lang="en-US" sz="1800" dirty="0" smtClean="0"/>
              <a:t> </a:t>
            </a:r>
            <a:endParaRPr lang="en-US" sz="1800" dirty="0" smtClean="0"/>
          </a:p>
          <a:p>
            <a:r>
              <a:rPr lang="en-US" sz="1800" dirty="0" smtClean="0"/>
              <a:t> (72 – 64.50)          :           (64.50 – 62)</a:t>
            </a:r>
            <a:endParaRPr lang="en-US" sz="1800" dirty="0" smtClean="0"/>
          </a:p>
          <a:p>
            <a:r>
              <a:rPr lang="en-US" sz="1800" dirty="0" smtClean="0"/>
              <a:t>       7.50                                      2.50</a:t>
            </a:r>
            <a:endParaRPr lang="en-US" sz="1800" dirty="0" smtClean="0"/>
          </a:p>
          <a:p>
            <a:br>
              <a:rPr lang="en-US" sz="1800" dirty="0" smtClean="0"/>
            </a:br>
            <a:r>
              <a:rPr lang="en-US" sz="1800" dirty="0" smtClean="0"/>
              <a:t>			Required ratio = 7.50 : 2.50 =</a:t>
            </a:r>
            <a:r>
              <a:rPr lang="en-US" sz="1800" b="1" dirty="0" smtClean="0"/>
              <a:t> 3 : 1</a:t>
            </a:r>
            <a:endParaRPr lang="en-US" sz="1800" dirty="0" smtClean="0"/>
          </a:p>
          <a:p>
            <a:endParaRPr lang="en-US" sz="1800" b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0" y="170050"/>
            <a:ext cx="6712857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IN" sz="25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  Question 06:</a:t>
            </a:r>
            <a:endParaRPr lang="en-US" sz="25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81000" y="647790"/>
            <a:ext cx="838200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t">
              <a:lnSpc>
                <a:spcPct val="150000"/>
              </a:lnSpc>
            </a:pPr>
            <a:r>
              <a:rPr lang="en-US" sz="1800" dirty="0" smtClean="0">
                <a:solidFill>
                  <a:schemeClr val="tx1"/>
                </a:solidFill>
              </a:rPr>
              <a:t>The ratio, in which tea costing Rs. 192 per kg is to be mixed </a:t>
            </a:r>
            <a:endParaRPr lang="en-US" sz="1800" dirty="0" smtClean="0">
              <a:solidFill>
                <a:schemeClr val="tx1"/>
              </a:solidFill>
            </a:endParaRPr>
          </a:p>
          <a:p>
            <a:pPr fontAlgn="t">
              <a:lnSpc>
                <a:spcPct val="150000"/>
              </a:lnSpc>
            </a:pPr>
            <a:r>
              <a:rPr lang="en-US" sz="1800" dirty="0" smtClean="0">
                <a:solidFill>
                  <a:schemeClr val="tx1"/>
                </a:solidFill>
              </a:rPr>
              <a:t>with tea costing Rs. 150 per kg so that the mixed tea when sold for </a:t>
            </a:r>
            <a:r>
              <a:rPr lang="en-US" sz="1800" dirty="0" err="1" smtClean="0">
                <a:solidFill>
                  <a:schemeClr val="tx1"/>
                </a:solidFill>
              </a:rPr>
              <a:t>Rs</a:t>
            </a:r>
            <a:r>
              <a:rPr lang="en-US" sz="1800" dirty="0" smtClean="0">
                <a:solidFill>
                  <a:schemeClr val="tx1"/>
                </a:solidFill>
              </a:rPr>
              <a:t>. 194.40 per kg, gives a profit of 20%.</a:t>
            </a:r>
            <a:endParaRPr lang="en-US" sz="1800" dirty="0" smtClean="0">
              <a:solidFill>
                <a:schemeClr val="tx1"/>
              </a:solidFill>
            </a:endParaRPr>
          </a:p>
          <a:p>
            <a:pPr fontAlgn="t">
              <a:lnSpc>
                <a:spcPct val="150000"/>
              </a:lnSpc>
            </a:pPr>
            <a:endParaRPr lang="en-US" sz="1800" dirty="0" smtClean="0">
              <a:solidFill>
                <a:schemeClr val="tx1"/>
              </a:solidFill>
            </a:endParaRPr>
          </a:p>
          <a:p>
            <a:pPr fontAlgn="t">
              <a:lnSpc>
                <a:spcPct val="150000"/>
              </a:lnSpc>
            </a:pPr>
            <a:r>
              <a:rPr lang="en-US" sz="1800" dirty="0" smtClean="0">
                <a:solidFill>
                  <a:schemeClr val="tx1"/>
                </a:solidFill>
              </a:rPr>
              <a:t>A. 1:2</a:t>
            </a:r>
            <a:endParaRPr lang="en-US" sz="1800" dirty="0" smtClean="0">
              <a:solidFill>
                <a:schemeClr val="tx1"/>
              </a:solidFill>
            </a:endParaRPr>
          </a:p>
          <a:p>
            <a:pPr fontAlgn="t">
              <a:lnSpc>
                <a:spcPct val="150000"/>
              </a:lnSpc>
            </a:pPr>
            <a:r>
              <a:rPr lang="en-US" sz="1800" dirty="0" smtClean="0">
                <a:solidFill>
                  <a:schemeClr val="tx1"/>
                </a:solidFill>
              </a:rPr>
              <a:t>B. 2:5</a:t>
            </a:r>
            <a:endParaRPr lang="en-US" sz="1800" dirty="0" smtClean="0">
              <a:solidFill>
                <a:schemeClr val="tx1"/>
              </a:solidFill>
            </a:endParaRPr>
          </a:p>
          <a:p>
            <a:pPr fontAlgn="t">
              <a:lnSpc>
                <a:spcPct val="150000"/>
              </a:lnSpc>
            </a:pPr>
            <a:r>
              <a:rPr lang="en-US" sz="1800" dirty="0" smtClean="0">
                <a:solidFill>
                  <a:schemeClr val="tx1"/>
                </a:solidFill>
              </a:rPr>
              <a:t>C. 3:5</a:t>
            </a:r>
            <a:endParaRPr lang="en-US" sz="1800" dirty="0" smtClean="0">
              <a:solidFill>
                <a:schemeClr val="tx1"/>
              </a:solidFill>
            </a:endParaRPr>
          </a:p>
          <a:p>
            <a:pPr fontAlgn="t">
              <a:lnSpc>
                <a:spcPct val="150000"/>
              </a:lnSpc>
            </a:pPr>
            <a:r>
              <a:rPr lang="en-US" sz="1800" dirty="0" smtClean="0">
                <a:solidFill>
                  <a:schemeClr val="tx1"/>
                </a:solidFill>
              </a:rPr>
              <a:t>D. </a:t>
            </a:r>
            <a:r>
              <a:rPr lang="en-US" sz="1800" dirty="0" smtClean="0">
                <a:solidFill>
                  <a:schemeClr val="tx1"/>
                </a:solidFill>
              </a:rPr>
              <a:t>3:7</a:t>
            </a:r>
            <a:endParaRPr lang="en-US" sz="1800" dirty="0" smtClean="0">
              <a:solidFill>
                <a:schemeClr val="tx1"/>
              </a:solidFill>
            </a:endParaRPr>
          </a:p>
          <a:p>
            <a:pPr fontAlgn="t">
              <a:lnSpc>
                <a:spcPct val="150000"/>
              </a:lnSpc>
            </a:pPr>
            <a:r>
              <a:rPr lang="en-US" sz="1800" dirty="0" smtClean="0">
                <a:solidFill>
                  <a:schemeClr val="tx1"/>
                </a:solidFill>
              </a:rPr>
              <a:t>							</a:t>
            </a:r>
            <a:r>
              <a:rPr lang="en-US" sz="1800" b="1" dirty="0" smtClean="0">
                <a:solidFill>
                  <a:schemeClr val="tx1"/>
                </a:solidFill>
              </a:rPr>
              <a:t>Answer: B</a:t>
            </a:r>
            <a:endParaRPr lang="en-US" sz="1800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en-US" sz="1800" dirty="0"/>
          </a:p>
        </p:txBody>
      </p:sp>
      <p:pic>
        <p:nvPicPr>
          <p:cNvPr id="6" name="Google Shape;68;p15"/>
          <p:cNvPicPr preferRelativeResize="0"/>
          <p:nvPr/>
        </p:nvPicPr>
        <p:blipFill rotWithShape="1">
          <a:blip r:embed="rId2"/>
          <a:srcRect l="41241" t="9528" r="-23988" b="51129"/>
          <a:stretch>
            <a:fillRect/>
          </a:stretch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7449736" y="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0" y="233550"/>
            <a:ext cx="6712857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IN" sz="25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  Explanation:</a:t>
            </a:r>
            <a:endParaRPr lang="en-US" sz="25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716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0500" y="800101"/>
            <a:ext cx="8597900" cy="332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Google Shape;68;p15"/>
          <p:cNvPicPr preferRelativeResize="0"/>
          <p:nvPr/>
        </p:nvPicPr>
        <p:blipFill rotWithShape="1">
          <a:blip r:embed="rId3"/>
          <a:srcRect l="41241" t="9528" r="-23988" b="51129"/>
          <a:stretch>
            <a:fillRect/>
          </a:stretch>
        </p:blipFill>
        <p:spPr>
          <a:xfrm>
            <a:off x="0" y="4077875"/>
            <a:ext cx="4457700" cy="106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0" y="233550"/>
            <a:ext cx="6712857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IN" sz="25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  Explanation:</a:t>
            </a:r>
            <a:endParaRPr lang="en-US" sz="25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7475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0900" y="1054100"/>
            <a:ext cx="5062855" cy="293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Google Shape;68;p15"/>
          <p:cNvPicPr preferRelativeResize="0"/>
          <p:nvPr/>
        </p:nvPicPr>
        <p:blipFill rotWithShape="1">
          <a:blip r:embed="rId3"/>
          <a:srcRect l="41241" t="9528" r="-23988" b="51129"/>
          <a:stretch>
            <a:fillRect/>
          </a:stretch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69;p15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70;p15"/>
          <p:cNvSpPr>
            <a:spLocks noGrp="1"/>
          </p:cNvSpPr>
          <p:nvPr>
            <p:ph type="title"/>
          </p:nvPr>
        </p:nvSpPr>
        <p:spPr>
          <a:xfrm>
            <a:off x="0" y="152400"/>
            <a:ext cx="6903218" cy="573175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IN" sz="25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  Question 08</a:t>
            </a:r>
            <a:r>
              <a:rPr lang="en-IN" sz="25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:</a:t>
            </a:r>
            <a:endParaRPr lang="en-US" sz="25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6" name="Google Shape;68;p15"/>
          <p:cNvPicPr preferRelativeResize="0"/>
          <p:nvPr/>
        </p:nvPicPr>
        <p:blipFill rotWithShape="1">
          <a:blip r:embed="rId2"/>
          <a:srcRect l="41241" t="9528" r="-23988" b="51129"/>
          <a:stretch>
            <a:fillRect/>
          </a:stretch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294555" y="1000710"/>
            <a:ext cx="8520600" cy="3416400"/>
          </a:xfrm>
        </p:spPr>
        <p:txBody>
          <a:bodyPr/>
          <a:lstStyle/>
          <a:p>
            <a:pPr marL="114300" indent="0">
              <a:buNone/>
            </a:pPr>
            <a:r>
              <a:rPr lang="en-US" dirty="0">
                <a:solidFill>
                  <a:schemeClr val="tx1"/>
                </a:solidFill>
              </a:rPr>
              <a:t>If Ram's weight is increased by 10% and total weight of Ram and </a:t>
            </a:r>
            <a:r>
              <a:rPr lang="en-US" dirty="0" err="1">
                <a:solidFill>
                  <a:schemeClr val="tx1"/>
                </a:solidFill>
              </a:rPr>
              <a:t>Shyam</a:t>
            </a:r>
            <a:r>
              <a:rPr lang="en-US" dirty="0">
                <a:solidFill>
                  <a:schemeClr val="tx1"/>
                </a:solidFill>
              </a:rPr>
              <a:t> become 82.8 kg, with an increases of 15%, </a:t>
            </a:r>
            <a:r>
              <a:rPr lang="en-US" dirty="0">
                <a:solidFill>
                  <a:schemeClr val="tx1"/>
                </a:solidFill>
                <a:sym typeface="+mn-ea"/>
              </a:rPr>
              <a:t>Weights of two friends Ram and </a:t>
            </a:r>
            <a:r>
              <a:rPr lang="en-US" dirty="0" err="1">
                <a:solidFill>
                  <a:schemeClr val="tx1"/>
                </a:solidFill>
                <a:sym typeface="+mn-ea"/>
              </a:rPr>
              <a:t>Shyam</a:t>
            </a:r>
            <a:r>
              <a:rPr lang="en-US" dirty="0">
                <a:solidFill>
                  <a:schemeClr val="tx1"/>
                </a:solidFill>
                <a:sym typeface="+mn-ea"/>
              </a:rPr>
              <a:t> are in the ratio 4:5. </a:t>
            </a:r>
            <a:r>
              <a:rPr lang="en-US" dirty="0">
                <a:solidFill>
                  <a:schemeClr val="tx1"/>
                </a:solidFill>
              </a:rPr>
              <a:t>by what percent did the weight of </a:t>
            </a:r>
            <a:r>
              <a:rPr lang="en-US" dirty="0" err="1">
                <a:solidFill>
                  <a:schemeClr val="tx1"/>
                </a:solidFill>
              </a:rPr>
              <a:t>Shyam</a:t>
            </a:r>
            <a:r>
              <a:rPr lang="en-US" dirty="0">
                <a:solidFill>
                  <a:schemeClr val="tx1"/>
                </a:solidFill>
              </a:rPr>
              <a:t> has to be increased?</a:t>
            </a:r>
            <a:endParaRPr lang="en-US" dirty="0">
              <a:solidFill>
                <a:schemeClr val="tx1"/>
              </a:solidFill>
            </a:endParaRPr>
          </a:p>
          <a:p>
            <a:pPr marL="11430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US" dirty="0">
                <a:solidFill>
                  <a:schemeClr val="tx1"/>
                </a:solidFill>
              </a:rPr>
              <a:t>A. 17%</a:t>
            </a:r>
            <a:endParaRPr lang="en-US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US" dirty="0">
                <a:solidFill>
                  <a:schemeClr val="tx1"/>
                </a:solidFill>
              </a:rPr>
              <a:t>B. 19%</a:t>
            </a:r>
            <a:endParaRPr lang="en-US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US" dirty="0">
                <a:solidFill>
                  <a:schemeClr val="tx1"/>
                </a:solidFill>
              </a:rPr>
              <a:t>C. 23%</a:t>
            </a:r>
            <a:endParaRPr lang="en-US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US" dirty="0">
                <a:solidFill>
                  <a:schemeClr val="tx1"/>
                </a:solidFill>
              </a:rPr>
              <a:t>D. 29</a:t>
            </a:r>
            <a:r>
              <a:rPr lang="en-US" dirty="0" smtClean="0">
                <a:solidFill>
                  <a:schemeClr val="tx1"/>
                </a:solidFill>
              </a:rPr>
              <a:t>%</a:t>
            </a:r>
            <a:endParaRPr lang="en-US" dirty="0" smtClean="0">
              <a:solidFill>
                <a:schemeClr val="tx1"/>
              </a:solidFill>
            </a:endParaRPr>
          </a:p>
          <a:p>
            <a:pPr marL="11430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US" dirty="0">
                <a:solidFill>
                  <a:schemeClr val="tx1"/>
                </a:solidFill>
              </a:rPr>
              <a:t>						   </a:t>
            </a:r>
            <a:r>
              <a:rPr lang="en-US" b="1" dirty="0">
                <a:solidFill>
                  <a:schemeClr val="tx1"/>
                </a:solidFill>
              </a:rPr>
              <a:t>    Answer: B</a:t>
            </a:r>
            <a:endParaRPr lang="en-US" dirty="0">
              <a:solidFill>
                <a:schemeClr val="tx1"/>
              </a:solidFill>
            </a:endParaRPr>
          </a:p>
          <a:p>
            <a:pPr marL="114300" indent="0"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838200"/>
            <a:ext cx="8552900" cy="4114800"/>
          </a:xfrm>
        </p:spPr>
        <p:txBody>
          <a:bodyPr/>
          <a:lstStyle/>
          <a:p>
            <a:pPr>
              <a:buNone/>
            </a:pPr>
            <a:endParaRPr lang="en-US" dirty="0" smtClean="0">
              <a:solidFill>
                <a:schemeClr val="tx1"/>
              </a:solidFill>
            </a:endParaRPr>
          </a:p>
        </p:txBody>
      </p:sp>
      <p:pic>
        <p:nvPicPr>
          <p:cNvPr id="4" name="Google Shape;69;p15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70;p15"/>
          <p:cNvSpPr>
            <a:spLocks noGrp="1"/>
          </p:cNvSpPr>
          <p:nvPr>
            <p:ph type="title"/>
          </p:nvPr>
        </p:nvSpPr>
        <p:spPr>
          <a:xfrm>
            <a:off x="0" y="190500"/>
            <a:ext cx="6903218" cy="573175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IN" sz="25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  Explanation:</a:t>
            </a:r>
            <a:endParaRPr lang="en-US" sz="25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778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3200" y="878205"/>
            <a:ext cx="5551170" cy="30460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Google Shape;68;p15"/>
          <p:cNvPicPr preferRelativeResize="0"/>
          <p:nvPr/>
        </p:nvPicPr>
        <p:blipFill rotWithShape="1">
          <a:blip r:embed="rId3"/>
          <a:srcRect l="41241" t="9528" r="-23988" b="51129"/>
          <a:stretch>
            <a:fillRect/>
          </a:stretch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69;p15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70;p15"/>
          <p:cNvSpPr>
            <a:spLocks noGrp="1"/>
          </p:cNvSpPr>
          <p:nvPr>
            <p:ph type="title"/>
          </p:nvPr>
        </p:nvSpPr>
        <p:spPr>
          <a:xfrm>
            <a:off x="0" y="165100"/>
            <a:ext cx="6903218" cy="573175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IN" sz="25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</a:t>
            </a:r>
            <a:r>
              <a:rPr lang="en-IN" sz="25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 Question 09:</a:t>
            </a:r>
            <a:endParaRPr lang="en-US" sz="25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6" name="Google Shape;68;p15"/>
          <p:cNvPicPr preferRelativeResize="0"/>
          <p:nvPr/>
        </p:nvPicPr>
        <p:blipFill rotWithShape="1">
          <a:blip r:embed="rId2"/>
          <a:srcRect l="41241" t="9528" r="-23988" b="51129"/>
          <a:stretch>
            <a:fillRect/>
          </a:stretch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Box 1"/>
          <p:cNvSpPr txBox="1"/>
          <p:nvPr/>
        </p:nvSpPr>
        <p:spPr>
          <a:xfrm>
            <a:off x="402590" y="1104900"/>
            <a:ext cx="8486775" cy="3692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In a 729 </a:t>
            </a:r>
            <a:r>
              <a:rPr lang="en-US" sz="1800" dirty="0" err="1"/>
              <a:t>litres</a:t>
            </a:r>
            <a:r>
              <a:rPr lang="en-US" sz="1800" dirty="0"/>
              <a:t> mixture of milk and water, the ratio of milk to water</a:t>
            </a:r>
            <a:r>
              <a:rPr lang="en-IN" altLang="en-US" sz="1800" dirty="0"/>
              <a:t> </a:t>
            </a:r>
            <a:r>
              <a:rPr lang="en-US" sz="1800" dirty="0"/>
              <a:t>is</a:t>
            </a:r>
            <a:r>
              <a:rPr lang="en-IN" altLang="en-US" sz="1800" dirty="0"/>
              <a:t> </a:t>
            </a:r>
            <a:r>
              <a:rPr lang="en-US" sz="1800" dirty="0"/>
              <a:t>7:2.To get a new mixture containing milk and water in the ratio 7:3, the amount of water to be added is_________.</a:t>
            </a:r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A. 51 </a:t>
            </a:r>
            <a:r>
              <a:rPr lang="en-US" sz="1800" dirty="0" err="1"/>
              <a:t>litres</a:t>
            </a:r>
            <a:endParaRPr lang="en-US" sz="1800" dirty="0"/>
          </a:p>
          <a:p>
            <a:r>
              <a:rPr lang="en-US" sz="1800" dirty="0"/>
              <a:t>B. 61 </a:t>
            </a:r>
            <a:r>
              <a:rPr lang="en-US" sz="1800" dirty="0" err="1"/>
              <a:t>litres</a:t>
            </a:r>
            <a:endParaRPr lang="en-US" sz="1800" dirty="0"/>
          </a:p>
          <a:p>
            <a:r>
              <a:rPr lang="en-US" sz="1800" dirty="0"/>
              <a:t>C. 71 </a:t>
            </a:r>
            <a:r>
              <a:rPr lang="en-US" sz="1800" dirty="0" err="1"/>
              <a:t>litres</a:t>
            </a:r>
            <a:endParaRPr lang="en-US" sz="1800" dirty="0"/>
          </a:p>
          <a:p>
            <a:r>
              <a:rPr lang="en-US" sz="1800" dirty="0"/>
              <a:t>D. 81 </a:t>
            </a:r>
            <a:r>
              <a:rPr lang="en-US" sz="1800" dirty="0" err="1"/>
              <a:t>litres</a:t>
            </a:r>
            <a:endParaRPr lang="en-US" sz="1800" dirty="0"/>
          </a:p>
          <a:p>
            <a:endParaRPr lang="en-US" sz="1800" dirty="0"/>
          </a:p>
          <a:p>
            <a:endParaRPr lang="en-US" sz="1800" dirty="0" smtClean="0"/>
          </a:p>
          <a:p>
            <a:r>
              <a:rPr lang="en-US" sz="1800" dirty="0"/>
              <a:t>							</a:t>
            </a:r>
            <a:endParaRPr lang="en-US" sz="1800" dirty="0"/>
          </a:p>
          <a:p>
            <a:r>
              <a:rPr lang="en-US" sz="1800" dirty="0"/>
              <a:t>                                                                                        </a:t>
            </a:r>
            <a:r>
              <a:rPr lang="en-US" sz="1800" b="1" dirty="0"/>
              <a:t>Answer: D</a:t>
            </a:r>
            <a:endParaRPr lang="en-US" sz="1800" dirty="0"/>
          </a:p>
          <a:p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1300" y="774700"/>
            <a:ext cx="8591000" cy="4216400"/>
          </a:xfrm>
        </p:spPr>
        <p:txBody>
          <a:bodyPr/>
          <a:lstStyle/>
          <a:p>
            <a:pPr>
              <a:lnSpc>
                <a:spcPct val="150000"/>
              </a:lnSpc>
              <a:buNone/>
            </a:pPr>
            <a:endParaRPr lang="en-US" b="1" dirty="0" smtClean="0">
              <a:solidFill>
                <a:schemeClr val="tx1"/>
              </a:solidFill>
            </a:endParaRPr>
          </a:p>
        </p:txBody>
      </p:sp>
      <p:pic>
        <p:nvPicPr>
          <p:cNvPr id="4" name="Google Shape;69;p15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70;p15"/>
          <p:cNvSpPr>
            <a:spLocks noGrp="1"/>
          </p:cNvSpPr>
          <p:nvPr>
            <p:ph type="title"/>
          </p:nvPr>
        </p:nvSpPr>
        <p:spPr>
          <a:xfrm>
            <a:off x="0" y="190500"/>
            <a:ext cx="6903218" cy="573175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5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  </a:t>
            </a:r>
            <a:br>
              <a:rPr lang="en-US" sz="25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</a:br>
            <a:r>
              <a:rPr lang="en-US" sz="25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  </a:t>
            </a:r>
            <a:r>
              <a:rPr lang="en-IN" sz="25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Explanation:</a:t>
            </a:r>
            <a:br>
              <a:rPr lang="en-US" sz="25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</a:br>
            <a:endParaRPr lang="en-US" sz="25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26625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5900" y="812800"/>
            <a:ext cx="4301490" cy="309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Google Shape;68;p15"/>
          <p:cNvPicPr preferRelativeResize="0"/>
          <p:nvPr/>
        </p:nvPicPr>
        <p:blipFill rotWithShape="1">
          <a:blip r:embed="rId3"/>
          <a:srcRect l="41241" t="9528" r="-23988" b="51129"/>
          <a:stretch>
            <a:fillRect/>
          </a:stretch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850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139055" y="1761490"/>
            <a:ext cx="2661920" cy="2242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1300" y="774700"/>
            <a:ext cx="8591000" cy="4216400"/>
          </a:xfrm>
        </p:spPr>
        <p:txBody>
          <a:bodyPr/>
          <a:lstStyle/>
          <a:p>
            <a:pPr>
              <a:lnSpc>
                <a:spcPct val="150000"/>
              </a:lnSpc>
              <a:buNone/>
            </a:pPr>
            <a:endParaRPr lang="en-US" b="1" dirty="0" smtClean="0">
              <a:solidFill>
                <a:schemeClr val="tx1"/>
              </a:solidFill>
            </a:endParaRPr>
          </a:p>
        </p:txBody>
      </p:sp>
      <p:pic>
        <p:nvPicPr>
          <p:cNvPr id="4" name="Google Shape;69;p15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70;p15"/>
          <p:cNvSpPr>
            <a:spLocks noGrp="1"/>
          </p:cNvSpPr>
          <p:nvPr>
            <p:ph type="title"/>
          </p:nvPr>
        </p:nvSpPr>
        <p:spPr>
          <a:xfrm>
            <a:off x="0" y="190500"/>
            <a:ext cx="6903218" cy="573175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5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  </a:t>
            </a:r>
            <a:br>
              <a:rPr lang="en-US" sz="25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</a:br>
            <a:r>
              <a:rPr lang="en-US" sz="25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  </a:t>
            </a:r>
            <a:r>
              <a:rPr lang="en-IN" sz="25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Explanation:</a:t>
            </a:r>
            <a:br>
              <a:rPr lang="en-US" sz="25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</a:br>
            <a:endParaRPr lang="en-US" sz="25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788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4000" y="762000"/>
            <a:ext cx="3996055" cy="336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Google Shape;68;p15"/>
          <p:cNvPicPr preferRelativeResize="0"/>
          <p:nvPr/>
        </p:nvPicPr>
        <p:blipFill rotWithShape="1">
          <a:blip r:embed="rId3"/>
          <a:srcRect l="41241" t="9528" r="-23988" b="51129"/>
          <a:stretch>
            <a:fillRect/>
          </a:stretch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69;p15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70;p15"/>
          <p:cNvSpPr>
            <a:spLocks noGrp="1"/>
          </p:cNvSpPr>
          <p:nvPr>
            <p:ph type="title"/>
          </p:nvPr>
        </p:nvSpPr>
        <p:spPr>
          <a:xfrm>
            <a:off x="0" y="190500"/>
            <a:ext cx="6903218" cy="573175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5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  Question 10:</a:t>
            </a:r>
            <a:endParaRPr lang="en-US" sz="25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6" name="Google Shape;68;p15"/>
          <p:cNvPicPr preferRelativeResize="0"/>
          <p:nvPr/>
        </p:nvPicPr>
        <p:blipFill rotWithShape="1">
          <a:blip r:embed="rId2"/>
          <a:srcRect l="41241" t="9528" r="-23988" b="51129"/>
          <a:stretch>
            <a:fillRect/>
          </a:stretch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 Box 6"/>
          <p:cNvSpPr txBox="1"/>
          <p:nvPr/>
        </p:nvSpPr>
        <p:spPr>
          <a:xfrm>
            <a:off x="466725" y="1008380"/>
            <a:ext cx="813371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/>
              <a:t>	</a:t>
            </a:r>
            <a:endParaRPr lang="en-US" sz="1800"/>
          </a:p>
          <a:p>
            <a:r>
              <a:rPr lang="en-US" sz="1800"/>
              <a:t>In a mixture 60 litres, the ratio of milk and water 2 : 1. If this ratio is to be 1 : 2, then the quantity of water to be further added is:</a:t>
            </a:r>
            <a:endParaRPr lang="en-US" sz="1800"/>
          </a:p>
          <a:p>
            <a:endParaRPr lang="en-US" sz="1800"/>
          </a:p>
          <a:p>
            <a:r>
              <a:rPr lang="en-US" sz="1800"/>
              <a:t>[A].	20 litres</a:t>
            </a:r>
            <a:endParaRPr lang="en-US" sz="1800"/>
          </a:p>
          <a:p>
            <a:r>
              <a:rPr lang="en-US" sz="1800"/>
              <a:t>[B].	30 litres</a:t>
            </a:r>
            <a:endParaRPr lang="en-US" sz="1800"/>
          </a:p>
          <a:p>
            <a:r>
              <a:rPr lang="en-US" sz="1800"/>
              <a:t>[C].	40 litres</a:t>
            </a:r>
            <a:endParaRPr lang="en-US" sz="1800"/>
          </a:p>
          <a:p>
            <a:r>
              <a:rPr lang="en-US" sz="1800"/>
              <a:t>[D].	60 litres	</a:t>
            </a:r>
            <a:endParaRPr lang="en-US" sz="1800"/>
          </a:p>
          <a:p>
            <a:endParaRPr lang="en-US" sz="1800" dirty="0" smtClean="0"/>
          </a:p>
          <a:p>
            <a:endParaRPr lang="en-US" sz="1800" dirty="0"/>
          </a:p>
          <a:p>
            <a:r>
              <a:rPr lang="en-US" sz="1800" dirty="0"/>
              <a:t>								            </a:t>
            </a:r>
            <a:r>
              <a:rPr lang="en-US" altLang="en-US" sz="1800" dirty="0"/>
              <a:t>						             </a:t>
            </a:r>
            <a:r>
              <a:rPr lang="en-US" sz="1800" b="1" dirty="0"/>
              <a:t>Answer: </a:t>
            </a:r>
            <a:r>
              <a:rPr lang="en-IN" altLang="en-US" sz="1800" b="1" dirty="0"/>
              <a:t>D</a:t>
            </a:r>
            <a:endParaRPr lang="en-IN" altLang="en-US" sz="1800" b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876300"/>
            <a:ext cx="8603700" cy="4114800"/>
          </a:xfrm>
        </p:spPr>
        <p:txBody>
          <a:bodyPr/>
          <a:lstStyle/>
          <a:p>
            <a:pPr>
              <a:buNone/>
            </a:pPr>
            <a:r>
              <a:rPr lang="en-IN" altLang="en-US" sz="1000" dirty="0" smtClean="0">
                <a:solidFill>
                  <a:schemeClr val="tx1"/>
                </a:solidFill>
              </a:rPr>
              <a:t>Quantity of milk =(60 x2/3)	litres = 40 litres.</a:t>
            </a:r>
            <a:endParaRPr lang="en-IN" altLang="en-US" sz="1000" dirty="0" smtClean="0">
              <a:solidFill>
                <a:schemeClr val="tx1"/>
              </a:solidFill>
            </a:endParaRPr>
          </a:p>
          <a:p>
            <a:pPr>
              <a:buNone/>
            </a:pPr>
            <a:endParaRPr lang="en-IN" altLang="en-US" sz="1000" dirty="0" smtClean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IN" altLang="en-US" sz="1000" dirty="0" smtClean="0">
                <a:solidFill>
                  <a:schemeClr val="tx1"/>
                </a:solidFill>
              </a:rPr>
              <a:t>Quantity of water in it = (60- 40) litres = 20 litres.</a:t>
            </a:r>
            <a:endParaRPr lang="en-IN" altLang="en-US" sz="1000" dirty="0" smtClean="0">
              <a:solidFill>
                <a:schemeClr val="tx1"/>
              </a:solidFill>
            </a:endParaRPr>
          </a:p>
          <a:p>
            <a:pPr>
              <a:buNone/>
            </a:pPr>
            <a:endParaRPr lang="en-IN" altLang="en-US" sz="1000" dirty="0" smtClean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IN" altLang="en-US" sz="1000" dirty="0" smtClean="0">
                <a:solidFill>
                  <a:schemeClr val="tx1"/>
                </a:solidFill>
              </a:rPr>
              <a:t>New ratio = 1 : 2</a:t>
            </a:r>
            <a:endParaRPr lang="en-IN" altLang="en-US" sz="1000" dirty="0" smtClean="0">
              <a:solidFill>
                <a:schemeClr val="tx1"/>
              </a:solidFill>
            </a:endParaRPr>
          </a:p>
          <a:p>
            <a:pPr>
              <a:buNone/>
            </a:pPr>
            <a:endParaRPr lang="en-IN" altLang="en-US" sz="1000" dirty="0" smtClean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IN" altLang="en-US" sz="1000" dirty="0" smtClean="0">
                <a:solidFill>
                  <a:schemeClr val="tx1"/>
                </a:solidFill>
              </a:rPr>
              <a:t>Let quantity of water to be added further be x litres.</a:t>
            </a:r>
            <a:endParaRPr lang="en-IN" altLang="en-US" sz="1000" dirty="0" smtClean="0">
              <a:solidFill>
                <a:schemeClr val="tx1"/>
              </a:solidFill>
            </a:endParaRPr>
          </a:p>
          <a:p>
            <a:pPr>
              <a:buNone/>
            </a:pPr>
            <a:endParaRPr lang="en-IN" altLang="en-US" sz="1000" dirty="0" smtClean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IN" altLang="en-US" sz="1000" dirty="0" smtClean="0">
                <a:solidFill>
                  <a:schemeClr val="tx1"/>
                </a:solidFill>
              </a:rPr>
              <a:t>Then, milk : water =40/</a:t>
            </a:r>
            <a:r>
              <a:rPr lang="en-IN" altLang="en-US" sz="1000" dirty="0" smtClean="0">
                <a:solidFill>
                  <a:schemeClr val="tx1"/>
                </a:solidFill>
                <a:sym typeface="+mn-ea"/>
              </a:rPr>
              <a:t>20 + x</a:t>
            </a:r>
            <a:endParaRPr lang="en-IN" altLang="en-US" sz="1000" dirty="0" smtClean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IN" altLang="en-US" sz="1000" dirty="0" smtClean="0">
                <a:solidFill>
                  <a:schemeClr val="tx1"/>
                </a:solidFill>
              </a:rPr>
              <a:t>		.</a:t>
            </a:r>
            <a:endParaRPr lang="en-IN" altLang="en-US" sz="1000" dirty="0" smtClean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IN" altLang="en-US" sz="1000" dirty="0" smtClean="0">
                <a:solidFill>
                  <a:schemeClr val="tx1"/>
                </a:solidFill>
              </a:rPr>
              <a:t>Now,		</a:t>
            </a:r>
            <a:r>
              <a:rPr lang="en-IN" altLang="en-US" sz="1000" dirty="0" smtClean="0">
                <a:solidFill>
                  <a:schemeClr val="tx1"/>
                </a:solidFill>
                <a:sym typeface="+mn-ea"/>
              </a:rPr>
              <a:t>40/</a:t>
            </a:r>
            <a:r>
              <a:rPr lang="en-IN" altLang="en-US" sz="1000" dirty="0" smtClean="0">
                <a:solidFill>
                  <a:schemeClr val="tx1"/>
                </a:solidFill>
                <a:sym typeface="+mn-ea"/>
              </a:rPr>
              <a:t>20 + x</a:t>
            </a:r>
            <a:r>
              <a:rPr lang="en-IN" altLang="en-US" sz="1000" dirty="0" smtClean="0">
                <a:solidFill>
                  <a:schemeClr val="tx1"/>
                </a:solidFill>
              </a:rPr>
              <a:t>=1/2</a:t>
            </a:r>
            <a:endParaRPr lang="en-IN" altLang="en-US" sz="1000" dirty="0" smtClean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IN" altLang="en-US" sz="1000" dirty="0" smtClean="0">
                <a:solidFill>
                  <a:schemeClr val="tx1"/>
                </a:solidFill>
              </a:rPr>
              <a:t> 20 + x = 80</a:t>
            </a:r>
            <a:endParaRPr lang="en-IN" altLang="en-US" sz="1000" dirty="0" smtClean="0">
              <a:solidFill>
                <a:schemeClr val="tx1"/>
              </a:solidFill>
            </a:endParaRPr>
          </a:p>
          <a:p>
            <a:pPr>
              <a:buNone/>
            </a:pPr>
            <a:endParaRPr lang="en-IN" altLang="en-US" sz="1000" dirty="0" smtClean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IN" altLang="en-US" sz="1000" dirty="0" smtClean="0">
                <a:solidFill>
                  <a:schemeClr val="tx1"/>
                </a:solidFill>
              </a:rPr>
              <a:t> x = 60.</a:t>
            </a:r>
            <a:endParaRPr lang="en-IN" altLang="en-US" sz="1000" dirty="0" smtClean="0">
              <a:solidFill>
                <a:schemeClr val="tx1"/>
              </a:solidFill>
            </a:endParaRPr>
          </a:p>
          <a:p>
            <a:pPr>
              <a:buNone/>
            </a:pPr>
            <a:endParaRPr lang="en-IN" altLang="en-US" sz="1000" dirty="0" smtClean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IN" altLang="en-US" sz="1000" dirty="0" smtClean="0">
                <a:solidFill>
                  <a:schemeClr val="tx1"/>
                </a:solidFill>
              </a:rPr>
              <a:t> Quantity of water to be added = 60 litres.</a:t>
            </a:r>
            <a:endParaRPr lang="en-IN" altLang="en-US" sz="1000" dirty="0" smtClean="0">
              <a:solidFill>
                <a:schemeClr val="tx1"/>
              </a:solidFill>
            </a:endParaRPr>
          </a:p>
        </p:txBody>
      </p:sp>
      <p:pic>
        <p:nvPicPr>
          <p:cNvPr id="4" name="Google Shape;69;p15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70;p15"/>
          <p:cNvSpPr>
            <a:spLocks noGrp="1"/>
          </p:cNvSpPr>
          <p:nvPr>
            <p:ph type="title"/>
          </p:nvPr>
        </p:nvSpPr>
        <p:spPr>
          <a:xfrm>
            <a:off x="0" y="190500"/>
            <a:ext cx="6903218" cy="573175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5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  Explanation:</a:t>
            </a:r>
            <a:endParaRPr lang="en-US" sz="25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8" name="Google Shape;68;p15"/>
          <p:cNvPicPr preferRelativeResize="0"/>
          <p:nvPr/>
        </p:nvPicPr>
        <p:blipFill rotWithShape="1">
          <a:blip r:embed="rId2"/>
          <a:srcRect l="41241" t="9528" r="-23988" b="51129"/>
          <a:stretch>
            <a:fillRect/>
          </a:stretch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l="10391" t="44792" r="40048" b="-35928"/>
          <a:stretch>
            <a:fillRect/>
          </a:stretch>
        </p:blipFill>
        <p:spPr>
          <a:xfrm>
            <a:off x="671195" y="-7288530"/>
            <a:ext cx="7251065" cy="604520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69;p15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70;p15"/>
          <p:cNvSpPr>
            <a:spLocks noGrp="1"/>
          </p:cNvSpPr>
          <p:nvPr>
            <p:ph type="title"/>
          </p:nvPr>
        </p:nvSpPr>
        <p:spPr>
          <a:xfrm>
            <a:off x="0" y="165100"/>
            <a:ext cx="6903218" cy="573175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IN" sz="25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  Question 11</a:t>
            </a:r>
            <a:r>
              <a:rPr lang="en-IN" sz="25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:</a:t>
            </a:r>
            <a:endParaRPr lang="en-US" sz="25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6" name="Google Shape;68;p15"/>
          <p:cNvPicPr preferRelativeResize="0"/>
          <p:nvPr/>
        </p:nvPicPr>
        <p:blipFill rotWithShape="1">
          <a:blip r:embed="rId2"/>
          <a:srcRect l="41241" t="9528" r="-23988" b="51129"/>
          <a:stretch>
            <a:fillRect/>
          </a:stretch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Box 1"/>
          <p:cNvSpPr txBox="1"/>
          <p:nvPr/>
        </p:nvSpPr>
        <p:spPr>
          <a:xfrm>
            <a:off x="241935" y="976630"/>
            <a:ext cx="864743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The milk and water in two vessels A and B are in the ratio 4:3  and 2:3 respectively. In what ratio the liquids in both the vessels be mixed to obtain a new mixture in vessel c consisting half milk and half water?</a:t>
            </a:r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A. 8 : 3</a:t>
            </a:r>
            <a:endParaRPr lang="en-US" sz="1800" dirty="0"/>
          </a:p>
          <a:p>
            <a:r>
              <a:rPr lang="en-US" sz="1800" dirty="0"/>
              <a:t>B. 7 : 5</a:t>
            </a:r>
            <a:endParaRPr lang="en-US" sz="1800" dirty="0"/>
          </a:p>
          <a:p>
            <a:r>
              <a:rPr lang="en-US" sz="1800" dirty="0"/>
              <a:t>C. 4 : 3</a:t>
            </a:r>
            <a:endParaRPr lang="en-US" sz="1800" dirty="0"/>
          </a:p>
          <a:p>
            <a:r>
              <a:rPr lang="en-US" sz="1800" dirty="0"/>
              <a:t>D. 2 : 3</a:t>
            </a:r>
            <a:endParaRPr lang="en-US" sz="1800" dirty="0"/>
          </a:p>
          <a:p>
            <a:endParaRPr lang="en-US" sz="1800" dirty="0"/>
          </a:p>
          <a:p>
            <a:endParaRPr lang="en-US" sz="1800" dirty="0" smtClean="0"/>
          </a:p>
          <a:p>
            <a:endParaRPr lang="en-US" sz="1800" dirty="0"/>
          </a:p>
          <a:p>
            <a:r>
              <a:rPr lang="en-US" sz="1800" dirty="0"/>
              <a:t>						                 </a:t>
            </a:r>
            <a:endParaRPr lang="en-US" sz="1800" dirty="0"/>
          </a:p>
          <a:p>
            <a:r>
              <a:rPr lang="en-US" sz="1800" b="1" dirty="0" smtClean="0"/>
              <a:t>							Answer</a:t>
            </a:r>
            <a:r>
              <a:rPr lang="en-US" sz="1800" b="1" dirty="0"/>
              <a:t>: B</a:t>
            </a:r>
            <a:endParaRPr lang="en-US" sz="1800" b="1" dirty="0"/>
          </a:p>
          <a:p>
            <a:endParaRPr lang="en-US" sz="1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0500" y="762000"/>
            <a:ext cx="8641800" cy="4203700"/>
          </a:xfrm>
        </p:spPr>
        <p:txBody>
          <a:bodyPr/>
          <a:lstStyle/>
          <a:p>
            <a:pPr>
              <a:lnSpc>
                <a:spcPct val="150000"/>
              </a:lnSpc>
              <a:buNone/>
            </a:pPr>
            <a:r>
              <a:rPr lang="en-US" sz="1200" dirty="0" smtClean="0">
                <a:solidFill>
                  <a:schemeClr val="tx1"/>
                </a:solidFill>
              </a:rPr>
              <a:t>Milk in 1 </a:t>
            </a:r>
            <a:r>
              <a:rPr lang="en-US" sz="1200" dirty="0" err="1" smtClean="0">
                <a:solidFill>
                  <a:schemeClr val="tx1"/>
                </a:solidFill>
              </a:rPr>
              <a:t>litre</a:t>
            </a:r>
            <a:r>
              <a:rPr lang="en-US" sz="1200" dirty="0" smtClean="0">
                <a:solidFill>
                  <a:schemeClr val="tx1"/>
                </a:solidFill>
              </a:rPr>
              <a:t> mixture of A = 4/7 </a:t>
            </a:r>
            <a:r>
              <a:rPr lang="en-US" sz="1200" dirty="0" err="1" smtClean="0">
                <a:solidFill>
                  <a:schemeClr val="tx1"/>
                </a:solidFill>
              </a:rPr>
              <a:t>litre</a:t>
            </a:r>
            <a:r>
              <a:rPr lang="en-US" sz="1200" dirty="0" smtClean="0">
                <a:solidFill>
                  <a:schemeClr val="tx1"/>
                </a:solidFill>
              </a:rPr>
              <a:t>.</a:t>
            </a:r>
            <a:endParaRPr lang="en-US" sz="1200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en-US" sz="1200" dirty="0" smtClean="0">
                <a:solidFill>
                  <a:schemeClr val="tx1"/>
                </a:solidFill>
              </a:rPr>
              <a:t>Milk in 1 </a:t>
            </a:r>
            <a:r>
              <a:rPr lang="en-US" sz="1200" dirty="0" err="1" smtClean="0">
                <a:solidFill>
                  <a:schemeClr val="tx1"/>
                </a:solidFill>
              </a:rPr>
              <a:t>litre</a:t>
            </a:r>
            <a:r>
              <a:rPr lang="en-US" sz="1200" dirty="0" smtClean="0">
                <a:solidFill>
                  <a:schemeClr val="tx1"/>
                </a:solidFill>
              </a:rPr>
              <a:t> mixture of B = 2/5 </a:t>
            </a:r>
            <a:r>
              <a:rPr lang="en-US" sz="1200" dirty="0" err="1" smtClean="0">
                <a:solidFill>
                  <a:schemeClr val="tx1"/>
                </a:solidFill>
              </a:rPr>
              <a:t>litre</a:t>
            </a:r>
            <a:r>
              <a:rPr lang="en-US" sz="1200" dirty="0" smtClean="0">
                <a:solidFill>
                  <a:schemeClr val="tx1"/>
                </a:solidFill>
              </a:rPr>
              <a:t>.</a:t>
            </a:r>
            <a:endParaRPr lang="en-US" sz="1200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en-US" sz="1200" dirty="0" smtClean="0">
                <a:solidFill>
                  <a:schemeClr val="tx1"/>
                </a:solidFill>
              </a:rPr>
              <a:t>Milk in 1 </a:t>
            </a:r>
            <a:r>
              <a:rPr lang="en-US" sz="1200" dirty="0" err="1" smtClean="0">
                <a:solidFill>
                  <a:schemeClr val="tx1"/>
                </a:solidFill>
              </a:rPr>
              <a:t>litre</a:t>
            </a:r>
            <a:r>
              <a:rPr lang="en-US" sz="1200" dirty="0" smtClean="0">
                <a:solidFill>
                  <a:schemeClr val="tx1"/>
                </a:solidFill>
              </a:rPr>
              <a:t> mixture of C = 1/2 </a:t>
            </a:r>
            <a:r>
              <a:rPr lang="en-US" sz="1200" dirty="0" err="1" smtClean="0">
                <a:solidFill>
                  <a:schemeClr val="tx1"/>
                </a:solidFill>
              </a:rPr>
              <a:t>litre</a:t>
            </a:r>
            <a:r>
              <a:rPr lang="en-US" sz="1200" dirty="0" smtClean="0">
                <a:solidFill>
                  <a:schemeClr val="tx1"/>
                </a:solidFill>
              </a:rPr>
              <a:t>.</a:t>
            </a:r>
            <a:endParaRPr lang="en-US" sz="1200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en-US" sz="1200" dirty="0" smtClean="0">
                <a:solidFill>
                  <a:schemeClr val="tx1"/>
                </a:solidFill>
              </a:rPr>
              <a:t>By rule of </a:t>
            </a:r>
            <a:r>
              <a:rPr lang="en-US" sz="1200" dirty="0" err="1" smtClean="0">
                <a:solidFill>
                  <a:schemeClr val="tx1"/>
                </a:solidFill>
              </a:rPr>
              <a:t>alligation</a:t>
            </a:r>
            <a:r>
              <a:rPr lang="en-US" sz="1200" dirty="0" smtClean="0">
                <a:solidFill>
                  <a:schemeClr val="tx1"/>
                </a:solidFill>
              </a:rPr>
              <a:t> we have required ratio X:Y</a:t>
            </a:r>
            <a:r>
              <a:rPr lang="en-US" dirty="0" smtClean="0"/>
              <a:t> </a:t>
            </a:r>
            <a:endParaRPr lang="en-US" dirty="0" smtClean="0"/>
          </a:p>
          <a:p>
            <a:pPr>
              <a:buNone/>
            </a:pPr>
            <a:r>
              <a:rPr lang="en-US" sz="1400" dirty="0" smtClean="0">
                <a:sym typeface="+mn-ea"/>
              </a:rPr>
              <a:t> </a:t>
            </a:r>
            <a:r>
              <a:rPr lang="en-US" sz="1400" dirty="0" smtClean="0">
                <a:solidFill>
                  <a:schemeClr val="tx1"/>
                </a:solidFill>
                <a:sym typeface="+mn-ea"/>
              </a:rPr>
              <a:t>X                  :                 Y</a:t>
            </a:r>
            <a:endParaRPr lang="en-US" sz="1400" dirty="0" smtClean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sz="1400" dirty="0" smtClean="0">
                <a:solidFill>
                  <a:schemeClr val="tx1"/>
                </a:solidFill>
                <a:sym typeface="+mn-ea"/>
              </a:rPr>
              <a:t> 4/7                                2/5</a:t>
            </a:r>
            <a:endParaRPr lang="en-US" sz="1400" dirty="0" smtClean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sz="1400" dirty="0" smtClean="0">
                <a:solidFill>
                  <a:schemeClr val="tx1"/>
                </a:solidFill>
                <a:sym typeface="+mn-ea"/>
              </a:rPr>
              <a:t>           \                      /</a:t>
            </a:r>
            <a:endParaRPr lang="en-US" sz="1400" dirty="0" smtClean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sz="1400" dirty="0" smtClean="0">
                <a:solidFill>
                  <a:schemeClr val="tx1"/>
                </a:solidFill>
                <a:sym typeface="+mn-ea"/>
              </a:rPr>
              <a:t>           (Mean ratio) (1/2)</a:t>
            </a:r>
            <a:endParaRPr lang="en-US" sz="1400" dirty="0" smtClean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sz="1400" dirty="0" smtClean="0">
                <a:solidFill>
                  <a:schemeClr val="tx1"/>
                </a:solidFill>
                <a:sym typeface="+mn-ea"/>
              </a:rPr>
              <a:t>           /                      \</a:t>
            </a:r>
            <a:endParaRPr lang="en-US" sz="1400" dirty="0" smtClean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sz="1400" dirty="0" smtClean="0">
                <a:solidFill>
                  <a:schemeClr val="tx1"/>
                </a:solidFill>
                <a:sym typeface="+mn-ea"/>
              </a:rPr>
              <a:t>(1/2 – 2/5)     :       (4/7 – 1/2)</a:t>
            </a:r>
            <a:endParaRPr lang="en-US" sz="1400" dirty="0" smtClean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sz="1400" dirty="0" smtClean="0">
                <a:solidFill>
                  <a:schemeClr val="tx1"/>
                </a:solidFill>
                <a:sym typeface="+mn-ea"/>
              </a:rPr>
              <a:t>      1/10                      1/1 4</a:t>
            </a:r>
            <a:endParaRPr lang="en-US" sz="1400" dirty="0" smtClean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dirty="0" smtClean="0">
                <a:solidFill>
                  <a:schemeClr val="tx1"/>
                </a:solidFill>
                <a:sym typeface="+mn-ea"/>
              </a:rPr>
              <a:t>So Required ratio = X : Y = 1/10 : 1/14 = </a:t>
            </a:r>
            <a:r>
              <a:rPr lang="en-US" b="1" dirty="0" smtClean="0">
                <a:solidFill>
                  <a:schemeClr val="tx1"/>
                </a:solidFill>
                <a:sym typeface="+mn-ea"/>
              </a:rPr>
              <a:t>7:5</a:t>
            </a:r>
            <a:endParaRPr lang="en-US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buNone/>
            </a:pPr>
            <a:endParaRPr lang="en-US" dirty="0" smtClean="0">
              <a:solidFill>
                <a:schemeClr val="tx1"/>
              </a:solidFill>
            </a:endParaRPr>
          </a:p>
        </p:txBody>
      </p:sp>
      <p:pic>
        <p:nvPicPr>
          <p:cNvPr id="4" name="Google Shape;69;p15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70;p15"/>
          <p:cNvSpPr>
            <a:spLocks noGrp="1"/>
          </p:cNvSpPr>
          <p:nvPr>
            <p:ph type="title"/>
          </p:nvPr>
        </p:nvSpPr>
        <p:spPr>
          <a:xfrm>
            <a:off x="0" y="190500"/>
            <a:ext cx="6903218" cy="573175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IN" sz="25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  Explanation:</a:t>
            </a:r>
            <a:endParaRPr lang="en-US" sz="25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69;p15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70;p15"/>
          <p:cNvSpPr>
            <a:spLocks noGrp="1"/>
          </p:cNvSpPr>
          <p:nvPr>
            <p:ph type="title"/>
          </p:nvPr>
        </p:nvSpPr>
        <p:spPr>
          <a:xfrm>
            <a:off x="0" y="152400"/>
            <a:ext cx="6903218" cy="573175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IN" sz="25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</a:t>
            </a:r>
            <a:r>
              <a:rPr lang="en-IN" sz="25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 Question 12</a:t>
            </a:r>
            <a:r>
              <a:rPr lang="en-IN" sz="25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:</a:t>
            </a:r>
            <a:endParaRPr lang="en-US" sz="25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6" name="Google Shape;68;p15"/>
          <p:cNvPicPr preferRelativeResize="0"/>
          <p:nvPr/>
        </p:nvPicPr>
        <p:blipFill rotWithShape="1">
          <a:blip r:embed="rId2"/>
          <a:srcRect l="41241" t="9528" r="-23988" b="51129"/>
          <a:stretch>
            <a:fillRect/>
          </a:stretch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Box 1"/>
          <p:cNvSpPr txBox="1"/>
          <p:nvPr/>
        </p:nvSpPr>
        <p:spPr>
          <a:xfrm>
            <a:off x="241935" y="912495"/>
            <a:ext cx="859409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Two vessels A and B contain spirit and water mixed in the ratio 5:2 and 7:6 respectively. Find the ratio in which these mixture be mixed to obtain a new mixture in vessel c containing spirit and water in the ratio 8:5?</a:t>
            </a:r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A. 1 : 7</a:t>
            </a:r>
            <a:endParaRPr lang="en-US" sz="1800" dirty="0"/>
          </a:p>
          <a:p>
            <a:r>
              <a:rPr lang="en-US" sz="1800" dirty="0"/>
              <a:t>B. 2 : 9</a:t>
            </a:r>
            <a:endParaRPr lang="en-US" sz="1800" dirty="0"/>
          </a:p>
          <a:p>
            <a:r>
              <a:rPr lang="en-US" sz="1800" dirty="0"/>
              <a:t>C. 7 : 9</a:t>
            </a:r>
            <a:endParaRPr lang="en-US" sz="1800" dirty="0"/>
          </a:p>
          <a:p>
            <a:r>
              <a:rPr lang="en-US" sz="1800" dirty="0"/>
              <a:t>D. 3 : 8</a:t>
            </a:r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     </a:t>
            </a:r>
            <a:endParaRPr lang="en-US" sz="1800" dirty="0" smtClean="0"/>
          </a:p>
          <a:p>
            <a:endParaRPr lang="en-US" sz="1800" dirty="0"/>
          </a:p>
          <a:p>
            <a:endParaRPr lang="en-US" sz="1800" dirty="0"/>
          </a:p>
          <a:p>
            <a:r>
              <a:rPr lang="en-US" sz="1800" b="1" dirty="0" smtClean="0"/>
              <a:t>							Answer</a:t>
            </a:r>
            <a:r>
              <a:rPr lang="en-US" sz="1800" b="1" dirty="0"/>
              <a:t>: C</a:t>
            </a:r>
            <a:endParaRPr lang="en-US" sz="1800" dirty="0"/>
          </a:p>
          <a:p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255" y="736600"/>
            <a:ext cx="9088581" cy="4038600"/>
          </a:xfrm>
        </p:spPr>
        <p:txBody>
          <a:bodyPr/>
          <a:lstStyle/>
          <a:p>
            <a:pPr>
              <a:buNone/>
            </a:pPr>
            <a:r>
              <a:rPr lang="en-US" dirty="0" smtClean="0">
                <a:solidFill>
                  <a:schemeClr val="tx1"/>
                </a:solidFill>
              </a:rPr>
              <a:t>Spirit in 1 </a:t>
            </a:r>
            <a:r>
              <a:rPr lang="en-US" dirty="0" err="1" smtClean="0">
                <a:solidFill>
                  <a:schemeClr val="tx1"/>
                </a:solidFill>
              </a:rPr>
              <a:t>litre</a:t>
            </a:r>
            <a:r>
              <a:rPr lang="en-US" dirty="0" smtClean="0">
                <a:solidFill>
                  <a:schemeClr val="tx1"/>
                </a:solidFill>
              </a:rPr>
              <a:t> mix of A = 5/7 </a:t>
            </a:r>
            <a:r>
              <a:rPr lang="en-US" dirty="0" err="1" smtClean="0">
                <a:solidFill>
                  <a:schemeClr val="tx1"/>
                </a:solidFill>
              </a:rPr>
              <a:t>litre</a:t>
            </a:r>
            <a:r>
              <a:rPr lang="en-US" dirty="0" smtClean="0">
                <a:solidFill>
                  <a:schemeClr val="tx1"/>
                </a:solidFill>
              </a:rPr>
              <a:t>.</a:t>
            </a:r>
            <a:endParaRPr lang="en-US" dirty="0" smtClean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dirty="0" smtClean="0">
                <a:solidFill>
                  <a:schemeClr val="tx1"/>
                </a:solidFill>
              </a:rPr>
              <a:t>Spirit in 1 </a:t>
            </a:r>
            <a:r>
              <a:rPr lang="en-US" dirty="0" err="1" smtClean="0">
                <a:solidFill>
                  <a:schemeClr val="tx1"/>
                </a:solidFill>
              </a:rPr>
              <a:t>litre</a:t>
            </a:r>
            <a:r>
              <a:rPr lang="en-US" dirty="0" smtClean="0">
                <a:solidFill>
                  <a:schemeClr val="tx1"/>
                </a:solidFill>
              </a:rPr>
              <a:t> mix of B = 7/13 </a:t>
            </a:r>
            <a:r>
              <a:rPr lang="en-US" dirty="0" err="1" smtClean="0">
                <a:solidFill>
                  <a:schemeClr val="tx1"/>
                </a:solidFill>
              </a:rPr>
              <a:t>litre</a:t>
            </a:r>
            <a:r>
              <a:rPr lang="en-US" dirty="0" smtClean="0">
                <a:solidFill>
                  <a:schemeClr val="tx1"/>
                </a:solidFill>
              </a:rPr>
              <a:t>.</a:t>
            </a:r>
            <a:endParaRPr lang="en-US" dirty="0" smtClean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dirty="0" smtClean="0">
                <a:solidFill>
                  <a:schemeClr val="tx1"/>
                </a:solidFill>
              </a:rPr>
              <a:t>Spirit in 1 </a:t>
            </a:r>
            <a:r>
              <a:rPr lang="en-US" dirty="0" err="1" smtClean="0">
                <a:solidFill>
                  <a:schemeClr val="tx1"/>
                </a:solidFill>
              </a:rPr>
              <a:t>litre</a:t>
            </a:r>
            <a:r>
              <a:rPr lang="en-US" dirty="0" smtClean="0">
                <a:solidFill>
                  <a:schemeClr val="tx1"/>
                </a:solidFill>
              </a:rPr>
              <a:t> mix of C = 8/13 </a:t>
            </a:r>
            <a:r>
              <a:rPr lang="en-US" dirty="0" err="1" smtClean="0">
                <a:solidFill>
                  <a:schemeClr val="tx1"/>
                </a:solidFill>
              </a:rPr>
              <a:t>litre</a:t>
            </a:r>
            <a:r>
              <a:rPr lang="en-US" dirty="0" smtClean="0">
                <a:solidFill>
                  <a:schemeClr val="tx1"/>
                </a:solidFill>
              </a:rPr>
              <a:t>. </a:t>
            </a:r>
            <a:endParaRPr lang="en-US" dirty="0" smtClean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dirty="0" smtClean="0">
                <a:solidFill>
                  <a:schemeClr val="tx1"/>
                </a:solidFill>
              </a:rPr>
              <a:t>By rule of </a:t>
            </a:r>
            <a:r>
              <a:rPr lang="en-US" dirty="0" err="1" smtClean="0">
                <a:solidFill>
                  <a:schemeClr val="tx1"/>
                </a:solidFill>
              </a:rPr>
              <a:t>alligation</a:t>
            </a:r>
            <a:r>
              <a:rPr lang="en-US" dirty="0" smtClean="0">
                <a:solidFill>
                  <a:schemeClr val="tx1"/>
                </a:solidFill>
              </a:rPr>
              <a:t> we have required ratio X:Y</a:t>
            </a:r>
            <a:endParaRPr lang="en-US" dirty="0" smtClean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dirty="0" smtClean="0">
                <a:solidFill>
                  <a:schemeClr val="tx1"/>
                </a:solidFill>
              </a:rPr>
              <a:t>   X         :       Y</a:t>
            </a:r>
            <a:endParaRPr lang="en-US" dirty="0" smtClean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dirty="0" smtClean="0">
                <a:solidFill>
                  <a:schemeClr val="tx1"/>
                </a:solidFill>
              </a:rPr>
              <a:t> 5/7              7/13 </a:t>
            </a:r>
            <a:endParaRPr lang="en-US" dirty="0" smtClean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dirty="0" smtClean="0">
                <a:solidFill>
                  <a:schemeClr val="tx1"/>
                </a:solidFill>
              </a:rPr>
              <a:t>       \          /</a:t>
            </a:r>
            <a:endParaRPr lang="en-US" dirty="0" smtClean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dirty="0" smtClean="0">
                <a:solidFill>
                  <a:schemeClr val="tx1"/>
                </a:solidFill>
              </a:rPr>
              <a:t>        (8/13)</a:t>
            </a:r>
            <a:endParaRPr lang="en-US" dirty="0" smtClean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dirty="0" smtClean="0">
                <a:solidFill>
                  <a:schemeClr val="tx1"/>
                </a:solidFill>
              </a:rPr>
              <a:t>       /          \</a:t>
            </a:r>
            <a:endParaRPr lang="en-US" dirty="0" smtClean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dirty="0" smtClean="0">
                <a:solidFill>
                  <a:schemeClr val="tx1"/>
                </a:solidFill>
              </a:rPr>
              <a:t>(1/13)   :   (9/91) =&gt; 7:9		Therefore required ratio = 1/13 :</a:t>
            </a:r>
            <a:r>
              <a:rPr lang="en-US" dirty="0" smtClean="0"/>
              <a:t> </a:t>
            </a:r>
            <a:r>
              <a:rPr lang="en-US" dirty="0" smtClean="0">
                <a:solidFill>
                  <a:schemeClr val="tx1"/>
                </a:solidFill>
              </a:rPr>
              <a:t>9/91</a:t>
            </a:r>
            <a:endParaRPr lang="en-US" dirty="0" smtClean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dirty="0" smtClean="0">
                <a:solidFill>
                  <a:schemeClr val="tx1"/>
                </a:solidFill>
              </a:rPr>
              <a:t>					=7: 9</a:t>
            </a:r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dirty="0" smtClean="0">
                <a:solidFill>
                  <a:schemeClr val="tx1"/>
                </a:solidFill>
              </a:rPr>
              <a:t> </a:t>
            </a:r>
            <a:endParaRPr lang="en-US" dirty="0" smtClean="0">
              <a:solidFill>
                <a:schemeClr val="tx1"/>
              </a:solidFill>
            </a:endParaRPr>
          </a:p>
          <a:p>
            <a:pPr marL="114300" indent="0">
              <a:lnSpc>
                <a:spcPct val="150000"/>
              </a:lnSpc>
              <a:buNone/>
            </a:pPr>
            <a:endParaRPr lang="en-US" dirty="0" smtClean="0">
              <a:solidFill>
                <a:schemeClr val="tx1"/>
              </a:solidFill>
            </a:endParaRPr>
          </a:p>
        </p:txBody>
      </p:sp>
      <p:pic>
        <p:nvPicPr>
          <p:cNvPr id="4" name="Google Shape;69;p15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70;p15"/>
          <p:cNvSpPr>
            <a:spLocks noGrp="1"/>
          </p:cNvSpPr>
          <p:nvPr>
            <p:ph type="title"/>
          </p:nvPr>
        </p:nvSpPr>
        <p:spPr>
          <a:xfrm>
            <a:off x="0" y="190500"/>
            <a:ext cx="6903218" cy="573175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IN" sz="25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</a:t>
            </a:r>
            <a:r>
              <a:rPr lang="en-IN" sz="25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 Explanation:</a:t>
            </a:r>
            <a:endParaRPr lang="en-US" sz="25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7" name="Google Shape;68;p15"/>
          <p:cNvPicPr preferRelativeResize="0"/>
          <p:nvPr/>
        </p:nvPicPr>
        <p:blipFill rotWithShape="1">
          <a:blip r:embed="rId2"/>
          <a:srcRect l="41241" t="9528" r="-23988" b="51129"/>
          <a:stretch>
            <a:fillRect/>
          </a:stretch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69;p15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70;p15"/>
          <p:cNvSpPr>
            <a:spLocks noGrp="1"/>
          </p:cNvSpPr>
          <p:nvPr>
            <p:ph type="title"/>
          </p:nvPr>
        </p:nvSpPr>
        <p:spPr>
          <a:xfrm>
            <a:off x="0" y="152400"/>
            <a:ext cx="6903218" cy="573175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IN" sz="25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 </a:t>
            </a:r>
            <a:r>
              <a:rPr lang="en-IN" sz="25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Question 13</a:t>
            </a:r>
            <a:r>
              <a:rPr lang="en-IN" sz="25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:</a:t>
            </a:r>
            <a:endParaRPr lang="en-US" sz="25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6" name="Google Shape;68;p15"/>
          <p:cNvPicPr preferRelativeResize="0"/>
          <p:nvPr/>
        </p:nvPicPr>
        <p:blipFill rotWithShape="1">
          <a:blip r:embed="rId2"/>
          <a:srcRect l="41241" t="9528" r="-23988" b="51129"/>
          <a:stretch>
            <a:fillRect/>
          </a:stretch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Box 1"/>
          <p:cNvSpPr txBox="1"/>
          <p:nvPr/>
        </p:nvSpPr>
        <p:spPr>
          <a:xfrm>
            <a:off x="263525" y="944245"/>
            <a:ext cx="856170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How many kilograms of sugar costing </a:t>
            </a:r>
            <a:r>
              <a:rPr lang="en-US" sz="1800" dirty="0" err="1"/>
              <a:t>Rs</a:t>
            </a:r>
            <a:r>
              <a:rPr lang="en-US" sz="1800" dirty="0"/>
              <a:t>. 9 per kg must be mixed with 27 kg of sugar costing Rs.7 per kg so that there may be gain of 10% by selling the mixture at </a:t>
            </a:r>
            <a:r>
              <a:rPr lang="en-US" sz="1800" dirty="0" err="1"/>
              <a:t>Rs</a:t>
            </a:r>
            <a:r>
              <a:rPr lang="en-US" sz="1800" dirty="0"/>
              <a:t>. 9.24 per kg?</a:t>
            </a:r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A. 60 kg</a:t>
            </a:r>
            <a:endParaRPr lang="en-US" sz="1800" dirty="0"/>
          </a:p>
          <a:p>
            <a:r>
              <a:rPr lang="en-US" sz="1800" dirty="0"/>
              <a:t>B. 63 kg</a:t>
            </a:r>
            <a:endParaRPr lang="en-US" sz="1800" dirty="0"/>
          </a:p>
          <a:p>
            <a:r>
              <a:rPr lang="en-US" sz="1800" dirty="0"/>
              <a:t>C. 50 kg</a:t>
            </a:r>
            <a:endParaRPr lang="en-US" sz="1800" dirty="0"/>
          </a:p>
          <a:p>
            <a:r>
              <a:rPr lang="en-US" sz="1800" dirty="0"/>
              <a:t>D. 77 kg</a:t>
            </a:r>
            <a:endParaRPr lang="en-US" sz="1800" dirty="0"/>
          </a:p>
          <a:p>
            <a:endParaRPr lang="en-US" sz="1800" dirty="0" smtClean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r>
              <a:rPr lang="en-US" sz="1800" b="1" dirty="0" smtClean="0"/>
              <a:t>							Answer</a:t>
            </a:r>
            <a:r>
              <a:rPr lang="en-US" sz="1800" b="1" dirty="0"/>
              <a:t>: B</a:t>
            </a:r>
            <a:endParaRPr lang="en-US" sz="1800" dirty="0"/>
          </a:p>
          <a:p>
            <a:endParaRPr lang="en-US" sz="18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825501"/>
            <a:ext cx="8520600" cy="3162299"/>
          </a:xfrm>
        </p:spPr>
        <p:txBody>
          <a:bodyPr/>
          <a:lstStyle/>
          <a:p>
            <a:pPr marL="114300" indent="0">
              <a:buNone/>
            </a:pPr>
            <a:endParaRPr lang="en-IN" b="1" dirty="0">
              <a:solidFill>
                <a:schemeClr val="tx1"/>
              </a:solidFill>
            </a:endParaRPr>
          </a:p>
        </p:txBody>
      </p:sp>
      <p:pic>
        <p:nvPicPr>
          <p:cNvPr id="4" name="Google Shape;69;p15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70;p15"/>
          <p:cNvSpPr>
            <a:spLocks noGrp="1"/>
          </p:cNvSpPr>
          <p:nvPr>
            <p:ph type="title"/>
          </p:nvPr>
        </p:nvSpPr>
        <p:spPr>
          <a:xfrm>
            <a:off x="0" y="190500"/>
            <a:ext cx="6903218" cy="573175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IN" sz="25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 </a:t>
            </a:r>
            <a:r>
              <a:rPr lang="en-IN" sz="25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Explanation:</a:t>
            </a:r>
            <a:endParaRPr lang="en-US" sz="25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12289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5899" y="771525"/>
            <a:ext cx="7819345" cy="355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Google Shape;68;p15"/>
          <p:cNvPicPr preferRelativeResize="0"/>
          <p:nvPr/>
        </p:nvPicPr>
        <p:blipFill rotWithShape="1">
          <a:blip r:embed="rId3"/>
          <a:srcRect l="41241" t="9528" r="-23988" b="51129"/>
          <a:stretch>
            <a:fillRect/>
          </a:stretch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69;p15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70;p15"/>
          <p:cNvSpPr>
            <a:spLocks noGrp="1"/>
          </p:cNvSpPr>
          <p:nvPr>
            <p:ph type="title"/>
          </p:nvPr>
        </p:nvSpPr>
        <p:spPr>
          <a:xfrm>
            <a:off x="0" y="190500"/>
            <a:ext cx="6903218" cy="573175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IN" sz="25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 </a:t>
            </a:r>
            <a:r>
              <a:rPr lang="en-IN" sz="25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Explanation:</a:t>
            </a:r>
            <a:endParaRPr lang="en-US" sz="25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798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28800" y="812792"/>
            <a:ext cx="5918200" cy="40640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Google Shape;68;p15"/>
          <p:cNvPicPr preferRelativeResize="0"/>
          <p:nvPr/>
        </p:nvPicPr>
        <p:blipFill rotWithShape="1">
          <a:blip r:embed="rId3"/>
          <a:srcRect l="41241" t="9528" r="-23988" b="51129"/>
          <a:stretch>
            <a:fillRect/>
          </a:stretch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825501"/>
            <a:ext cx="8520600" cy="3276599"/>
          </a:xfrm>
        </p:spPr>
        <p:txBody>
          <a:bodyPr/>
          <a:lstStyle/>
          <a:p>
            <a:pPr marL="114300" indent="0">
              <a:buNone/>
            </a:pPr>
            <a:endParaRPr lang="en-IN" b="1" dirty="0">
              <a:solidFill>
                <a:schemeClr val="tx1"/>
              </a:solidFill>
            </a:endParaRPr>
          </a:p>
        </p:txBody>
      </p:sp>
      <p:pic>
        <p:nvPicPr>
          <p:cNvPr id="4" name="Google Shape;69;p15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70;p15"/>
          <p:cNvSpPr>
            <a:spLocks noGrp="1"/>
          </p:cNvSpPr>
          <p:nvPr>
            <p:ph type="title"/>
          </p:nvPr>
        </p:nvSpPr>
        <p:spPr>
          <a:xfrm>
            <a:off x="0" y="190500"/>
            <a:ext cx="6903218" cy="573175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IN" sz="25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 </a:t>
            </a:r>
            <a:r>
              <a:rPr lang="en-IN" sz="25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Explanation:</a:t>
            </a:r>
            <a:endParaRPr lang="en-US" sz="25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808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8300" y="838200"/>
            <a:ext cx="6718300" cy="3327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" name="Google Shape;68;p15"/>
          <p:cNvPicPr preferRelativeResize="0"/>
          <p:nvPr/>
        </p:nvPicPr>
        <p:blipFill rotWithShape="1">
          <a:blip r:embed="rId3"/>
          <a:srcRect l="41241" t="9528" r="-23988" b="51129"/>
          <a:stretch>
            <a:fillRect/>
          </a:stretch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69;p15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70;p15"/>
          <p:cNvSpPr>
            <a:spLocks noGrp="1"/>
          </p:cNvSpPr>
          <p:nvPr>
            <p:ph type="title"/>
          </p:nvPr>
        </p:nvSpPr>
        <p:spPr>
          <a:xfrm>
            <a:off x="0" y="152400"/>
            <a:ext cx="6903218" cy="573175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IN" sz="25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 </a:t>
            </a:r>
            <a:r>
              <a:rPr lang="en-IN" sz="25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Question 14:</a:t>
            </a:r>
            <a:endParaRPr lang="en-US" sz="25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6" name="Google Shape;68;p15"/>
          <p:cNvPicPr preferRelativeResize="0"/>
          <p:nvPr/>
        </p:nvPicPr>
        <p:blipFill rotWithShape="1">
          <a:blip r:embed="rId2"/>
          <a:srcRect l="41241" t="9528" r="-23988" b="51129"/>
          <a:stretch>
            <a:fillRect/>
          </a:stretch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Box 1"/>
          <p:cNvSpPr txBox="1"/>
          <p:nvPr/>
        </p:nvSpPr>
        <p:spPr>
          <a:xfrm>
            <a:off x="210185" y="987425"/>
            <a:ext cx="866838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One quantity of wheat at </a:t>
            </a:r>
            <a:r>
              <a:rPr lang="en-US" sz="1800" dirty="0" err="1"/>
              <a:t>Rs</a:t>
            </a:r>
            <a:r>
              <a:rPr lang="en-US" sz="1800" dirty="0"/>
              <a:t> 9.30 per kg is mixed with another quality at a certain rate in the ratio 8:7. If the mixture so formed be worth </a:t>
            </a:r>
            <a:r>
              <a:rPr lang="en-US" sz="1800" dirty="0" err="1"/>
              <a:t>Rs</a:t>
            </a:r>
            <a:r>
              <a:rPr lang="en-US" sz="1800" dirty="0"/>
              <a:t> 10 per kg, what is the rate per kg of the second quality of wheat?</a:t>
            </a:r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A. </a:t>
            </a:r>
            <a:r>
              <a:rPr lang="en-US" sz="1800" dirty="0" err="1"/>
              <a:t>Rs</a:t>
            </a:r>
            <a:r>
              <a:rPr lang="en-US" sz="1800" dirty="0"/>
              <a:t>. 12.47</a:t>
            </a:r>
            <a:endParaRPr lang="en-US" sz="1800" dirty="0"/>
          </a:p>
          <a:p>
            <a:r>
              <a:rPr lang="en-US" sz="1800" dirty="0"/>
              <a:t>B. </a:t>
            </a:r>
            <a:r>
              <a:rPr lang="en-US" sz="1800" dirty="0" err="1"/>
              <a:t>Rs</a:t>
            </a:r>
            <a:r>
              <a:rPr lang="en-US" sz="1800" dirty="0"/>
              <a:t>. 10.80</a:t>
            </a:r>
            <a:endParaRPr lang="en-US" sz="1800" dirty="0"/>
          </a:p>
          <a:p>
            <a:r>
              <a:rPr lang="en-US" sz="1800" dirty="0"/>
              <a:t>C. </a:t>
            </a:r>
            <a:r>
              <a:rPr lang="en-US" sz="1800" dirty="0" err="1"/>
              <a:t>Rs</a:t>
            </a:r>
            <a:r>
              <a:rPr lang="en-US" sz="1800" dirty="0"/>
              <a:t>. 15.17</a:t>
            </a:r>
            <a:endParaRPr lang="en-US" sz="1800" dirty="0"/>
          </a:p>
          <a:p>
            <a:r>
              <a:rPr lang="en-US" sz="1800" dirty="0"/>
              <a:t>D. </a:t>
            </a:r>
            <a:r>
              <a:rPr lang="en-US" sz="1800" dirty="0" err="1"/>
              <a:t>Rs</a:t>
            </a:r>
            <a:r>
              <a:rPr lang="en-US" sz="1800" dirty="0"/>
              <a:t>. 47.66</a:t>
            </a:r>
            <a:endParaRPr lang="en-US" sz="1800" dirty="0"/>
          </a:p>
          <a:p>
            <a:endParaRPr lang="en-US" sz="1800" dirty="0"/>
          </a:p>
          <a:p>
            <a:endParaRPr lang="en-US" sz="1800" dirty="0" smtClean="0"/>
          </a:p>
          <a:p>
            <a:endParaRPr lang="en-US" sz="1800" dirty="0"/>
          </a:p>
          <a:p>
            <a:r>
              <a:rPr lang="en-US" sz="1800" dirty="0"/>
              <a:t>								</a:t>
            </a:r>
            <a:endParaRPr lang="en-US" sz="1800" dirty="0"/>
          </a:p>
          <a:p>
            <a:r>
              <a:rPr lang="en-US" sz="1800" b="1" dirty="0" smtClean="0"/>
              <a:t>							Answer</a:t>
            </a:r>
            <a:r>
              <a:rPr lang="en-US" sz="1800" b="1" dirty="0"/>
              <a:t>: B</a:t>
            </a:r>
            <a:endParaRPr lang="en-US" sz="1800" dirty="0"/>
          </a:p>
          <a:p>
            <a:endParaRPr lang="en-US" sz="18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0500" y="863600"/>
            <a:ext cx="8641800" cy="3378200"/>
          </a:xfrm>
        </p:spPr>
        <p:txBody>
          <a:bodyPr/>
          <a:lstStyle/>
          <a:p>
            <a:pPr>
              <a:buNone/>
            </a:pPr>
            <a:r>
              <a:rPr lang="en-US" dirty="0" smtClean="0">
                <a:solidFill>
                  <a:schemeClr val="tx1"/>
                </a:solidFill>
              </a:rPr>
              <a:t>]By rule of </a:t>
            </a:r>
            <a:r>
              <a:rPr lang="en-US" dirty="0" err="1" smtClean="0">
                <a:solidFill>
                  <a:schemeClr val="tx1"/>
                </a:solidFill>
              </a:rPr>
              <a:t>alligation</a:t>
            </a:r>
            <a:r>
              <a:rPr lang="en-US" dirty="0" smtClean="0">
                <a:solidFill>
                  <a:schemeClr val="tx1"/>
                </a:solidFill>
              </a:rPr>
              <a:t> we have required ratio 8 : 7</a:t>
            </a:r>
            <a:endParaRPr lang="en-US" dirty="0" smtClean="0">
              <a:solidFill>
                <a:schemeClr val="tx1"/>
              </a:solidFill>
            </a:endParaRPr>
          </a:p>
          <a:p>
            <a:pPr>
              <a:buNone/>
            </a:pPr>
            <a:endParaRPr lang="en-US" dirty="0" smtClean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dirty="0" smtClean="0">
                <a:solidFill>
                  <a:schemeClr val="tx1"/>
                </a:solidFill>
              </a:rPr>
              <a:t>9.30                  x</a:t>
            </a:r>
            <a:endParaRPr lang="en-US" dirty="0" smtClean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dirty="0" smtClean="0">
                <a:solidFill>
                  <a:schemeClr val="tx1"/>
                </a:solidFill>
              </a:rPr>
              <a:t>   \                  /</a:t>
            </a:r>
            <a:endParaRPr lang="en-US" dirty="0" smtClean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dirty="0" smtClean="0">
                <a:solidFill>
                  <a:schemeClr val="tx1"/>
                </a:solidFill>
              </a:rPr>
              <a:t>   (Mean Price) (10)</a:t>
            </a:r>
            <a:endParaRPr lang="en-US" dirty="0" smtClean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dirty="0" smtClean="0">
                <a:solidFill>
                  <a:schemeClr val="tx1"/>
                </a:solidFill>
              </a:rPr>
              <a:t>   /                  \</a:t>
            </a:r>
            <a:endParaRPr lang="en-US" dirty="0" smtClean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dirty="0" smtClean="0">
                <a:solidFill>
                  <a:schemeClr val="tx1"/>
                </a:solidFill>
              </a:rPr>
              <a:t>x-10        :      0.7     ::       8        :          7</a:t>
            </a:r>
            <a:endParaRPr lang="en-US" dirty="0" smtClean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dirty="0" smtClean="0"/>
              <a:t>					 </a:t>
            </a:r>
            <a:r>
              <a:rPr lang="en-US" dirty="0" smtClean="0">
                <a:solidFill>
                  <a:schemeClr val="tx1"/>
                </a:solidFill>
              </a:rPr>
              <a:t>we get required ratio,  (x-10) : 0.7 :: 8 : 7</a:t>
            </a:r>
            <a:endParaRPr lang="en-US" dirty="0" smtClean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dirty="0" smtClean="0">
                <a:solidFill>
                  <a:schemeClr val="tx1"/>
                </a:solidFill>
              </a:rPr>
              <a:t>						 ⇒ x = </a:t>
            </a:r>
            <a:r>
              <a:rPr lang="en-US" b="1" dirty="0" smtClean="0">
                <a:solidFill>
                  <a:schemeClr val="tx1"/>
                </a:solidFill>
              </a:rPr>
              <a:t>10.80 per Kg </a:t>
            </a:r>
            <a:endParaRPr lang="en-US" dirty="0" smtClean="0"/>
          </a:p>
        </p:txBody>
      </p:sp>
      <p:pic>
        <p:nvPicPr>
          <p:cNvPr id="4" name="Google Shape;69;p15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70;p15"/>
          <p:cNvSpPr>
            <a:spLocks noGrp="1"/>
          </p:cNvSpPr>
          <p:nvPr>
            <p:ph type="title"/>
          </p:nvPr>
        </p:nvSpPr>
        <p:spPr>
          <a:xfrm>
            <a:off x="0" y="190500"/>
            <a:ext cx="6903218" cy="573175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IN" sz="25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  Explanation:</a:t>
            </a:r>
            <a:endParaRPr lang="en-US" sz="25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7" name="Google Shape;68;p15"/>
          <p:cNvPicPr preferRelativeResize="0"/>
          <p:nvPr/>
        </p:nvPicPr>
        <p:blipFill rotWithShape="1">
          <a:blip r:embed="rId2"/>
          <a:srcRect l="41241" t="9528" r="-23988" b="51129"/>
          <a:stretch>
            <a:fillRect/>
          </a:stretch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69;p15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70;p15"/>
          <p:cNvSpPr>
            <a:spLocks noGrp="1"/>
          </p:cNvSpPr>
          <p:nvPr>
            <p:ph type="title"/>
          </p:nvPr>
        </p:nvSpPr>
        <p:spPr>
          <a:xfrm>
            <a:off x="0" y="152400"/>
            <a:ext cx="6903218" cy="573175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IN" sz="25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 </a:t>
            </a:r>
            <a:r>
              <a:rPr lang="en-IN" sz="25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Question 15</a:t>
            </a:r>
            <a:r>
              <a:rPr lang="en-IN" sz="25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:</a:t>
            </a:r>
            <a:endParaRPr lang="en-US" sz="25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6" name="Google Shape;68;p15"/>
          <p:cNvPicPr preferRelativeResize="0"/>
          <p:nvPr/>
        </p:nvPicPr>
        <p:blipFill rotWithShape="1">
          <a:blip r:embed="rId2"/>
          <a:srcRect l="41241" t="9528" r="-23988" b="51129"/>
          <a:stretch>
            <a:fillRect/>
          </a:stretch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Box 1"/>
          <p:cNvSpPr txBox="1"/>
          <p:nvPr/>
        </p:nvSpPr>
        <p:spPr>
          <a:xfrm>
            <a:off x="252730" y="997585"/>
            <a:ext cx="858329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A can contains a mixture of two liquids A and B in the ratio 7:5 when 9 </a:t>
            </a:r>
            <a:r>
              <a:rPr lang="en-US" sz="1800" dirty="0" err="1"/>
              <a:t>litres</a:t>
            </a:r>
            <a:r>
              <a:rPr lang="en-US" sz="1800" dirty="0"/>
              <a:t> of mixture are drawn off and the can is filled with B, the ratio of A and B becomes 7:9. How many </a:t>
            </a:r>
            <a:r>
              <a:rPr lang="en-US" sz="1800" dirty="0" err="1"/>
              <a:t>litres</a:t>
            </a:r>
            <a:r>
              <a:rPr lang="en-US" sz="1800" dirty="0"/>
              <a:t> of liquid A was contained by the can initially?</a:t>
            </a:r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A. 28 </a:t>
            </a:r>
            <a:r>
              <a:rPr lang="en-US" sz="1800" dirty="0" err="1"/>
              <a:t>litres</a:t>
            </a:r>
            <a:endParaRPr lang="en-US" sz="1800" dirty="0"/>
          </a:p>
          <a:p>
            <a:r>
              <a:rPr lang="en-US" sz="1800" dirty="0"/>
              <a:t>B. 21 </a:t>
            </a:r>
            <a:r>
              <a:rPr lang="en-US" sz="1800" dirty="0" err="1"/>
              <a:t>litres</a:t>
            </a:r>
            <a:endParaRPr lang="en-US" sz="1800" dirty="0"/>
          </a:p>
          <a:p>
            <a:r>
              <a:rPr lang="en-US" sz="1800" dirty="0"/>
              <a:t>C. 45 </a:t>
            </a:r>
            <a:r>
              <a:rPr lang="en-US" sz="1800" dirty="0" err="1"/>
              <a:t>litres</a:t>
            </a:r>
            <a:endParaRPr lang="en-US" sz="1800" dirty="0"/>
          </a:p>
          <a:p>
            <a:r>
              <a:rPr lang="en-US" sz="1800" dirty="0"/>
              <a:t>D. 36 </a:t>
            </a:r>
            <a:r>
              <a:rPr lang="en-US" sz="1800" dirty="0" err="1"/>
              <a:t>litres</a:t>
            </a:r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 </a:t>
            </a:r>
            <a:endParaRPr lang="en-US" sz="1800" dirty="0" smtClean="0"/>
          </a:p>
          <a:p>
            <a:endParaRPr lang="en-US" sz="1800" dirty="0"/>
          </a:p>
          <a:p>
            <a:r>
              <a:rPr lang="en-US" sz="1800" b="1" dirty="0" smtClean="0"/>
              <a:t>							Answer</a:t>
            </a:r>
            <a:r>
              <a:rPr lang="en-US" sz="1800" b="1" dirty="0"/>
              <a:t>: B</a:t>
            </a:r>
            <a:endParaRPr lang="en-US" sz="1800" dirty="0"/>
          </a:p>
          <a:p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876300"/>
            <a:ext cx="8603700" cy="3681413"/>
          </a:xfrm>
        </p:spPr>
        <p:txBody>
          <a:bodyPr/>
          <a:lstStyle/>
          <a:p>
            <a:pPr>
              <a:lnSpc>
                <a:spcPct val="150000"/>
              </a:lnSpc>
              <a:buNone/>
            </a:pP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4" name="Google Shape;69;p15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70;p15"/>
          <p:cNvSpPr>
            <a:spLocks noGrp="1"/>
          </p:cNvSpPr>
          <p:nvPr>
            <p:ph type="title"/>
          </p:nvPr>
        </p:nvSpPr>
        <p:spPr>
          <a:xfrm>
            <a:off x="0" y="190500"/>
            <a:ext cx="6903218" cy="573175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IN" sz="25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 </a:t>
            </a:r>
            <a:r>
              <a:rPr lang="en-IN" sz="25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Explanation:</a:t>
            </a:r>
            <a:endParaRPr lang="en-US" sz="25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819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5100" y="774700"/>
            <a:ext cx="6945313" cy="3289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Google Shape;68;p15"/>
          <p:cNvPicPr preferRelativeResize="0"/>
          <p:nvPr/>
        </p:nvPicPr>
        <p:blipFill rotWithShape="1">
          <a:blip r:embed="rId3"/>
          <a:srcRect l="41241" t="9528" r="-23988" b="51129"/>
          <a:stretch>
            <a:fillRect/>
          </a:stretch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876300"/>
            <a:ext cx="8603700" cy="3681413"/>
          </a:xfrm>
        </p:spPr>
        <p:txBody>
          <a:bodyPr/>
          <a:lstStyle/>
          <a:p>
            <a:pPr>
              <a:lnSpc>
                <a:spcPct val="150000"/>
              </a:lnSpc>
              <a:buNone/>
            </a:pP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4" name="Google Shape;69;p15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7120800" y="233550"/>
            <a:ext cx="169426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70;p15"/>
          <p:cNvSpPr>
            <a:spLocks noGrp="1"/>
          </p:cNvSpPr>
          <p:nvPr>
            <p:ph type="title"/>
          </p:nvPr>
        </p:nvSpPr>
        <p:spPr>
          <a:xfrm>
            <a:off x="0" y="190500"/>
            <a:ext cx="6903218" cy="573175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IN" sz="25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 </a:t>
            </a:r>
            <a:r>
              <a:rPr lang="en-IN" sz="25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Explanation:</a:t>
            </a:r>
            <a:endParaRPr lang="en-US" sz="25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829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5900" y="812800"/>
            <a:ext cx="6870700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Google Shape;68;p15"/>
          <p:cNvPicPr preferRelativeResize="0"/>
          <p:nvPr/>
        </p:nvPicPr>
        <p:blipFill rotWithShape="1">
          <a:blip r:embed="rId3"/>
          <a:srcRect l="41241" t="9528" r="-23988" b="51129"/>
          <a:stretch>
            <a:fillRect/>
          </a:stretch>
        </p:blipFill>
        <p:spPr>
          <a:xfrm>
            <a:off x="0" y="4073752"/>
            <a:ext cx="4457700" cy="106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7697</Words>
  <Application>WPS Presentation</Application>
  <PresentationFormat>On-screen Show (16:9)</PresentationFormat>
  <Paragraphs>355</Paragraphs>
  <Slides>36</Slides>
  <Notes>43</Notes>
  <HiddenSlides>23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3" baseType="lpstr">
      <vt:lpstr>Arial</vt:lpstr>
      <vt:lpstr>SimSun</vt:lpstr>
      <vt:lpstr>Wingdings</vt:lpstr>
      <vt:lpstr>Arial</vt:lpstr>
      <vt:lpstr>Microsoft YaHei</vt:lpstr>
      <vt:lpstr>Arial Unicode MS</vt:lpstr>
      <vt:lpstr>Simple Light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  Question 08:</vt:lpstr>
      <vt:lpstr>   Explanation:</vt:lpstr>
      <vt:lpstr>   Question 09:</vt:lpstr>
      <vt:lpstr>       Explanation: </vt:lpstr>
      <vt:lpstr>       Explanation: </vt:lpstr>
      <vt:lpstr>   Question 10:</vt:lpstr>
      <vt:lpstr>   Explanation:</vt:lpstr>
      <vt:lpstr>   Question 11:</vt:lpstr>
      <vt:lpstr>   Explanation:</vt:lpstr>
      <vt:lpstr>   Question 12:</vt:lpstr>
      <vt:lpstr>   Explanation:</vt:lpstr>
      <vt:lpstr>   Question 13:</vt:lpstr>
      <vt:lpstr>   Explanation:</vt:lpstr>
      <vt:lpstr>   Explanation:</vt:lpstr>
      <vt:lpstr>   Explanation:</vt:lpstr>
      <vt:lpstr>   Question 14:</vt:lpstr>
      <vt:lpstr>   Explanation:</vt:lpstr>
      <vt:lpstr>   Question 15:</vt:lpstr>
      <vt:lpstr>   Explanation:</vt:lpstr>
      <vt:lpstr>   Explanation: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sushmitha</dc:creator>
  <cp:lastModifiedBy>Prasanth P</cp:lastModifiedBy>
  <cp:revision>640</cp:revision>
  <dcterms:created xsi:type="dcterms:W3CDTF">2019-12-12T05:47:00Z</dcterms:created>
  <dcterms:modified xsi:type="dcterms:W3CDTF">2022-02-08T05:25:43Z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1033-11.2.0.10311</vt:lpwstr>
  </property>
  <property fmtid="{D5CDD505-2E9C-101B-9397-08002B2CF9AE}" pid="3" name="ICV">
    <vt:lpwstr>3FFAF4DA87304B9B8CE6C15F5A1F832B</vt:lpwstr>
  </property>
</Properties>
</file>