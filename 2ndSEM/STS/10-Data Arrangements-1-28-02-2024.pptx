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</p:sldIdLst>
  <p:sldSz cy="5143500" cx="9144000"/>
  <p:notesSz cx="6858000" cy="9144000"/>
  <p:embeddedFontLst>
    <p:embeddedFont>
      <p:font typeface="Roboto"/>
      <p:regular r:id="rId45"/>
      <p:bold r:id="rId46"/>
      <p:italic r:id="rId47"/>
      <p:boldItalic r:id="rId4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2222">
          <p15:clr>
            <a:srgbClr val="9AA0A6"/>
          </p15:clr>
        </p15:guide>
        <p15:guide id="2" orient="horz" pos="2755">
          <p15:clr>
            <a:srgbClr val="9AA0A6"/>
          </p15:clr>
        </p15:guide>
        <p15:guide id="3" orient="horz" pos="776">
          <p15:clr>
            <a:srgbClr val="9AA0A6"/>
          </p15:clr>
        </p15:guide>
        <p15:guide id="4" pos="206">
          <p15:clr>
            <a:srgbClr val="9AA0A6"/>
          </p15:clr>
        </p15:guide>
        <p15:guide id="5" pos="5553">
          <p15:clr>
            <a:srgbClr val="9AA0A6"/>
          </p15:clr>
        </p15:guide>
        <p15:guide id="6" orient="horz" pos="914">
          <p15:clr>
            <a:srgbClr val="9AA0A6"/>
          </p15:clr>
        </p15:guide>
        <p15:guide id="7" orient="horz" pos="2451">
          <p15:clr>
            <a:srgbClr val="9AA0A6"/>
          </p15:clr>
        </p15:guide>
        <p15:guide id="8" pos="871">
          <p15:clr>
            <a:srgbClr val="9AA0A6"/>
          </p15:clr>
        </p15:guide>
        <p15:guide id="9" pos="2880">
          <p15:clr>
            <a:srgbClr val="9AA0A6"/>
          </p15:clr>
        </p15:guide>
        <p15:guide id="10" pos="4909">
          <p15:clr>
            <a:srgbClr val="9AA0A6"/>
          </p15:clr>
        </p15:guide>
        <p15:guide id="11" orient="horz" pos="2193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222"/>
        <p:guide pos="2755" orient="horz"/>
        <p:guide pos="776" orient="horz"/>
        <p:guide pos="206"/>
        <p:guide pos="5553"/>
        <p:guide pos="914" orient="horz"/>
        <p:guide pos="2451" orient="horz"/>
        <p:guide pos="871"/>
        <p:guide pos="2880"/>
        <p:guide pos="4909"/>
        <p:guide pos="2193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44" Type="http://schemas.openxmlformats.org/officeDocument/2006/relationships/slide" Target="slides/slide39.xml"/><Relationship Id="rId21" Type="http://schemas.openxmlformats.org/officeDocument/2006/relationships/slide" Target="slides/slide16.xml"/><Relationship Id="rId43" Type="http://schemas.openxmlformats.org/officeDocument/2006/relationships/slide" Target="slides/slide38.xml"/><Relationship Id="rId24" Type="http://schemas.openxmlformats.org/officeDocument/2006/relationships/slide" Target="slides/slide19.xml"/><Relationship Id="rId46" Type="http://schemas.openxmlformats.org/officeDocument/2006/relationships/font" Target="fonts/Roboto-bold.fntdata"/><Relationship Id="rId23" Type="http://schemas.openxmlformats.org/officeDocument/2006/relationships/slide" Target="slides/slide18.xml"/><Relationship Id="rId45" Type="http://schemas.openxmlformats.org/officeDocument/2006/relationships/font" Target="fonts/Roboto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48" Type="http://schemas.openxmlformats.org/officeDocument/2006/relationships/font" Target="fonts/Roboto-boldItalic.fntdata"/><Relationship Id="rId25" Type="http://schemas.openxmlformats.org/officeDocument/2006/relationships/slide" Target="slides/slide20.xml"/><Relationship Id="rId47" Type="http://schemas.openxmlformats.org/officeDocument/2006/relationships/font" Target="fonts/Roboto-italic.fntdata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Cover Slide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81cc398c44_1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" name="Google Shape;54;g81cc398c44_1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81cc54d2bd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81cc54d2b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83049d06e0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83049d06e0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3049d06e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3049d06e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56fbcb5ab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56fbcb5ab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81cc398c44_1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81cc398c44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81cc398c44_1_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81cc398c44_1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81cc398c44_1_1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81cc398c44_1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81cc398c44_1_1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81cc398c44_1_1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81cc398c44_1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81cc398c44_1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81cc398c44_1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81cc398c44_1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81cc398c44_1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81cc398c44_1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83049d06e0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83049d06e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81cc398c44_1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81cc398c44_1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81cc398c44_1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81cc398c44_1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81cc398c44_1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81cc398c44_1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81cc398c44_1_2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81cc398c44_1_2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81cc398c44_1_2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8" name="Google Shape;218;g81cc398c44_1_2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81cc398c44_1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81cc398c44_1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81cc398c44_1_2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81cc398c44_1_2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g81cc398c44_1_2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8" name="Google Shape;248;g81cc398c44_1_2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81cc398c44_1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81cc398c44_1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81cc398c44_1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81cc398c44_1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81cc398c44_1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81cc398c44_1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g83049d06e0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7" name="Google Shape;287;g83049d06e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81cc398c44_1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81cc398c44_1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81cc398c44_1_2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81cc398c44_1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81cc398c44_1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81cc398c44_1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81cc398c44_1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81cc398c44_1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g81cc398c44_1_3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8" name="Google Shape;338;g81cc398c44_1_3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81cc398c44_1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81cc398c44_1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83049d06e0_0_1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83049d06e0_0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81cc398c44_1_3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81cc398c44_1_3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81cc398c44_1_3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81cc398c44_1_3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g81cc398c44_1_4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g81cc398c44_1_4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g83049d06e0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8" name="Google Shape;398;g83049d06e0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81cc398c44_1_4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81cc398c44_1_4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826ad4b75f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8" name="Google Shape;418;g826ad4b75f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2" name="Google Shape;12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0" name="Google Shape;20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1" name="Google Shape;3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5" name="Google Shape;35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6" name="Google Shape;36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0" name="Google Shape;4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4" name="Google Shape;44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0.png"/><Relationship Id="rId6" Type="http://schemas.openxmlformats.org/officeDocument/2006/relationships/image" Target="../media/image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11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7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png"/><Relationship Id="rId4" Type="http://schemas.openxmlformats.org/officeDocument/2006/relationships/image" Target="../media/image3.jpg"/><Relationship Id="rId5" Type="http://schemas.openxmlformats.org/officeDocument/2006/relationships/image" Target="../media/image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png"/><Relationship Id="rId4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08000" y="431425"/>
            <a:ext cx="3527998" cy="42806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1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Topic Name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59" name="Google Shape;59;p14"/>
          <p:cNvSpPr txBox="1"/>
          <p:nvPr/>
        </p:nvSpPr>
        <p:spPr>
          <a:xfrm>
            <a:off x="327600" y="545325"/>
            <a:ext cx="7384200" cy="35298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		                        DATA ARRANGEMENT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  <a:p>
            <a:pPr indent="-457200" lvl="0" marL="45720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rPr lang="en-GB" sz="2000">
                <a:latin typeface="Roboto"/>
                <a:ea typeface="Roboto"/>
                <a:cs typeface="Roboto"/>
                <a:sym typeface="Roboto"/>
              </a:rPr>
              <a:t>                                             (Linear Relationship)  </a:t>
            </a:r>
            <a:endParaRPr sz="2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8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-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Linear Arrangement :</a:t>
            </a: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5"/>
          <p:cNvSpPr txBox="1"/>
          <p:nvPr/>
        </p:nvSpPr>
        <p:spPr>
          <a:xfrm>
            <a:off x="39722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FFFFF"/>
                </a:highlight>
              </a:rPr>
              <a:t>A Linear arrangement can be defined as a straight line arrangement typically involving not more than two dimensions. The key factor to be noted here is that arrangements are done only on one axis. When A is said to be on the left or ahead of B, in a linear arrangement, it cannot be assumed that A is to the immediate left of B or immediately ahead of B unless it is mentioned so specifically.</a:t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The directions given are relative in nature as it depends on from whose perspective the test-taker is deciding the directions.</a:t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Google Shape;73;p1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Linear Arrangement :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7" name="Google Shape;77;p16"/>
          <p:cNvSpPr txBox="1"/>
          <p:nvPr/>
        </p:nvSpPr>
        <p:spPr>
          <a:xfrm>
            <a:off x="39722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For example, </a:t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        if four people P, Q, R, S are sitting at a table from left to right in the same order, then Q is sitting to the left of R but to the right of P. Change in orientation, left and right, depends on two possible scenarios i.e. whether the test-taker assumes people to be facing the direction he is facing or whether he assumes them to be facing the opposite direction. </a:t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But as long as consistency is maintained in incorporating the directions, this fact should not change the solution as the two scenarios are mirror images of each other. </a:t>
            </a:r>
            <a:endParaRPr>
              <a:highlight>
                <a:srgbClr val="FFFFFF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oogle Shape;82;p1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" name="Google Shape;83;p1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Directions to solve :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6" name="Google Shape;86;p17"/>
          <p:cNvSpPr txBox="1"/>
          <p:nvPr/>
        </p:nvSpPr>
        <p:spPr>
          <a:xfrm>
            <a:off x="39722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A, B, C, D, E, F and G are sitting in a row facing North  </a:t>
            </a:r>
            <a:endParaRPr>
              <a:highlight>
                <a:srgbClr val="FEFEFE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1) F is to the immediate right of E</a:t>
            </a:r>
            <a:endParaRPr>
              <a:highlight>
                <a:srgbClr val="FEFEFE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2) E is 4th to the right of G</a:t>
            </a:r>
            <a:endParaRPr>
              <a:highlight>
                <a:srgbClr val="FEFEFE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3) C is the neighbour of B and D </a:t>
            </a:r>
            <a:endParaRPr>
              <a:highlight>
                <a:srgbClr val="FEFEFE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4) Person who is third to the left of D is at one of ends</a:t>
            </a:r>
            <a:endParaRPr>
              <a:highlight>
                <a:srgbClr val="FEFEFE"/>
              </a:highlight>
            </a:endParaRPr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just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1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What is the position of A ?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EFEFE"/>
                </a:highlight>
              </a:rPr>
              <a:t>Between E and D</a:t>
            </a:r>
            <a:endParaRPr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EFEFE"/>
                </a:highlight>
              </a:rPr>
              <a:t>Extreme left</a:t>
            </a:r>
            <a:endParaRPr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EFEFE"/>
                </a:highlight>
              </a:rPr>
              <a:t>Centre</a:t>
            </a:r>
            <a:endParaRPr>
              <a:highlight>
                <a:srgbClr val="FEFEFE"/>
              </a:highlight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UcPeriod"/>
            </a:pPr>
            <a:r>
              <a:rPr lang="en-GB">
                <a:highlight>
                  <a:srgbClr val="FEFEFE"/>
                </a:highlight>
              </a:rPr>
              <a:t>Extreme right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</p:txBody>
      </p:sp>
      <p:sp>
        <p:nvSpPr>
          <p:cNvPr id="96" name="Google Shape;96;p1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Answer:D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1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             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  <a:highlight>
                  <a:srgbClr val="FEFEFE"/>
                </a:highlight>
              </a:rPr>
              <a:t>           A is in extreme right.</a:t>
            </a:r>
            <a:endParaRPr>
              <a:solidFill>
                <a:schemeClr val="dk1"/>
              </a:solidFill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EFEFE"/>
                </a:highlight>
              </a:rPr>
              <a:t>             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00" y="930575"/>
            <a:ext cx="6920100" cy="168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2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2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02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5" name="Google Shape;115;p2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Who are the neighbours of B ?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A.	</a:t>
            </a:r>
            <a:r>
              <a:rPr lang="en-GB">
                <a:highlight>
                  <a:srgbClr val="FEFEFE"/>
                </a:highlight>
              </a:rPr>
              <a:t>C and D 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B.	C and G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C.	G and F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EFEFE"/>
                </a:highlight>
              </a:rPr>
              <a:t>D.	C and E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</p:txBody>
      </p:sp>
      <p:sp>
        <p:nvSpPr>
          <p:cNvPr id="116" name="Google Shape;116;p2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2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2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2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5" name="Google Shape;125;p2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EFEFE"/>
                </a:highlight>
              </a:rPr>
              <a:t>           C and G are the neighbours of B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00" y="930575"/>
            <a:ext cx="6920100" cy="117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03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5" name="Google Shape;135;p2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Which of the following statement is not true ?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A.	E is to the immediate left of D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B.	A is at one of the ends 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C.	G is to the immediate left of B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EFEFE"/>
                </a:highlight>
              </a:rPr>
              <a:t>D.	F is second to the right of D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136" name="Google Shape;136;p2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Answer:A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Google Shape;141;p2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2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2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5" name="Google Shape;145;p2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00" y="930575"/>
            <a:ext cx="6920100" cy="1374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" name="Google Shape;151;p2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2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2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04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Who are to the left of C ?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A.	Only B 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B.	G, B and D 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EFEFE"/>
                </a:highlight>
              </a:rPr>
              <a:t>C.	G and B 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EFEFE"/>
                </a:highlight>
              </a:rPr>
              <a:t>D.	D, E, F and A</a:t>
            </a:r>
            <a:endParaRPr>
              <a:highlight>
                <a:srgbClr val="FEFEFE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2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Answer:C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2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2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2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5" name="Google Shape;165;p2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highlight>
                  <a:srgbClr val="FEFEFE"/>
                </a:highlight>
              </a:rPr>
              <a:t>         G an B are to the left of C</a:t>
            </a:r>
            <a:r>
              <a:rPr lang="en-GB" sz="1200">
                <a:solidFill>
                  <a:srgbClr val="555555"/>
                </a:solidFill>
                <a:highlight>
                  <a:srgbClr val="FEFEFE"/>
                </a:highlight>
                <a:latin typeface="Roboto"/>
                <a:ea typeface="Roboto"/>
                <a:cs typeface="Roboto"/>
                <a:sym typeface="Roboto"/>
              </a:rPr>
              <a:t>.</a:t>
            </a:r>
            <a:endParaRPr sz="1200">
              <a:solidFill>
                <a:srgbClr val="555555"/>
              </a:solidFill>
              <a:highlight>
                <a:srgbClr val="FEFEFE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66" name="Google Shape;166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4900" y="930575"/>
            <a:ext cx="6920100" cy="1225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26"/>
          <p:cNvSpPr txBox="1"/>
          <p:nvPr/>
        </p:nvSpPr>
        <p:spPr>
          <a:xfrm>
            <a:off x="0" y="233550"/>
            <a:ext cx="44577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    Directions to solve :     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5" name="Google Shape;175;p26"/>
          <p:cNvSpPr txBox="1"/>
          <p:nvPr/>
        </p:nvSpPr>
        <p:spPr>
          <a:xfrm>
            <a:off x="397225" y="999450"/>
            <a:ext cx="80769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Five girls are sitting on a bench to be photographed. Seema is to the left of Rani and to the right of Bindu. Mary is to the right of Rani. Reeta is between Rani and Mary.</a:t>
            </a:r>
            <a:endParaRPr>
              <a:solidFill>
                <a:schemeClr val="dk1"/>
              </a:solidFill>
            </a:endParaRPr>
          </a:p>
          <a:p>
            <a:pPr indent="0" lvl="0" marL="0" rtl="0" algn="just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EFEFE"/>
              </a:highlight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0" name="Google Shape;180;p2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2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05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84" name="Google Shape;184;p2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Who is sitting immediate right to Reeta?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A.	Bindu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B.	Rani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C.	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D.	Seema</a:t>
            </a:r>
            <a:endParaRPr/>
          </a:p>
        </p:txBody>
      </p:sp>
      <p:sp>
        <p:nvSpPr>
          <p:cNvPr id="185" name="Google Shape;185;p2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Answer:C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Google Shape;190;p2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94" name="Google Shape;194;p2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5" name="Google Shape;195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5500" y="2324100"/>
            <a:ext cx="49530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2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2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06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4" name="Google Shape;204;p2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is in the middle of the photograph?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A.	Bindu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B.	Rani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C.	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D.	Seema</a:t>
            </a:r>
            <a:endParaRPr/>
          </a:p>
        </p:txBody>
      </p:sp>
      <p:sp>
        <p:nvSpPr>
          <p:cNvPr id="205" name="Google Shape;205;p2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3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3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3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3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15" name="Google Shape;215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5500" y="2324100"/>
            <a:ext cx="49530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0" name="Google Shape;220;p3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3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3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3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07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24" name="Google Shape;224;p3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Who is second from the right?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A.	Bindu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B.	Reeta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C.	Mary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D.	Seema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           	</a:t>
            </a:r>
            <a:endParaRPr/>
          </a:p>
          <a:p>
            <a:pPr indent="0" lvl="0" marL="1143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  </a:t>
            </a:r>
            <a:endParaRPr/>
          </a:p>
        </p:txBody>
      </p:sp>
      <p:sp>
        <p:nvSpPr>
          <p:cNvPr id="225" name="Google Shape;225;p31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3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3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07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34" name="Google Shape;234;p3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5" name="Google Shape;235;p3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095500" y="2324100"/>
            <a:ext cx="4953000" cy="495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p3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1" name="Google Shape;241;p3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3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08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44" name="Google Shape;244;p3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A, P, R, X, S and Z are sitting in a row. S and Z are in the centre. A and P are at the ends. R is sitting to the left of A.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Who is to the right of P 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A.	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B.	X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C.	S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D.	Z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highlight>
                <a:srgbClr val="FFFFFF"/>
              </a:highlight>
            </a:endParaRPr>
          </a:p>
        </p:txBody>
      </p:sp>
      <p:sp>
        <p:nvSpPr>
          <p:cNvPr id="245" name="Google Shape;245;p33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3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08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4" name="Google Shape;254;p3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 seating arrangement is as follows: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  X  S  Z  R  A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Therefore, right of P is X.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Option </a:t>
            </a:r>
            <a:r>
              <a:rPr b="1" lang="en-GB"/>
              <a:t>B</a:t>
            </a:r>
            <a:endParaRPr b="1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" name="Google Shape;259;p3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3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3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09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3" name="Google Shape;263;p35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A, B, C, D and E are sitting on a bench. A is sitting next to B, C is sitting next to D, D is not sitting with E who is on the left end of the bench. C is on the second position from the right. A is to the right of B and E. A and C are sitting together. In which position A is sitting?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A.	Between B and 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B.	Between B and C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C.	Between E and 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D.	Between C and 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GB"/>
              <a:t>                                            </a:t>
            </a:r>
            <a:endParaRPr/>
          </a:p>
        </p:txBody>
      </p:sp>
      <p:sp>
        <p:nvSpPr>
          <p:cNvPr id="264" name="Google Shape;264;p35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9" name="Google Shape;269;p3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3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3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3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73" name="Google Shape;273;p3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            Therefore, A is sitting in between B and C.</a:t>
            </a:r>
            <a:endParaRPr/>
          </a:p>
        </p:txBody>
      </p:sp>
      <p:pic>
        <p:nvPicPr>
          <p:cNvPr id="274" name="Google Shape;274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9275" y="1231200"/>
            <a:ext cx="5607700" cy="76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9" name="Google Shape;279;p3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0" name="Google Shape;280;p3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3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Directions to solve 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3" name="Google Shape;283;p37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 ,B, C, D and E are five men sitting in a line facing to south - while M, N, O, P and Q are five ladies sitting in a second line parallel to the first line and are facing to North.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B who is just next to the left of D, is opposite to Q.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C and N are diagonally opposite to each other.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E is opposite to O who is just next right of M.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P who is just to the left of Q, is opposite to D.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M is at one end of the line.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284" name="Google Shape;284;p37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" name="Google Shape;289;p3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3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10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Who is sitting third to the right of O 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A.	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B.	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C.	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D.	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94" name="Google Shape;294;p3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3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p3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3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03" name="Google Shape;303;p3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4" name="Google Shape;304;p3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91800" y="1313750"/>
            <a:ext cx="3528000" cy="1722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4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4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11" name="Google Shape;311;p4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4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13" name="Google Shape;313;p4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If B shifts to the place of E, E shifts to the place of Q, and Q shifts to the place of B, then who will be the second to the left of the person opposite to O 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A.	Q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B.	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C.	E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D.	D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14" name="Google Shape;314;p40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Answer:A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9" name="Google Shape;319;p4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41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41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11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23" name="Google Shape;323;p41"/>
          <p:cNvSpPr txBox="1"/>
          <p:nvPr/>
        </p:nvSpPr>
        <p:spPr>
          <a:xfrm>
            <a:off x="327600" y="930575"/>
            <a:ext cx="7384200" cy="36621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Initial arragement: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New arrangement after shifting :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</a:rPr>
              <a:t>                                             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B is opposite to O and second person left to B is Q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chemeClr val="dk1"/>
                </a:solidFill>
                <a:highlight>
                  <a:srgbClr val="FFFFFF"/>
                </a:highlight>
              </a:rPr>
              <a:t>                                              </a:t>
            </a: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.</a:t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324" name="Google Shape;324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31775" y="1165025"/>
            <a:ext cx="3788025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31775" y="2634500"/>
            <a:ext cx="2057400" cy="118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0" name="Google Shape;330;p42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42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42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42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12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34" name="Google Shape;334;p42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Which of the following pair is diagonally opposite to each other 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A.	EQ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B.	BO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C.	AN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D.	AM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35" name="Google Shape;335;p42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Answer:D 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43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3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3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43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4" name="Google Shape;344;p43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45" name="Google Shape;345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2575" y="1577375"/>
            <a:ext cx="3110900" cy="1630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44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44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44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44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13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54" name="Google Shape;354;p44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If O and P, A and E and B and Q interchange their positions, then who will be the second person to the right of the person who is opposite to the person second of the right of P 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A.	D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B.	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C.	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D.	O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55" name="Google Shape;355;p44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45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1" name="Google Shape;361;p45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p45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45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64" name="Google Shape;364;p45"/>
          <p:cNvSpPr txBox="1"/>
          <p:nvPr/>
        </p:nvSpPr>
        <p:spPr>
          <a:xfrm>
            <a:off x="327600" y="999450"/>
            <a:ext cx="8394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5" name="Google Shape;365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921075" y="1301375"/>
            <a:ext cx="3528000" cy="1965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46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72" name="Google Shape;372;p46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46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14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74" name="Google Shape;374;p46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In the original arrangement who is sitting just opposite to N ?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A.	B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B.	A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C.	C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D.	D</a:t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375" name="Google Shape;375;p46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Answer:B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Google Shape;380;p47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47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47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47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84" name="Google Shape;384;p47"/>
          <p:cNvSpPr txBox="1"/>
          <p:nvPr/>
        </p:nvSpPr>
        <p:spPr>
          <a:xfrm>
            <a:off x="327600" y="999450"/>
            <a:ext cx="83940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5" name="Google Shape;385;p4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19375" y="1375725"/>
            <a:ext cx="3800425" cy="187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8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8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48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48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Directions to solve :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94" name="Google Shape;394;p48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A, B, C, D, E, F and G are sitting in a row facing North :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F is to the immediate right of E.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E is 4</a:t>
            </a:r>
            <a:r>
              <a:rPr baseline="30000" lang="en-GB">
                <a:highlight>
                  <a:srgbClr val="FFFFFF"/>
                </a:highlight>
              </a:rPr>
              <a:t>th</a:t>
            </a:r>
            <a:r>
              <a:rPr lang="en-GB">
                <a:highlight>
                  <a:srgbClr val="FFFFFF"/>
                </a:highlight>
              </a:rPr>
              <a:t> to the right of G.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C is the neighbour of B and D.</a:t>
            </a:r>
            <a:endParaRPr>
              <a:highlight>
                <a:srgbClr val="FFFFFF"/>
              </a:highlight>
            </a:endParaRPr>
          </a:p>
          <a:p>
            <a:pPr indent="0" lvl="0" marL="0" marR="508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Person who is third to the left of D is at one of ends.</a:t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395" name="Google Shape;395;p48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0" name="Google Shape;400;p49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9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9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49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Question: 15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04" name="Google Shape;404;p49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Who are to the left of C ?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A.	Only B</a:t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B.	G, B and D</a:t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C.	G and B</a:t>
            </a:r>
            <a:endParaRPr b="1"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highlight>
                  <a:srgbClr val="FFFFFF"/>
                </a:highlight>
              </a:rPr>
              <a:t>D.	D, E, F and A</a:t>
            </a:r>
            <a:endParaRPr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t/>
            </a:r>
            <a:endParaRPr>
              <a:highlight>
                <a:srgbClr val="FFFFFF"/>
              </a:highlight>
            </a:endParaRPr>
          </a:p>
        </p:txBody>
      </p:sp>
      <p:sp>
        <p:nvSpPr>
          <p:cNvPr id="405" name="Google Shape;405;p49"/>
          <p:cNvSpPr txBox="1"/>
          <p:nvPr/>
        </p:nvSpPr>
        <p:spPr>
          <a:xfrm>
            <a:off x="7250475" y="4171350"/>
            <a:ext cx="1564500" cy="4752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/>
              <a:t>Answer:C 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0" name="Google Shape;410;p50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50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50"/>
          <p:cNvSpPr/>
          <p:nvPr/>
        </p:nvSpPr>
        <p:spPr>
          <a:xfrm>
            <a:off x="0" y="233550"/>
            <a:ext cx="3528000" cy="475200"/>
          </a:xfrm>
          <a:prstGeom prst="homePlate">
            <a:avLst>
              <a:gd fmla="val 50000" name="adj"/>
            </a:avLst>
          </a:prstGeom>
          <a:solidFill>
            <a:srgbClr val="5F1E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50"/>
          <p:cNvSpPr txBox="1"/>
          <p:nvPr/>
        </p:nvSpPr>
        <p:spPr>
          <a:xfrm>
            <a:off x="327600" y="233550"/>
            <a:ext cx="2827800" cy="47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Explanation: </a:t>
            </a:r>
            <a:endParaRPr sz="20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14" name="Google Shape;414;p50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highlight>
                  <a:srgbClr val="FFFFFF"/>
                </a:highlight>
              </a:rPr>
              <a:t>                 G an B are to the left of C.</a:t>
            </a:r>
            <a:endParaRPr/>
          </a:p>
        </p:txBody>
      </p:sp>
      <p:pic>
        <p:nvPicPr>
          <p:cNvPr id="415" name="Google Shape;415;p5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36850" y="1450825"/>
            <a:ext cx="5978150" cy="167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Google Shape;420;p51"/>
          <p:cNvPicPr preferRelativeResize="0"/>
          <p:nvPr/>
        </p:nvPicPr>
        <p:blipFill rotWithShape="1">
          <a:blip r:embed="rId3">
            <a:alphaModFix/>
          </a:blip>
          <a:srcRect b="51129" l="41241" r="-23988" t="9528"/>
          <a:stretch/>
        </p:blipFill>
        <p:spPr>
          <a:xfrm>
            <a:off x="0" y="4075175"/>
            <a:ext cx="4457700" cy="106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51"/>
          <p:cNvPicPr preferRelativeResize="0"/>
          <p:nvPr/>
        </p:nvPicPr>
        <p:blipFill rotWithShape="1">
          <a:blip r:embed="rId4">
            <a:alphaModFix/>
          </a:blip>
          <a:srcRect b="0" l="0" r="57233" t="0"/>
          <a:stretch/>
        </p:blipFill>
        <p:spPr>
          <a:xfrm>
            <a:off x="8189675" y="233550"/>
            <a:ext cx="724574" cy="76679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51"/>
          <p:cNvSpPr txBox="1"/>
          <p:nvPr/>
        </p:nvSpPr>
        <p:spPr>
          <a:xfrm>
            <a:off x="327600" y="930575"/>
            <a:ext cx="7384200" cy="31446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 sz="2800"/>
          </a:p>
          <a:p>
            <a:pPr indent="457200" lvl="0" marL="2743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-GB" sz="2800"/>
              <a:t>THANK YOU</a:t>
            </a:r>
            <a:endParaRPr i="1" sz="2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i="1" sz="28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