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1" r:id="rId23"/>
    <p:sldId id="282" r:id="rId24"/>
    <p:sldId id="277" r:id="rId25"/>
    <p:sldId id="278" r:id="rId26"/>
    <p:sldId id="279" r:id="rId27"/>
    <p:sldId id="280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772">
          <p15:clr>
            <a:srgbClr val="000000"/>
          </p15:clr>
        </p15:guide>
        <p15:guide id="2" orient="horz" pos="828">
          <p15:clr>
            <a:srgbClr val="000000"/>
          </p15:clr>
        </p15:guide>
        <p15:guide id="3" orient="horz" pos="1140">
          <p15:clr>
            <a:srgbClr val="000000"/>
          </p15:clr>
        </p15:guide>
        <p15:guide id="4" orient="horz" pos="2451">
          <p15:clr>
            <a:srgbClr val="000000"/>
          </p15:clr>
        </p15:guide>
        <p15:guide id="5" orient="horz" pos="2196">
          <p15:clr>
            <a:srgbClr val="000000"/>
          </p15:clr>
        </p15:guide>
        <p15:guide id="6" pos="2208">
          <p15:clr>
            <a:srgbClr val="000000"/>
          </p15:clr>
        </p15:guide>
        <p15:guide id="7" pos="216">
          <p15:clr>
            <a:srgbClr val="000000"/>
          </p15:clr>
        </p15:guide>
        <p15:guide id="8" pos="5553">
          <p15:clr>
            <a:srgbClr val="000000"/>
          </p15:clr>
        </p15:guide>
        <p15:guide id="9" pos="888">
          <p15:clr>
            <a:srgbClr val="000000"/>
          </p15:clr>
        </p15:guide>
        <p15:guide id="10" pos="2856">
          <p15:clr>
            <a:srgbClr val="000000"/>
          </p15:clr>
        </p15:guide>
        <p15:guide id="11" pos="4909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gwcwwzAfURp2oM3AeTgE+2rxgB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>
        <p:guide orient="horz" pos="2772"/>
        <p:guide orient="horz" pos="828"/>
        <p:guide orient="horz" pos="1140"/>
        <p:guide orient="horz" pos="2451"/>
        <p:guide orient="horz" pos="2196"/>
        <p:guide pos="2208"/>
        <p:guide pos="216"/>
        <p:guide pos="5553"/>
        <p:guide pos="888"/>
        <p:guide pos="2856"/>
        <p:guide pos="49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3" name="Google Shape;23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" name="Google Shape;24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8" name="Google Shape;28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" name="Google Shape;31;p4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4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4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3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4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4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4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4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08000" y="431425"/>
            <a:ext cx="3527998" cy="428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heel spokes="8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body" idx="1"/>
          </p:nvPr>
        </p:nvSpPr>
        <p:spPr>
          <a:xfrm>
            <a:off x="1161143" y="1683657"/>
            <a:ext cx="6487886" cy="1802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 b="1">
                <a:solidFill>
                  <a:schemeClr val="dk1"/>
                </a:solidFill>
              </a:rPr>
              <a:t>  CRYPTARITHMETIC</a:t>
            </a:r>
            <a:endParaRPr sz="4800" b="1">
              <a:solidFill>
                <a:schemeClr val="dk1"/>
              </a:solidFill>
            </a:endParaRPr>
          </a:p>
        </p:txBody>
      </p:sp>
      <p:pic>
        <p:nvPicPr>
          <p:cNvPr id="50" name="Google Shape;5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2971" y="174171"/>
            <a:ext cx="1959429" cy="826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2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>
            <a:spLocks noGrp="1"/>
          </p:cNvSpPr>
          <p:nvPr>
            <p:ph type="body" idx="1"/>
          </p:nvPr>
        </p:nvSpPr>
        <p:spPr>
          <a:xfrm>
            <a:off x="342900" y="1117600"/>
            <a:ext cx="7814129" cy="295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solidFill>
                  <a:schemeClr val="dk1"/>
                </a:solidFill>
              </a:rPr>
              <a:t>Rules for solving Cryptarithmetic problems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 Each Letter, Symbol represents only one digit throughout the problem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 Numbers must not begin with zero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 Aim is to find the value of each letter in the Cryptarithmetic problems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 There must be only one solution to the Cryptarithmetic problems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 Carry over can only be 1 in Cryptarithmetic problems</a:t>
            </a:r>
            <a:endParaRPr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600" b="1">
              <a:solidFill>
                <a:schemeClr val="dk1"/>
              </a:solidFill>
            </a:endParaRPr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2971" y="174171"/>
            <a:ext cx="1959429" cy="826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3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0" y="174171"/>
            <a:ext cx="6712857" cy="682172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06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CRYPTARITHMETIC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/>
          <p:cNvPicPr preferRelativeResize="0"/>
          <p:nvPr/>
        </p:nvPicPr>
        <p:blipFill rotWithShape="1">
          <a:blip r:embed="rId3">
            <a:alphaModFix/>
          </a:blip>
          <a:srcRect l="41240" t="9528" r="-23987" b="51129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/>
          <p:nvPr/>
        </p:nvSpPr>
        <p:spPr>
          <a:xfrm>
            <a:off x="0" y="141638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0" y="203917"/>
            <a:ext cx="317626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Question: 01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164660" y="823337"/>
            <a:ext cx="8525120" cy="380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Value of GO + TO = OUT, O + U + 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99630" marR="0" lvl="0" indent="-71996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     Answer: 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5"/>
          <p:cNvPicPr preferRelativeResize="0"/>
          <p:nvPr/>
        </p:nvPicPr>
        <p:blipFill rotWithShape="1">
          <a:blip r:embed="rId3">
            <a:alphaModFix/>
          </a:blip>
          <a:srcRect l="41240" t="9528" r="-23987" b="51129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0" y="141638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0" y="203917"/>
            <a:ext cx="317626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46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Explanation: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195140" y="1424047"/>
            <a:ext cx="8525120" cy="119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G    O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T     O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----------------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O    U    T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6"/>
          <p:cNvPicPr preferRelativeResize="0"/>
          <p:nvPr/>
        </p:nvPicPr>
        <p:blipFill rotWithShape="1">
          <a:blip r:embed="rId3">
            <a:alphaModFix/>
          </a:blip>
          <a:srcRect l="41240" t="9528" r="-23987" b="51129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/>
          <p:nvPr/>
        </p:nvSpPr>
        <p:spPr>
          <a:xfrm>
            <a:off x="0" y="141638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0" y="203917"/>
            <a:ext cx="317626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Question: 01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164660" y="823337"/>
            <a:ext cx="8525120" cy="407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LET + LEE = ALL where every letter represents a unique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 from 0 to 9, find out (A+L+L)   if E=5.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99630" marR="0" lvl="0" indent="-71996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     Answer: C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8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7"/>
          <p:cNvPicPr preferRelativeResize="0"/>
          <p:nvPr/>
        </p:nvPicPr>
        <p:blipFill rotWithShape="1">
          <a:blip r:embed="rId3">
            <a:alphaModFix/>
          </a:blip>
          <a:srcRect l="41240" t="9528" r="-23987" b="51129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/>
          <p:nvPr/>
        </p:nvSpPr>
        <p:spPr>
          <a:xfrm>
            <a:off x="0" y="141638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0" y="203917"/>
            <a:ext cx="317626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46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Explanation: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 txBox="1"/>
          <p:nvPr/>
        </p:nvSpPr>
        <p:spPr>
          <a:xfrm>
            <a:off x="195140" y="1424047"/>
            <a:ext cx="8525120" cy="119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L    E    T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L    E    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----------------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A    L     L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8"/>
          <p:cNvPicPr preferRelativeResize="0"/>
          <p:nvPr/>
        </p:nvPicPr>
        <p:blipFill rotWithShape="1">
          <a:blip r:embed="rId3">
            <a:alphaModFix/>
          </a:blip>
          <a:srcRect l="41240" t="9528" r="-23987" b="51129"/>
          <a:stretch/>
        </p:blipFill>
        <p:spPr>
          <a:xfrm>
            <a:off x="0" y="4071938"/>
            <a:ext cx="4886325" cy="1071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8"/>
          <p:cNvSpPr/>
          <p:nvPr/>
        </p:nvSpPr>
        <p:spPr>
          <a:xfrm>
            <a:off x="0" y="135577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8"/>
          <p:cNvSpPr txBox="1"/>
          <p:nvPr/>
        </p:nvSpPr>
        <p:spPr>
          <a:xfrm>
            <a:off x="0" y="213069"/>
            <a:ext cx="312367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2908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02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342900" y="1276349"/>
            <a:ext cx="8472488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EVER + SINCE = DARWIN assume (E=5),  then find the value of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+ A + R + W + I + N?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     Answer: B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9"/>
          <p:cNvPicPr preferRelativeResize="0"/>
          <p:nvPr/>
        </p:nvPicPr>
        <p:blipFill rotWithShape="1">
          <a:blip r:embed="rId3">
            <a:alphaModFix/>
          </a:blip>
          <a:srcRect l="41240" t="9528" r="-23987" b="51129"/>
          <a:stretch/>
        </p:blipFill>
        <p:spPr>
          <a:xfrm>
            <a:off x="0" y="4071938"/>
            <a:ext cx="4886325" cy="1071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9"/>
          <p:cNvSpPr/>
          <p:nvPr/>
        </p:nvSpPr>
        <p:spPr>
          <a:xfrm>
            <a:off x="0" y="135577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 txBox="1"/>
          <p:nvPr/>
        </p:nvSpPr>
        <p:spPr>
          <a:xfrm>
            <a:off x="0" y="188686"/>
            <a:ext cx="3123675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317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</a:t>
            </a:r>
            <a:r>
              <a:rPr lang="en-US" sz="2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342900" y="1276349"/>
            <a:ext cx="8472488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 = 5653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SINCE = 97825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------------------------------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103478 = DARWIN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------------------------------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+ 0 + 3 + 4 + 7 + 8 = 23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0"/>
          <p:cNvPicPr preferRelativeResize="0"/>
          <p:nvPr/>
        </p:nvPicPr>
        <p:blipFill rotWithShape="1">
          <a:blip r:embed="rId3">
            <a:alphaModFix/>
          </a:blip>
          <a:srcRect l="41240" t="9528" r="-23987" b="51129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0" y="181536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4625" marR="0" lvl="0" indent="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03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/>
          <p:nvPr/>
        </p:nvSpPr>
        <p:spPr>
          <a:xfrm>
            <a:off x="342900" y="1276350"/>
            <a:ext cx="8472488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KANSAS + OHIO = OREGON, assume O=5. Then find the value of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+ R + O + S + S?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    Answer: D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1"/>
          <p:cNvPicPr preferRelativeResize="0"/>
          <p:nvPr/>
        </p:nvPicPr>
        <p:blipFill rotWithShape="1">
          <a:blip r:embed="rId3">
            <a:alphaModFix/>
          </a:blip>
          <a:srcRect l="41240" t="9528" r="-23987" b="51129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/>
          <p:nvPr/>
        </p:nvSpPr>
        <p:spPr>
          <a:xfrm>
            <a:off x="0" y="181536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317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Explanation: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1"/>
          <p:cNvSpPr txBox="1"/>
          <p:nvPr/>
        </p:nvSpPr>
        <p:spPr>
          <a:xfrm>
            <a:off x="249910" y="865406"/>
            <a:ext cx="8472488" cy="211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KANSAS + OHIO = OREGON given the value of O = 5</a:t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KANSAS = 497292</a:t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OHIO = 5865</a:t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OREGON = 503157</a:t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+ R + O + S + S = 1 + 0 + 5 + 2 + 2 = 10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2"/>
          <p:cNvPicPr preferRelativeResize="0"/>
          <p:nvPr/>
        </p:nvPicPr>
        <p:blipFill rotWithShape="1">
          <a:blip r:embed="rId3">
            <a:alphaModFix/>
          </a:blip>
          <a:srcRect l="41240" t="9528" r="-23987" b="51129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2"/>
          <p:cNvSpPr/>
          <p:nvPr/>
        </p:nvSpPr>
        <p:spPr>
          <a:xfrm>
            <a:off x="0" y="168772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2"/>
          <p:cNvSpPr txBox="1"/>
          <p:nvPr/>
        </p:nvSpPr>
        <p:spPr>
          <a:xfrm>
            <a:off x="0" y="211118"/>
            <a:ext cx="4457699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317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04</a:t>
            </a:r>
            <a:endParaRPr sz="2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217715" y="986971"/>
            <a:ext cx="8321902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E A T + T H A T = A P P L E, what is the value of  A + T + L ?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Answer: B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3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3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3"/>
          <p:cNvPicPr preferRelativeResize="0"/>
          <p:nvPr/>
        </p:nvPicPr>
        <p:blipFill rotWithShape="1">
          <a:blip r:embed="rId3">
            <a:alphaModFix/>
          </a:blip>
          <a:srcRect l="41240" t="9528" r="-23987" b="51129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3"/>
          <p:cNvSpPr/>
          <p:nvPr/>
        </p:nvSpPr>
        <p:spPr>
          <a:xfrm>
            <a:off x="0" y="168772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0" y="195620"/>
            <a:ext cx="4457699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908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Explanation: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183793" y="980622"/>
            <a:ext cx="8486452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905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digit number (EAT) + 4 digit number(THAT) = 5 digit number(APPLE)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so, then A can be 1 and p can be 0.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Again here T is yielding a two digit number(10).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there must be a carry 1 and T = 9.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 the expression becomes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1 9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H 1 9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——————-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0 0 L E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 it is clear that E = 8 and L = 3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So, A + T + L = 1 + 9 + 3 =13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05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05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4"/>
          <p:cNvPicPr preferRelativeResize="0"/>
          <p:nvPr/>
        </p:nvPicPr>
        <p:blipFill rotWithShape="1">
          <a:blip r:embed="rId3">
            <a:alphaModFix/>
          </a:blip>
          <a:srcRect l="41240" t="9528" r="-23987" b="51129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/>
          <p:nvPr/>
        </p:nvSpPr>
        <p:spPr>
          <a:xfrm>
            <a:off x="0" y="225767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4625" marR="0" lvl="0" indent="11620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05 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343224" y="1314450"/>
            <a:ext cx="8472164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WAIT + ALL = GIFTS if A = 6, S = 5, then what's the value of  G + I + F + T?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12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13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14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    Answer: 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5"/>
          <p:cNvPicPr preferRelativeResize="0"/>
          <p:nvPr/>
        </p:nvPicPr>
        <p:blipFill rotWithShape="1">
          <a:blip r:embed="rId3">
            <a:alphaModFix/>
          </a:blip>
          <a:srcRect l="41240" t="9528" r="-23987" b="51129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/>
          <p:nvPr/>
        </p:nvSpPr>
        <p:spPr>
          <a:xfrm>
            <a:off x="0" y="225767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</a:t>
            </a:r>
            <a:r>
              <a:rPr lang="en-US" sz="2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198081" y="937079"/>
            <a:ext cx="8472164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 A I T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 L       +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—————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I F T S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9 6 0 8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7 7       +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———–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1 0 2 8 5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Hence G + I + F + T = 11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6"/>
          <p:cNvPicPr preferRelativeResize="0"/>
          <p:nvPr/>
        </p:nvPicPr>
        <p:blipFill rotWithShape="1">
          <a:blip r:embed="rId3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0" y="233550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90830" marR="0" lvl="0" indent="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06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342900" y="1314449"/>
            <a:ext cx="8472164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HEE+SHE= GIHE, assume (I =2), where the alphabets take the values from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(0-9) (S+H+E)?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14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15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12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Answer: C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7"/>
          <p:cNvPicPr preferRelativeResize="0"/>
          <p:nvPr/>
        </p:nvPicPr>
        <p:blipFill rotWithShape="1">
          <a:blip r:embed="rId3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/>
          <p:nvPr/>
        </p:nvSpPr>
        <p:spPr>
          <a:xfrm>
            <a:off x="0" y="233550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317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</a:t>
            </a:r>
            <a:r>
              <a:rPr lang="en-US" sz="2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270328" y="864506"/>
            <a:ext cx="84723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HEE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SHE= GIHE    (I=2)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H  E  E  +            9  0  0  +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  H  E          1    3  9  0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      ----------------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2  H  E          1    2  9  0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      -----------------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S+H+E=3+9+0=12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>
            <a:spLocks noGrp="1"/>
          </p:cNvSpPr>
          <p:nvPr>
            <p:ph type="body" idx="1"/>
          </p:nvPr>
        </p:nvSpPr>
        <p:spPr>
          <a:xfrm>
            <a:off x="268157" y="1021847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-US"/>
            </a:br>
            <a:endParaRPr/>
          </a:p>
        </p:txBody>
      </p:sp>
      <p:sp>
        <p:nvSpPr>
          <p:cNvPr id="185" name="Google Shape;185;p18"/>
          <p:cNvSpPr>
            <a:spLocks noGrp="1"/>
          </p:cNvSpPr>
          <p:nvPr>
            <p:ph type="title"/>
          </p:nvPr>
        </p:nvSpPr>
        <p:spPr>
          <a:xfrm>
            <a:off x="0" y="211016"/>
            <a:ext cx="6541477" cy="502418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46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Question</a:t>
            </a:r>
            <a:r>
              <a:rPr lang="en-US" sz="2500" b="1">
                <a:solidFill>
                  <a:srgbClr val="FFFFFF"/>
                </a:solidFill>
              </a:rPr>
              <a:t>: 07</a:t>
            </a:r>
            <a:endParaRPr sz="2500" b="1">
              <a:solidFill>
                <a:srgbClr val="FFFFFF"/>
              </a:solidFill>
            </a:endParaRPr>
          </a:p>
        </p:txBody>
      </p:sp>
      <p:pic>
        <p:nvPicPr>
          <p:cNvPr id="186" name="Google Shape;18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3604" y="110532"/>
            <a:ext cx="1831460" cy="80014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247860" y="820964"/>
            <a:ext cx="8393032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EAT+EAT+EAT=BEET if t=0, then find  the value of  TEE+TEE?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088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077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066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055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Answer: A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8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-US"/>
            </a:br>
            <a:endParaRPr/>
          </a:p>
        </p:txBody>
      </p:sp>
      <p:sp>
        <p:nvSpPr>
          <p:cNvPr id="194" name="Google Shape;194;p19"/>
          <p:cNvSpPr>
            <a:spLocks noGrp="1"/>
          </p:cNvSpPr>
          <p:nvPr>
            <p:ph type="title"/>
          </p:nvPr>
        </p:nvSpPr>
        <p:spPr>
          <a:xfrm>
            <a:off x="0" y="211016"/>
            <a:ext cx="6541477" cy="502418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7980" lvl="0" indent="5905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Explanation</a:t>
            </a:r>
            <a:r>
              <a:rPr lang="en-US" sz="2500" b="1">
                <a:solidFill>
                  <a:srgbClr val="FFFFFF"/>
                </a:solidFill>
              </a:rPr>
              <a:t>:</a:t>
            </a:r>
            <a:endParaRPr sz="2000" b="1">
              <a:solidFill>
                <a:srgbClr val="FFFFFF"/>
              </a:solidFill>
            </a:endParaRPr>
          </a:p>
        </p:txBody>
      </p:sp>
      <p:pic>
        <p:nvPicPr>
          <p:cNvPr id="195" name="Google Shape;19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3604" y="110532"/>
            <a:ext cx="1831460" cy="80014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422032" y="1314450"/>
            <a:ext cx="8393032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EAT+EAT+EAT = BEET. As T=0, no carry for A+A+A(3A). Possible values of A and E can be calculated by 1) 3A= E 2) 3A = 10 +E 3) 3A = 20 + E Here Largest carry generated by addition of three one digit number is 27(9+9+9). Hence value of E is less than 7 for equation 3. For Equation 3) Assume value of E is 7. Therefore value of A=9 now carry + E + E + E = BE. (2) + (7) + (7) + (7) = 23. but 7 is not equal to 3. Contradict to our assumption. Try another value of E as 4 for equation 3 E=4 therefore, A = 8. now carry + E + E + E = BE. (2) + (4) + (4) + (4) = 14. hence value satisfied with our prediction. hence E=4 A=8 and B=1 now TEE + TEE = TAA 044 + 044 = 088 In Above Equations A is integer. So take only those values which are divisible by 3.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9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92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If CROSS+ROADS= DANGER assume (s=3), then find the value of D+A+N+G+E+R? </a:t>
            </a:r>
            <a:endParaRPr>
              <a:solidFill>
                <a:schemeClr val="dk1"/>
              </a:solidFill>
            </a:endParaRPr>
          </a:p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59055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 31</a:t>
            </a:r>
            <a:endParaRPr>
              <a:solidFill>
                <a:schemeClr val="dk1"/>
              </a:solidFill>
            </a:endParaRPr>
          </a:p>
          <a:p>
            <a:pPr marL="59055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 21</a:t>
            </a:r>
            <a:endParaRPr>
              <a:solidFill>
                <a:schemeClr val="dk1"/>
              </a:solidFill>
            </a:endParaRPr>
          </a:p>
          <a:p>
            <a:pPr marL="59055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 11</a:t>
            </a:r>
            <a:endParaRPr>
              <a:solidFill>
                <a:schemeClr val="dk1"/>
              </a:solidFill>
            </a:endParaRPr>
          </a:p>
          <a:p>
            <a:pPr marL="59055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 16</a:t>
            </a:r>
            <a:endParaRPr>
              <a:solidFill>
                <a:schemeClr val="dk1"/>
              </a:solidFill>
            </a:endParaRPr>
          </a:p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Answer: A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</p:txBody>
      </p:sp>
      <p:pic>
        <p:nvPicPr>
          <p:cNvPr id="203" name="Google Shape;20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317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Question: 08</a:t>
            </a:r>
            <a:endParaRPr sz="2500" b="1">
              <a:solidFill>
                <a:srgbClr val="FFFFFF"/>
              </a:solidFill>
            </a:endParaRPr>
          </a:p>
        </p:txBody>
      </p:sp>
      <p:pic>
        <p:nvPicPr>
          <p:cNvPr id="205" name="Google Shape;205;p20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92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CROSS= 96233 ROADS=62513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DANGER=1+5+8+7+4+6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Hence the sum of the all is 31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211" name="Google Shape;21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9083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Explanation:</a:t>
            </a:r>
            <a:endParaRPr sz="2000" b="1">
              <a:solidFill>
                <a:srgbClr val="FFFFFF"/>
              </a:solidFill>
            </a:endParaRPr>
          </a:p>
        </p:txBody>
      </p:sp>
      <p:pic>
        <p:nvPicPr>
          <p:cNvPr id="213" name="Google Shape;213;p21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05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6204" lvl="0" indent="-1162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HERE = COMES –SHE assume S=8,  find the value of R+H+O?</a:t>
            </a:r>
            <a:endParaRPr>
              <a:solidFill>
                <a:schemeClr val="dk1"/>
              </a:solidFill>
            </a:endParaRPr>
          </a:p>
          <a:p>
            <a:pPr marL="116204" lvl="0" indent="-1162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6204" lvl="0" indent="-1162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12</a:t>
            </a:r>
            <a:endParaRPr>
              <a:solidFill>
                <a:schemeClr val="dk1"/>
              </a:solidFill>
            </a:endParaRPr>
          </a:p>
          <a:p>
            <a:pPr marL="116204" lvl="0" indent="-1162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14</a:t>
            </a:r>
            <a:endParaRPr>
              <a:solidFill>
                <a:schemeClr val="dk1"/>
              </a:solidFill>
            </a:endParaRPr>
          </a:p>
          <a:p>
            <a:pPr marL="116204" lvl="0" indent="-1162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15</a:t>
            </a:r>
            <a:endParaRPr>
              <a:solidFill>
                <a:schemeClr val="dk1"/>
              </a:solidFill>
            </a:endParaRPr>
          </a:p>
          <a:p>
            <a:pPr marL="116204" lvl="0" indent="-1162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18</a:t>
            </a:r>
            <a:endParaRPr>
              <a:solidFill>
                <a:schemeClr val="dk1"/>
              </a:solidFill>
            </a:endParaRPr>
          </a:p>
          <a:p>
            <a:pPr marL="116204" lvl="0" indent="-1162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6204" lvl="0" indent="-1162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6204" lvl="0" indent="-1162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6204" lvl="0" indent="-1162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Answer: B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51" name="Google Shape;25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6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2908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Question: 11</a:t>
            </a:r>
            <a:endParaRPr sz="2000" b="1">
              <a:solidFill>
                <a:srgbClr val="FFFFFF"/>
              </a:solidFill>
            </a:endParaRPr>
          </a:p>
        </p:txBody>
      </p:sp>
      <p:pic>
        <p:nvPicPr>
          <p:cNvPr id="253" name="Google Shape;253;p26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05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6204" lvl="0" indent="-19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HERE = COMES – SHE which can also be written as HERE + SHE = COMES</a:t>
            </a:r>
            <a:endParaRPr>
              <a:solidFill>
                <a:schemeClr val="dk1"/>
              </a:solidFill>
            </a:endParaRPr>
          </a:p>
          <a:p>
            <a:pPr marL="116204" lvl="0" indent="-19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          HERE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            SHE   +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      ------------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     COMES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    --------------</a:t>
            </a:r>
            <a:endParaRPr>
              <a:solidFill>
                <a:schemeClr val="dk1"/>
              </a:solidFill>
            </a:endParaRPr>
          </a:p>
          <a:p>
            <a:pPr marL="116204" lvl="0" indent="-19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C = 1, O = 0, H = 9, E + E = S = 8, 2 E =8, And E=4.</a:t>
            </a:r>
            <a:endParaRPr>
              <a:solidFill>
                <a:schemeClr val="dk1"/>
              </a:solidFill>
            </a:endParaRPr>
          </a:p>
          <a:p>
            <a:pPr marL="116204" lvl="0" indent="-19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So, COMES – SHE = HERE, 9454 + 894 = 10348</a:t>
            </a:r>
            <a:endParaRPr>
              <a:solidFill>
                <a:schemeClr val="dk1"/>
              </a:solidFill>
            </a:endParaRPr>
          </a:p>
          <a:p>
            <a:pPr marL="116204" lvl="0" indent="-19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R + H + O = 5 + 9 + 0 = 14</a:t>
            </a:r>
            <a:endParaRPr>
              <a:solidFill>
                <a:schemeClr val="dk1"/>
              </a:solidFill>
            </a:endParaRPr>
          </a:p>
          <a:p>
            <a:pPr marL="116204" lvl="0" indent="-19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259" name="Google Shape;25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7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7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Explanation:</a:t>
            </a:r>
            <a:endParaRPr sz="2000" b="1">
              <a:solidFill>
                <a:srgbClr val="FFFFFF"/>
              </a:solidFill>
            </a:endParaRPr>
          </a:p>
        </p:txBody>
      </p:sp>
      <p:pic>
        <p:nvPicPr>
          <p:cNvPr id="261" name="Google Shape;261;p27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92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DOG *GO = BOOO  +  APIG =  BBUDO. Find the value of multiplication then find the value of P and G?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9  and 5</a:t>
            </a:r>
            <a:endParaRPr>
              <a:solidFill>
                <a:schemeClr val="dk1"/>
              </a:solidFill>
            </a:endParaRPr>
          </a:p>
          <a:p>
            <a:pPr marL="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9  and 6</a:t>
            </a:r>
            <a:endParaRPr>
              <a:solidFill>
                <a:schemeClr val="dk1"/>
              </a:solidFill>
            </a:endParaRPr>
          </a:p>
          <a:p>
            <a:pPr marL="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8  and 7</a:t>
            </a:r>
            <a:endParaRPr>
              <a:solidFill>
                <a:schemeClr val="dk1"/>
              </a:solidFill>
            </a:endParaRPr>
          </a:p>
          <a:p>
            <a:pPr marL="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8  and 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Answer: B</a:t>
            </a:r>
            <a:endParaRPr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219" name="Google Shape;21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4625" lvl="0" indent="11620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Question: 09</a:t>
            </a:r>
            <a:endParaRPr sz="2000" b="1">
              <a:solidFill>
                <a:srgbClr val="FFFFFF"/>
              </a:solidFill>
            </a:endParaRPr>
          </a:p>
        </p:txBody>
      </p:sp>
      <p:pic>
        <p:nvPicPr>
          <p:cNvPr id="221" name="Google Shape;221;p22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92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DOG *  GO = BOOO  +  APIG =  BBUDO</a:t>
            </a:r>
            <a:endParaRPr>
              <a:solidFill>
                <a:schemeClr val="dk1"/>
              </a:solidFill>
            </a:endParaRPr>
          </a:p>
          <a:p>
            <a:pPr marL="11430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486   *   68  = 3888     + 2916  =   33048</a:t>
            </a:r>
            <a:endParaRPr>
              <a:solidFill>
                <a:schemeClr val="dk1"/>
              </a:solidFill>
            </a:endParaRPr>
          </a:p>
          <a:p>
            <a:pPr marL="11430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Here the value of P=9  and G=6</a:t>
            </a:r>
            <a:endParaRPr>
              <a:solidFill>
                <a:schemeClr val="dk1"/>
              </a:solidFill>
            </a:endParaRPr>
          </a:p>
          <a:p>
            <a:pPr marL="11430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430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430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..</a:t>
            </a:r>
            <a:endParaRPr>
              <a:solidFill>
                <a:schemeClr val="dk1"/>
              </a:solidFill>
            </a:endParaRPr>
          </a:p>
          <a:p>
            <a:pPr marL="11430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430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430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430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430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227" name="Google Shape;22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31775" lvl="0" indent="5905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Explanation:</a:t>
            </a:r>
            <a:endParaRPr sz="2000" b="1">
              <a:solidFill>
                <a:srgbClr val="FFFFFF"/>
              </a:solidFill>
            </a:endParaRPr>
          </a:p>
        </p:txBody>
      </p:sp>
      <p:pic>
        <p:nvPicPr>
          <p:cNvPr id="229" name="Google Shape;229;p23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92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905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MAD*BE =  MAD + RAE = AMID, then find the value of multiplication?</a:t>
            </a:r>
            <a:endParaRPr>
              <a:solidFill>
                <a:schemeClr val="dk1"/>
              </a:solidFill>
            </a:endParaRPr>
          </a:p>
          <a:p>
            <a:pPr marL="5905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59055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9341</a:t>
            </a:r>
            <a:endParaRPr>
              <a:solidFill>
                <a:schemeClr val="dk1"/>
              </a:solidFill>
            </a:endParaRPr>
          </a:p>
          <a:p>
            <a:pPr marL="59055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9547</a:t>
            </a:r>
            <a:endParaRPr>
              <a:solidFill>
                <a:schemeClr val="dk1"/>
              </a:solidFill>
            </a:endParaRPr>
          </a:p>
          <a:p>
            <a:pPr marL="59055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9207</a:t>
            </a:r>
            <a:endParaRPr>
              <a:solidFill>
                <a:schemeClr val="dk1"/>
              </a:solidFill>
            </a:endParaRPr>
          </a:p>
          <a:p>
            <a:pPr marL="59055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9710</a:t>
            </a:r>
            <a:endParaRPr>
              <a:solidFill>
                <a:schemeClr val="dk1"/>
              </a:solidFill>
            </a:endParaRPr>
          </a:p>
          <a:p>
            <a:pPr marL="5905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5905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5905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5905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Answer: C</a:t>
            </a:r>
            <a:endParaRPr>
              <a:solidFill>
                <a:schemeClr val="dk1"/>
              </a:solidFill>
            </a:endParaRPr>
          </a:p>
          <a:p>
            <a:pPr marL="5905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235" name="Google Shape;23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9083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Question: 10</a:t>
            </a:r>
            <a:endParaRPr sz="2000" b="1">
              <a:solidFill>
                <a:srgbClr val="FFFFFF"/>
              </a:solidFill>
            </a:endParaRPr>
          </a:p>
        </p:txBody>
      </p:sp>
      <p:pic>
        <p:nvPicPr>
          <p:cNvPr id="237" name="Google Shape;237;p24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907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MAD  *  BE =  MAD  + RAE =    AMID  </a:t>
            </a:r>
            <a:endParaRPr>
              <a:solidFill>
                <a:schemeClr val="dk1"/>
              </a:solidFill>
            </a:endParaRPr>
          </a:p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297    *  31  =  297    + 891  =     9207 </a:t>
            </a:r>
            <a:endParaRPr>
              <a:solidFill>
                <a:schemeClr val="dk1"/>
              </a:solidFill>
            </a:endParaRPr>
          </a:p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Then the value of the multiplication is  9207</a:t>
            </a:r>
            <a:endParaRPr>
              <a:solidFill>
                <a:schemeClr val="dk1"/>
              </a:solidFill>
            </a:endParaRPr>
          </a:p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</a:t>
            </a:r>
            <a:endParaRPr>
              <a:solidFill>
                <a:schemeClr val="dk1"/>
              </a:solidFill>
            </a:endParaRPr>
          </a:p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243" name="Google Shape;24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317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Explanation:</a:t>
            </a:r>
            <a:endParaRPr sz="2000" b="1">
              <a:solidFill>
                <a:srgbClr val="FFFFFF"/>
              </a:solidFill>
            </a:endParaRPr>
          </a:p>
        </p:txBody>
      </p:sp>
      <p:pic>
        <p:nvPicPr>
          <p:cNvPr id="245" name="Google Shape;245;p25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>
            <a:spLocks noGrp="1"/>
          </p:cNvSpPr>
          <p:nvPr>
            <p:ph type="body" idx="1"/>
          </p:nvPr>
        </p:nvSpPr>
        <p:spPr>
          <a:xfrm>
            <a:off x="152950" y="688925"/>
            <a:ext cx="8520600" cy="3405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IF      BOB * BOB 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        -----------------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           MEOY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           MILO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           MEOY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     ------------------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         MARLEY                                   then find the value of M+A+R+L+E+Y?</a:t>
            </a:r>
          </a:p>
          <a:p>
            <a:pPr fontAlgn="base">
              <a:buFont typeface="+mj-lt"/>
              <a:buAutoNum type="alphaUcPeriod"/>
            </a:pPr>
            <a:r>
              <a:rPr lang="en-US" dirty="0">
                <a:solidFill>
                  <a:schemeClr val="tx1"/>
                </a:solidFill>
              </a:rPr>
              <a:t>24</a:t>
            </a:r>
          </a:p>
          <a:p>
            <a:pPr fontAlgn="base">
              <a:buFont typeface="+mj-lt"/>
              <a:buAutoNum type="alphaUcPeriod"/>
            </a:pPr>
            <a:r>
              <a:rPr lang="en-US" dirty="0">
                <a:solidFill>
                  <a:schemeClr val="tx1"/>
                </a:solidFill>
              </a:rPr>
              <a:t>23</a:t>
            </a:r>
          </a:p>
          <a:p>
            <a:pPr fontAlgn="base">
              <a:buFont typeface="+mj-lt"/>
              <a:buAutoNum type="alphaUcPeriod"/>
            </a:pPr>
            <a:r>
              <a:rPr lang="en-US" dirty="0">
                <a:solidFill>
                  <a:schemeClr val="tx1"/>
                </a:solidFill>
              </a:rPr>
              <a:t>22</a:t>
            </a:r>
          </a:p>
          <a:p>
            <a:pPr fontAlgn="base">
              <a:buFont typeface="+mj-lt"/>
              <a:buAutoNum type="alphaUcPeriod"/>
            </a:pPr>
            <a:r>
              <a:rPr lang="en-US" dirty="0">
                <a:solidFill>
                  <a:schemeClr val="tx1"/>
                </a:solidFill>
              </a:rPr>
              <a:t>21</a:t>
            </a:r>
          </a:p>
          <a:p>
            <a:pPr marL="114300" indent="0">
              <a:buNone/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                                                                                                     Answer: C</a:t>
            </a:r>
          </a:p>
          <a:p>
            <a:pPr marL="114300" indent="0">
              <a:buNone/>
            </a:pPr>
            <a:endParaRPr dirty="0">
              <a:solidFill>
                <a:schemeClr val="tx1"/>
              </a:solidFill>
            </a:endParaRPr>
          </a:p>
        </p:txBody>
      </p:sp>
      <p:pic>
        <p:nvPicPr>
          <p:cNvPr id="267" name="Google Shape;26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8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317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Question: 12</a:t>
            </a:r>
            <a:r>
              <a:rPr lang="en-US" sz="2500" b="1">
                <a:solidFill>
                  <a:srgbClr val="FFFFFF"/>
                </a:solidFill>
              </a:rPr>
              <a:t> </a:t>
            </a:r>
            <a:endParaRPr sz="25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05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From the given data, the value of A will be 1 because it is the only carry-over possible from the sum of 2 single digit number. T maximum it can take only 9 and there should a carryover for T to give sum as 2 digit number. So T =9, P = 0, A = 1. T + T = 18, the value of E is 8 and 1 will be a carry over to the next column. That is 1 + A + A= L = 3. And finally H = 2. Hence, 819 + 9219 = 10038. A+P+P+L=E = 1+0+0+3+8 = 12.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5" name="Google Shape;27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9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90830" lvl="0" indent="-5905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Explanation:</a:t>
            </a:r>
            <a:r>
              <a:rPr lang="en-US" sz="2500" b="1">
                <a:solidFill>
                  <a:srgbClr val="FFFFFF"/>
                </a:solidFill>
              </a:rPr>
              <a:t> </a:t>
            </a:r>
            <a:endParaRPr sz="2500" b="1">
              <a:solidFill>
                <a:srgbClr val="FFFFFF"/>
              </a:solidFill>
            </a:endParaRPr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559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>
            <a:spLocks noGrp="1"/>
          </p:cNvSpPr>
          <p:nvPr>
            <p:ph type="body" idx="1"/>
          </p:nvPr>
        </p:nvSpPr>
        <p:spPr>
          <a:xfrm>
            <a:off x="273600" y="1000349"/>
            <a:ext cx="8520600" cy="3405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YOUR + YOU = HEART, assume O=4, then find the value of  Y+U+R+E=?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15</a:t>
            </a:r>
            <a:endParaRPr>
              <a:solidFill>
                <a:schemeClr val="dk1"/>
              </a:solidFill>
            </a:endParaRPr>
          </a:p>
          <a:p>
            <a:pPr marL="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16</a:t>
            </a:r>
            <a:endParaRPr>
              <a:solidFill>
                <a:schemeClr val="dk1"/>
              </a:solidFill>
            </a:endParaRPr>
          </a:p>
          <a:p>
            <a:pPr marL="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17</a:t>
            </a:r>
            <a:endParaRPr>
              <a:solidFill>
                <a:schemeClr val="dk1"/>
              </a:solidFill>
            </a:endParaRPr>
          </a:p>
          <a:p>
            <a:pPr marL="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Answer: C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283" name="Google Shape;28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0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4625" lvl="0" indent="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Question: 13</a:t>
            </a:r>
            <a:endParaRPr sz="2000" b="1">
              <a:solidFill>
                <a:srgbClr val="FFFFFF"/>
              </a:solidFill>
            </a:endParaRPr>
          </a:p>
        </p:txBody>
      </p:sp>
      <p:pic>
        <p:nvPicPr>
          <p:cNvPr id="285" name="Google Shape;285;p30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>
            <a:spLocks noGrp="1"/>
          </p:cNvSpPr>
          <p:nvPr>
            <p:ph type="body" idx="1"/>
          </p:nvPr>
        </p:nvSpPr>
        <p:spPr>
          <a:xfrm>
            <a:off x="273600" y="1000349"/>
            <a:ext cx="8520600" cy="3405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Given the value of O as 4, Y and E cannot be the same, so there should be a carry-over 1. 1 + Y = 10, so E will take 0 and H as 1.  O + Y = A (4 + 9 = 13) i.e. A = 3. Now, U + O (4) =R (which can only be a single digit number), U cannot take 5, 3, 4 and only possibility will be 2. If U is 2, then R will be 6. R + U = T, 6 + 2 = 8(T = 8). Hence, the value of Y + U + R + E = 9 + 2 + 6+ 0 = 17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91" name="Google Shape;29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1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317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Explanation:</a:t>
            </a:r>
            <a:endParaRPr sz="2000" b="1">
              <a:solidFill>
                <a:srgbClr val="FFFFFF"/>
              </a:solidFill>
            </a:endParaRPr>
          </a:p>
        </p:txBody>
      </p:sp>
      <p:pic>
        <p:nvPicPr>
          <p:cNvPr id="293" name="Google Shape;293;p31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05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6204" lvl="0" indent="-19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TOM + NAG = GOAT, find the value of  G+O+A+T?</a:t>
            </a:r>
            <a:endParaRPr>
              <a:solidFill>
                <a:schemeClr val="dk1"/>
              </a:solidFill>
            </a:endParaRPr>
          </a:p>
          <a:p>
            <a:pPr marL="116204" lvl="0" indent="-19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6204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12</a:t>
            </a:r>
            <a:endParaRPr>
              <a:solidFill>
                <a:schemeClr val="dk1"/>
              </a:solidFill>
            </a:endParaRPr>
          </a:p>
          <a:p>
            <a:pPr marL="116204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14</a:t>
            </a:r>
            <a:endParaRPr>
              <a:solidFill>
                <a:schemeClr val="dk1"/>
              </a:solidFill>
            </a:endParaRPr>
          </a:p>
          <a:p>
            <a:pPr marL="116204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15</a:t>
            </a:r>
            <a:endParaRPr>
              <a:solidFill>
                <a:schemeClr val="dk1"/>
              </a:solidFill>
            </a:endParaRPr>
          </a:p>
          <a:p>
            <a:pPr marL="116204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Cannot be determined</a:t>
            </a:r>
            <a:endParaRPr>
              <a:solidFill>
                <a:schemeClr val="dk1"/>
              </a:solidFill>
            </a:endParaRPr>
          </a:p>
          <a:p>
            <a:pPr marL="116204" lvl="0" indent="-19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6204" lvl="0" indent="-19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</a:t>
            </a:r>
            <a:endParaRPr>
              <a:solidFill>
                <a:schemeClr val="dk1"/>
              </a:solidFill>
            </a:endParaRPr>
          </a:p>
          <a:p>
            <a:pPr marL="116204" lvl="0" indent="-19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6204" lvl="0" indent="-190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Answer: 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99" name="Google Shape;29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2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3479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Question: 14</a:t>
            </a:r>
            <a:endParaRPr sz="2000" b="1">
              <a:solidFill>
                <a:srgbClr val="FFFFFF"/>
              </a:solidFill>
            </a:endParaRPr>
          </a:p>
        </p:txBody>
      </p:sp>
      <p:pic>
        <p:nvPicPr>
          <p:cNvPr id="301" name="Google Shape;301;p32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05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Adding two single digit number the maximum carry it can have is 1, so G=1.</a:t>
            </a:r>
            <a:endParaRPr>
              <a:solidFill>
                <a:schemeClr val="dk1"/>
              </a:solidFill>
            </a:endParaRPr>
          </a:p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O + A = A, from this we can tell that O = 0. T + N = O (O should be a two digit </a:t>
            </a:r>
            <a:endParaRPr>
              <a:solidFill>
                <a:schemeClr val="dk1"/>
              </a:solidFill>
            </a:endParaRPr>
          </a:p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number ending in zero, only then G will be 1). Sum of T and N should be 10 i.e.T</a:t>
            </a:r>
            <a:endParaRPr>
              <a:solidFill>
                <a:schemeClr val="dk1"/>
              </a:solidFill>
            </a:endParaRPr>
          </a:p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(6) + N (4) = 10.  M + G = T, from this we will get the value of M as 1.  </a:t>
            </a:r>
            <a:endParaRPr>
              <a:solidFill>
                <a:schemeClr val="dk1"/>
              </a:solidFill>
            </a:endParaRPr>
          </a:p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O=0, G=1, N=4, M=5, T=6 and the left out numbers are 2, 3, 7, 8, 9, from this A</a:t>
            </a:r>
            <a:endParaRPr>
              <a:solidFill>
                <a:schemeClr val="dk1"/>
              </a:solidFill>
            </a:endParaRPr>
          </a:p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can take any value. There is no definite value for A.</a:t>
            </a:r>
            <a:endParaRPr>
              <a:solidFill>
                <a:schemeClr val="dk1"/>
              </a:solidFill>
            </a:endParaRPr>
          </a:p>
          <a:p>
            <a:pPr marL="59055" lvl="0" indent="-590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307" name="Google Shape;30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3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2908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Explanation:</a:t>
            </a:r>
            <a:endParaRPr sz="2000" b="1">
              <a:solidFill>
                <a:srgbClr val="FFFFFF"/>
              </a:solidFill>
            </a:endParaRPr>
          </a:p>
        </p:txBody>
      </p:sp>
      <p:pic>
        <p:nvPicPr>
          <p:cNvPr id="309" name="Google Shape;309;p33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28731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05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GET*BY  = BABE  + GET = BEARE, then find the value of multiplication and the value of  E +T +B?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5</a:t>
            </a:r>
            <a:endParaRPr>
              <a:solidFill>
                <a:schemeClr val="dk1"/>
              </a:solidFill>
            </a:endParaRPr>
          </a:p>
          <a:p>
            <a:pPr marL="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6</a:t>
            </a:r>
            <a:endParaRPr>
              <a:solidFill>
                <a:schemeClr val="dk1"/>
              </a:solidFill>
            </a:endParaRPr>
          </a:p>
          <a:p>
            <a:pPr marL="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9</a:t>
            </a:r>
            <a:endParaRPr>
              <a:solidFill>
                <a:schemeClr val="dk1"/>
              </a:solidFill>
            </a:endParaRPr>
          </a:p>
          <a:p>
            <a:pPr marL="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 11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Answer: B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315" name="Google Shape;31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4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2908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Question: 15</a:t>
            </a:r>
            <a:endParaRPr sz="2000" b="1">
              <a:solidFill>
                <a:srgbClr val="FFFFFF"/>
              </a:solidFill>
            </a:endParaRPr>
          </a:p>
        </p:txBody>
      </p:sp>
      <p:pic>
        <p:nvPicPr>
          <p:cNvPr id="317" name="Google Shape;317;p34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05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GET  *  BY  = BABE  + GET = BEARE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905  *  12   = 1810    + 905  = 10860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Then the value of  E+T+B= 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323" name="Google Shape;323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2908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FFFFFF"/>
                </a:solidFill>
              </a:rPr>
              <a:t>Explanation:</a:t>
            </a:r>
            <a:endParaRPr sz="2000" b="1">
              <a:solidFill>
                <a:srgbClr val="FFFFFF"/>
              </a:solidFill>
            </a:endParaRPr>
          </a:p>
        </p:txBody>
      </p:sp>
      <p:pic>
        <p:nvPicPr>
          <p:cNvPr id="325" name="Google Shape;325;p35"/>
          <p:cNvPicPr preferRelativeResize="0"/>
          <p:nvPr/>
        </p:nvPicPr>
        <p:blipFill rotWithShape="1">
          <a:blip r:embed="rId4">
            <a:alphaModFix/>
          </a:blip>
          <a:srcRect l="41240" t="9528" r="-23987" b="51129"/>
          <a:stretch/>
        </p:blipFill>
        <p:spPr>
          <a:xfrm>
            <a:off x="0" y="4143245"/>
            <a:ext cx="4457700" cy="10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1897</Words>
  <Application>Microsoft Office PowerPoint</Application>
  <PresentationFormat>On-screen Show (16:9)</PresentationFormat>
  <Paragraphs>287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Question: 07</vt:lpstr>
      <vt:lpstr>Explanation:</vt:lpstr>
      <vt:lpstr>Question: 08</vt:lpstr>
      <vt:lpstr>Explanation:</vt:lpstr>
      <vt:lpstr>Question: 11</vt:lpstr>
      <vt:lpstr>Explanation:</vt:lpstr>
      <vt:lpstr>Question: 09</vt:lpstr>
      <vt:lpstr>Explanation:</vt:lpstr>
      <vt:lpstr>Question: 10</vt:lpstr>
      <vt:lpstr>Explanation:</vt:lpstr>
      <vt:lpstr>Question: 12 </vt:lpstr>
      <vt:lpstr>Explanation: </vt:lpstr>
      <vt:lpstr>Question: 13</vt:lpstr>
      <vt:lpstr>Explanation:</vt:lpstr>
      <vt:lpstr>Question: 14</vt:lpstr>
      <vt:lpstr>Explanation:</vt:lpstr>
      <vt:lpstr>Question: 15</vt:lpstr>
      <vt:lpstr>Explanation: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sushmitha</dc:creator>
  <cp:lastModifiedBy>POOJITHA</cp:lastModifiedBy>
  <cp:revision>1</cp:revision>
  <dcterms:created xsi:type="dcterms:W3CDTF">2019-12-04T07:36:00Z</dcterms:created>
  <dcterms:modified xsi:type="dcterms:W3CDTF">2024-02-14T10:11:03Z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1033-11.2.0.10311</vt:lpwstr>
  </property>
  <property fmtid="{D5CDD505-2E9C-101B-9397-08002B2CF9AE}" pid="3" name="ICV">
    <vt:lpwstr>841570748EB34DD08F70C09AF0D053F0</vt:lpwstr>
  </property>
</Properties>
</file>