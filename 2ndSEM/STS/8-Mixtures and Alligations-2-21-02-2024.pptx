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7"/>
  </p:notesMasterIdLst>
  <p:sldIdLst>
    <p:sldId id="256" r:id="rId2"/>
    <p:sldId id="298" r:id="rId3"/>
    <p:sldId id="317" r:id="rId4"/>
    <p:sldId id="342" r:id="rId5"/>
    <p:sldId id="366" r:id="rId6"/>
    <p:sldId id="266" r:id="rId7"/>
    <p:sldId id="343" r:id="rId8"/>
    <p:sldId id="268" r:id="rId9"/>
    <p:sldId id="344" r:id="rId10"/>
    <p:sldId id="367" r:id="rId11"/>
    <p:sldId id="269" r:id="rId12"/>
    <p:sldId id="345" r:id="rId13"/>
    <p:sldId id="346" r:id="rId14"/>
    <p:sldId id="352" r:id="rId15"/>
    <p:sldId id="286" r:id="rId16"/>
    <p:sldId id="353" r:id="rId17"/>
    <p:sldId id="287" r:id="rId18"/>
    <p:sldId id="355" r:id="rId19"/>
    <p:sldId id="288" r:id="rId20"/>
    <p:sldId id="357" r:id="rId21"/>
    <p:sldId id="335" r:id="rId22"/>
    <p:sldId id="292" r:id="rId23"/>
    <p:sldId id="347" r:id="rId24"/>
    <p:sldId id="348" r:id="rId25"/>
    <p:sldId id="293" r:id="rId26"/>
    <p:sldId id="349" r:id="rId27"/>
    <p:sldId id="294" r:id="rId28"/>
    <p:sldId id="360" r:id="rId29"/>
    <p:sldId id="295" r:id="rId30"/>
    <p:sldId id="296" r:id="rId31"/>
    <p:sldId id="341" r:id="rId32"/>
    <p:sldId id="363" r:id="rId33"/>
    <p:sldId id="297" r:id="rId34"/>
    <p:sldId id="364" r:id="rId35"/>
    <p:sldId id="368" r:id="rId3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772">
          <p15:clr>
            <a:srgbClr val="A4A3A4"/>
          </p15:clr>
        </p15:guide>
        <p15:guide id="2" orient="horz" pos="828">
          <p15:clr>
            <a:srgbClr val="A4A3A4"/>
          </p15:clr>
        </p15:guide>
        <p15:guide id="3" orient="horz" pos="1140">
          <p15:clr>
            <a:srgbClr val="A4A3A4"/>
          </p15:clr>
        </p15:guide>
        <p15:guide id="4" orient="horz" pos="2451">
          <p15:clr>
            <a:srgbClr val="A4A3A4"/>
          </p15:clr>
        </p15:guide>
        <p15:guide id="5" orient="horz" pos="2172">
          <p15:clr>
            <a:srgbClr val="A4A3A4"/>
          </p15:clr>
        </p15:guide>
        <p15:guide id="6" pos="2174">
          <p15:clr>
            <a:srgbClr val="A4A3A4"/>
          </p15:clr>
        </p15:guide>
        <p15:guide id="7" pos="185">
          <p15:clr>
            <a:srgbClr val="A4A3A4"/>
          </p15:clr>
        </p15:guide>
        <p15:guide id="8" pos="5553">
          <p15:clr>
            <a:srgbClr val="A4A3A4"/>
          </p15:clr>
        </p15:guide>
        <p15:guide id="9" pos="888">
          <p15:clr>
            <a:srgbClr val="A4A3A4"/>
          </p15:clr>
        </p15:guide>
        <p15:guide id="10" pos="2869">
          <p15:clr>
            <a:srgbClr val="A4A3A4"/>
          </p15:clr>
        </p15:guide>
        <p15:guide id="11" pos="490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89068" autoAdjust="0"/>
  </p:normalViewPr>
  <p:slideViewPr>
    <p:cSldViewPr snapToGrid="0">
      <p:cViewPr varScale="1">
        <p:scale>
          <a:sx n="122" d="100"/>
          <a:sy n="122" d="100"/>
        </p:scale>
        <p:origin x="307" y="77"/>
      </p:cViewPr>
      <p:guideLst>
        <p:guide orient="horz" pos="2772"/>
        <p:guide orient="horz" pos="828"/>
        <p:guide orient="horz" pos="1140"/>
        <p:guide orient="horz" pos="2451"/>
        <p:guide orient="horz" pos="2172"/>
        <p:guide pos="2174"/>
        <p:guide pos="185"/>
        <p:guide pos="5553"/>
        <p:guide pos="888"/>
        <p:guide pos="2869"/>
        <p:guide pos="490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37775542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 name="Google Shape;4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None/>
            </a:pPr>
            <a:endParaRPr lang="en-I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59bc1b10ef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59bc1b10ef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59bc1b10ef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59bc1b10ef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59bc1b10ef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59bc1b10ef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59bc1b10ef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59bc1b10ef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endParaRPr lang="en-US" sz="1100" b="0" i="0" u="none" strike="noStrike" cap="none" dirty="0">
              <a:solidFill>
                <a:srgbClr val="000000"/>
              </a:solidFill>
              <a:effectLst/>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59bc1b10ef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59bc1b10ef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endParaRPr lang="en-US" sz="1100" b="0" i="0" u="none" strike="noStrike" cap="none" dirty="0">
              <a:solidFill>
                <a:srgbClr val="000000"/>
              </a:solidFill>
              <a:effectLst/>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59bc1b10ef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59bc1b10ef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lang="en-IN" b="0" dirty="0">
              <a:effectLst/>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59bc1b10ef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59bc1b10ef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lang="en-IN" b="0" dirty="0">
              <a:effectLst/>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59bc1b10ef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59bc1b10ef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lang="en-IN" b="0" dirty="0">
              <a:effectLst/>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59bc1b10ef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59bc1b10ef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59bc1b10ef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59bc1b10ef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59bc1b10ef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59bc1b10ef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b="0"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59bc1b10ef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59bc1b10ef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b="0"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59bc1b10ef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59bc1b10ef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59bc1b10ef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59bc1b10ef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I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I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None/>
            </a:pPr>
            <a:endParaRPr lang="en-IN" sz="1100" b="0" i="0" u="none" strike="noStrike" cap="none" dirty="0">
              <a:solidFill>
                <a:srgbClr val="000000"/>
              </a:solidFill>
              <a:effectLst/>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None/>
            </a:pPr>
            <a:endParaRPr lang="en-IN" sz="1100" b="0" i="0" u="none" strike="noStrike" cap="none" dirty="0">
              <a:solidFill>
                <a:srgbClr val="000000"/>
              </a:solidFill>
              <a:effectLst/>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IN"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IN"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IN"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IN"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IN"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IN"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IN"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IN"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IN"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IN"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IN"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IN"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IN"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IN"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I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5" name="Google Shape;15;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6" name="Google Shape;16;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4" name="Google Shape;24;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9"/>
        <p:cNvGrpSpPr/>
        <p:nvPr/>
      </p:nvGrpSpPr>
      <p:grpSpPr>
        <a:xfrm>
          <a:off x="0" y="0"/>
          <a:ext cx="0" cy="0"/>
          <a:chOff x="0" y="0"/>
          <a:chExt cx="0" cy="0"/>
        </a:xfrm>
      </p:grpSpPr>
      <p:sp>
        <p:nvSpPr>
          <p:cNvPr id="30" name="Google Shape;30;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1" name="Google Shape;31;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2"/>
        <p:cNvGrpSpPr/>
        <p:nvPr/>
      </p:nvGrpSpPr>
      <p:grpSpPr>
        <a:xfrm>
          <a:off x="0" y="0"/>
          <a:ext cx="0" cy="0"/>
          <a:chOff x="0" y="0"/>
          <a:chExt cx="0" cy="0"/>
        </a:xfrm>
      </p:grpSpPr>
      <p:sp>
        <p:nvSpPr>
          <p:cNvPr id="33" name="Google Shape;33;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5" name="Google Shape;35;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6" name="Google Shape;36;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37" name="Google Shape;37;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8"/>
        <p:cNvGrpSpPr/>
        <p:nvPr/>
      </p:nvGrpSpPr>
      <p:grpSpPr>
        <a:xfrm>
          <a:off x="0" y="0"/>
          <a:ext cx="0" cy="0"/>
          <a:chOff x="0" y="0"/>
          <a:chExt cx="0" cy="0"/>
        </a:xfrm>
      </p:grpSpPr>
      <p:sp>
        <p:nvSpPr>
          <p:cNvPr id="39" name="Google Shape;39;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lstStyle>
            <a:lvl1pPr marL="457200" lvl="0" indent="-228600">
              <a:lnSpc>
                <a:spcPct val="100000"/>
              </a:lnSpc>
              <a:spcBef>
                <a:spcPts val="0"/>
              </a:spcBef>
              <a:spcAft>
                <a:spcPts val="0"/>
              </a:spcAft>
              <a:buSzPts val="1800"/>
              <a:buNone/>
              <a:defRPr/>
            </a:lvl1pPr>
          </a:lstStyle>
          <a:p>
            <a:endParaRPr/>
          </a:p>
        </p:txBody>
      </p:sp>
      <p:sp>
        <p:nvSpPr>
          <p:cNvPr id="40" name="Google Shape;40;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1"/>
        <p:cNvGrpSpPr/>
        <p:nvPr/>
      </p:nvGrpSpPr>
      <p:grpSpPr>
        <a:xfrm>
          <a:off x="0" y="0"/>
          <a:ext cx="0" cy="0"/>
          <a:chOff x="0" y="0"/>
          <a:chExt cx="0" cy="0"/>
        </a:xfrm>
      </p:grpSpPr>
      <p:sp>
        <p:nvSpPr>
          <p:cNvPr id="42" name="Google Shape;42;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3" name="Google Shape;43;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4" name="Google Shape;44;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4">
    <p:spTree>
      <p:nvGrpSpPr>
        <p:cNvPr id="1" name=""/>
        <p:cNvGrpSpPr/>
        <p:nvPr/>
      </p:nvGrpSpPr>
      <p:grpSpPr>
        <a:xfrm>
          <a:off x="0" y="0"/>
          <a:ext cx="0" cy="0"/>
          <a:chOff x="0" y="0"/>
          <a:chExt cx="0" cy="0"/>
        </a:xfrm>
      </p:grpSpPr>
      <p:pic>
        <p:nvPicPr>
          <p:cNvPr id="10" name="Picture 9" descr="A close up of a logo&#10;&#10;Description generated with high confidence"/>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876800" y="183600"/>
            <a:ext cx="1022401" cy="766801"/>
          </a:xfrm>
          <a:prstGeom prst="rect">
            <a:avLst/>
          </a:prstGeom>
        </p:spPr>
      </p:pic>
      <p:pic>
        <p:nvPicPr>
          <p:cNvPr id="18" name="Picture 17" descr="A picture containing colorful, colored&#10;&#10;Description generated with very high confidence"/>
          <p:cNvPicPr>
            <a:picLocks noChangeAspect="1"/>
          </p:cNvPicPr>
          <p:nvPr userDrawn="1"/>
        </p:nvPicPr>
        <p:blipFill rotWithShape="1">
          <a:blip r:embed="rId3">
            <a:extLst>
              <a:ext uri="{28A0092B-C50C-407E-A947-70E740481C1C}">
                <a14:useLocalDpi xmlns:a14="http://schemas.microsoft.com/office/drawing/2010/main" val="0"/>
              </a:ext>
            </a:extLst>
          </a:blip>
          <a:srcRect t="55603" b="37531"/>
          <a:stretch>
            <a:fillRect/>
          </a:stretch>
        </p:blipFill>
        <p:spPr>
          <a:xfrm>
            <a:off x="0" y="4849200"/>
            <a:ext cx="9144000" cy="294300"/>
          </a:xfrm>
          <a:prstGeom prst="rect">
            <a:avLst/>
          </a:prstGeom>
        </p:spPr>
      </p:pic>
      <p:sp>
        <p:nvSpPr>
          <p:cNvPr id="13" name="Oval 12"/>
          <p:cNvSpPr/>
          <p:nvPr userDrawn="1"/>
        </p:nvSpPr>
        <p:spPr>
          <a:xfrm>
            <a:off x="8946830" y="4943496"/>
            <a:ext cx="57600" cy="432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p>
        </p:txBody>
      </p:sp>
      <p:sp>
        <p:nvSpPr>
          <p:cNvPr id="25" name="Oval 24"/>
          <p:cNvSpPr/>
          <p:nvPr userDrawn="1"/>
        </p:nvSpPr>
        <p:spPr>
          <a:xfrm>
            <a:off x="8870400" y="4943496"/>
            <a:ext cx="57600" cy="432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p>
        </p:txBody>
      </p:sp>
      <p:sp>
        <p:nvSpPr>
          <p:cNvPr id="26" name="Oval 25"/>
          <p:cNvSpPr/>
          <p:nvPr userDrawn="1"/>
        </p:nvSpPr>
        <p:spPr>
          <a:xfrm>
            <a:off x="8793970" y="4943496"/>
            <a:ext cx="57600" cy="432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p>
        </p:txBody>
      </p:sp>
      <p:sp>
        <p:nvSpPr>
          <p:cNvPr id="27" name="Oval 26"/>
          <p:cNvSpPr/>
          <p:nvPr userDrawn="1"/>
        </p:nvSpPr>
        <p:spPr>
          <a:xfrm>
            <a:off x="8717540" y="4943496"/>
            <a:ext cx="57600" cy="432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4.jpe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4.jpe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4.jpeg"/></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pic>
        <p:nvPicPr>
          <p:cNvPr id="51" name="Google Shape;51;p13"/>
          <p:cNvPicPr preferRelativeResize="0"/>
          <p:nvPr/>
        </p:nvPicPr>
        <p:blipFill>
          <a:blip r:embed="rId3"/>
          <a:stretch>
            <a:fillRect/>
          </a:stretch>
        </p:blipFill>
        <p:spPr>
          <a:xfrm>
            <a:off x="2808000" y="431425"/>
            <a:ext cx="3527998" cy="428064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54685" y="1315085"/>
            <a:ext cx="10398125" cy="1367790"/>
          </a:xfrm>
        </p:spPr>
        <p:txBody>
          <a:bodyPr/>
          <a:lstStyle/>
          <a:p>
            <a:pPr marL="114300" indent="0" algn="ctr">
              <a:buNone/>
            </a:pPr>
            <a:endParaRPr lang="en-IN" sz="3600" b="1" dirty="0">
              <a:solidFill>
                <a:schemeClr val="tx1"/>
              </a:solidFill>
            </a:endParaRPr>
          </a:p>
          <a:p>
            <a:pPr marL="114300" indent="0" algn="ctr">
              <a:buNone/>
            </a:pPr>
            <a:r>
              <a:rPr lang="en-IN" sz="3600" b="1" dirty="0">
                <a:solidFill>
                  <a:schemeClr val="tx1"/>
                </a:solidFill>
              </a:rPr>
              <a:t>MIXTURES AND ALLIGATIONS</a:t>
            </a:r>
          </a:p>
        </p:txBody>
      </p:sp>
      <p:pic>
        <p:nvPicPr>
          <p:cNvPr id="4" name="Google Shape;69;p15"/>
          <p:cNvPicPr preferRelativeResize="0"/>
          <p:nvPr/>
        </p:nvPicPr>
        <p:blipFill>
          <a:blip r:embed="rId3"/>
          <a:stretch>
            <a:fillRect/>
          </a:stretch>
        </p:blipFill>
        <p:spPr>
          <a:xfrm>
            <a:off x="7082971" y="174171"/>
            <a:ext cx="1959429" cy="826178"/>
          </a:xfrm>
          <a:prstGeom prst="rect">
            <a:avLst/>
          </a:prstGeom>
          <a:noFill/>
          <a:ln>
            <a:noFill/>
          </a:ln>
        </p:spPr>
      </p:pic>
      <p:pic>
        <p:nvPicPr>
          <p:cNvPr id="6" name="Google Shape;68;p15"/>
          <p:cNvPicPr preferRelativeResize="0"/>
          <p:nvPr/>
        </p:nvPicPr>
        <p:blipFill rotWithShape="1">
          <a:blip r:embed="rId4"/>
          <a:srcRect l="41241" t="9528" r="-23988" b="51129"/>
          <a:stretch>
            <a:fillRect/>
          </a:stretch>
        </p:blipFill>
        <p:spPr>
          <a:xfrm>
            <a:off x="0" y="4073752"/>
            <a:ext cx="4457700" cy="10656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p:cTn id="7" dur="500" fill="hold"/>
                                        <p:tgtEl>
                                          <p:spTgt spid="3">
                                            <p:txEl>
                                              <p:pRg st="1" end="1"/>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
                                            <p:txEl>
                                              <p:pRg st="1" end="1"/>
                                            </p:txEl>
                                          </p:spTgt>
                                        </p:tgtEl>
                                        <p:attrNameLst>
                                          <p:attrName>ppt_y</p:attrName>
                                        </p:attrNameLst>
                                      </p:cBhvr>
                                      <p:tavLst>
                                        <p:tav tm="0">
                                          <p:val>
                                            <p:strVal val="#ppt_y"/>
                                          </p:val>
                                        </p:tav>
                                        <p:tav tm="100000">
                                          <p:val>
                                            <p:strVal val="#ppt_y"/>
                                          </p:val>
                                        </p:tav>
                                      </p:tavLst>
                                    </p:anim>
                                    <p:anim calcmode="lin" valueType="num">
                                      <p:cBhvr>
                                        <p:cTn id="9" dur="500" fill="hold"/>
                                        <p:tgtEl>
                                          <p:spTgt spid="3">
                                            <p:txEl>
                                              <p:pRg st="1" end="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
                                            <p:txEl>
                                              <p:pRg st="1" end="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15"/>
          <p:cNvPicPr preferRelativeResize="0"/>
          <p:nvPr/>
        </p:nvPicPr>
        <p:blipFill rotWithShape="1">
          <a:blip r:embed="rId3"/>
          <a:srcRect l="41241" t="9528" r="-23988" b="51129"/>
          <a:stretch>
            <a:fillRect/>
          </a:stretch>
        </p:blipFill>
        <p:spPr>
          <a:xfrm>
            <a:off x="0" y="4073752"/>
            <a:ext cx="4457700" cy="1065625"/>
          </a:xfrm>
          <a:prstGeom prst="rect">
            <a:avLst/>
          </a:prstGeom>
          <a:noFill/>
          <a:ln>
            <a:noFill/>
          </a:ln>
        </p:spPr>
      </p:pic>
      <p:pic>
        <p:nvPicPr>
          <p:cNvPr id="69" name="Google Shape;69;p15"/>
          <p:cNvPicPr preferRelativeResize="0"/>
          <p:nvPr/>
        </p:nvPicPr>
        <p:blipFill>
          <a:blip r:embed="rId4"/>
          <a:stretch>
            <a:fillRect/>
          </a:stretch>
        </p:blipFill>
        <p:spPr>
          <a:xfrm>
            <a:off x="7120800" y="233550"/>
            <a:ext cx="1694264" cy="766799"/>
          </a:xfrm>
          <a:prstGeom prst="rect">
            <a:avLst/>
          </a:prstGeom>
          <a:noFill/>
          <a:ln>
            <a:noFill/>
          </a:ln>
        </p:spPr>
      </p:pic>
      <p:sp>
        <p:nvSpPr>
          <p:cNvPr id="70" name="Google Shape;70;p15"/>
          <p:cNvSpPr/>
          <p:nvPr/>
        </p:nvSpPr>
        <p:spPr>
          <a:xfrm>
            <a:off x="0" y="141638"/>
            <a:ext cx="6712857"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 name="TextBox 9"/>
          <p:cNvSpPr txBox="1"/>
          <p:nvPr/>
        </p:nvSpPr>
        <p:spPr>
          <a:xfrm>
            <a:off x="0" y="141778"/>
            <a:ext cx="3505201" cy="477054"/>
          </a:xfrm>
          <a:prstGeom prst="rect">
            <a:avLst/>
          </a:prstGeom>
          <a:noFill/>
        </p:spPr>
        <p:txBody>
          <a:bodyPr wrap="square" rtlCol="0">
            <a:spAutoFit/>
          </a:bodyPr>
          <a:lstStyle/>
          <a:p>
            <a:r>
              <a:rPr lang="en-US" sz="2500" b="1" dirty="0">
                <a:ln w="6600">
                  <a:solidFill>
                    <a:schemeClr val="accent2"/>
                  </a:solidFill>
                  <a:prstDash val="solid"/>
                </a:ln>
                <a:solidFill>
                  <a:srgbClr val="FFFFFF"/>
                </a:solidFill>
                <a:effectLst>
                  <a:outerShdw dist="38100" dir="2700000" algn="tl" rotWithShape="0">
                    <a:schemeClr val="accent2"/>
                  </a:outerShdw>
                </a:effectLst>
              </a:rPr>
              <a:t>   Question 01:</a:t>
            </a:r>
          </a:p>
        </p:txBody>
      </p:sp>
      <p:graphicFrame>
        <p:nvGraphicFramePr>
          <p:cNvPr id="8" name="Table 7"/>
          <p:cNvGraphicFramePr>
            <a:graphicFrameLocks noGrp="1"/>
          </p:cNvGraphicFramePr>
          <p:nvPr/>
        </p:nvGraphicFramePr>
        <p:xfrm>
          <a:off x="2286000" y="2167890"/>
          <a:ext cx="4572000" cy="807720"/>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0">
                <a:tc>
                  <a:txBody>
                    <a:bodyPr/>
                    <a:lstStyle/>
                    <a:p>
                      <a:endParaRPr lang="en-US" dirty="0"/>
                    </a:p>
                  </a:txBody>
                  <a:tcPr marL="95250" marR="142875" marT="95250" marB="95250" anchor="ctr">
                    <a:lnL>
                      <a:noFill/>
                    </a:lnL>
                    <a:lnR>
                      <a:noFill/>
                    </a:lnR>
                    <a:lnT>
                      <a:noFill/>
                    </a:lnT>
                    <a:lnB>
                      <a:noFill/>
                    </a:lnB>
                  </a:tcPr>
                </a:tc>
                <a:tc>
                  <a:txBody>
                    <a:bodyPr/>
                    <a:lstStyle/>
                    <a:p>
                      <a:endParaRPr lang="en-US"/>
                    </a:p>
                  </a:txBody>
                  <a:tcPr marL="95250" marR="95250" marT="95250" marB="95250" anchor="ctr">
                    <a:lnL>
                      <a:noFill/>
                    </a:lnL>
                    <a:lnR>
                      <a:noFill/>
                    </a:lnR>
                    <a:lnT>
                      <a:noFill/>
                    </a:lnT>
                    <a:lnB>
                      <a:noFill/>
                    </a:lnB>
                  </a:tcPr>
                </a:tc>
                <a:extLst>
                  <a:ext uri="{0D108BD9-81ED-4DB2-BD59-A6C34878D82A}">
                    <a16:rowId xmlns:a16="http://schemas.microsoft.com/office/drawing/2014/main" val="10000"/>
                  </a:ext>
                </a:extLst>
              </a:tr>
              <a:tr h="0">
                <a:tc>
                  <a:txBody>
                    <a:bodyPr/>
                    <a:lstStyle/>
                    <a:p>
                      <a:endParaRPr lang="en-US"/>
                    </a:p>
                  </a:txBody>
                  <a:tcPr marL="95250" marR="142875" marT="95250" marB="95250" anchor="ctr">
                    <a:lnL>
                      <a:noFill/>
                    </a:lnL>
                    <a:lnR>
                      <a:noFill/>
                    </a:lnR>
                    <a:lnT>
                      <a:noFill/>
                    </a:lnT>
                    <a:lnB>
                      <a:noFill/>
                    </a:lnB>
                  </a:tcPr>
                </a:tc>
                <a:tc>
                  <a:txBody>
                    <a:bodyPr/>
                    <a:lstStyle/>
                    <a:p>
                      <a:endParaRPr lang="en-US" dirty="0"/>
                    </a:p>
                  </a:txBody>
                  <a:tcPr marL="95250" marR="95250" marT="95250" marB="95250" anchor="ctr">
                    <a:lnL>
                      <a:noFill/>
                    </a:lnL>
                    <a:lnR>
                      <a:noFill/>
                    </a:lnR>
                    <a:lnT>
                      <a:noFill/>
                    </a:lnT>
                    <a:lnB>
                      <a:noFill/>
                    </a:lnB>
                  </a:tcPr>
                </a:tc>
                <a:extLst>
                  <a:ext uri="{0D108BD9-81ED-4DB2-BD59-A6C34878D82A}">
                    <a16:rowId xmlns:a16="http://schemas.microsoft.com/office/drawing/2014/main" val="10001"/>
                  </a:ext>
                </a:extLst>
              </a:tr>
            </a:tbl>
          </a:graphicData>
        </a:graphic>
      </p:graphicFrame>
      <p:sp>
        <p:nvSpPr>
          <p:cNvPr id="11" name="TextBox 10"/>
          <p:cNvSpPr txBox="1"/>
          <p:nvPr/>
        </p:nvSpPr>
        <p:spPr>
          <a:xfrm>
            <a:off x="266700" y="647700"/>
            <a:ext cx="8623300" cy="4154984"/>
          </a:xfrm>
          <a:prstGeom prst="rect">
            <a:avLst/>
          </a:prstGeom>
          <a:noFill/>
        </p:spPr>
        <p:txBody>
          <a:bodyPr wrap="square" rtlCol="0">
            <a:spAutoFit/>
          </a:bodyPr>
          <a:lstStyle/>
          <a:p>
            <a:pPr fontAlgn="t">
              <a:lnSpc>
                <a:spcPct val="150000"/>
              </a:lnSpc>
            </a:pPr>
            <a:r>
              <a:rPr lang="en-US" sz="1800" dirty="0"/>
              <a:t>8 </a:t>
            </a:r>
            <a:r>
              <a:rPr lang="en-US" sz="1800" dirty="0" err="1"/>
              <a:t>litres</a:t>
            </a:r>
            <a:r>
              <a:rPr lang="en-US" sz="1800" dirty="0"/>
              <a:t> are drawn from a cask filled with wine and is then filled </a:t>
            </a:r>
          </a:p>
          <a:p>
            <a:pPr fontAlgn="t">
              <a:lnSpc>
                <a:spcPct val="150000"/>
              </a:lnSpc>
            </a:pPr>
            <a:r>
              <a:rPr lang="en-US" sz="1800" dirty="0"/>
              <a:t>with water. This operation is performed three more times. The ratio of the quantity of wine now left in cask to that of the total solution is 16:81.How much wine did the cask hold originally?</a:t>
            </a:r>
          </a:p>
          <a:p>
            <a:pPr fontAlgn="t">
              <a:lnSpc>
                <a:spcPct val="150000"/>
              </a:lnSpc>
            </a:pPr>
            <a:r>
              <a:rPr lang="en-US" sz="1800" dirty="0"/>
              <a:t>A. 24 </a:t>
            </a:r>
            <a:r>
              <a:rPr lang="en-US" sz="1800" dirty="0" err="1"/>
              <a:t>litres</a:t>
            </a:r>
            <a:endParaRPr lang="en-US" sz="1800" dirty="0"/>
          </a:p>
          <a:p>
            <a:pPr fontAlgn="t">
              <a:lnSpc>
                <a:spcPct val="150000"/>
              </a:lnSpc>
            </a:pPr>
            <a:r>
              <a:rPr lang="en-US" sz="1800" dirty="0"/>
              <a:t>B. 45 </a:t>
            </a:r>
            <a:r>
              <a:rPr lang="en-US" sz="1800" dirty="0" err="1"/>
              <a:t>litres</a:t>
            </a:r>
            <a:endParaRPr lang="en-US" sz="1800" dirty="0"/>
          </a:p>
          <a:p>
            <a:pPr fontAlgn="t">
              <a:lnSpc>
                <a:spcPct val="150000"/>
              </a:lnSpc>
            </a:pPr>
            <a:r>
              <a:rPr lang="en-US" sz="1800" dirty="0"/>
              <a:t>C. 49 </a:t>
            </a:r>
            <a:r>
              <a:rPr lang="en-US" sz="1800" dirty="0" err="1"/>
              <a:t>litres</a:t>
            </a:r>
            <a:endParaRPr lang="en-US" sz="1800" dirty="0"/>
          </a:p>
          <a:p>
            <a:pPr fontAlgn="t">
              <a:lnSpc>
                <a:spcPct val="150000"/>
              </a:lnSpc>
            </a:pPr>
            <a:r>
              <a:rPr lang="en-US" sz="1800" dirty="0"/>
              <a:t>D. 44 </a:t>
            </a:r>
            <a:r>
              <a:rPr lang="en-US" sz="1800" dirty="0" err="1"/>
              <a:t>litres</a:t>
            </a:r>
            <a:endParaRPr lang="en-US" sz="1800" dirty="0"/>
          </a:p>
          <a:p>
            <a:pPr fontAlgn="t">
              <a:lnSpc>
                <a:spcPct val="150000"/>
              </a:lnSpc>
            </a:pPr>
            <a:r>
              <a:rPr lang="en-US" sz="1800" b="1" dirty="0"/>
              <a:t>							Answer: A</a:t>
            </a:r>
            <a:endParaRPr lang="en-US" dirty="0"/>
          </a:p>
          <a:p>
            <a:pPr>
              <a:lnSpc>
                <a:spcPct val="150000"/>
              </a:lnSpc>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 calcmode="lin" valueType="num">
                                      <p:cBhvr additive="base">
                                        <p:cTn id="7"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anim calcmode="lin" valueType="num">
                                      <p:cBhvr additive="base">
                                        <p:cTn id="11" dur="500" fill="hold"/>
                                        <p:tgtEl>
                                          <p:spTgt spid="1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 calcmode="lin" valueType="num">
                                      <p:cBhvr additive="base">
                                        <p:cTn id="17" dur="500" fill="hold"/>
                                        <p:tgtEl>
                                          <p:spTgt spid="11">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1">
                                            <p:txEl>
                                              <p:pRg st="3" end="3"/>
                                            </p:txEl>
                                          </p:spTgt>
                                        </p:tgtEl>
                                        <p:attrNameLst>
                                          <p:attrName>style.visibility</p:attrName>
                                        </p:attrNameLst>
                                      </p:cBhvr>
                                      <p:to>
                                        <p:strVal val="visible"/>
                                      </p:to>
                                    </p:set>
                                    <p:anim calcmode="lin" valueType="num">
                                      <p:cBhvr additive="base">
                                        <p:cTn id="23" dur="500" fill="hold"/>
                                        <p:tgtEl>
                                          <p:spTgt spid="11">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1">
                                            <p:txEl>
                                              <p:pRg st="4" end="4"/>
                                            </p:txEl>
                                          </p:spTgt>
                                        </p:tgtEl>
                                        <p:attrNameLst>
                                          <p:attrName>style.visibility</p:attrName>
                                        </p:attrNameLst>
                                      </p:cBhvr>
                                      <p:to>
                                        <p:strVal val="visible"/>
                                      </p:to>
                                    </p:set>
                                    <p:anim calcmode="lin" valueType="num">
                                      <p:cBhvr additive="base">
                                        <p:cTn id="29" dur="500" fill="hold"/>
                                        <p:tgtEl>
                                          <p:spTgt spid="11">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1">
                                            <p:txEl>
                                              <p:pRg st="5" end="5"/>
                                            </p:txEl>
                                          </p:spTgt>
                                        </p:tgtEl>
                                        <p:attrNameLst>
                                          <p:attrName>style.visibility</p:attrName>
                                        </p:attrNameLst>
                                      </p:cBhvr>
                                      <p:to>
                                        <p:strVal val="visible"/>
                                      </p:to>
                                    </p:set>
                                    <p:anim calcmode="lin" valueType="num">
                                      <p:cBhvr additive="base">
                                        <p:cTn id="35" dur="500" fill="hold"/>
                                        <p:tgtEl>
                                          <p:spTgt spid="11">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1">
                                            <p:txEl>
                                              <p:pRg st="6" end="6"/>
                                            </p:txEl>
                                          </p:spTgt>
                                        </p:tgtEl>
                                        <p:attrNameLst>
                                          <p:attrName>style.visibility</p:attrName>
                                        </p:attrNameLst>
                                      </p:cBhvr>
                                      <p:to>
                                        <p:strVal val="visible"/>
                                      </p:to>
                                    </p:set>
                                    <p:anim calcmode="lin" valueType="num">
                                      <p:cBhvr additive="base">
                                        <p:cTn id="41" dur="500" fill="hold"/>
                                        <p:tgtEl>
                                          <p:spTgt spid="11">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1">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Shape 67"/>
        <p:cNvGrpSpPr/>
        <p:nvPr/>
      </p:nvGrpSpPr>
      <p:grpSpPr>
        <a:xfrm>
          <a:off x="0" y="0"/>
          <a:ext cx="0" cy="0"/>
          <a:chOff x="0" y="0"/>
          <a:chExt cx="0" cy="0"/>
        </a:xfrm>
      </p:grpSpPr>
      <p:pic>
        <p:nvPicPr>
          <p:cNvPr id="68" name="Google Shape;68;p15"/>
          <p:cNvPicPr preferRelativeResize="0"/>
          <p:nvPr/>
        </p:nvPicPr>
        <p:blipFill rotWithShape="1">
          <a:blip r:embed="rId3"/>
          <a:srcRect l="41241" t="9528" r="-23988" b="51129"/>
          <a:stretch>
            <a:fillRect/>
          </a:stretch>
        </p:blipFill>
        <p:spPr>
          <a:xfrm>
            <a:off x="0" y="4073752"/>
            <a:ext cx="4457700" cy="1065625"/>
          </a:xfrm>
          <a:prstGeom prst="rect">
            <a:avLst/>
          </a:prstGeom>
          <a:noFill/>
          <a:ln>
            <a:noFill/>
          </a:ln>
        </p:spPr>
      </p:pic>
      <p:pic>
        <p:nvPicPr>
          <p:cNvPr id="69" name="Google Shape;69;p15"/>
          <p:cNvPicPr preferRelativeResize="0"/>
          <p:nvPr/>
        </p:nvPicPr>
        <p:blipFill>
          <a:blip r:embed="rId4"/>
          <a:stretch>
            <a:fillRect/>
          </a:stretch>
        </p:blipFill>
        <p:spPr>
          <a:xfrm>
            <a:off x="7120800" y="233550"/>
            <a:ext cx="1694264" cy="766799"/>
          </a:xfrm>
          <a:prstGeom prst="rect">
            <a:avLst/>
          </a:prstGeom>
          <a:noFill/>
          <a:ln>
            <a:noFill/>
          </a:ln>
        </p:spPr>
      </p:pic>
      <p:sp>
        <p:nvSpPr>
          <p:cNvPr id="70" name="Google Shape;70;p15"/>
          <p:cNvSpPr/>
          <p:nvPr/>
        </p:nvSpPr>
        <p:spPr>
          <a:xfrm>
            <a:off x="0" y="141638"/>
            <a:ext cx="6712857"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 name="TextBox 9"/>
          <p:cNvSpPr txBox="1"/>
          <p:nvPr/>
        </p:nvSpPr>
        <p:spPr>
          <a:xfrm>
            <a:off x="0" y="141778"/>
            <a:ext cx="3505201" cy="477054"/>
          </a:xfrm>
          <a:prstGeom prst="rect">
            <a:avLst/>
          </a:prstGeom>
          <a:noFill/>
        </p:spPr>
        <p:txBody>
          <a:bodyPr wrap="square" rtlCol="0">
            <a:spAutoFit/>
          </a:bodyPr>
          <a:lstStyle/>
          <a:p>
            <a:r>
              <a:rPr lang="en-US" sz="2500" b="1" dirty="0">
                <a:ln w="6600">
                  <a:solidFill>
                    <a:schemeClr val="accent2"/>
                  </a:solidFill>
                  <a:prstDash val="solid"/>
                </a:ln>
                <a:solidFill>
                  <a:srgbClr val="FFFFFF"/>
                </a:solidFill>
                <a:effectLst>
                  <a:outerShdw dist="38100" dir="2700000" algn="tl" rotWithShape="0">
                    <a:schemeClr val="accent2"/>
                  </a:outerShdw>
                </a:effectLst>
              </a:rPr>
              <a:t>   Explanation:</a:t>
            </a:r>
          </a:p>
        </p:txBody>
      </p:sp>
      <p:graphicFrame>
        <p:nvGraphicFramePr>
          <p:cNvPr id="8" name="Table 7"/>
          <p:cNvGraphicFramePr>
            <a:graphicFrameLocks noGrp="1"/>
          </p:cNvGraphicFramePr>
          <p:nvPr/>
        </p:nvGraphicFramePr>
        <p:xfrm>
          <a:off x="2286000" y="2167890"/>
          <a:ext cx="4572000" cy="807720"/>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0">
                <a:tc>
                  <a:txBody>
                    <a:bodyPr/>
                    <a:lstStyle/>
                    <a:p>
                      <a:endParaRPr lang="en-US" dirty="0"/>
                    </a:p>
                  </a:txBody>
                  <a:tcPr marL="95250" marR="142875" marT="95250" marB="95250" anchor="ctr">
                    <a:lnL>
                      <a:noFill/>
                    </a:lnL>
                    <a:lnR>
                      <a:noFill/>
                    </a:lnR>
                    <a:lnT>
                      <a:noFill/>
                    </a:lnT>
                    <a:lnB>
                      <a:noFill/>
                    </a:lnB>
                  </a:tcPr>
                </a:tc>
                <a:tc>
                  <a:txBody>
                    <a:bodyPr/>
                    <a:lstStyle/>
                    <a:p>
                      <a:endParaRPr lang="en-US"/>
                    </a:p>
                  </a:txBody>
                  <a:tcPr marL="95250" marR="95250" marT="95250" marB="95250" anchor="ctr">
                    <a:lnL>
                      <a:noFill/>
                    </a:lnL>
                    <a:lnR>
                      <a:noFill/>
                    </a:lnR>
                    <a:lnT>
                      <a:noFill/>
                    </a:lnT>
                    <a:lnB>
                      <a:noFill/>
                    </a:lnB>
                  </a:tcPr>
                </a:tc>
                <a:extLst>
                  <a:ext uri="{0D108BD9-81ED-4DB2-BD59-A6C34878D82A}">
                    <a16:rowId xmlns:a16="http://schemas.microsoft.com/office/drawing/2014/main" val="10000"/>
                  </a:ext>
                </a:extLst>
              </a:tr>
              <a:tr h="0">
                <a:tc>
                  <a:txBody>
                    <a:bodyPr/>
                    <a:lstStyle/>
                    <a:p>
                      <a:endParaRPr lang="en-US"/>
                    </a:p>
                  </a:txBody>
                  <a:tcPr marL="95250" marR="142875" marT="95250" marB="95250" anchor="ctr">
                    <a:lnL>
                      <a:noFill/>
                    </a:lnL>
                    <a:lnR>
                      <a:noFill/>
                    </a:lnR>
                    <a:lnT>
                      <a:noFill/>
                    </a:lnT>
                    <a:lnB>
                      <a:noFill/>
                    </a:lnB>
                  </a:tcPr>
                </a:tc>
                <a:tc>
                  <a:txBody>
                    <a:bodyPr/>
                    <a:lstStyle/>
                    <a:p>
                      <a:endParaRPr lang="en-US" dirty="0"/>
                    </a:p>
                  </a:txBody>
                  <a:tcPr marL="95250" marR="95250" marT="95250" marB="95250" anchor="ctr">
                    <a:lnL>
                      <a:noFill/>
                    </a:lnL>
                    <a:lnR>
                      <a:noFill/>
                    </a:lnR>
                    <a:lnT>
                      <a:noFill/>
                    </a:lnT>
                    <a:lnB>
                      <a:noFill/>
                    </a:lnB>
                  </a:tcPr>
                </a:tc>
                <a:extLst>
                  <a:ext uri="{0D108BD9-81ED-4DB2-BD59-A6C34878D82A}">
                    <a16:rowId xmlns:a16="http://schemas.microsoft.com/office/drawing/2014/main" val="10001"/>
                  </a:ext>
                </a:extLst>
              </a:tr>
            </a:tbl>
          </a:graphicData>
        </a:graphic>
      </p:graphicFrame>
      <p:pic>
        <p:nvPicPr>
          <p:cNvPr id="1026" name="Picture 2"/>
          <p:cNvPicPr>
            <a:picLocks noChangeAspect="1" noChangeArrowheads="1"/>
          </p:cNvPicPr>
          <p:nvPr/>
        </p:nvPicPr>
        <p:blipFill>
          <a:blip r:embed="rId5"/>
          <a:srcRect/>
          <a:stretch>
            <a:fillRect/>
          </a:stretch>
        </p:blipFill>
        <p:spPr bwMode="auto">
          <a:xfrm>
            <a:off x="254000" y="685800"/>
            <a:ext cx="6832599" cy="3429000"/>
          </a:xfrm>
          <a:prstGeom prst="rect">
            <a:avLst/>
          </a:prstGeom>
          <a:noFill/>
          <a:ln w="9525">
            <a:noFill/>
            <a:miter lim="800000"/>
            <a:headEnd/>
            <a:tailEnd/>
          </a:ln>
          <a:effectLst/>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Shape 67"/>
        <p:cNvGrpSpPr/>
        <p:nvPr/>
      </p:nvGrpSpPr>
      <p:grpSpPr>
        <a:xfrm>
          <a:off x="0" y="0"/>
          <a:ext cx="0" cy="0"/>
          <a:chOff x="0" y="0"/>
          <a:chExt cx="0" cy="0"/>
        </a:xfrm>
      </p:grpSpPr>
      <p:pic>
        <p:nvPicPr>
          <p:cNvPr id="69" name="Google Shape;69;p15"/>
          <p:cNvPicPr preferRelativeResize="0"/>
          <p:nvPr/>
        </p:nvPicPr>
        <p:blipFill>
          <a:blip r:embed="rId3"/>
          <a:stretch>
            <a:fillRect/>
          </a:stretch>
        </p:blipFill>
        <p:spPr>
          <a:xfrm>
            <a:off x="7120800" y="233550"/>
            <a:ext cx="1694264" cy="766799"/>
          </a:xfrm>
          <a:prstGeom prst="rect">
            <a:avLst/>
          </a:prstGeom>
          <a:noFill/>
          <a:ln>
            <a:noFill/>
          </a:ln>
        </p:spPr>
      </p:pic>
      <p:sp>
        <p:nvSpPr>
          <p:cNvPr id="70" name="Google Shape;70;p15"/>
          <p:cNvSpPr/>
          <p:nvPr/>
        </p:nvSpPr>
        <p:spPr>
          <a:xfrm>
            <a:off x="0" y="141638"/>
            <a:ext cx="6712857"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 name="TextBox 9"/>
          <p:cNvSpPr txBox="1"/>
          <p:nvPr/>
        </p:nvSpPr>
        <p:spPr>
          <a:xfrm>
            <a:off x="0" y="141778"/>
            <a:ext cx="3505201" cy="477054"/>
          </a:xfrm>
          <a:prstGeom prst="rect">
            <a:avLst/>
          </a:prstGeom>
          <a:noFill/>
        </p:spPr>
        <p:txBody>
          <a:bodyPr wrap="square" rtlCol="0">
            <a:spAutoFit/>
          </a:bodyPr>
          <a:lstStyle/>
          <a:p>
            <a:r>
              <a:rPr lang="en-US" sz="2500" b="1" dirty="0">
                <a:ln w="6600">
                  <a:solidFill>
                    <a:schemeClr val="accent2"/>
                  </a:solidFill>
                  <a:prstDash val="solid"/>
                </a:ln>
                <a:solidFill>
                  <a:srgbClr val="FFFFFF"/>
                </a:solidFill>
                <a:effectLst>
                  <a:outerShdw dist="38100" dir="2700000" algn="tl" rotWithShape="0">
                    <a:schemeClr val="accent2"/>
                  </a:outerShdw>
                </a:effectLst>
              </a:rPr>
              <a:t>   Explanation:</a:t>
            </a:r>
          </a:p>
        </p:txBody>
      </p:sp>
      <p:graphicFrame>
        <p:nvGraphicFramePr>
          <p:cNvPr id="8" name="Table 7"/>
          <p:cNvGraphicFramePr>
            <a:graphicFrameLocks noGrp="1"/>
          </p:cNvGraphicFramePr>
          <p:nvPr/>
        </p:nvGraphicFramePr>
        <p:xfrm>
          <a:off x="2286000" y="2167890"/>
          <a:ext cx="4572000" cy="807720"/>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0">
                <a:tc>
                  <a:txBody>
                    <a:bodyPr/>
                    <a:lstStyle/>
                    <a:p>
                      <a:endParaRPr lang="en-US" dirty="0"/>
                    </a:p>
                  </a:txBody>
                  <a:tcPr marL="95250" marR="142875" marT="95250" marB="95250" anchor="ctr">
                    <a:lnL>
                      <a:noFill/>
                    </a:lnL>
                    <a:lnR>
                      <a:noFill/>
                    </a:lnR>
                    <a:lnT>
                      <a:noFill/>
                    </a:lnT>
                    <a:lnB>
                      <a:noFill/>
                    </a:lnB>
                  </a:tcPr>
                </a:tc>
                <a:tc>
                  <a:txBody>
                    <a:bodyPr/>
                    <a:lstStyle/>
                    <a:p>
                      <a:endParaRPr lang="en-US"/>
                    </a:p>
                  </a:txBody>
                  <a:tcPr marL="95250" marR="95250" marT="95250" marB="95250" anchor="ctr">
                    <a:lnL>
                      <a:noFill/>
                    </a:lnL>
                    <a:lnR>
                      <a:noFill/>
                    </a:lnR>
                    <a:lnT>
                      <a:noFill/>
                    </a:lnT>
                    <a:lnB>
                      <a:noFill/>
                    </a:lnB>
                  </a:tcPr>
                </a:tc>
                <a:extLst>
                  <a:ext uri="{0D108BD9-81ED-4DB2-BD59-A6C34878D82A}">
                    <a16:rowId xmlns:a16="http://schemas.microsoft.com/office/drawing/2014/main" val="10000"/>
                  </a:ext>
                </a:extLst>
              </a:tr>
              <a:tr h="0">
                <a:tc>
                  <a:txBody>
                    <a:bodyPr/>
                    <a:lstStyle/>
                    <a:p>
                      <a:endParaRPr lang="en-US"/>
                    </a:p>
                  </a:txBody>
                  <a:tcPr marL="95250" marR="142875" marT="95250" marB="95250" anchor="ctr">
                    <a:lnL>
                      <a:noFill/>
                    </a:lnL>
                    <a:lnR>
                      <a:noFill/>
                    </a:lnR>
                    <a:lnT>
                      <a:noFill/>
                    </a:lnT>
                    <a:lnB>
                      <a:noFill/>
                    </a:lnB>
                  </a:tcPr>
                </a:tc>
                <a:tc>
                  <a:txBody>
                    <a:bodyPr/>
                    <a:lstStyle/>
                    <a:p>
                      <a:endParaRPr lang="en-US" dirty="0"/>
                    </a:p>
                  </a:txBody>
                  <a:tcPr marL="95250" marR="95250" marT="95250" marB="95250" anchor="ctr">
                    <a:lnL>
                      <a:noFill/>
                    </a:lnL>
                    <a:lnR>
                      <a:noFill/>
                    </a:lnR>
                    <a:lnT>
                      <a:noFill/>
                    </a:lnT>
                    <a:lnB>
                      <a:noFill/>
                    </a:lnB>
                  </a:tcPr>
                </a:tc>
                <a:extLst>
                  <a:ext uri="{0D108BD9-81ED-4DB2-BD59-A6C34878D82A}">
                    <a16:rowId xmlns:a16="http://schemas.microsoft.com/office/drawing/2014/main" val="10001"/>
                  </a:ext>
                </a:extLst>
              </a:tr>
            </a:tbl>
          </a:graphicData>
        </a:graphic>
      </p:graphicFrame>
      <p:pic>
        <p:nvPicPr>
          <p:cNvPr id="2050" name="Picture 2"/>
          <p:cNvPicPr>
            <a:picLocks noChangeAspect="1" noChangeArrowheads="1"/>
          </p:cNvPicPr>
          <p:nvPr/>
        </p:nvPicPr>
        <p:blipFill>
          <a:blip r:embed="rId4"/>
          <a:srcRect/>
          <a:stretch>
            <a:fillRect/>
          </a:stretch>
        </p:blipFill>
        <p:spPr bwMode="auto">
          <a:xfrm>
            <a:off x="254000" y="711200"/>
            <a:ext cx="6845300" cy="3416299"/>
          </a:xfrm>
          <a:prstGeom prst="rect">
            <a:avLst/>
          </a:prstGeom>
          <a:noFill/>
          <a:ln w="9525">
            <a:noFill/>
            <a:miter lim="800000"/>
            <a:headEnd/>
            <a:tailEnd/>
          </a:ln>
          <a:effectLst/>
        </p:spPr>
      </p:pic>
      <p:pic>
        <p:nvPicPr>
          <p:cNvPr id="9" name="Google Shape;68;p15"/>
          <p:cNvPicPr preferRelativeResize="0"/>
          <p:nvPr/>
        </p:nvPicPr>
        <p:blipFill rotWithShape="1">
          <a:blip r:embed="rId5"/>
          <a:srcRect l="41241" t="9528" r="-23988" b="51129"/>
          <a:stretch>
            <a:fillRect/>
          </a:stretch>
        </p:blipFill>
        <p:spPr>
          <a:xfrm>
            <a:off x="0" y="4073752"/>
            <a:ext cx="4457700" cy="1065625"/>
          </a:xfrm>
          <a:prstGeom prst="rect">
            <a:avLst/>
          </a:prstGeom>
          <a:noFill/>
          <a:ln>
            <a:noFill/>
          </a:ln>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9" name="Google Shape;69;p15"/>
          <p:cNvPicPr preferRelativeResize="0"/>
          <p:nvPr/>
        </p:nvPicPr>
        <p:blipFill>
          <a:blip r:embed="rId3"/>
          <a:stretch>
            <a:fillRect/>
          </a:stretch>
        </p:blipFill>
        <p:spPr>
          <a:xfrm>
            <a:off x="7120800" y="233550"/>
            <a:ext cx="1694264" cy="766799"/>
          </a:xfrm>
          <a:prstGeom prst="rect">
            <a:avLst/>
          </a:prstGeom>
          <a:noFill/>
          <a:ln>
            <a:noFill/>
          </a:ln>
        </p:spPr>
      </p:pic>
      <p:sp>
        <p:nvSpPr>
          <p:cNvPr id="9" name="Google Shape;70;p15"/>
          <p:cNvSpPr/>
          <p:nvPr/>
        </p:nvSpPr>
        <p:spPr>
          <a:xfrm>
            <a:off x="0" y="173677"/>
            <a:ext cx="6712857"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TextBox 10"/>
          <p:cNvSpPr txBox="1"/>
          <p:nvPr/>
        </p:nvSpPr>
        <p:spPr>
          <a:xfrm>
            <a:off x="0" y="135577"/>
            <a:ext cx="3267157" cy="477054"/>
          </a:xfrm>
          <a:prstGeom prst="rect">
            <a:avLst/>
          </a:prstGeom>
          <a:noFill/>
        </p:spPr>
        <p:txBody>
          <a:bodyPr wrap="square" rtlCol="0">
            <a:spAutoFit/>
          </a:bodyPr>
          <a:lstStyle/>
          <a:p>
            <a:r>
              <a:rPr lang="en-US" sz="2500" b="1" dirty="0">
                <a:ln w="6600">
                  <a:solidFill>
                    <a:schemeClr val="accent2"/>
                  </a:solidFill>
                  <a:prstDash val="solid"/>
                </a:ln>
                <a:solidFill>
                  <a:srgbClr val="FFFFFF"/>
                </a:solidFill>
                <a:effectLst>
                  <a:outerShdw dist="38100" dir="2700000" algn="tl" rotWithShape="0">
                    <a:schemeClr val="accent2"/>
                  </a:outerShdw>
                </a:effectLst>
              </a:rPr>
              <a:t>    Question 02:</a:t>
            </a:r>
          </a:p>
        </p:txBody>
      </p:sp>
      <p:sp>
        <p:nvSpPr>
          <p:cNvPr id="8" name="Rectangle 7"/>
          <p:cNvSpPr/>
          <p:nvPr/>
        </p:nvSpPr>
        <p:spPr>
          <a:xfrm>
            <a:off x="381000" y="850900"/>
            <a:ext cx="8763000" cy="4246245"/>
          </a:xfrm>
          <a:prstGeom prst="rect">
            <a:avLst/>
          </a:prstGeom>
        </p:spPr>
        <p:txBody>
          <a:bodyPr wrap="square">
            <a:spAutoFit/>
          </a:bodyPr>
          <a:lstStyle/>
          <a:p>
            <a:pPr fontAlgn="t">
              <a:lnSpc>
                <a:spcPct val="150000"/>
              </a:lnSpc>
            </a:pPr>
            <a:r>
              <a:rPr lang="en-US" sz="1800" dirty="0">
                <a:solidFill>
                  <a:schemeClr val="tx1"/>
                </a:solidFill>
              </a:rPr>
              <a:t>A man travelled a distance of 90Km in 9 hours partly on foot at 8 </a:t>
            </a:r>
            <a:r>
              <a:rPr lang="en-US" sz="1800" dirty="0" err="1">
                <a:solidFill>
                  <a:schemeClr val="tx1"/>
                </a:solidFill>
              </a:rPr>
              <a:t>kmph</a:t>
            </a:r>
            <a:r>
              <a:rPr lang="en-US" sz="1800" dirty="0">
                <a:solidFill>
                  <a:schemeClr val="tx1"/>
                </a:solidFill>
              </a:rPr>
              <a:t> and partly on bicycle at 17 </a:t>
            </a:r>
            <a:r>
              <a:rPr lang="en-US" sz="1800" dirty="0" err="1">
                <a:solidFill>
                  <a:schemeClr val="tx1"/>
                </a:solidFill>
              </a:rPr>
              <a:t>kmph</a:t>
            </a:r>
            <a:r>
              <a:rPr lang="en-US" sz="1800" dirty="0">
                <a:solidFill>
                  <a:schemeClr val="tx1"/>
                </a:solidFill>
              </a:rPr>
              <a:t>. Find the distance travelled on foot.</a:t>
            </a:r>
          </a:p>
          <a:p>
            <a:pPr fontAlgn="t">
              <a:lnSpc>
                <a:spcPct val="150000"/>
              </a:lnSpc>
            </a:pPr>
            <a:r>
              <a:rPr lang="en-US" sz="1800" dirty="0">
                <a:solidFill>
                  <a:schemeClr val="tx1"/>
                </a:solidFill>
              </a:rPr>
              <a:t>A. 46 km</a:t>
            </a:r>
          </a:p>
          <a:p>
            <a:pPr fontAlgn="t">
              <a:lnSpc>
                <a:spcPct val="150000"/>
              </a:lnSpc>
            </a:pPr>
            <a:r>
              <a:rPr lang="en-US" sz="1800" dirty="0">
                <a:solidFill>
                  <a:schemeClr val="tx1"/>
                </a:solidFill>
              </a:rPr>
              <a:t>B. 56 km</a:t>
            </a:r>
          </a:p>
          <a:p>
            <a:pPr fontAlgn="t">
              <a:lnSpc>
                <a:spcPct val="150000"/>
              </a:lnSpc>
            </a:pPr>
            <a:r>
              <a:rPr lang="en-US" sz="1800" dirty="0">
                <a:solidFill>
                  <a:schemeClr val="tx1"/>
                </a:solidFill>
              </a:rPr>
              <a:t>C. 62 km</a:t>
            </a:r>
          </a:p>
          <a:p>
            <a:pPr fontAlgn="t">
              <a:lnSpc>
                <a:spcPct val="150000"/>
              </a:lnSpc>
            </a:pPr>
            <a:r>
              <a:rPr lang="en-US" sz="1800" dirty="0">
                <a:solidFill>
                  <a:schemeClr val="tx1"/>
                </a:solidFill>
              </a:rPr>
              <a:t>D. 52 km</a:t>
            </a:r>
          </a:p>
          <a:p>
            <a:pPr fontAlgn="t">
              <a:lnSpc>
                <a:spcPct val="150000"/>
              </a:lnSpc>
            </a:pPr>
            <a:endParaRPr lang="en-US" sz="1800" dirty="0"/>
          </a:p>
          <a:p>
            <a:pPr fontAlgn="t">
              <a:lnSpc>
                <a:spcPct val="150000"/>
              </a:lnSpc>
            </a:pPr>
            <a:endParaRPr lang="en-US" sz="1800" dirty="0"/>
          </a:p>
          <a:p>
            <a:pPr fontAlgn="t">
              <a:lnSpc>
                <a:spcPct val="150000"/>
              </a:lnSpc>
            </a:pPr>
            <a:r>
              <a:rPr lang="en-US" sz="1800" dirty="0"/>
              <a:t>							</a:t>
            </a:r>
            <a:r>
              <a:rPr lang="en-US" sz="1800" b="1" dirty="0"/>
              <a:t>Answer: B</a:t>
            </a:r>
            <a:endParaRPr lang="en-US" sz="1800" dirty="0"/>
          </a:p>
          <a:p>
            <a:pPr>
              <a:lnSpc>
                <a:spcPct val="150000"/>
              </a:lnSpc>
            </a:pPr>
            <a:endParaRPr lang="en-US" sz="1800" dirty="0"/>
          </a:p>
        </p:txBody>
      </p:sp>
      <p:pic>
        <p:nvPicPr>
          <p:cNvPr id="7" name="Google Shape;68;p15"/>
          <p:cNvPicPr preferRelativeResize="0"/>
          <p:nvPr/>
        </p:nvPicPr>
        <p:blipFill rotWithShape="1">
          <a:blip r:embed="rId4"/>
          <a:srcRect l="41241" t="9528" r="-23988" b="51129"/>
          <a:stretch>
            <a:fillRect/>
          </a:stretch>
        </p:blipFill>
        <p:spPr>
          <a:xfrm>
            <a:off x="0" y="4073752"/>
            <a:ext cx="4457700" cy="10656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 calcmode="lin" valueType="num">
                                      <p:cBhvr additive="base">
                                        <p:cTn id="13"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 calcmode="lin" valueType="num">
                                      <p:cBhvr additive="base">
                                        <p:cTn id="19"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xEl>
                                              <p:pRg st="3" end="3"/>
                                            </p:txEl>
                                          </p:spTgt>
                                        </p:tgtEl>
                                        <p:attrNameLst>
                                          <p:attrName>style.visibility</p:attrName>
                                        </p:attrNameLst>
                                      </p:cBhvr>
                                      <p:to>
                                        <p:strVal val="visible"/>
                                      </p:to>
                                    </p:set>
                                    <p:anim calcmode="lin" valueType="num">
                                      <p:cBhvr additive="base">
                                        <p:cTn id="25"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
                                            <p:txEl>
                                              <p:pRg st="4" end="4"/>
                                            </p:txEl>
                                          </p:spTgt>
                                        </p:tgtEl>
                                        <p:attrNameLst>
                                          <p:attrName>style.visibility</p:attrName>
                                        </p:attrNameLst>
                                      </p:cBhvr>
                                      <p:to>
                                        <p:strVal val="visible"/>
                                      </p:to>
                                    </p:set>
                                    <p:anim calcmode="lin" valueType="num">
                                      <p:cBhvr additive="base">
                                        <p:cTn id="31"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8">
                                            <p:txEl>
                                              <p:pRg st="7" end="7"/>
                                            </p:txEl>
                                          </p:spTgt>
                                        </p:tgtEl>
                                        <p:attrNameLst>
                                          <p:attrName>style.visibility</p:attrName>
                                        </p:attrNameLst>
                                      </p:cBhvr>
                                      <p:to>
                                        <p:strVal val="visible"/>
                                      </p:to>
                                    </p:set>
                                    <p:anim calcmode="lin" valueType="num">
                                      <p:cBhvr additive="base">
                                        <p:cTn id="37" dur="500" fill="hold"/>
                                        <p:tgtEl>
                                          <p:spTgt spid="8">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Shape 67"/>
        <p:cNvGrpSpPr/>
        <p:nvPr/>
      </p:nvGrpSpPr>
      <p:grpSpPr>
        <a:xfrm>
          <a:off x="0" y="0"/>
          <a:ext cx="0" cy="0"/>
          <a:chOff x="0" y="0"/>
          <a:chExt cx="0" cy="0"/>
        </a:xfrm>
      </p:grpSpPr>
      <p:pic>
        <p:nvPicPr>
          <p:cNvPr id="69" name="Google Shape;69;p15"/>
          <p:cNvPicPr preferRelativeResize="0"/>
          <p:nvPr/>
        </p:nvPicPr>
        <p:blipFill>
          <a:blip r:embed="rId3"/>
          <a:stretch>
            <a:fillRect/>
          </a:stretch>
        </p:blipFill>
        <p:spPr>
          <a:xfrm>
            <a:off x="7120800" y="233550"/>
            <a:ext cx="1694264" cy="766799"/>
          </a:xfrm>
          <a:prstGeom prst="rect">
            <a:avLst/>
          </a:prstGeom>
          <a:noFill/>
          <a:ln>
            <a:noFill/>
          </a:ln>
        </p:spPr>
      </p:pic>
      <p:sp>
        <p:nvSpPr>
          <p:cNvPr id="9" name="Google Shape;70;p15"/>
          <p:cNvSpPr/>
          <p:nvPr/>
        </p:nvSpPr>
        <p:spPr>
          <a:xfrm>
            <a:off x="0" y="173677"/>
            <a:ext cx="6712857"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TextBox 10"/>
          <p:cNvSpPr txBox="1"/>
          <p:nvPr/>
        </p:nvSpPr>
        <p:spPr>
          <a:xfrm>
            <a:off x="0" y="135577"/>
            <a:ext cx="3267157" cy="477054"/>
          </a:xfrm>
          <a:prstGeom prst="rect">
            <a:avLst/>
          </a:prstGeom>
          <a:noFill/>
        </p:spPr>
        <p:txBody>
          <a:bodyPr wrap="square" rtlCol="0">
            <a:spAutoFit/>
          </a:bodyPr>
          <a:lstStyle/>
          <a:p>
            <a:r>
              <a:rPr lang="en-US" sz="2500" b="1" dirty="0">
                <a:ln w="6600">
                  <a:solidFill>
                    <a:schemeClr val="accent2"/>
                  </a:solidFill>
                  <a:prstDash val="solid"/>
                </a:ln>
                <a:solidFill>
                  <a:srgbClr val="FFFFFF"/>
                </a:solidFill>
                <a:effectLst>
                  <a:outerShdw dist="38100" dir="2700000" algn="tl" rotWithShape="0">
                    <a:schemeClr val="accent2"/>
                  </a:outerShdw>
                </a:effectLst>
              </a:rPr>
              <a:t>   Explanation:</a:t>
            </a:r>
          </a:p>
        </p:txBody>
      </p:sp>
      <p:sp>
        <p:nvSpPr>
          <p:cNvPr id="8" name="TextBox 7"/>
          <p:cNvSpPr txBox="1"/>
          <p:nvPr/>
        </p:nvSpPr>
        <p:spPr>
          <a:xfrm>
            <a:off x="292100" y="660400"/>
            <a:ext cx="8597900" cy="4030980"/>
          </a:xfrm>
          <a:prstGeom prst="rect">
            <a:avLst/>
          </a:prstGeom>
          <a:noFill/>
        </p:spPr>
        <p:txBody>
          <a:bodyPr wrap="square" rtlCol="0">
            <a:spAutoFit/>
          </a:bodyPr>
          <a:lstStyle/>
          <a:p>
            <a:pPr lvl="0" fontAlgn="base">
              <a:spcBef>
                <a:spcPct val="0"/>
              </a:spcBef>
              <a:spcAft>
                <a:spcPct val="0"/>
              </a:spcAft>
              <a:buClrTx/>
            </a:pPr>
            <a:r>
              <a:rPr lang="en-US" sz="1600" dirty="0">
                <a:solidFill>
                  <a:schemeClr val="tx1"/>
                </a:solidFill>
                <a:latin typeface="+mj-lt"/>
                <a:cs typeface="Arial" panose="02080604020202020204" pitchFamily="34" charset="0"/>
              </a:rPr>
              <a:t>Distance covered in 1 hour on foot = 8 km </a:t>
            </a:r>
            <a:br>
              <a:rPr lang="en-US" sz="1600" dirty="0">
                <a:solidFill>
                  <a:schemeClr val="tx1"/>
                </a:solidFill>
                <a:latin typeface="+mj-lt"/>
                <a:cs typeface="Arial" panose="02080604020202020204" pitchFamily="34" charset="0"/>
              </a:rPr>
            </a:br>
            <a:r>
              <a:rPr lang="en-US" sz="1600" dirty="0">
                <a:solidFill>
                  <a:schemeClr val="tx1"/>
                </a:solidFill>
                <a:latin typeface="+mj-lt"/>
                <a:cs typeface="Arial" panose="02080604020202020204" pitchFamily="34" charset="0"/>
              </a:rPr>
              <a:t>Distance covered in 1 hour on bicycle = 17 km</a:t>
            </a:r>
            <a:br>
              <a:rPr lang="en-US" sz="1600" dirty="0">
                <a:solidFill>
                  <a:schemeClr val="tx1"/>
                </a:solidFill>
                <a:latin typeface="+mj-lt"/>
                <a:cs typeface="Arial" panose="02080604020202020204" pitchFamily="34" charset="0"/>
              </a:rPr>
            </a:br>
            <a:r>
              <a:rPr lang="en-US" sz="1600" dirty="0">
                <a:solidFill>
                  <a:schemeClr val="tx1"/>
                </a:solidFill>
                <a:latin typeface="+mj-lt"/>
                <a:cs typeface="Arial" panose="02080604020202020204" pitchFamily="34" charset="0"/>
              </a:rPr>
              <a:t>Average distance covered in 1 hour = 90/9 km   = 10km (mean distance)</a:t>
            </a:r>
          </a:p>
          <a:p>
            <a:pPr lvl="0" eaLnBrk="0" fontAlgn="base" hangingPunct="0">
              <a:spcBef>
                <a:spcPct val="0"/>
              </a:spcBef>
              <a:spcAft>
                <a:spcPct val="0"/>
              </a:spcAft>
              <a:buClrTx/>
            </a:pPr>
            <a:r>
              <a:rPr lang="en-US" sz="1600" dirty="0">
                <a:solidFill>
                  <a:schemeClr val="tx1"/>
                </a:solidFill>
                <a:latin typeface="+mj-lt"/>
                <a:cs typeface="Arial" panose="02080604020202020204" pitchFamily="34" charset="0"/>
              </a:rPr>
              <a:t>Distance covered in        Distance covered in</a:t>
            </a:r>
          </a:p>
          <a:p>
            <a:pPr lvl="0" eaLnBrk="0" fontAlgn="base" hangingPunct="0">
              <a:spcBef>
                <a:spcPct val="0"/>
              </a:spcBef>
              <a:spcAft>
                <a:spcPct val="0"/>
              </a:spcAft>
              <a:buClrTx/>
            </a:pPr>
            <a:r>
              <a:rPr lang="en-US" sz="1600" dirty="0">
                <a:solidFill>
                  <a:schemeClr val="tx1"/>
                </a:solidFill>
                <a:latin typeface="+mj-lt"/>
                <a:cs typeface="Arial" panose="02080604020202020204" pitchFamily="34" charset="0"/>
              </a:rPr>
              <a:t>1 hour on foot                  1 hour on bicycle</a:t>
            </a:r>
          </a:p>
          <a:p>
            <a:pPr lvl="0" eaLnBrk="0" fontAlgn="base" hangingPunct="0">
              <a:spcBef>
                <a:spcPct val="0"/>
              </a:spcBef>
              <a:spcAft>
                <a:spcPct val="0"/>
              </a:spcAft>
              <a:buClrTx/>
            </a:pPr>
            <a:r>
              <a:rPr lang="en-US" sz="1600" dirty="0">
                <a:solidFill>
                  <a:schemeClr val="tx1"/>
                </a:solidFill>
                <a:latin typeface="+mj-lt"/>
                <a:cs typeface="Arial" panose="02080604020202020204" pitchFamily="34" charset="0"/>
              </a:rPr>
              <a:t>     (8 km)                                (17 km)</a:t>
            </a:r>
          </a:p>
          <a:p>
            <a:pPr lvl="0" eaLnBrk="0" fontAlgn="base" hangingPunct="0">
              <a:spcBef>
                <a:spcPct val="0"/>
              </a:spcBef>
              <a:spcAft>
                <a:spcPct val="0"/>
              </a:spcAft>
              <a:buClrTx/>
            </a:pPr>
            <a:r>
              <a:rPr lang="en-US" sz="1600" dirty="0">
                <a:solidFill>
                  <a:schemeClr val="tx1"/>
                </a:solidFill>
                <a:latin typeface="+mj-lt"/>
                <a:cs typeface="Arial" panose="02080604020202020204" pitchFamily="34" charset="0"/>
              </a:rPr>
              <a:t>          	 \                                    /</a:t>
            </a:r>
            <a:br>
              <a:rPr lang="en-US" sz="1600" dirty="0">
                <a:solidFill>
                  <a:schemeClr val="tx1"/>
                </a:solidFill>
                <a:latin typeface="+mj-lt"/>
                <a:cs typeface="Arial" panose="02080604020202020204" pitchFamily="34" charset="0"/>
              </a:rPr>
            </a:br>
            <a:r>
              <a:rPr lang="en-US" sz="1600" dirty="0">
                <a:solidFill>
                  <a:schemeClr val="tx1"/>
                </a:solidFill>
                <a:latin typeface="+mj-lt"/>
                <a:cs typeface="Arial" panose="02080604020202020204" pitchFamily="34" charset="0"/>
              </a:rPr>
              <a:t>                     Mean Distance</a:t>
            </a:r>
          </a:p>
          <a:p>
            <a:pPr lvl="0" eaLnBrk="0" fontAlgn="base" hangingPunct="0">
              <a:spcBef>
                <a:spcPct val="0"/>
              </a:spcBef>
              <a:spcAft>
                <a:spcPct val="0"/>
              </a:spcAft>
              <a:buClrTx/>
            </a:pPr>
            <a:r>
              <a:rPr lang="en-US" sz="1600" dirty="0">
                <a:solidFill>
                  <a:schemeClr val="tx1"/>
                </a:solidFill>
                <a:latin typeface="+mj-lt"/>
                <a:cs typeface="Arial" panose="02080604020202020204" pitchFamily="34" charset="0"/>
              </a:rPr>
              <a:t>                           (10 km)</a:t>
            </a:r>
          </a:p>
          <a:p>
            <a:pPr lvl="0" eaLnBrk="0" fontAlgn="base" hangingPunct="0">
              <a:spcBef>
                <a:spcPct val="0"/>
              </a:spcBef>
              <a:spcAft>
                <a:spcPct val="0"/>
              </a:spcAft>
              <a:buClrTx/>
            </a:pPr>
            <a:r>
              <a:rPr lang="en-US" sz="1600" dirty="0">
                <a:solidFill>
                  <a:schemeClr val="tx1"/>
                </a:solidFill>
                <a:latin typeface="+mj-lt"/>
                <a:cs typeface="Arial" panose="02080604020202020204" pitchFamily="34" charset="0"/>
              </a:rPr>
              <a:t>                   /                        \</a:t>
            </a:r>
          </a:p>
          <a:p>
            <a:pPr lvl="0" eaLnBrk="0" fontAlgn="base" hangingPunct="0">
              <a:spcBef>
                <a:spcPct val="0"/>
              </a:spcBef>
              <a:spcAft>
                <a:spcPct val="0"/>
              </a:spcAft>
              <a:buClrTx/>
            </a:pPr>
            <a:r>
              <a:rPr lang="en-US" sz="1600" dirty="0">
                <a:solidFill>
                  <a:schemeClr val="tx1"/>
                </a:solidFill>
                <a:latin typeface="+mj-lt"/>
                <a:cs typeface="Arial" panose="02080604020202020204" pitchFamily="34" charset="0"/>
              </a:rPr>
              <a:t>        (17 – 10)      :           (10 – 8)</a:t>
            </a:r>
          </a:p>
          <a:p>
            <a:pPr lvl="0" eaLnBrk="0" fontAlgn="base" hangingPunct="0">
              <a:spcBef>
                <a:spcPct val="0"/>
              </a:spcBef>
              <a:spcAft>
                <a:spcPct val="0"/>
              </a:spcAft>
              <a:buClrTx/>
            </a:pPr>
            <a:r>
              <a:rPr lang="en-US" sz="1600" dirty="0">
                <a:solidFill>
                  <a:schemeClr val="tx1"/>
                </a:solidFill>
                <a:latin typeface="+mj-lt"/>
                <a:cs typeface="Arial" panose="02080604020202020204" pitchFamily="34" charset="0"/>
              </a:rPr>
              <a:t>              7                                  2 </a:t>
            </a:r>
          </a:p>
          <a:p>
            <a:pPr lvl="0" eaLnBrk="0" fontAlgn="base" hangingPunct="0">
              <a:spcBef>
                <a:spcPct val="0"/>
              </a:spcBef>
              <a:spcAft>
                <a:spcPct val="0"/>
              </a:spcAft>
              <a:buClrTx/>
            </a:pPr>
            <a:r>
              <a:rPr lang="en-US" sz="1600" dirty="0">
                <a:solidFill>
                  <a:schemeClr val="tx1"/>
                </a:solidFill>
                <a:latin typeface="+mj-lt"/>
                <a:cs typeface="Arial" panose="02080604020202020204" pitchFamily="34" charset="0"/>
              </a:rPr>
              <a:t>				Thus out of 9 hours, he took 7 hours on foot</a:t>
            </a:r>
            <a:br>
              <a:rPr lang="en-US" sz="1600" dirty="0">
                <a:solidFill>
                  <a:schemeClr val="tx1"/>
                </a:solidFill>
                <a:latin typeface="+mj-lt"/>
                <a:cs typeface="Arial" panose="02080604020202020204" pitchFamily="34" charset="0"/>
              </a:rPr>
            </a:br>
            <a:r>
              <a:rPr lang="en-US" sz="1600" dirty="0">
                <a:solidFill>
                  <a:schemeClr val="tx1"/>
                </a:solidFill>
                <a:latin typeface="+mj-lt"/>
                <a:cs typeface="Arial" panose="02080604020202020204" pitchFamily="34" charset="0"/>
              </a:rPr>
              <a:t>				Distance covered on foot  =(8×7) Km  </a:t>
            </a:r>
            <a:br>
              <a:rPr lang="en-US" sz="1600" dirty="0">
                <a:solidFill>
                  <a:schemeClr val="tx1"/>
                </a:solidFill>
                <a:latin typeface="+mj-lt"/>
                <a:cs typeface="Arial" panose="02080604020202020204" pitchFamily="34" charset="0"/>
              </a:rPr>
            </a:br>
            <a:r>
              <a:rPr lang="en-US" sz="1600" dirty="0">
                <a:solidFill>
                  <a:schemeClr val="tx1"/>
                </a:solidFill>
                <a:latin typeface="+mj-lt"/>
                <a:cs typeface="Arial" panose="02080604020202020204" pitchFamily="34" charset="0"/>
              </a:rPr>
              <a:t>				=56 Km.</a:t>
            </a:r>
          </a:p>
          <a:p>
            <a:endParaRPr lang="en-US" sz="1600" dirty="0">
              <a:solidFill>
                <a:schemeClr val="tx1"/>
              </a:solidFill>
            </a:endParaRPr>
          </a:p>
        </p:txBody>
      </p:sp>
      <p:pic>
        <p:nvPicPr>
          <p:cNvPr id="7" name="Google Shape;68;p15"/>
          <p:cNvPicPr preferRelativeResize="0"/>
          <p:nvPr/>
        </p:nvPicPr>
        <p:blipFill rotWithShape="1">
          <a:blip r:embed="rId4"/>
          <a:srcRect l="41241" t="9528" r="-23988" b="51129"/>
          <a:stretch>
            <a:fillRect/>
          </a:stretch>
        </p:blipFill>
        <p:spPr>
          <a:xfrm>
            <a:off x="0" y="4073752"/>
            <a:ext cx="4457700" cy="1065625"/>
          </a:xfrm>
          <a:prstGeom prst="rect">
            <a:avLst/>
          </a:prstGeom>
          <a:noFill/>
          <a:ln>
            <a:noFill/>
          </a:ln>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15"/>
          <p:cNvPicPr preferRelativeResize="0"/>
          <p:nvPr/>
        </p:nvPicPr>
        <p:blipFill rotWithShape="1">
          <a:blip r:embed="rId3"/>
          <a:srcRect l="41241" t="9528" r="-23988" b="51129"/>
          <a:stretch>
            <a:fillRect/>
          </a:stretch>
        </p:blipFill>
        <p:spPr>
          <a:xfrm>
            <a:off x="0" y="4073752"/>
            <a:ext cx="4457700" cy="1065625"/>
          </a:xfrm>
          <a:prstGeom prst="rect">
            <a:avLst/>
          </a:prstGeom>
          <a:noFill/>
          <a:ln>
            <a:noFill/>
          </a:ln>
        </p:spPr>
      </p:pic>
      <p:pic>
        <p:nvPicPr>
          <p:cNvPr id="69" name="Google Shape;69;p15"/>
          <p:cNvPicPr preferRelativeResize="0"/>
          <p:nvPr/>
        </p:nvPicPr>
        <p:blipFill>
          <a:blip r:embed="rId4"/>
          <a:stretch>
            <a:fillRect/>
          </a:stretch>
        </p:blipFill>
        <p:spPr>
          <a:xfrm>
            <a:off x="7120800" y="233550"/>
            <a:ext cx="1694264" cy="766799"/>
          </a:xfrm>
          <a:prstGeom prst="rect">
            <a:avLst/>
          </a:prstGeom>
          <a:noFill/>
          <a:ln>
            <a:noFill/>
          </a:ln>
        </p:spPr>
      </p:pic>
      <p:sp>
        <p:nvSpPr>
          <p:cNvPr id="70" name="Google Shape;70;p15"/>
          <p:cNvSpPr/>
          <p:nvPr/>
        </p:nvSpPr>
        <p:spPr>
          <a:xfrm>
            <a:off x="0" y="181536"/>
            <a:ext cx="6712857"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r>
              <a:rPr lang="en-US" sz="2500" b="1" dirty="0">
                <a:ln w="6600">
                  <a:solidFill>
                    <a:schemeClr val="accent2"/>
                  </a:solidFill>
                  <a:prstDash val="solid"/>
                </a:ln>
                <a:solidFill>
                  <a:srgbClr val="FFFFFF"/>
                </a:solidFill>
                <a:effectLst>
                  <a:outerShdw dist="38100" dir="2700000" algn="tl" rotWithShape="0">
                    <a:schemeClr val="accent2"/>
                  </a:outerShdw>
                </a:effectLst>
              </a:rPr>
              <a:t>   Question 03:</a:t>
            </a:r>
          </a:p>
        </p:txBody>
      </p:sp>
      <p:sp>
        <p:nvSpPr>
          <p:cNvPr id="2" name="TextBox 1"/>
          <p:cNvSpPr txBox="1"/>
          <p:nvPr/>
        </p:nvSpPr>
        <p:spPr>
          <a:xfrm>
            <a:off x="271462" y="673100"/>
            <a:ext cx="8801100" cy="1169551"/>
          </a:xfrm>
          <a:prstGeom prst="rect">
            <a:avLst/>
          </a:prstGeom>
          <a:noFill/>
        </p:spPr>
        <p:txBody>
          <a:bodyPr wrap="square" rtlCol="0">
            <a:spAutoFit/>
          </a:bodyPr>
          <a:lstStyle/>
          <a:p>
            <a:pPr marL="342900" lvl="2" indent="-342900">
              <a:lnSpc>
                <a:spcPct val="150000"/>
              </a:lnSpc>
            </a:pPr>
            <a:endParaRPr lang="en-US" sz="1800" dirty="0"/>
          </a:p>
          <a:p>
            <a:pPr marL="342900" lvl="2" indent="-342900">
              <a:lnSpc>
                <a:spcPct val="150000"/>
              </a:lnSpc>
            </a:pPr>
            <a:endParaRPr lang="en-US" sz="1800" dirty="0"/>
          </a:p>
          <a:p>
            <a:endParaRPr lang="en-US" sz="1600" dirty="0"/>
          </a:p>
        </p:txBody>
      </p:sp>
      <p:sp>
        <p:nvSpPr>
          <p:cNvPr id="8" name="Rectangle 7"/>
          <p:cNvSpPr/>
          <p:nvPr/>
        </p:nvSpPr>
        <p:spPr>
          <a:xfrm>
            <a:off x="361950" y="892810"/>
            <a:ext cx="8801100" cy="4246245"/>
          </a:xfrm>
          <a:prstGeom prst="rect">
            <a:avLst/>
          </a:prstGeom>
        </p:spPr>
        <p:txBody>
          <a:bodyPr wrap="square">
            <a:spAutoFit/>
          </a:bodyPr>
          <a:lstStyle/>
          <a:p>
            <a:pPr fontAlgn="t">
              <a:lnSpc>
                <a:spcPct val="150000"/>
              </a:lnSpc>
            </a:pPr>
            <a:r>
              <a:rPr lang="en-US" sz="1800" dirty="0"/>
              <a:t>A vessel is filled with liquid, 3 parts of which are water and 5 parts syrup.</a:t>
            </a:r>
          </a:p>
          <a:p>
            <a:pPr fontAlgn="t">
              <a:lnSpc>
                <a:spcPct val="150000"/>
              </a:lnSpc>
            </a:pPr>
            <a:r>
              <a:rPr lang="en-US" sz="1800" dirty="0"/>
              <a:t>What part of the mixture must be drawn off and replaced with water so that the mixture may be half water and half syrup?</a:t>
            </a:r>
          </a:p>
          <a:p>
            <a:pPr fontAlgn="t">
              <a:lnSpc>
                <a:spcPct val="150000"/>
              </a:lnSpc>
            </a:pPr>
            <a:r>
              <a:rPr lang="en-US" sz="1800" dirty="0"/>
              <a:t>A. 7/11</a:t>
            </a:r>
          </a:p>
          <a:p>
            <a:pPr fontAlgn="t">
              <a:lnSpc>
                <a:spcPct val="150000"/>
              </a:lnSpc>
            </a:pPr>
            <a:r>
              <a:rPr lang="en-US" sz="1800" dirty="0"/>
              <a:t>B. 6/7</a:t>
            </a:r>
          </a:p>
          <a:p>
            <a:pPr fontAlgn="t">
              <a:lnSpc>
                <a:spcPct val="150000"/>
              </a:lnSpc>
            </a:pPr>
            <a:r>
              <a:rPr lang="en-US" sz="1800" dirty="0"/>
              <a:t>C. 1/5</a:t>
            </a:r>
          </a:p>
          <a:p>
            <a:pPr fontAlgn="t">
              <a:lnSpc>
                <a:spcPct val="150000"/>
              </a:lnSpc>
            </a:pPr>
            <a:r>
              <a:rPr lang="en-US" sz="1800" dirty="0"/>
              <a:t>D. 2/7</a:t>
            </a:r>
          </a:p>
          <a:p>
            <a:pPr fontAlgn="t">
              <a:lnSpc>
                <a:spcPct val="150000"/>
              </a:lnSpc>
            </a:pPr>
            <a:endParaRPr lang="en-US" sz="1800" dirty="0"/>
          </a:p>
          <a:p>
            <a:pPr fontAlgn="t">
              <a:lnSpc>
                <a:spcPct val="150000"/>
              </a:lnSpc>
            </a:pPr>
            <a:r>
              <a:rPr lang="en-US" sz="1800" dirty="0"/>
              <a:t>							</a:t>
            </a:r>
            <a:r>
              <a:rPr lang="en-US" sz="1800" b="1" dirty="0"/>
              <a:t>Answer: C</a:t>
            </a:r>
            <a:endParaRPr lang="en-US" sz="1800" dirty="0"/>
          </a:p>
          <a:p>
            <a:pPr>
              <a:lnSpc>
                <a:spcPct val="150000"/>
              </a:lnSpc>
            </a:pPr>
            <a:endParaRPr 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 calcmode="lin" valueType="num">
                                      <p:cBhvr additive="base">
                                        <p:cTn id="12"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8">
                                            <p:txEl>
                                              <p:pRg st="2" end="2"/>
                                            </p:txEl>
                                          </p:spTgt>
                                        </p:tgtEl>
                                        <p:attrNameLst>
                                          <p:attrName>style.visibility</p:attrName>
                                        </p:attrNameLst>
                                      </p:cBhvr>
                                      <p:to>
                                        <p:strVal val="visible"/>
                                      </p:to>
                                    </p:set>
                                    <p:anim calcmode="lin" valueType="num">
                                      <p:cBhvr additive="base">
                                        <p:cTn id="18"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8">
                                            <p:txEl>
                                              <p:pRg st="3" end="3"/>
                                            </p:txEl>
                                          </p:spTgt>
                                        </p:tgtEl>
                                        <p:attrNameLst>
                                          <p:attrName>style.visibility</p:attrName>
                                        </p:attrNameLst>
                                      </p:cBhvr>
                                      <p:to>
                                        <p:strVal val="visible"/>
                                      </p:to>
                                    </p:set>
                                    <p:anim calcmode="lin" valueType="num">
                                      <p:cBhvr additive="base">
                                        <p:cTn id="24"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8">
                                            <p:txEl>
                                              <p:pRg st="4" end="4"/>
                                            </p:txEl>
                                          </p:spTgt>
                                        </p:tgtEl>
                                        <p:attrNameLst>
                                          <p:attrName>style.visibility</p:attrName>
                                        </p:attrNameLst>
                                      </p:cBhvr>
                                      <p:to>
                                        <p:strVal val="visible"/>
                                      </p:to>
                                    </p:set>
                                    <p:anim calcmode="lin" valueType="num">
                                      <p:cBhvr additive="base">
                                        <p:cTn id="30"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8">
                                            <p:txEl>
                                              <p:pRg st="5" end="5"/>
                                            </p:txEl>
                                          </p:spTgt>
                                        </p:tgtEl>
                                        <p:attrNameLst>
                                          <p:attrName>style.visibility</p:attrName>
                                        </p:attrNameLst>
                                      </p:cBhvr>
                                      <p:to>
                                        <p:strVal val="visible"/>
                                      </p:to>
                                    </p:set>
                                    <p:anim calcmode="lin" valueType="num">
                                      <p:cBhvr additive="base">
                                        <p:cTn id="36"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8">
                                            <p:txEl>
                                              <p:pRg st="7" end="7"/>
                                            </p:txEl>
                                          </p:spTgt>
                                        </p:tgtEl>
                                        <p:attrNameLst>
                                          <p:attrName>style.visibility</p:attrName>
                                        </p:attrNameLst>
                                      </p:cBhvr>
                                      <p:to>
                                        <p:strVal val="visible"/>
                                      </p:to>
                                    </p:set>
                                    <p:anim calcmode="lin" valueType="num">
                                      <p:cBhvr additive="base">
                                        <p:cTn id="42" dur="500" fill="hold"/>
                                        <p:tgtEl>
                                          <p:spTgt spid="8">
                                            <p:txEl>
                                              <p:pRg st="7" end="7"/>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8">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Shape 67"/>
        <p:cNvGrpSpPr/>
        <p:nvPr/>
      </p:nvGrpSpPr>
      <p:grpSpPr>
        <a:xfrm>
          <a:off x="0" y="0"/>
          <a:ext cx="0" cy="0"/>
          <a:chOff x="0" y="0"/>
          <a:chExt cx="0" cy="0"/>
        </a:xfrm>
      </p:grpSpPr>
      <p:pic>
        <p:nvPicPr>
          <p:cNvPr id="68" name="Google Shape;68;p15"/>
          <p:cNvPicPr preferRelativeResize="0"/>
          <p:nvPr/>
        </p:nvPicPr>
        <p:blipFill rotWithShape="1">
          <a:blip r:embed="rId3"/>
          <a:srcRect l="41241" t="9528" r="-23988" b="51129"/>
          <a:stretch>
            <a:fillRect/>
          </a:stretch>
        </p:blipFill>
        <p:spPr>
          <a:xfrm>
            <a:off x="0" y="4073752"/>
            <a:ext cx="4457700" cy="1065625"/>
          </a:xfrm>
          <a:prstGeom prst="rect">
            <a:avLst/>
          </a:prstGeom>
          <a:noFill/>
          <a:ln>
            <a:noFill/>
          </a:ln>
        </p:spPr>
      </p:pic>
      <p:pic>
        <p:nvPicPr>
          <p:cNvPr id="69" name="Google Shape;69;p15"/>
          <p:cNvPicPr preferRelativeResize="0"/>
          <p:nvPr/>
        </p:nvPicPr>
        <p:blipFill>
          <a:blip r:embed="rId4"/>
          <a:stretch>
            <a:fillRect/>
          </a:stretch>
        </p:blipFill>
        <p:spPr>
          <a:xfrm>
            <a:off x="7120800" y="233550"/>
            <a:ext cx="1694264" cy="766799"/>
          </a:xfrm>
          <a:prstGeom prst="rect">
            <a:avLst/>
          </a:prstGeom>
          <a:noFill/>
          <a:ln>
            <a:noFill/>
          </a:ln>
        </p:spPr>
      </p:pic>
      <p:sp>
        <p:nvSpPr>
          <p:cNvPr id="70" name="Google Shape;70;p15"/>
          <p:cNvSpPr/>
          <p:nvPr/>
        </p:nvSpPr>
        <p:spPr>
          <a:xfrm>
            <a:off x="0" y="181536"/>
            <a:ext cx="6712857"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r>
              <a:rPr lang="en-US" sz="2500" b="1" dirty="0">
                <a:ln w="6600">
                  <a:solidFill>
                    <a:schemeClr val="accent2"/>
                  </a:solidFill>
                  <a:prstDash val="solid"/>
                </a:ln>
                <a:solidFill>
                  <a:srgbClr val="FFFFFF"/>
                </a:solidFill>
                <a:effectLst>
                  <a:outerShdw dist="38100" dir="2700000" algn="tl" rotWithShape="0">
                    <a:schemeClr val="accent2"/>
                  </a:outerShdw>
                </a:effectLst>
              </a:rPr>
              <a:t>   Explanation:</a:t>
            </a:r>
          </a:p>
        </p:txBody>
      </p:sp>
      <p:sp>
        <p:nvSpPr>
          <p:cNvPr id="2" name="TextBox 1"/>
          <p:cNvSpPr txBox="1"/>
          <p:nvPr/>
        </p:nvSpPr>
        <p:spPr>
          <a:xfrm>
            <a:off x="271462" y="673100"/>
            <a:ext cx="8801100" cy="1169551"/>
          </a:xfrm>
          <a:prstGeom prst="rect">
            <a:avLst/>
          </a:prstGeom>
          <a:noFill/>
        </p:spPr>
        <p:txBody>
          <a:bodyPr wrap="square" rtlCol="0">
            <a:spAutoFit/>
          </a:bodyPr>
          <a:lstStyle/>
          <a:p>
            <a:pPr marL="342900" lvl="2" indent="-342900">
              <a:lnSpc>
                <a:spcPct val="150000"/>
              </a:lnSpc>
            </a:pPr>
            <a:endParaRPr lang="en-US" sz="1800" dirty="0"/>
          </a:p>
          <a:p>
            <a:pPr marL="342900" lvl="2" indent="-342900">
              <a:lnSpc>
                <a:spcPct val="150000"/>
              </a:lnSpc>
            </a:pPr>
            <a:endParaRPr lang="en-US" sz="1800" dirty="0"/>
          </a:p>
          <a:p>
            <a:endParaRPr lang="en-US" sz="1600" dirty="0"/>
          </a:p>
        </p:txBody>
      </p:sp>
      <p:pic>
        <p:nvPicPr>
          <p:cNvPr id="68609" name="Picture 1"/>
          <p:cNvPicPr>
            <a:picLocks noChangeAspect="1" noChangeArrowheads="1"/>
          </p:cNvPicPr>
          <p:nvPr/>
        </p:nvPicPr>
        <p:blipFill>
          <a:blip r:embed="rId5"/>
          <a:srcRect/>
          <a:stretch>
            <a:fillRect/>
          </a:stretch>
        </p:blipFill>
        <p:spPr bwMode="auto">
          <a:xfrm>
            <a:off x="241301" y="698500"/>
            <a:ext cx="6845299" cy="3429000"/>
          </a:xfrm>
          <a:prstGeom prst="rect">
            <a:avLst/>
          </a:prstGeom>
          <a:noFill/>
          <a:ln w="9525">
            <a:noFill/>
            <a:miter lim="800000"/>
            <a:headEnd/>
            <a:tailEnd/>
          </a:ln>
          <a:effectLst/>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Shape 67"/>
        <p:cNvGrpSpPr/>
        <p:nvPr/>
      </p:nvGrpSpPr>
      <p:grpSpPr>
        <a:xfrm>
          <a:off x="0" y="0"/>
          <a:ext cx="0" cy="0"/>
          <a:chOff x="0" y="0"/>
          <a:chExt cx="0" cy="0"/>
        </a:xfrm>
      </p:grpSpPr>
      <p:pic>
        <p:nvPicPr>
          <p:cNvPr id="68" name="Google Shape;68;p15"/>
          <p:cNvPicPr preferRelativeResize="0"/>
          <p:nvPr/>
        </p:nvPicPr>
        <p:blipFill rotWithShape="1">
          <a:blip r:embed="rId3"/>
          <a:srcRect l="41241" t="9528" r="-23988" b="51129"/>
          <a:stretch>
            <a:fillRect/>
          </a:stretch>
        </p:blipFill>
        <p:spPr>
          <a:xfrm>
            <a:off x="0" y="4073752"/>
            <a:ext cx="4457700" cy="1065625"/>
          </a:xfrm>
          <a:prstGeom prst="rect">
            <a:avLst/>
          </a:prstGeom>
          <a:noFill/>
          <a:ln>
            <a:noFill/>
          </a:ln>
        </p:spPr>
      </p:pic>
      <p:pic>
        <p:nvPicPr>
          <p:cNvPr id="69" name="Google Shape;69;p15"/>
          <p:cNvPicPr preferRelativeResize="0"/>
          <p:nvPr/>
        </p:nvPicPr>
        <p:blipFill>
          <a:blip r:embed="rId4"/>
          <a:stretch>
            <a:fillRect/>
          </a:stretch>
        </p:blipFill>
        <p:spPr>
          <a:xfrm>
            <a:off x="7120800" y="233550"/>
            <a:ext cx="1694264" cy="766799"/>
          </a:xfrm>
          <a:prstGeom prst="rect">
            <a:avLst/>
          </a:prstGeom>
          <a:noFill/>
          <a:ln>
            <a:noFill/>
          </a:ln>
        </p:spPr>
      </p:pic>
      <p:sp>
        <p:nvSpPr>
          <p:cNvPr id="70" name="Google Shape;70;p15"/>
          <p:cNvSpPr/>
          <p:nvPr/>
        </p:nvSpPr>
        <p:spPr>
          <a:xfrm>
            <a:off x="0" y="181536"/>
            <a:ext cx="6712857"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r>
              <a:rPr lang="en-US" sz="2500" b="1" dirty="0">
                <a:ln w="6600">
                  <a:solidFill>
                    <a:schemeClr val="accent2"/>
                  </a:solidFill>
                  <a:prstDash val="solid"/>
                </a:ln>
                <a:solidFill>
                  <a:srgbClr val="FFFFFF"/>
                </a:solidFill>
                <a:effectLst>
                  <a:outerShdw dist="38100" dir="2700000" algn="tl" rotWithShape="0">
                    <a:schemeClr val="accent2"/>
                  </a:outerShdw>
                </a:effectLst>
              </a:rPr>
              <a:t>   Explanation:</a:t>
            </a:r>
          </a:p>
        </p:txBody>
      </p:sp>
      <p:sp>
        <p:nvSpPr>
          <p:cNvPr id="2" name="TextBox 1"/>
          <p:cNvSpPr txBox="1"/>
          <p:nvPr/>
        </p:nvSpPr>
        <p:spPr>
          <a:xfrm>
            <a:off x="271462" y="673100"/>
            <a:ext cx="8801100" cy="1169551"/>
          </a:xfrm>
          <a:prstGeom prst="rect">
            <a:avLst/>
          </a:prstGeom>
          <a:noFill/>
        </p:spPr>
        <p:txBody>
          <a:bodyPr wrap="square" rtlCol="0">
            <a:spAutoFit/>
          </a:bodyPr>
          <a:lstStyle/>
          <a:p>
            <a:pPr marL="342900" lvl="2" indent="-342900">
              <a:lnSpc>
                <a:spcPct val="150000"/>
              </a:lnSpc>
            </a:pPr>
            <a:endParaRPr lang="en-US" sz="1800" dirty="0"/>
          </a:p>
          <a:p>
            <a:pPr marL="342900" lvl="2" indent="-342900">
              <a:lnSpc>
                <a:spcPct val="150000"/>
              </a:lnSpc>
            </a:pPr>
            <a:endParaRPr lang="en-US" sz="1800" dirty="0"/>
          </a:p>
          <a:p>
            <a:endParaRPr lang="en-US" sz="1600" dirty="0"/>
          </a:p>
        </p:txBody>
      </p:sp>
      <p:pic>
        <p:nvPicPr>
          <p:cNvPr id="99330" name="Picture 2"/>
          <p:cNvPicPr>
            <a:picLocks noChangeAspect="1" noChangeArrowheads="1"/>
          </p:cNvPicPr>
          <p:nvPr/>
        </p:nvPicPr>
        <p:blipFill>
          <a:blip r:embed="rId5"/>
          <a:srcRect/>
          <a:stretch>
            <a:fillRect/>
          </a:stretch>
        </p:blipFill>
        <p:spPr bwMode="auto">
          <a:xfrm>
            <a:off x="317500" y="736600"/>
            <a:ext cx="6756400" cy="3390900"/>
          </a:xfrm>
          <a:prstGeom prst="rect">
            <a:avLst/>
          </a:prstGeom>
          <a:noFill/>
          <a:ln w="9525">
            <a:noFill/>
            <a:miter lim="800000"/>
            <a:headEnd/>
            <a:tailEnd/>
          </a:ln>
          <a:effectLst/>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15"/>
          <p:cNvPicPr preferRelativeResize="0"/>
          <p:nvPr/>
        </p:nvPicPr>
        <p:blipFill rotWithShape="1">
          <a:blip r:embed="rId3"/>
          <a:srcRect l="41241" t="9528" r="-23988" b="51129"/>
          <a:stretch>
            <a:fillRect/>
          </a:stretch>
        </p:blipFill>
        <p:spPr>
          <a:xfrm>
            <a:off x="0" y="4073752"/>
            <a:ext cx="4457700" cy="1065625"/>
          </a:xfrm>
          <a:prstGeom prst="rect">
            <a:avLst/>
          </a:prstGeom>
          <a:noFill/>
          <a:ln>
            <a:noFill/>
          </a:ln>
        </p:spPr>
      </p:pic>
      <p:pic>
        <p:nvPicPr>
          <p:cNvPr id="69" name="Google Shape;69;p15"/>
          <p:cNvPicPr preferRelativeResize="0"/>
          <p:nvPr/>
        </p:nvPicPr>
        <p:blipFill>
          <a:blip r:embed="rId4"/>
          <a:stretch>
            <a:fillRect/>
          </a:stretch>
        </p:blipFill>
        <p:spPr>
          <a:xfrm>
            <a:off x="7120800" y="233550"/>
            <a:ext cx="1694264" cy="766799"/>
          </a:xfrm>
          <a:prstGeom prst="rect">
            <a:avLst/>
          </a:prstGeom>
          <a:noFill/>
          <a:ln>
            <a:noFill/>
          </a:ln>
        </p:spPr>
      </p:pic>
      <p:sp>
        <p:nvSpPr>
          <p:cNvPr id="70" name="Google Shape;70;p15"/>
          <p:cNvSpPr/>
          <p:nvPr/>
        </p:nvSpPr>
        <p:spPr>
          <a:xfrm>
            <a:off x="0" y="168772"/>
            <a:ext cx="6712857"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71" name="Google Shape;71;p15"/>
          <p:cNvSpPr txBox="1"/>
          <p:nvPr/>
        </p:nvSpPr>
        <p:spPr>
          <a:xfrm>
            <a:off x="0" y="149125"/>
            <a:ext cx="4786635" cy="475200"/>
          </a:xfrm>
          <a:prstGeom prst="rect">
            <a:avLst/>
          </a:prstGeom>
          <a:noFill/>
          <a:ln>
            <a:noFill/>
          </a:ln>
        </p:spPr>
        <p:txBody>
          <a:bodyPr spcFirstLastPara="1" wrap="square" lIns="0" tIns="0" rIns="0" bIns="0" anchor="ctr" anchorCtr="0">
            <a:noAutofit/>
          </a:bodyPr>
          <a:lstStyle/>
          <a:p>
            <a:r>
              <a:rPr lang="en-US" sz="2500" b="1" dirty="0">
                <a:ln w="6600">
                  <a:solidFill>
                    <a:schemeClr val="accent2"/>
                  </a:solidFill>
                  <a:prstDash val="solid"/>
                </a:ln>
                <a:solidFill>
                  <a:srgbClr val="FFFFFF"/>
                </a:solidFill>
                <a:effectLst>
                  <a:outerShdw dist="38100" dir="2700000" algn="tl" rotWithShape="0">
                    <a:schemeClr val="accent2"/>
                  </a:outerShdw>
                </a:effectLst>
              </a:rPr>
              <a:t>    Question 0</a:t>
            </a:r>
            <a:r>
              <a:rPr lang="en-IN" sz="2500" b="1" dirty="0">
                <a:ln w="6600">
                  <a:solidFill>
                    <a:schemeClr val="accent2"/>
                  </a:solidFill>
                  <a:prstDash val="solid"/>
                </a:ln>
                <a:solidFill>
                  <a:srgbClr val="FFFFFF"/>
                </a:solidFill>
                <a:effectLst>
                  <a:outerShdw dist="38100" dir="2700000" algn="tl" rotWithShape="0">
                    <a:schemeClr val="accent2"/>
                  </a:outerShdw>
                </a:effectLst>
              </a:rPr>
              <a:t>4:</a:t>
            </a:r>
            <a:endParaRPr lang="en-US" sz="2500" b="1"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8" name="Rectangle 7"/>
          <p:cNvSpPr/>
          <p:nvPr/>
        </p:nvSpPr>
        <p:spPr>
          <a:xfrm>
            <a:off x="266700" y="800100"/>
            <a:ext cx="8877300" cy="4246245"/>
          </a:xfrm>
          <a:prstGeom prst="rect">
            <a:avLst/>
          </a:prstGeom>
        </p:spPr>
        <p:txBody>
          <a:bodyPr wrap="square">
            <a:spAutoFit/>
          </a:bodyPr>
          <a:lstStyle/>
          <a:p>
            <a:pPr fontAlgn="t">
              <a:lnSpc>
                <a:spcPct val="150000"/>
              </a:lnSpc>
            </a:pPr>
            <a:r>
              <a:rPr lang="en-US" sz="1800" dirty="0"/>
              <a:t>A milk vendor has 2 cans of milk .The first contains 25% water and the rest milk. The second contains 50% water. How much milk should he mix from each of the container so as to get 12 </a:t>
            </a:r>
            <a:r>
              <a:rPr lang="en-US" sz="1800" dirty="0" err="1"/>
              <a:t>litres</a:t>
            </a:r>
            <a:r>
              <a:rPr lang="en-US" sz="1800" dirty="0"/>
              <a:t> of milk such that the ratio of water to milk is 3:5?</a:t>
            </a:r>
          </a:p>
          <a:p>
            <a:pPr fontAlgn="t">
              <a:lnSpc>
                <a:spcPct val="150000"/>
              </a:lnSpc>
            </a:pPr>
            <a:r>
              <a:rPr lang="en-US" sz="1800" dirty="0"/>
              <a:t>A. 6 </a:t>
            </a:r>
            <a:r>
              <a:rPr lang="en-US" sz="1800" dirty="0" err="1"/>
              <a:t>litres</a:t>
            </a:r>
            <a:endParaRPr lang="en-US" sz="1800" dirty="0"/>
          </a:p>
          <a:p>
            <a:pPr fontAlgn="t">
              <a:lnSpc>
                <a:spcPct val="150000"/>
              </a:lnSpc>
            </a:pPr>
            <a:r>
              <a:rPr lang="en-US" sz="1800" dirty="0"/>
              <a:t>B. 1 </a:t>
            </a:r>
            <a:r>
              <a:rPr lang="en-US" sz="1800" dirty="0" err="1"/>
              <a:t>litres</a:t>
            </a:r>
            <a:endParaRPr lang="en-US" sz="1800" dirty="0"/>
          </a:p>
          <a:p>
            <a:pPr fontAlgn="t">
              <a:lnSpc>
                <a:spcPct val="150000"/>
              </a:lnSpc>
            </a:pPr>
            <a:r>
              <a:rPr lang="en-US" sz="1800" dirty="0"/>
              <a:t>C. 8 </a:t>
            </a:r>
            <a:r>
              <a:rPr lang="en-US" sz="1800" dirty="0" err="1"/>
              <a:t>litres</a:t>
            </a:r>
            <a:endParaRPr lang="en-US" sz="1800" dirty="0"/>
          </a:p>
          <a:p>
            <a:pPr fontAlgn="t">
              <a:lnSpc>
                <a:spcPct val="150000"/>
              </a:lnSpc>
            </a:pPr>
            <a:r>
              <a:rPr lang="en-US" sz="1800" dirty="0"/>
              <a:t>D. 7 </a:t>
            </a:r>
            <a:r>
              <a:rPr lang="en-US" sz="1800" dirty="0" err="1"/>
              <a:t>litres</a:t>
            </a:r>
            <a:endParaRPr lang="en-US" sz="1800" dirty="0"/>
          </a:p>
          <a:p>
            <a:pPr fontAlgn="t">
              <a:lnSpc>
                <a:spcPct val="150000"/>
              </a:lnSpc>
            </a:pPr>
            <a:endParaRPr lang="en-US" sz="1800" dirty="0"/>
          </a:p>
          <a:p>
            <a:pPr fontAlgn="t">
              <a:lnSpc>
                <a:spcPct val="150000"/>
              </a:lnSpc>
            </a:pPr>
            <a:r>
              <a:rPr lang="en-US" sz="1800" dirty="0"/>
              <a:t>							</a:t>
            </a:r>
            <a:r>
              <a:rPr lang="en-US" sz="1800" b="1" dirty="0"/>
              <a:t>Answer: A</a:t>
            </a:r>
            <a:endParaRPr lang="en-US" sz="1800" dirty="0"/>
          </a:p>
          <a:p>
            <a:pPr>
              <a:lnSpc>
                <a:spcPct val="150000"/>
              </a:lnSpc>
            </a:pPr>
            <a:endParaRPr 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 calcmode="lin" valueType="num">
                                      <p:cBhvr additive="base">
                                        <p:cTn id="13"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 calcmode="lin" valueType="num">
                                      <p:cBhvr additive="base">
                                        <p:cTn id="19"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xEl>
                                              <p:pRg st="3" end="3"/>
                                            </p:txEl>
                                          </p:spTgt>
                                        </p:tgtEl>
                                        <p:attrNameLst>
                                          <p:attrName>style.visibility</p:attrName>
                                        </p:attrNameLst>
                                      </p:cBhvr>
                                      <p:to>
                                        <p:strVal val="visible"/>
                                      </p:to>
                                    </p:set>
                                    <p:anim calcmode="lin" valueType="num">
                                      <p:cBhvr additive="base">
                                        <p:cTn id="25"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
                                            <p:txEl>
                                              <p:pRg st="4" end="4"/>
                                            </p:txEl>
                                          </p:spTgt>
                                        </p:tgtEl>
                                        <p:attrNameLst>
                                          <p:attrName>style.visibility</p:attrName>
                                        </p:attrNameLst>
                                      </p:cBhvr>
                                      <p:to>
                                        <p:strVal val="visible"/>
                                      </p:to>
                                    </p:set>
                                    <p:anim calcmode="lin" valueType="num">
                                      <p:cBhvr additive="base">
                                        <p:cTn id="31"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8">
                                            <p:txEl>
                                              <p:pRg st="6" end="6"/>
                                            </p:txEl>
                                          </p:spTgt>
                                        </p:tgtEl>
                                        <p:attrNameLst>
                                          <p:attrName>style.visibility</p:attrName>
                                        </p:attrNameLst>
                                      </p:cBhvr>
                                      <p:to>
                                        <p:strVal val="visible"/>
                                      </p:to>
                                    </p:set>
                                    <p:anim calcmode="lin" valueType="num">
                                      <p:cBhvr additive="base">
                                        <p:cTn id="37"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Shape 67"/>
        <p:cNvGrpSpPr/>
        <p:nvPr/>
      </p:nvGrpSpPr>
      <p:grpSpPr>
        <a:xfrm>
          <a:off x="0" y="0"/>
          <a:ext cx="0" cy="0"/>
          <a:chOff x="0" y="0"/>
          <a:chExt cx="0" cy="0"/>
        </a:xfrm>
      </p:grpSpPr>
      <p:pic>
        <p:nvPicPr>
          <p:cNvPr id="68" name="Google Shape;68;p15"/>
          <p:cNvPicPr preferRelativeResize="0"/>
          <p:nvPr/>
        </p:nvPicPr>
        <p:blipFill rotWithShape="1">
          <a:blip r:embed="rId3"/>
          <a:srcRect l="41241" t="9528" r="-23988" b="51129"/>
          <a:stretch>
            <a:fillRect/>
          </a:stretch>
        </p:blipFill>
        <p:spPr>
          <a:xfrm>
            <a:off x="0" y="4073752"/>
            <a:ext cx="4457700" cy="1065625"/>
          </a:xfrm>
          <a:prstGeom prst="rect">
            <a:avLst/>
          </a:prstGeom>
          <a:noFill/>
          <a:ln>
            <a:noFill/>
          </a:ln>
        </p:spPr>
      </p:pic>
      <p:pic>
        <p:nvPicPr>
          <p:cNvPr id="69" name="Google Shape;69;p15"/>
          <p:cNvPicPr preferRelativeResize="0"/>
          <p:nvPr/>
        </p:nvPicPr>
        <p:blipFill>
          <a:blip r:embed="rId4"/>
          <a:stretch>
            <a:fillRect/>
          </a:stretch>
        </p:blipFill>
        <p:spPr>
          <a:xfrm>
            <a:off x="7120800" y="233550"/>
            <a:ext cx="1694264" cy="766799"/>
          </a:xfrm>
          <a:prstGeom prst="rect">
            <a:avLst/>
          </a:prstGeom>
          <a:noFill/>
          <a:ln>
            <a:noFill/>
          </a:ln>
        </p:spPr>
      </p:pic>
      <p:sp>
        <p:nvSpPr>
          <p:cNvPr id="70" name="Google Shape;70;p15"/>
          <p:cNvSpPr/>
          <p:nvPr/>
        </p:nvSpPr>
        <p:spPr>
          <a:xfrm>
            <a:off x="0" y="168772"/>
            <a:ext cx="6712857"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71" name="Google Shape;71;p15"/>
          <p:cNvSpPr txBox="1"/>
          <p:nvPr/>
        </p:nvSpPr>
        <p:spPr>
          <a:xfrm>
            <a:off x="0" y="149125"/>
            <a:ext cx="4786635" cy="475200"/>
          </a:xfrm>
          <a:prstGeom prst="rect">
            <a:avLst/>
          </a:prstGeom>
          <a:noFill/>
          <a:ln>
            <a:noFill/>
          </a:ln>
        </p:spPr>
        <p:txBody>
          <a:bodyPr spcFirstLastPara="1" wrap="square" lIns="0" tIns="0" rIns="0" bIns="0" anchor="ctr" anchorCtr="0">
            <a:noAutofit/>
          </a:bodyPr>
          <a:lstStyle/>
          <a:p>
            <a:r>
              <a:rPr lang="en-US" sz="2500" b="1" dirty="0">
                <a:ln w="6600">
                  <a:solidFill>
                    <a:schemeClr val="accent2"/>
                  </a:solidFill>
                  <a:prstDash val="solid"/>
                </a:ln>
                <a:solidFill>
                  <a:srgbClr val="FFFFFF"/>
                </a:solidFill>
                <a:effectLst>
                  <a:outerShdw dist="38100" dir="2700000" algn="tl" rotWithShape="0">
                    <a:schemeClr val="accent2"/>
                  </a:outerShdw>
                </a:effectLst>
              </a:rPr>
              <a:t>    Explanation</a:t>
            </a:r>
            <a:r>
              <a:rPr lang="en-IN" sz="2500" b="1" dirty="0">
                <a:ln w="6600">
                  <a:solidFill>
                    <a:schemeClr val="accent2"/>
                  </a:solidFill>
                  <a:prstDash val="solid"/>
                </a:ln>
                <a:solidFill>
                  <a:srgbClr val="FFFFFF"/>
                </a:solidFill>
                <a:effectLst>
                  <a:outerShdw dist="38100" dir="2700000" algn="tl" rotWithShape="0">
                    <a:schemeClr val="accent2"/>
                  </a:outerShdw>
                </a:effectLst>
              </a:rPr>
              <a:t>:</a:t>
            </a:r>
            <a:endParaRPr lang="en-US" sz="2500" b="1"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9" name="Rectangle 8"/>
          <p:cNvSpPr/>
          <p:nvPr/>
        </p:nvSpPr>
        <p:spPr>
          <a:xfrm>
            <a:off x="304800" y="694313"/>
            <a:ext cx="8839200" cy="4524315"/>
          </a:xfrm>
          <a:prstGeom prst="rect">
            <a:avLst/>
          </a:prstGeom>
        </p:spPr>
        <p:txBody>
          <a:bodyPr wrap="square">
            <a:spAutoFit/>
          </a:bodyPr>
          <a:lstStyle/>
          <a:p>
            <a:r>
              <a:rPr lang="en-US" sz="1800" dirty="0">
                <a:solidFill>
                  <a:schemeClr val="tx1"/>
                </a:solidFill>
              </a:rPr>
              <a:t>Milk in 1 </a:t>
            </a:r>
            <a:r>
              <a:rPr lang="en-US" sz="1800" dirty="0" err="1">
                <a:solidFill>
                  <a:schemeClr val="tx1"/>
                </a:solidFill>
              </a:rPr>
              <a:t>litre</a:t>
            </a:r>
            <a:r>
              <a:rPr lang="en-US" sz="1800" dirty="0">
                <a:solidFill>
                  <a:schemeClr val="tx1"/>
                </a:solidFill>
              </a:rPr>
              <a:t> mixture in 1st can = 3/4 </a:t>
            </a:r>
            <a:r>
              <a:rPr lang="en-US" sz="1800" dirty="0" err="1">
                <a:solidFill>
                  <a:schemeClr val="tx1"/>
                </a:solidFill>
              </a:rPr>
              <a:t>litre</a:t>
            </a:r>
            <a:r>
              <a:rPr lang="en-US" sz="1800" dirty="0">
                <a:solidFill>
                  <a:schemeClr val="tx1"/>
                </a:solidFill>
              </a:rPr>
              <a:t>. </a:t>
            </a:r>
            <a:br>
              <a:rPr lang="en-US" sz="1800" dirty="0">
                <a:solidFill>
                  <a:schemeClr val="tx1"/>
                </a:solidFill>
              </a:rPr>
            </a:br>
            <a:r>
              <a:rPr lang="en-US" sz="1800" dirty="0">
                <a:solidFill>
                  <a:schemeClr val="tx1"/>
                </a:solidFill>
              </a:rPr>
              <a:t>Milk in 1 </a:t>
            </a:r>
            <a:r>
              <a:rPr lang="en-US" sz="1800" dirty="0" err="1">
                <a:solidFill>
                  <a:schemeClr val="tx1"/>
                </a:solidFill>
              </a:rPr>
              <a:t>litre</a:t>
            </a:r>
            <a:r>
              <a:rPr lang="en-US" sz="1800" dirty="0">
                <a:solidFill>
                  <a:schemeClr val="tx1"/>
                </a:solidFill>
              </a:rPr>
              <a:t> mixture in 2n d can = 1/2 </a:t>
            </a:r>
            <a:r>
              <a:rPr lang="en-US" sz="1800" dirty="0" err="1">
                <a:solidFill>
                  <a:schemeClr val="tx1"/>
                </a:solidFill>
              </a:rPr>
              <a:t>litre</a:t>
            </a:r>
            <a:r>
              <a:rPr lang="en-US" sz="1800" dirty="0">
                <a:solidFill>
                  <a:schemeClr val="tx1"/>
                </a:solidFill>
              </a:rPr>
              <a:t>. </a:t>
            </a:r>
            <a:br>
              <a:rPr lang="en-US" sz="1800" dirty="0">
                <a:solidFill>
                  <a:schemeClr val="tx1"/>
                </a:solidFill>
              </a:rPr>
            </a:br>
            <a:r>
              <a:rPr lang="en-US" sz="1800" dirty="0">
                <a:solidFill>
                  <a:schemeClr val="tx1"/>
                </a:solidFill>
              </a:rPr>
              <a:t>Milk in 1 </a:t>
            </a:r>
            <a:r>
              <a:rPr lang="en-US" sz="1800" dirty="0" err="1">
                <a:solidFill>
                  <a:schemeClr val="tx1"/>
                </a:solidFill>
              </a:rPr>
              <a:t>litre</a:t>
            </a:r>
            <a:r>
              <a:rPr lang="en-US" sz="1800" dirty="0">
                <a:solidFill>
                  <a:schemeClr val="tx1"/>
                </a:solidFill>
              </a:rPr>
              <a:t> final mixture = 5/8 </a:t>
            </a:r>
            <a:r>
              <a:rPr lang="en-US" sz="1800" dirty="0" err="1">
                <a:solidFill>
                  <a:schemeClr val="tx1"/>
                </a:solidFill>
              </a:rPr>
              <a:t>litre</a:t>
            </a:r>
            <a:r>
              <a:rPr lang="en-US" sz="1800" dirty="0">
                <a:solidFill>
                  <a:schemeClr val="tx1"/>
                </a:solidFill>
              </a:rPr>
              <a:t>. </a:t>
            </a:r>
            <a:br>
              <a:rPr lang="en-US" sz="1800" dirty="0">
                <a:solidFill>
                  <a:schemeClr val="tx1"/>
                </a:solidFill>
              </a:rPr>
            </a:br>
            <a:r>
              <a:rPr lang="en-US" sz="1800" dirty="0">
                <a:solidFill>
                  <a:schemeClr val="tx1"/>
                </a:solidFill>
              </a:rPr>
              <a:t>By rule of </a:t>
            </a:r>
            <a:r>
              <a:rPr lang="en-US" sz="1800" dirty="0" err="1">
                <a:solidFill>
                  <a:schemeClr val="tx1"/>
                </a:solidFill>
              </a:rPr>
              <a:t>alligation</a:t>
            </a:r>
            <a:r>
              <a:rPr lang="en-US" sz="1800" dirty="0">
                <a:solidFill>
                  <a:schemeClr val="tx1"/>
                </a:solidFill>
              </a:rPr>
              <a:t> we have required ratio 5 : 8</a:t>
            </a:r>
          </a:p>
          <a:p>
            <a:r>
              <a:rPr lang="en-US" sz="1800" dirty="0">
                <a:solidFill>
                  <a:schemeClr val="tx1"/>
                </a:solidFill>
              </a:rPr>
              <a:t>        3/4                   1/2</a:t>
            </a:r>
          </a:p>
          <a:p>
            <a:r>
              <a:rPr lang="en-US" sz="1800" dirty="0">
                <a:solidFill>
                  <a:schemeClr val="tx1"/>
                </a:solidFill>
              </a:rPr>
              <a:t>          \                     /</a:t>
            </a:r>
            <a:br>
              <a:rPr lang="en-US" sz="1800" dirty="0">
                <a:solidFill>
                  <a:schemeClr val="tx1"/>
                </a:solidFill>
              </a:rPr>
            </a:br>
            <a:r>
              <a:rPr lang="en-US" sz="1800" dirty="0">
                <a:solidFill>
                  <a:schemeClr val="tx1"/>
                </a:solidFill>
              </a:rPr>
              <a:t>                   (5/8)</a:t>
            </a:r>
          </a:p>
          <a:p>
            <a:r>
              <a:rPr lang="en-US" sz="1800" dirty="0">
                <a:solidFill>
                  <a:schemeClr val="tx1"/>
                </a:solidFill>
              </a:rPr>
              <a:t>              /                 \</a:t>
            </a:r>
          </a:p>
          <a:p>
            <a:r>
              <a:rPr lang="en-US" sz="1800" dirty="0">
                <a:solidFill>
                  <a:schemeClr val="tx1"/>
                </a:solidFill>
              </a:rPr>
              <a:t>         1/8      :            1/8    </a:t>
            </a:r>
          </a:p>
          <a:p>
            <a:r>
              <a:rPr lang="en-US" sz="1800" dirty="0">
                <a:solidFill>
                  <a:schemeClr val="tx1"/>
                </a:solidFill>
              </a:rPr>
              <a:t>Therefore ratio of two mixtures: </a:t>
            </a:r>
            <a:br>
              <a:rPr lang="en-US" sz="1800" dirty="0">
                <a:solidFill>
                  <a:schemeClr val="tx1"/>
                </a:solidFill>
              </a:rPr>
            </a:br>
            <a:r>
              <a:rPr lang="en-US" sz="1800" dirty="0">
                <a:solidFill>
                  <a:schemeClr val="tx1"/>
                </a:solidFill>
              </a:rPr>
              <a:t>=1/8:1/8=</a:t>
            </a:r>
            <a:br>
              <a:rPr lang="en-US" sz="1800" dirty="0">
                <a:solidFill>
                  <a:schemeClr val="tx1"/>
                </a:solidFill>
              </a:rPr>
            </a:br>
            <a:r>
              <a:rPr lang="en-US" sz="1800" dirty="0">
                <a:solidFill>
                  <a:schemeClr val="tx1"/>
                </a:solidFill>
              </a:rPr>
              <a:t>=1:1</a:t>
            </a:r>
          </a:p>
          <a:p>
            <a:r>
              <a:rPr lang="en-US" sz="1800" dirty="0">
                <a:solidFill>
                  <a:schemeClr val="tx1"/>
                </a:solidFill>
              </a:rPr>
              <a:t>				So, quantity of mixture taken from each can,</a:t>
            </a:r>
            <a:br>
              <a:rPr lang="en-US" sz="1800" dirty="0">
                <a:solidFill>
                  <a:schemeClr val="tx1"/>
                </a:solidFill>
              </a:rPr>
            </a:br>
            <a:r>
              <a:rPr lang="en-US" sz="1800" dirty="0">
                <a:solidFill>
                  <a:schemeClr val="tx1"/>
                </a:solidFill>
              </a:rPr>
              <a:t>				=1/2×12</a:t>
            </a:r>
            <a:br>
              <a:rPr lang="en-US" sz="1800" dirty="0">
                <a:solidFill>
                  <a:schemeClr val="tx1"/>
                </a:solidFill>
              </a:rPr>
            </a:br>
            <a:r>
              <a:rPr lang="en-US" sz="1800" dirty="0">
                <a:solidFill>
                  <a:schemeClr val="tx1"/>
                </a:solidFill>
              </a:rPr>
              <a:t>				=6 </a:t>
            </a:r>
            <a:r>
              <a:rPr lang="en-US" sz="1800" dirty="0" err="1">
                <a:solidFill>
                  <a:schemeClr val="tx1"/>
                </a:solidFill>
              </a:rPr>
              <a:t>litres</a:t>
            </a:r>
            <a:endParaRPr lang="en-US" sz="1800" dirty="0">
              <a:solidFill>
                <a:schemeClr val="tx1"/>
              </a:solidFill>
            </a:endParaRPr>
          </a:p>
          <a:p>
            <a:endParaRPr lang="en-US" sz="1800" dirty="0"/>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15"/>
          <p:cNvPicPr preferRelativeResize="0"/>
          <p:nvPr/>
        </p:nvPicPr>
        <p:blipFill rotWithShape="1">
          <a:blip r:embed="rId3"/>
          <a:srcRect l="41241" t="9528" r="-23988" b="51129"/>
          <a:stretch>
            <a:fillRect/>
          </a:stretch>
        </p:blipFill>
        <p:spPr>
          <a:xfrm>
            <a:off x="0" y="4073752"/>
            <a:ext cx="4457700" cy="1065625"/>
          </a:xfrm>
          <a:prstGeom prst="rect">
            <a:avLst/>
          </a:prstGeom>
          <a:noFill/>
          <a:ln>
            <a:noFill/>
          </a:ln>
        </p:spPr>
      </p:pic>
      <p:pic>
        <p:nvPicPr>
          <p:cNvPr id="69" name="Google Shape;69;p15"/>
          <p:cNvPicPr preferRelativeResize="0"/>
          <p:nvPr/>
        </p:nvPicPr>
        <p:blipFill>
          <a:blip r:embed="rId4"/>
          <a:stretch>
            <a:fillRect/>
          </a:stretch>
        </p:blipFill>
        <p:spPr>
          <a:xfrm>
            <a:off x="7120800" y="233550"/>
            <a:ext cx="1694264" cy="766799"/>
          </a:xfrm>
          <a:prstGeom prst="rect">
            <a:avLst/>
          </a:prstGeom>
          <a:noFill/>
          <a:ln>
            <a:noFill/>
          </a:ln>
        </p:spPr>
      </p:pic>
      <p:sp>
        <p:nvSpPr>
          <p:cNvPr id="70" name="Google Shape;70;p15"/>
          <p:cNvSpPr/>
          <p:nvPr/>
        </p:nvSpPr>
        <p:spPr>
          <a:xfrm>
            <a:off x="0" y="162267"/>
            <a:ext cx="6712857"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r>
              <a:rPr lang="en-IN" sz="2500" b="1" dirty="0">
                <a:ln w="6600">
                  <a:solidFill>
                    <a:schemeClr val="accent2"/>
                  </a:solidFill>
                  <a:prstDash val="solid"/>
                </a:ln>
                <a:solidFill>
                  <a:srgbClr val="FFFFFF"/>
                </a:solidFill>
                <a:effectLst>
                  <a:outerShdw dist="38100" dir="2700000" algn="tl" rotWithShape="0">
                    <a:schemeClr val="accent2"/>
                  </a:outerShdw>
                </a:effectLst>
              </a:rPr>
              <a:t>   Question 05:</a:t>
            </a:r>
            <a:endParaRPr lang="en-US" sz="2500" b="1"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13" name="Rectangle 12"/>
          <p:cNvSpPr/>
          <p:nvPr/>
        </p:nvSpPr>
        <p:spPr>
          <a:xfrm>
            <a:off x="231775" y="800100"/>
            <a:ext cx="8864600" cy="4107815"/>
          </a:xfrm>
          <a:prstGeom prst="rect">
            <a:avLst/>
          </a:prstGeom>
        </p:spPr>
        <p:txBody>
          <a:bodyPr wrap="square">
            <a:spAutoFit/>
          </a:bodyPr>
          <a:lstStyle/>
          <a:p>
            <a:pPr fontAlgn="t">
              <a:lnSpc>
                <a:spcPct val="150000"/>
              </a:lnSpc>
            </a:pPr>
            <a:r>
              <a:rPr lang="en-US" sz="1800" dirty="0"/>
              <a:t>Tea worth Rs. 126 per kg and Rs. 135 per kg are mixed with a </a:t>
            </a:r>
          </a:p>
          <a:p>
            <a:pPr fontAlgn="t">
              <a:lnSpc>
                <a:spcPct val="150000"/>
              </a:lnSpc>
            </a:pPr>
            <a:r>
              <a:rPr lang="en-US" sz="1800" dirty="0"/>
              <a:t>third variety in the ratio 1 : 1 : 2. If the mixture is worth Rs 153 per kg, the price of the third variety per kg will be?</a:t>
            </a:r>
          </a:p>
          <a:p>
            <a:pPr fontAlgn="t">
              <a:lnSpc>
                <a:spcPct val="150000"/>
              </a:lnSpc>
            </a:pPr>
            <a:r>
              <a:rPr lang="en-US" sz="1800" dirty="0"/>
              <a:t>A. Rs. 147.50</a:t>
            </a:r>
          </a:p>
          <a:p>
            <a:pPr fontAlgn="t">
              <a:lnSpc>
                <a:spcPct val="150000"/>
              </a:lnSpc>
            </a:pPr>
            <a:r>
              <a:rPr lang="en-US" sz="1800" dirty="0"/>
              <a:t>B. Rs. 785.50</a:t>
            </a:r>
          </a:p>
          <a:p>
            <a:pPr fontAlgn="t">
              <a:lnSpc>
                <a:spcPct val="150000"/>
              </a:lnSpc>
            </a:pPr>
            <a:r>
              <a:rPr lang="en-US" sz="1800" dirty="0"/>
              <a:t>C. Rs. 175.50</a:t>
            </a:r>
          </a:p>
          <a:p>
            <a:pPr fontAlgn="t">
              <a:lnSpc>
                <a:spcPct val="150000"/>
              </a:lnSpc>
            </a:pPr>
            <a:r>
              <a:rPr lang="en-US" sz="1800" dirty="0"/>
              <a:t>D. Rs. 258.50</a:t>
            </a:r>
          </a:p>
          <a:p>
            <a:pPr fontAlgn="t">
              <a:lnSpc>
                <a:spcPct val="150000"/>
              </a:lnSpc>
            </a:pPr>
            <a:endParaRPr lang="en-US" sz="1800" dirty="0"/>
          </a:p>
          <a:p>
            <a:pPr fontAlgn="t">
              <a:lnSpc>
                <a:spcPct val="150000"/>
              </a:lnSpc>
            </a:pPr>
            <a:r>
              <a:rPr lang="en-US" sz="1800" dirty="0"/>
              <a:t>							</a:t>
            </a:r>
            <a:r>
              <a:rPr lang="en-US" sz="1800" b="1" dirty="0"/>
              <a:t>Answer: C</a:t>
            </a:r>
            <a:endParaRPr lang="en-US" sz="1800" dirty="0"/>
          </a:p>
          <a:p>
            <a:endParaRPr 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anim calcmode="lin" valueType="num">
                                      <p:cBhvr additive="base">
                                        <p:cTn id="11"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 calcmode="lin" valueType="num">
                                      <p:cBhvr additive="base">
                                        <p:cTn id="17"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3">
                                            <p:txEl>
                                              <p:pRg st="3" end="3"/>
                                            </p:txEl>
                                          </p:spTgt>
                                        </p:tgtEl>
                                        <p:attrNameLst>
                                          <p:attrName>style.visibility</p:attrName>
                                        </p:attrNameLst>
                                      </p:cBhvr>
                                      <p:to>
                                        <p:strVal val="visible"/>
                                      </p:to>
                                    </p:set>
                                    <p:anim calcmode="lin" valueType="num">
                                      <p:cBhvr additive="base">
                                        <p:cTn id="23" dur="500" fill="hold"/>
                                        <p:tgtEl>
                                          <p:spTgt spid="1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3">
                                            <p:txEl>
                                              <p:pRg st="4" end="4"/>
                                            </p:txEl>
                                          </p:spTgt>
                                        </p:tgtEl>
                                        <p:attrNameLst>
                                          <p:attrName>style.visibility</p:attrName>
                                        </p:attrNameLst>
                                      </p:cBhvr>
                                      <p:to>
                                        <p:strVal val="visible"/>
                                      </p:to>
                                    </p:set>
                                    <p:anim calcmode="lin" valueType="num">
                                      <p:cBhvr additive="base">
                                        <p:cTn id="29" dur="500" fill="hold"/>
                                        <p:tgtEl>
                                          <p:spTgt spid="1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3">
                                            <p:txEl>
                                              <p:pRg st="5" end="5"/>
                                            </p:txEl>
                                          </p:spTgt>
                                        </p:tgtEl>
                                        <p:attrNameLst>
                                          <p:attrName>style.visibility</p:attrName>
                                        </p:attrNameLst>
                                      </p:cBhvr>
                                      <p:to>
                                        <p:strVal val="visible"/>
                                      </p:to>
                                    </p:set>
                                    <p:anim calcmode="lin" valueType="num">
                                      <p:cBhvr additive="base">
                                        <p:cTn id="35" dur="500" fill="hold"/>
                                        <p:tgtEl>
                                          <p:spTgt spid="1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3">
                                            <p:txEl>
                                              <p:pRg st="7" end="7"/>
                                            </p:txEl>
                                          </p:spTgt>
                                        </p:tgtEl>
                                        <p:attrNameLst>
                                          <p:attrName>style.visibility</p:attrName>
                                        </p:attrNameLst>
                                      </p:cBhvr>
                                      <p:to>
                                        <p:strVal val="visible"/>
                                      </p:to>
                                    </p:set>
                                    <p:anim calcmode="lin" valueType="num">
                                      <p:cBhvr additive="base">
                                        <p:cTn id="41" dur="500" fill="hold"/>
                                        <p:tgtEl>
                                          <p:spTgt spid="13">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Shape 67"/>
        <p:cNvGrpSpPr/>
        <p:nvPr/>
      </p:nvGrpSpPr>
      <p:grpSpPr>
        <a:xfrm>
          <a:off x="0" y="0"/>
          <a:ext cx="0" cy="0"/>
          <a:chOff x="0" y="0"/>
          <a:chExt cx="0" cy="0"/>
        </a:xfrm>
      </p:grpSpPr>
      <p:pic>
        <p:nvPicPr>
          <p:cNvPr id="68" name="Google Shape;68;p15"/>
          <p:cNvPicPr preferRelativeResize="0"/>
          <p:nvPr/>
        </p:nvPicPr>
        <p:blipFill rotWithShape="1">
          <a:blip r:embed="rId3"/>
          <a:srcRect l="41241" t="9528" r="-23988" b="51129"/>
          <a:stretch>
            <a:fillRect/>
          </a:stretch>
        </p:blipFill>
        <p:spPr>
          <a:xfrm>
            <a:off x="0" y="4073752"/>
            <a:ext cx="4457700" cy="1065625"/>
          </a:xfrm>
          <a:prstGeom prst="rect">
            <a:avLst/>
          </a:prstGeom>
          <a:noFill/>
          <a:ln>
            <a:noFill/>
          </a:ln>
        </p:spPr>
      </p:pic>
      <p:pic>
        <p:nvPicPr>
          <p:cNvPr id="69" name="Google Shape;69;p15"/>
          <p:cNvPicPr preferRelativeResize="0"/>
          <p:nvPr/>
        </p:nvPicPr>
        <p:blipFill>
          <a:blip r:embed="rId4"/>
          <a:stretch>
            <a:fillRect/>
          </a:stretch>
        </p:blipFill>
        <p:spPr>
          <a:xfrm>
            <a:off x="7120800" y="233550"/>
            <a:ext cx="1694264" cy="766799"/>
          </a:xfrm>
          <a:prstGeom prst="rect">
            <a:avLst/>
          </a:prstGeom>
          <a:noFill/>
          <a:ln>
            <a:noFill/>
          </a:ln>
        </p:spPr>
      </p:pic>
      <p:sp>
        <p:nvSpPr>
          <p:cNvPr id="70" name="Google Shape;70;p15"/>
          <p:cNvSpPr/>
          <p:nvPr/>
        </p:nvSpPr>
        <p:spPr>
          <a:xfrm>
            <a:off x="0" y="162267"/>
            <a:ext cx="6712857"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r>
              <a:rPr lang="en-IN" sz="2500" b="1" dirty="0">
                <a:ln w="6600">
                  <a:solidFill>
                    <a:schemeClr val="accent2"/>
                  </a:solidFill>
                  <a:prstDash val="solid"/>
                </a:ln>
                <a:solidFill>
                  <a:srgbClr val="FFFFFF"/>
                </a:solidFill>
                <a:effectLst>
                  <a:outerShdw dist="38100" dir="2700000" algn="tl" rotWithShape="0">
                    <a:schemeClr val="accent2"/>
                  </a:outerShdw>
                </a:effectLst>
              </a:rPr>
              <a:t>   Explanation:</a:t>
            </a:r>
            <a:endParaRPr lang="en-US" sz="25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60417" name="Picture 1"/>
          <p:cNvPicPr>
            <a:picLocks noChangeAspect="1" noChangeArrowheads="1"/>
          </p:cNvPicPr>
          <p:nvPr/>
        </p:nvPicPr>
        <p:blipFill>
          <a:blip r:embed="rId5"/>
          <a:srcRect/>
          <a:stretch>
            <a:fillRect/>
          </a:stretch>
        </p:blipFill>
        <p:spPr bwMode="auto">
          <a:xfrm>
            <a:off x="317501" y="647700"/>
            <a:ext cx="6769099" cy="3467100"/>
          </a:xfrm>
          <a:prstGeom prst="rect">
            <a:avLst/>
          </a:prstGeom>
          <a:noFill/>
          <a:ln w="9525">
            <a:noFill/>
            <a:miter lim="800000"/>
            <a:headEnd/>
            <a:tailEnd/>
          </a:ln>
          <a:effectLst/>
        </p:spPr>
      </p:pic>
      <p:pic>
        <p:nvPicPr>
          <p:cNvPr id="7" name="Picture 2"/>
          <p:cNvPicPr>
            <a:picLocks noChangeAspect="1" noChangeArrowheads="1"/>
          </p:cNvPicPr>
          <p:nvPr/>
        </p:nvPicPr>
        <p:blipFill>
          <a:blip r:embed="rId6"/>
          <a:srcRect/>
          <a:stretch>
            <a:fillRect/>
          </a:stretch>
        </p:blipFill>
        <p:spPr bwMode="auto">
          <a:xfrm>
            <a:off x="4546600" y="4178300"/>
            <a:ext cx="3924299" cy="965200"/>
          </a:xfrm>
          <a:prstGeom prst="rect">
            <a:avLst/>
          </a:prstGeom>
          <a:noFill/>
          <a:ln w="9525">
            <a:noFill/>
            <a:miter lim="800000"/>
            <a:headEnd/>
            <a:tailEnd/>
          </a:ln>
          <a:effectLst/>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9" name="Google Shape;69;p15"/>
          <p:cNvPicPr preferRelativeResize="0"/>
          <p:nvPr/>
        </p:nvPicPr>
        <p:blipFill>
          <a:blip r:embed="rId3"/>
          <a:stretch>
            <a:fillRect/>
          </a:stretch>
        </p:blipFill>
        <p:spPr>
          <a:xfrm>
            <a:off x="7120800" y="233550"/>
            <a:ext cx="1694264" cy="766799"/>
          </a:xfrm>
          <a:prstGeom prst="rect">
            <a:avLst/>
          </a:prstGeom>
          <a:noFill/>
          <a:ln>
            <a:noFill/>
          </a:ln>
        </p:spPr>
      </p:pic>
      <p:sp>
        <p:nvSpPr>
          <p:cNvPr id="70" name="Google Shape;70;p15"/>
          <p:cNvSpPr/>
          <p:nvPr/>
        </p:nvSpPr>
        <p:spPr>
          <a:xfrm>
            <a:off x="0" y="233550"/>
            <a:ext cx="6712857"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r>
              <a:rPr lang="en-IN" sz="2500" b="1" dirty="0">
                <a:ln w="6600">
                  <a:solidFill>
                    <a:schemeClr val="accent2"/>
                  </a:solidFill>
                  <a:prstDash val="solid"/>
                </a:ln>
                <a:solidFill>
                  <a:srgbClr val="FFFFFF"/>
                </a:solidFill>
                <a:effectLst>
                  <a:outerShdw dist="38100" dir="2700000" algn="tl" rotWithShape="0">
                    <a:schemeClr val="accent2"/>
                  </a:outerShdw>
                </a:effectLst>
              </a:rPr>
              <a:t>   Question 06:</a:t>
            </a:r>
            <a:endParaRPr lang="en-US" sz="2500" b="1"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7" name="Rectangle 6"/>
          <p:cNvSpPr/>
          <p:nvPr/>
        </p:nvSpPr>
        <p:spPr>
          <a:xfrm>
            <a:off x="314325" y="819150"/>
            <a:ext cx="8382000" cy="4799965"/>
          </a:xfrm>
          <a:prstGeom prst="rect">
            <a:avLst/>
          </a:prstGeom>
        </p:spPr>
        <p:txBody>
          <a:bodyPr wrap="square">
            <a:spAutoFit/>
          </a:bodyPr>
          <a:lstStyle/>
          <a:p>
            <a:pPr algn="l" fontAlgn="t">
              <a:lnSpc>
                <a:spcPct val="150000"/>
              </a:lnSpc>
            </a:pPr>
            <a:r>
              <a:rPr lang="en-US" sz="1800" dirty="0"/>
              <a:t>An alloy contains zinc, copper and tin in the ratio 2:3:1 and </a:t>
            </a:r>
          </a:p>
          <a:p>
            <a:pPr algn="l" fontAlgn="t">
              <a:lnSpc>
                <a:spcPct val="150000"/>
              </a:lnSpc>
            </a:pPr>
            <a:r>
              <a:rPr lang="en-US" sz="1800" dirty="0"/>
              <a:t>another contains copper, tin and lead in the ratio 5:4:3. If equal weights of both alloys are melted together to form a third alloy, then the weight of lead per kg in new alloy will be:</a:t>
            </a:r>
          </a:p>
          <a:p>
            <a:pPr fontAlgn="t">
              <a:lnSpc>
                <a:spcPct val="150000"/>
              </a:lnSpc>
            </a:pPr>
            <a:r>
              <a:rPr lang="en-US" sz="1800" dirty="0"/>
              <a:t>A</a:t>
            </a:r>
            <a:r>
              <a:rPr lang="en-US" sz="1800" dirty="0">
                <a:solidFill>
                  <a:schemeClr val="tx1"/>
                </a:solidFill>
              </a:rPr>
              <a:t>. 1/10 kg</a:t>
            </a:r>
          </a:p>
          <a:p>
            <a:pPr fontAlgn="t">
              <a:lnSpc>
                <a:spcPct val="150000"/>
              </a:lnSpc>
            </a:pPr>
            <a:r>
              <a:rPr lang="en-US" sz="1800" dirty="0">
                <a:solidFill>
                  <a:schemeClr val="tx1"/>
                </a:solidFill>
              </a:rPr>
              <a:t>B. 1/8 kg</a:t>
            </a:r>
          </a:p>
          <a:p>
            <a:pPr fontAlgn="t">
              <a:lnSpc>
                <a:spcPct val="150000"/>
              </a:lnSpc>
            </a:pPr>
            <a:r>
              <a:rPr lang="en-US" sz="1800" dirty="0">
                <a:solidFill>
                  <a:schemeClr val="tx1"/>
                </a:solidFill>
              </a:rPr>
              <a:t>C. 1/4 kg</a:t>
            </a:r>
          </a:p>
          <a:p>
            <a:pPr fontAlgn="t">
              <a:lnSpc>
                <a:spcPct val="150000"/>
              </a:lnSpc>
            </a:pPr>
            <a:r>
              <a:rPr lang="en-US" sz="1800" dirty="0">
                <a:solidFill>
                  <a:schemeClr val="tx1"/>
                </a:solidFill>
              </a:rPr>
              <a:t>D. 1/2 kg</a:t>
            </a:r>
          </a:p>
          <a:p>
            <a:pPr fontAlgn="t">
              <a:lnSpc>
                <a:spcPct val="150000"/>
              </a:lnSpc>
            </a:pPr>
            <a:r>
              <a:rPr lang="en-US" sz="1800" dirty="0"/>
              <a:t>							</a:t>
            </a:r>
            <a:r>
              <a:rPr lang="en-US" sz="1800" b="1" dirty="0"/>
              <a:t>Answer: B</a:t>
            </a:r>
            <a:endParaRPr lang="en-US" sz="1800" dirty="0"/>
          </a:p>
          <a:p>
            <a:pPr fontAlgn="t">
              <a:lnSpc>
                <a:spcPct val="150000"/>
              </a:lnSpc>
            </a:pPr>
            <a:r>
              <a:rPr lang="en-US" sz="1800" dirty="0"/>
              <a:t>							</a:t>
            </a:r>
          </a:p>
          <a:p>
            <a:br>
              <a:rPr lang="en-US" sz="1800" dirty="0"/>
            </a:br>
            <a:endParaRPr lang="en-US" sz="1800" dirty="0"/>
          </a:p>
        </p:txBody>
      </p:sp>
      <p:pic>
        <p:nvPicPr>
          <p:cNvPr id="6" name="Google Shape;68;p15"/>
          <p:cNvPicPr preferRelativeResize="0"/>
          <p:nvPr/>
        </p:nvPicPr>
        <p:blipFill rotWithShape="1">
          <a:blip r:embed="rId4"/>
          <a:srcRect l="41241" t="9528" r="-23988" b="51129"/>
          <a:stretch>
            <a:fillRect/>
          </a:stretch>
        </p:blipFill>
        <p:spPr>
          <a:xfrm>
            <a:off x="0" y="4073752"/>
            <a:ext cx="4457700" cy="10656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anim calcmode="lin" valueType="num">
                                      <p:cBhvr additive="base">
                                        <p:cTn id="11"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 calcmode="lin" valueType="num">
                                      <p:cBhvr additive="base">
                                        <p:cTn id="17"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 calcmode="lin" valueType="num">
                                      <p:cBhvr additive="base">
                                        <p:cTn id="23"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7">
                                            <p:txEl>
                                              <p:pRg st="4" end="4"/>
                                            </p:txEl>
                                          </p:spTgt>
                                        </p:tgtEl>
                                        <p:attrNameLst>
                                          <p:attrName>style.visibility</p:attrName>
                                        </p:attrNameLst>
                                      </p:cBhvr>
                                      <p:to>
                                        <p:strVal val="visible"/>
                                      </p:to>
                                    </p:set>
                                    <p:anim calcmode="lin" valueType="num">
                                      <p:cBhvr additive="base">
                                        <p:cTn id="29"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7">
                                            <p:txEl>
                                              <p:pRg st="5" end="5"/>
                                            </p:txEl>
                                          </p:spTgt>
                                        </p:tgtEl>
                                        <p:attrNameLst>
                                          <p:attrName>style.visibility</p:attrName>
                                        </p:attrNameLst>
                                      </p:cBhvr>
                                      <p:to>
                                        <p:strVal val="visible"/>
                                      </p:to>
                                    </p:set>
                                    <p:anim calcmode="lin" valueType="num">
                                      <p:cBhvr additive="base">
                                        <p:cTn id="35"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7">
                                            <p:txEl>
                                              <p:pRg st="6" end="6"/>
                                            </p:txEl>
                                          </p:spTgt>
                                        </p:tgtEl>
                                        <p:attrNameLst>
                                          <p:attrName>style.visibility</p:attrName>
                                        </p:attrNameLst>
                                      </p:cBhvr>
                                      <p:to>
                                        <p:strVal val="visible"/>
                                      </p:to>
                                    </p:set>
                                    <p:anim calcmode="lin" valueType="num">
                                      <p:cBhvr additive="base">
                                        <p:cTn id="41"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Shape 67"/>
        <p:cNvGrpSpPr/>
        <p:nvPr/>
      </p:nvGrpSpPr>
      <p:grpSpPr>
        <a:xfrm>
          <a:off x="0" y="0"/>
          <a:ext cx="0" cy="0"/>
          <a:chOff x="0" y="0"/>
          <a:chExt cx="0" cy="0"/>
        </a:xfrm>
      </p:grpSpPr>
      <p:pic>
        <p:nvPicPr>
          <p:cNvPr id="69" name="Google Shape;69;p15"/>
          <p:cNvPicPr preferRelativeResize="0"/>
          <p:nvPr/>
        </p:nvPicPr>
        <p:blipFill>
          <a:blip r:embed="rId3"/>
          <a:stretch>
            <a:fillRect/>
          </a:stretch>
        </p:blipFill>
        <p:spPr>
          <a:xfrm>
            <a:off x="7120800" y="233550"/>
            <a:ext cx="1694264" cy="766799"/>
          </a:xfrm>
          <a:prstGeom prst="rect">
            <a:avLst/>
          </a:prstGeom>
          <a:noFill/>
          <a:ln>
            <a:noFill/>
          </a:ln>
        </p:spPr>
      </p:pic>
      <p:sp>
        <p:nvSpPr>
          <p:cNvPr id="70" name="Google Shape;70;p15"/>
          <p:cNvSpPr/>
          <p:nvPr/>
        </p:nvSpPr>
        <p:spPr>
          <a:xfrm>
            <a:off x="0" y="233550"/>
            <a:ext cx="6712857"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r>
              <a:rPr lang="en-IN" sz="2500" b="1" dirty="0">
                <a:ln w="6600">
                  <a:solidFill>
                    <a:schemeClr val="accent2"/>
                  </a:solidFill>
                  <a:prstDash val="solid"/>
                </a:ln>
                <a:solidFill>
                  <a:srgbClr val="FFFFFF"/>
                </a:solidFill>
                <a:effectLst>
                  <a:outerShdw dist="38100" dir="2700000" algn="tl" rotWithShape="0">
                    <a:schemeClr val="accent2"/>
                  </a:outerShdw>
                </a:effectLst>
              </a:rPr>
              <a:t>   Explanation:</a:t>
            </a:r>
            <a:endParaRPr lang="en-US" sz="2500" b="1"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7" name="Rectangle 6"/>
          <p:cNvSpPr/>
          <p:nvPr/>
        </p:nvSpPr>
        <p:spPr>
          <a:xfrm>
            <a:off x="330200" y="749300"/>
            <a:ext cx="8813800" cy="5509200"/>
          </a:xfrm>
          <a:prstGeom prst="rect">
            <a:avLst/>
          </a:prstGeom>
        </p:spPr>
        <p:txBody>
          <a:bodyPr wrap="square">
            <a:spAutoFit/>
          </a:bodyPr>
          <a:lstStyle/>
          <a:p>
            <a:pPr lvl="0" fontAlgn="base">
              <a:spcBef>
                <a:spcPct val="0"/>
              </a:spcBef>
              <a:spcAft>
                <a:spcPct val="0"/>
              </a:spcAft>
              <a:buClrTx/>
            </a:pPr>
            <a:r>
              <a:rPr lang="en-US" sz="1800" dirty="0">
                <a:solidFill>
                  <a:schemeClr val="tx1"/>
                </a:solidFill>
                <a:latin typeface="Helvetica Neue"/>
                <a:cs typeface="Arial" panose="02080604020202020204" pitchFamily="34" charset="0"/>
              </a:rPr>
              <a:t>In the first alloy, ratio of Zinc, Copper and Tin is given as,</a:t>
            </a:r>
            <a:endParaRPr lang="en-US" sz="1800" dirty="0">
              <a:solidFill>
                <a:schemeClr val="tx1"/>
              </a:solidFill>
              <a:latin typeface="Arial" panose="02080604020202020204" pitchFamily="34" charset="0"/>
              <a:cs typeface="Arial" panose="02080604020202020204" pitchFamily="34" charset="0"/>
            </a:endParaRPr>
          </a:p>
          <a:p>
            <a:pPr lvl="0" eaLnBrk="0" fontAlgn="base" hangingPunct="0">
              <a:spcBef>
                <a:spcPct val="0"/>
              </a:spcBef>
              <a:spcAft>
                <a:spcPct val="0"/>
              </a:spcAft>
              <a:buClrTx/>
            </a:pPr>
            <a:r>
              <a:rPr lang="en-US" sz="1800" dirty="0">
                <a:solidFill>
                  <a:schemeClr val="tx1"/>
                </a:solidFill>
                <a:latin typeface="Helvetica Neue"/>
                <a:cs typeface="Arial" panose="02080604020202020204" pitchFamily="34" charset="0"/>
              </a:rPr>
              <a:t>Z:C:T=2:3:1</a:t>
            </a:r>
            <a:endParaRPr lang="en-US" sz="1800" dirty="0">
              <a:solidFill>
                <a:schemeClr val="tx1"/>
              </a:solidFill>
              <a:latin typeface="Arial" panose="02080604020202020204" pitchFamily="34" charset="0"/>
              <a:cs typeface="Arial" panose="02080604020202020204" pitchFamily="34" charset="0"/>
            </a:endParaRPr>
          </a:p>
          <a:p>
            <a:pPr lvl="0" eaLnBrk="0" fontAlgn="base" hangingPunct="0">
              <a:spcBef>
                <a:spcPct val="0"/>
              </a:spcBef>
              <a:spcAft>
                <a:spcPct val="0"/>
              </a:spcAft>
              <a:buClrTx/>
            </a:pPr>
            <a:r>
              <a:rPr lang="en-US" sz="1800" dirty="0">
                <a:solidFill>
                  <a:schemeClr val="tx1"/>
                </a:solidFill>
                <a:latin typeface="Helvetica Neue"/>
                <a:cs typeface="Arial" panose="02080604020202020204" pitchFamily="34" charset="0"/>
              </a:rPr>
              <a:t>Similarly, In the second alloy, ratio of Copper, Tin and Lead is given as,</a:t>
            </a:r>
            <a:r>
              <a:rPr lang="en-US" sz="1800" dirty="0">
                <a:solidFill>
                  <a:schemeClr val="tx1"/>
                </a:solidFill>
                <a:latin typeface="Arial" panose="02080604020202020204" pitchFamily="34" charset="0"/>
                <a:cs typeface="Arial" panose="02080604020202020204" pitchFamily="34" charset="0"/>
              </a:rPr>
              <a:t> </a:t>
            </a:r>
          </a:p>
          <a:p>
            <a:pPr lvl="0" eaLnBrk="0" fontAlgn="base" hangingPunct="0">
              <a:spcBef>
                <a:spcPct val="0"/>
              </a:spcBef>
              <a:spcAft>
                <a:spcPct val="0"/>
              </a:spcAft>
              <a:buClrTx/>
            </a:pPr>
            <a:r>
              <a:rPr lang="en-US" sz="1800" dirty="0">
                <a:solidFill>
                  <a:schemeClr val="tx1"/>
                </a:solidFill>
                <a:latin typeface="Helvetica Neue"/>
                <a:cs typeface="Arial" panose="02080604020202020204" pitchFamily="34" charset="0"/>
              </a:rPr>
              <a:t>C:T:L=5:4:3</a:t>
            </a:r>
            <a:endParaRPr lang="en-US" sz="1800" dirty="0">
              <a:solidFill>
                <a:schemeClr val="tx1"/>
              </a:solidFill>
              <a:latin typeface="Arial" panose="02080604020202020204" pitchFamily="34" charset="0"/>
              <a:cs typeface="Arial" panose="02080604020202020204" pitchFamily="34" charset="0"/>
            </a:endParaRPr>
          </a:p>
          <a:p>
            <a:pPr lvl="0" eaLnBrk="0" fontAlgn="base" hangingPunct="0">
              <a:spcBef>
                <a:spcPct val="0"/>
              </a:spcBef>
              <a:spcAft>
                <a:spcPct val="0"/>
              </a:spcAft>
              <a:buClrTx/>
            </a:pPr>
            <a:r>
              <a:rPr lang="en-US" sz="1800" dirty="0">
                <a:solidFill>
                  <a:schemeClr val="tx1"/>
                </a:solidFill>
                <a:latin typeface="Helvetica Neue"/>
                <a:cs typeface="Arial" panose="02080604020202020204" pitchFamily="34" charset="0"/>
              </a:rPr>
              <a:t>To do that, we take LCM of 6(=2+3+1), taken as 2 kg Zinc, 3 kg Copper and 1 Kg Lead),  and 12(=5+4+3), taken as 5 kg Copper, 4 kg Tin and 3 Kg Lead, which is 12.</a:t>
            </a:r>
            <a:endParaRPr lang="en-US" sz="1800" dirty="0">
              <a:solidFill>
                <a:schemeClr val="tx1"/>
              </a:solidFill>
              <a:latin typeface="Arial" panose="02080604020202020204" pitchFamily="34" charset="0"/>
              <a:cs typeface="Arial" panose="02080604020202020204" pitchFamily="34" charset="0"/>
            </a:endParaRPr>
          </a:p>
          <a:p>
            <a:pPr lvl="0" eaLnBrk="0" fontAlgn="base" hangingPunct="0">
              <a:spcBef>
                <a:spcPct val="0"/>
              </a:spcBef>
              <a:spcAft>
                <a:spcPct val="0"/>
              </a:spcAft>
              <a:buClrTx/>
            </a:pPr>
            <a:r>
              <a:rPr lang="en-US" sz="1800" dirty="0">
                <a:solidFill>
                  <a:schemeClr val="tx1"/>
                </a:solidFill>
                <a:latin typeface="Helvetica Neue"/>
                <a:cs typeface="Arial" panose="02080604020202020204" pitchFamily="34" charset="0"/>
              </a:rPr>
              <a:t>Thus we assume that both the alloys are being mixed at 12 </a:t>
            </a:r>
            <a:r>
              <a:rPr lang="en-US" sz="1800" dirty="0" err="1">
                <a:solidFill>
                  <a:schemeClr val="tx1"/>
                </a:solidFill>
                <a:latin typeface="Helvetica Neue"/>
                <a:cs typeface="Arial" panose="02080604020202020204" pitchFamily="34" charset="0"/>
              </a:rPr>
              <a:t>Kgs</a:t>
            </a:r>
            <a:r>
              <a:rPr lang="en-US" sz="1800" dirty="0">
                <a:solidFill>
                  <a:schemeClr val="tx1"/>
                </a:solidFill>
                <a:latin typeface="Helvetica Neue"/>
                <a:cs typeface="Arial" panose="02080604020202020204" pitchFamily="34" charset="0"/>
              </a:rPr>
              <a:t> each. </a:t>
            </a:r>
            <a:endParaRPr lang="en-US" sz="1800" dirty="0">
              <a:solidFill>
                <a:schemeClr val="tx1"/>
              </a:solidFill>
              <a:latin typeface="Arial" panose="02080604020202020204" pitchFamily="34" charset="0"/>
              <a:cs typeface="Arial" panose="02080604020202020204" pitchFamily="34" charset="0"/>
            </a:endParaRPr>
          </a:p>
          <a:p>
            <a:pPr lvl="0" eaLnBrk="0" fontAlgn="base" hangingPunct="0">
              <a:spcBef>
                <a:spcPct val="0"/>
              </a:spcBef>
              <a:spcAft>
                <a:spcPct val="0"/>
              </a:spcAft>
              <a:buClrTx/>
            </a:pPr>
            <a:r>
              <a:rPr lang="en-US" sz="1800" dirty="0">
                <a:solidFill>
                  <a:schemeClr val="tx1"/>
                </a:solidFill>
                <a:latin typeface="Helvetica Neue"/>
                <a:cs typeface="Arial" panose="02080604020202020204" pitchFamily="34" charset="0"/>
              </a:rPr>
              <a:t>Alloys are mixed together to form third alloy. Then the ratio of content in it,</a:t>
            </a:r>
            <a:endParaRPr lang="en-US" sz="1800" dirty="0">
              <a:solidFill>
                <a:schemeClr val="tx1"/>
              </a:solidFill>
              <a:latin typeface="Arial" panose="02080604020202020204" pitchFamily="34" charset="0"/>
              <a:cs typeface="Arial" panose="02080604020202020204" pitchFamily="34" charset="0"/>
            </a:endParaRPr>
          </a:p>
          <a:p>
            <a:pPr lvl="0" eaLnBrk="0" fontAlgn="base" hangingPunct="0">
              <a:spcBef>
                <a:spcPct val="0"/>
              </a:spcBef>
              <a:spcAft>
                <a:spcPct val="0"/>
              </a:spcAft>
              <a:buClrTx/>
            </a:pPr>
            <a:r>
              <a:rPr lang="en-US" sz="1800" dirty="0">
                <a:solidFill>
                  <a:schemeClr val="tx1"/>
                </a:solidFill>
                <a:latin typeface="MathJax_Math-italic"/>
                <a:cs typeface="Arial" panose="02080604020202020204" pitchFamily="34" charset="0"/>
              </a:rPr>
              <a:t>Z</a:t>
            </a:r>
            <a:r>
              <a:rPr lang="en-US" sz="1800" dirty="0">
                <a:solidFill>
                  <a:schemeClr val="tx1"/>
                </a:solidFill>
                <a:latin typeface="MathJax_Main"/>
                <a:cs typeface="Arial" panose="02080604020202020204" pitchFamily="34" charset="0"/>
              </a:rPr>
              <a:t>:</a:t>
            </a:r>
            <a:r>
              <a:rPr lang="en-US" sz="1800" dirty="0">
                <a:solidFill>
                  <a:schemeClr val="tx1"/>
                </a:solidFill>
                <a:latin typeface="MathJax_Math-italic"/>
                <a:cs typeface="Arial" panose="02080604020202020204" pitchFamily="34" charset="0"/>
              </a:rPr>
              <a:t>C</a:t>
            </a:r>
            <a:r>
              <a:rPr lang="en-US" sz="1800" dirty="0">
                <a:solidFill>
                  <a:schemeClr val="tx1"/>
                </a:solidFill>
                <a:latin typeface="MathJax_Main"/>
                <a:cs typeface="Arial" panose="02080604020202020204" pitchFamily="34" charset="0"/>
              </a:rPr>
              <a:t>:</a:t>
            </a:r>
            <a:r>
              <a:rPr lang="en-US" sz="1800" dirty="0">
                <a:solidFill>
                  <a:schemeClr val="tx1"/>
                </a:solidFill>
                <a:latin typeface="MathJax_Math-italic"/>
                <a:cs typeface="Arial" panose="02080604020202020204" pitchFamily="34" charset="0"/>
              </a:rPr>
              <a:t>T</a:t>
            </a:r>
            <a:r>
              <a:rPr lang="en-US" sz="1800" dirty="0">
                <a:solidFill>
                  <a:schemeClr val="tx1"/>
                </a:solidFill>
                <a:latin typeface="MathJax_Main"/>
                <a:cs typeface="Arial" panose="02080604020202020204" pitchFamily="34" charset="0"/>
              </a:rPr>
              <a:t>:</a:t>
            </a:r>
            <a:r>
              <a:rPr lang="en-US" sz="1800" dirty="0">
                <a:solidFill>
                  <a:schemeClr val="tx1"/>
                </a:solidFill>
                <a:latin typeface="MathJax_Math-italic"/>
                <a:cs typeface="Arial" panose="02080604020202020204" pitchFamily="34" charset="0"/>
              </a:rPr>
              <a:t>L</a:t>
            </a:r>
            <a:r>
              <a:rPr lang="en-US" sz="1800" dirty="0">
                <a:solidFill>
                  <a:schemeClr val="tx1"/>
                </a:solidFill>
                <a:latin typeface="MathJax_Main"/>
                <a:cs typeface="Arial" panose="02080604020202020204" pitchFamily="34" charset="0"/>
              </a:rPr>
              <a:t>=4:(6+5):(2+4):3</a:t>
            </a:r>
          </a:p>
          <a:p>
            <a:r>
              <a:rPr lang="en-US" sz="1800" dirty="0">
                <a:solidFill>
                  <a:schemeClr val="tx1"/>
                </a:solidFill>
              </a:rPr>
              <a:t>Weight of the third alloy,</a:t>
            </a:r>
          </a:p>
          <a:p>
            <a:r>
              <a:rPr lang="en-US" sz="1800" dirty="0">
                <a:solidFill>
                  <a:schemeClr val="tx1"/>
                </a:solidFill>
              </a:rPr>
              <a:t>T=12+12=24 Kg.</a:t>
            </a:r>
          </a:p>
          <a:p>
            <a:r>
              <a:rPr lang="en-US" sz="1800" dirty="0">
                <a:solidFill>
                  <a:schemeClr val="tx1"/>
                </a:solidFill>
              </a:rPr>
              <a:t>So, weight of the Lead,</a:t>
            </a:r>
          </a:p>
          <a:p>
            <a:r>
              <a:rPr lang="en-US" sz="1800" dirty="0">
                <a:solidFill>
                  <a:schemeClr val="tx1"/>
                </a:solidFill>
              </a:rPr>
              <a:t>				L=3/24</a:t>
            </a:r>
          </a:p>
          <a:p>
            <a:r>
              <a:rPr lang="en-US" sz="1800" dirty="0">
                <a:solidFill>
                  <a:schemeClr val="tx1"/>
                </a:solidFill>
              </a:rPr>
              <a:t>			=1/	8 kg</a:t>
            </a:r>
          </a:p>
          <a:p>
            <a:br>
              <a:rPr lang="en-US" sz="1800" dirty="0">
                <a:solidFill>
                  <a:schemeClr val="tx1"/>
                </a:solidFill>
              </a:rPr>
            </a:br>
            <a:endParaRPr lang="en-US" sz="1800" dirty="0">
              <a:solidFill>
                <a:schemeClr val="tx1"/>
              </a:solidFill>
              <a:latin typeface="Arial" panose="02080604020202020204" pitchFamily="34" charset="0"/>
              <a:cs typeface="Arial" panose="02080604020202020204" pitchFamily="34" charset="0"/>
            </a:endParaRPr>
          </a:p>
          <a:p>
            <a:pPr lvl="0" eaLnBrk="0" fontAlgn="base" hangingPunct="0">
              <a:spcBef>
                <a:spcPct val="0"/>
              </a:spcBef>
              <a:spcAft>
                <a:spcPct val="0"/>
              </a:spcAft>
              <a:buClrTx/>
            </a:pPr>
            <a:br>
              <a:rPr lang="en-US" sz="3200" dirty="0">
                <a:solidFill>
                  <a:schemeClr val="tx1"/>
                </a:solidFill>
                <a:latin typeface="Arial" panose="02080604020202020204" pitchFamily="34" charset="0"/>
                <a:cs typeface="Arial" panose="02080604020202020204" pitchFamily="34" charset="0"/>
              </a:rPr>
            </a:br>
            <a:endParaRPr lang="en-US" sz="3200" dirty="0">
              <a:solidFill>
                <a:schemeClr val="tx1"/>
              </a:solidFill>
              <a:latin typeface="Arial" panose="02080604020202020204" pitchFamily="34" charset="0"/>
              <a:cs typeface="Arial" panose="02080604020202020204" pitchFamily="34" charset="0"/>
            </a:endParaRPr>
          </a:p>
        </p:txBody>
      </p:sp>
      <p:pic>
        <p:nvPicPr>
          <p:cNvPr id="6" name="Google Shape;68;p15"/>
          <p:cNvPicPr preferRelativeResize="0"/>
          <p:nvPr/>
        </p:nvPicPr>
        <p:blipFill rotWithShape="1">
          <a:blip r:embed="rId4"/>
          <a:srcRect l="41241" t="9528" r="-23988" b="51129"/>
          <a:stretch>
            <a:fillRect/>
          </a:stretch>
        </p:blipFill>
        <p:spPr>
          <a:xfrm>
            <a:off x="0" y="4073752"/>
            <a:ext cx="4457700" cy="1065625"/>
          </a:xfrm>
          <a:prstGeom prst="rect">
            <a:avLst/>
          </a:prstGeom>
          <a:noFill/>
          <a:ln>
            <a:noFill/>
          </a:ln>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11700" y="812800"/>
            <a:ext cx="8520600" cy="3756075"/>
          </a:xfrm>
        </p:spPr>
        <p:txBody>
          <a:bodyPr/>
          <a:lstStyle/>
          <a:p>
            <a:pPr marL="114300" indent="0">
              <a:buNone/>
            </a:pPr>
            <a:endParaRPr lang="en-US" dirty="0"/>
          </a:p>
          <a:p>
            <a:pPr marL="114300" indent="0">
              <a:buNone/>
            </a:pPr>
            <a:endParaRPr lang="en-IN" dirty="0"/>
          </a:p>
          <a:p>
            <a:pPr marL="114300" indent="0">
              <a:buNone/>
            </a:pPr>
            <a:endParaRPr lang="en-IN" dirty="0"/>
          </a:p>
          <a:p>
            <a:pPr marL="114300" indent="0">
              <a:buNone/>
            </a:pPr>
            <a:endParaRPr lang="en-IN" dirty="0"/>
          </a:p>
          <a:p>
            <a:pPr marL="114300" indent="0">
              <a:buNone/>
            </a:pPr>
            <a:endParaRPr lang="en-IN" dirty="0"/>
          </a:p>
          <a:p>
            <a:pPr marL="114300" indent="0">
              <a:buNone/>
            </a:pPr>
            <a:endParaRPr lang="en-IN" dirty="0"/>
          </a:p>
          <a:p>
            <a:pPr marL="114300" indent="0">
              <a:buNone/>
            </a:pPr>
            <a:endParaRPr lang="en-IN" dirty="0"/>
          </a:p>
          <a:p>
            <a:pPr marL="114300" indent="0">
              <a:buNone/>
            </a:pPr>
            <a:endParaRPr lang="en-IN" dirty="0"/>
          </a:p>
          <a:p>
            <a:pPr marL="114300" indent="0">
              <a:buNone/>
            </a:pPr>
            <a:r>
              <a:rPr lang="en-IN" b="1" dirty="0">
                <a:solidFill>
                  <a:schemeClr val="tx1"/>
                </a:solidFill>
              </a:rPr>
              <a:t>							</a:t>
            </a:r>
          </a:p>
          <a:p>
            <a:pPr marL="114300" indent="0">
              <a:buNone/>
            </a:pPr>
            <a:r>
              <a:rPr lang="en-IN" b="1" dirty="0">
                <a:solidFill>
                  <a:schemeClr val="tx1"/>
                </a:solidFill>
              </a:rPr>
              <a:t>							</a:t>
            </a:r>
            <a:endParaRPr lang="en-IN" dirty="0">
              <a:solidFill>
                <a:schemeClr val="tx1"/>
              </a:solidFill>
            </a:endParaRPr>
          </a:p>
        </p:txBody>
      </p:sp>
      <p:sp>
        <p:nvSpPr>
          <p:cNvPr id="4" name="Google Shape;70;p15"/>
          <p:cNvSpPr>
            <a:spLocks noGrp="1"/>
          </p:cNvSpPr>
          <p:nvPr>
            <p:ph type="title"/>
          </p:nvPr>
        </p:nvSpPr>
        <p:spPr>
          <a:xfrm>
            <a:off x="0" y="211016"/>
            <a:ext cx="6541477" cy="502418"/>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r>
              <a:rPr lang="en-IN" sz="2500" b="1" dirty="0">
                <a:ln w="6600">
                  <a:solidFill>
                    <a:schemeClr val="accent2"/>
                  </a:solidFill>
                  <a:prstDash val="solid"/>
                </a:ln>
                <a:solidFill>
                  <a:srgbClr val="FFFFFF"/>
                </a:solidFill>
                <a:effectLst>
                  <a:outerShdw dist="38100" dir="2700000" algn="tl" rotWithShape="0">
                    <a:schemeClr val="accent2"/>
                  </a:outerShdw>
                </a:effectLst>
              </a:rPr>
              <a:t>   Question 07:</a:t>
            </a:r>
            <a:endParaRPr lang="en-US" sz="25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7" name="Google Shape;69;p15"/>
          <p:cNvPicPr preferRelativeResize="0"/>
          <p:nvPr/>
        </p:nvPicPr>
        <p:blipFill>
          <a:blip r:embed="rId3"/>
          <a:stretch>
            <a:fillRect/>
          </a:stretch>
        </p:blipFill>
        <p:spPr>
          <a:xfrm>
            <a:off x="6983604" y="110532"/>
            <a:ext cx="1831460" cy="800147"/>
          </a:xfrm>
          <a:prstGeom prst="rect">
            <a:avLst/>
          </a:prstGeom>
          <a:noFill/>
          <a:ln>
            <a:noFill/>
          </a:ln>
        </p:spPr>
      </p:pic>
      <p:sp>
        <p:nvSpPr>
          <p:cNvPr id="14" name="Rectangle 13"/>
          <p:cNvSpPr/>
          <p:nvPr/>
        </p:nvSpPr>
        <p:spPr>
          <a:xfrm>
            <a:off x="311785" y="962661"/>
            <a:ext cx="8788400" cy="3964305"/>
          </a:xfrm>
          <a:prstGeom prst="rect">
            <a:avLst/>
          </a:prstGeom>
        </p:spPr>
        <p:txBody>
          <a:bodyPr wrap="square">
            <a:spAutoFit/>
          </a:bodyPr>
          <a:lstStyle/>
          <a:p>
            <a:pPr>
              <a:lnSpc>
                <a:spcPct val="140000"/>
              </a:lnSpc>
            </a:pPr>
            <a:r>
              <a:rPr lang="en-US" sz="1800" dirty="0">
                <a:solidFill>
                  <a:schemeClr val="tx1"/>
                </a:solidFill>
              </a:rPr>
              <a:t>A 20 litre mixture of milk and water contains milk and water in the ratio </a:t>
            </a:r>
          </a:p>
          <a:p>
            <a:pPr>
              <a:lnSpc>
                <a:spcPct val="140000"/>
              </a:lnSpc>
            </a:pPr>
            <a:r>
              <a:rPr lang="en-US" sz="1800" dirty="0">
                <a:solidFill>
                  <a:schemeClr val="tx1"/>
                </a:solidFill>
              </a:rPr>
              <a:t>3 : 2. 10 litres of the mixture is removed and replaced with pure milk and the operation is repeated once more. At the end of the two removals and replacement, what is the ratio of milk and water in the resultant mixture?</a:t>
            </a:r>
          </a:p>
          <a:p>
            <a:pPr>
              <a:lnSpc>
                <a:spcPct val="140000"/>
              </a:lnSpc>
            </a:pPr>
            <a:r>
              <a:rPr lang="en-US" sz="1800" dirty="0">
                <a:solidFill>
                  <a:schemeClr val="tx1"/>
                </a:solidFill>
              </a:rPr>
              <a:t>A. 17 : 3</a:t>
            </a:r>
          </a:p>
          <a:p>
            <a:pPr>
              <a:lnSpc>
                <a:spcPct val="140000"/>
              </a:lnSpc>
            </a:pPr>
            <a:r>
              <a:rPr lang="en-US" sz="1800" dirty="0">
                <a:solidFill>
                  <a:schemeClr val="tx1"/>
                </a:solidFill>
              </a:rPr>
              <a:t>B. 9 : 1</a:t>
            </a:r>
          </a:p>
          <a:p>
            <a:pPr>
              <a:lnSpc>
                <a:spcPct val="140000"/>
              </a:lnSpc>
            </a:pPr>
            <a:r>
              <a:rPr lang="en-US" sz="1800" dirty="0">
                <a:solidFill>
                  <a:schemeClr val="tx1"/>
                </a:solidFill>
              </a:rPr>
              <a:t>C. 3 : 17</a:t>
            </a:r>
          </a:p>
          <a:p>
            <a:pPr>
              <a:lnSpc>
                <a:spcPct val="140000"/>
              </a:lnSpc>
            </a:pPr>
            <a:r>
              <a:rPr lang="en-US" sz="1800" dirty="0">
                <a:solidFill>
                  <a:schemeClr val="tx1"/>
                </a:solidFill>
              </a:rPr>
              <a:t>D. 5 : 3</a:t>
            </a:r>
          </a:p>
          <a:p>
            <a:pPr>
              <a:lnSpc>
                <a:spcPct val="140000"/>
              </a:lnSpc>
            </a:pPr>
            <a:r>
              <a:rPr lang="en-US" sz="1800" dirty="0">
                <a:solidFill>
                  <a:schemeClr val="tx1"/>
                </a:solidFill>
              </a:rPr>
              <a:t>							</a:t>
            </a:r>
            <a:r>
              <a:rPr lang="en-US" sz="1800" b="1" dirty="0">
                <a:solidFill>
                  <a:schemeClr val="tx1"/>
                </a:solidFill>
              </a:rPr>
              <a:t>Answer: B</a:t>
            </a:r>
          </a:p>
          <a:p>
            <a:pPr>
              <a:lnSpc>
                <a:spcPct val="140000"/>
              </a:lnSpc>
            </a:pPr>
            <a:endParaRPr lang="en-US" sz="1800" b="1" dirty="0">
              <a:solidFill>
                <a:schemeClr val="tx1"/>
              </a:solidFill>
            </a:endParaRPr>
          </a:p>
        </p:txBody>
      </p:sp>
      <p:pic>
        <p:nvPicPr>
          <p:cNvPr id="8" name="Google Shape;68;p15"/>
          <p:cNvPicPr preferRelativeResize="0"/>
          <p:nvPr/>
        </p:nvPicPr>
        <p:blipFill rotWithShape="1">
          <a:blip r:embed="rId4"/>
          <a:srcRect l="41241" t="9528" r="-23988" b="51129"/>
          <a:stretch>
            <a:fillRect/>
          </a:stretch>
        </p:blipFill>
        <p:spPr>
          <a:xfrm>
            <a:off x="0" y="4073752"/>
            <a:ext cx="4457700" cy="10656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 calcmode="lin" valueType="num">
                                      <p:cBhvr additive="base">
                                        <p:cTn id="7"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anim calcmode="lin" valueType="num">
                                      <p:cBhvr additive="base">
                                        <p:cTn id="11" dur="500" fill="hold"/>
                                        <p:tgtEl>
                                          <p:spTgt spid="1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4">
                                            <p:txEl>
                                              <p:pRg st="2" end="2"/>
                                            </p:txEl>
                                          </p:spTgt>
                                        </p:tgtEl>
                                        <p:attrNameLst>
                                          <p:attrName>style.visibility</p:attrName>
                                        </p:attrNameLst>
                                      </p:cBhvr>
                                      <p:to>
                                        <p:strVal val="visible"/>
                                      </p:to>
                                    </p:set>
                                    <p:anim calcmode="lin" valueType="num">
                                      <p:cBhvr additive="base">
                                        <p:cTn id="17" dur="500" fill="hold"/>
                                        <p:tgtEl>
                                          <p:spTgt spid="1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4">
                                            <p:txEl>
                                              <p:pRg st="3" end="3"/>
                                            </p:txEl>
                                          </p:spTgt>
                                        </p:tgtEl>
                                        <p:attrNameLst>
                                          <p:attrName>style.visibility</p:attrName>
                                        </p:attrNameLst>
                                      </p:cBhvr>
                                      <p:to>
                                        <p:strVal val="visible"/>
                                      </p:to>
                                    </p:set>
                                    <p:anim calcmode="lin" valueType="num">
                                      <p:cBhvr additive="base">
                                        <p:cTn id="23" dur="500" fill="hold"/>
                                        <p:tgtEl>
                                          <p:spTgt spid="14">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4">
                                            <p:txEl>
                                              <p:pRg st="4" end="4"/>
                                            </p:txEl>
                                          </p:spTgt>
                                        </p:tgtEl>
                                        <p:attrNameLst>
                                          <p:attrName>style.visibility</p:attrName>
                                        </p:attrNameLst>
                                      </p:cBhvr>
                                      <p:to>
                                        <p:strVal val="visible"/>
                                      </p:to>
                                    </p:set>
                                    <p:anim calcmode="lin" valueType="num">
                                      <p:cBhvr additive="base">
                                        <p:cTn id="29" dur="500" fill="hold"/>
                                        <p:tgtEl>
                                          <p:spTgt spid="14">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4">
                                            <p:txEl>
                                              <p:pRg st="5" end="5"/>
                                            </p:txEl>
                                          </p:spTgt>
                                        </p:tgtEl>
                                        <p:attrNameLst>
                                          <p:attrName>style.visibility</p:attrName>
                                        </p:attrNameLst>
                                      </p:cBhvr>
                                      <p:to>
                                        <p:strVal val="visible"/>
                                      </p:to>
                                    </p:set>
                                    <p:anim calcmode="lin" valueType="num">
                                      <p:cBhvr additive="base">
                                        <p:cTn id="35" dur="500" fill="hold"/>
                                        <p:tgtEl>
                                          <p:spTgt spid="14">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4">
                                            <p:txEl>
                                              <p:pRg st="6" end="6"/>
                                            </p:txEl>
                                          </p:spTgt>
                                        </p:tgtEl>
                                        <p:attrNameLst>
                                          <p:attrName>style.visibility</p:attrName>
                                        </p:attrNameLst>
                                      </p:cBhvr>
                                      <p:to>
                                        <p:strVal val="visible"/>
                                      </p:to>
                                    </p:set>
                                    <p:anim calcmode="lin" valueType="num">
                                      <p:cBhvr additive="base">
                                        <p:cTn id="41" dur="500" fill="hold"/>
                                        <p:tgtEl>
                                          <p:spTgt spid="14">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4">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11700" y="812800"/>
            <a:ext cx="8520600" cy="3756075"/>
          </a:xfrm>
        </p:spPr>
        <p:txBody>
          <a:bodyPr/>
          <a:lstStyle/>
          <a:p>
            <a:pPr marL="114300" indent="0">
              <a:buNone/>
            </a:pPr>
            <a:endParaRPr lang="en-US" dirty="0"/>
          </a:p>
          <a:p>
            <a:pPr marL="114300" indent="0">
              <a:buNone/>
            </a:pPr>
            <a:endParaRPr lang="en-IN" dirty="0"/>
          </a:p>
          <a:p>
            <a:pPr marL="114300" indent="0">
              <a:buNone/>
            </a:pPr>
            <a:endParaRPr lang="en-IN" dirty="0"/>
          </a:p>
          <a:p>
            <a:pPr marL="114300" indent="0">
              <a:buNone/>
            </a:pPr>
            <a:endParaRPr lang="en-IN" dirty="0"/>
          </a:p>
          <a:p>
            <a:pPr marL="114300" indent="0">
              <a:buNone/>
            </a:pPr>
            <a:endParaRPr lang="en-IN" dirty="0"/>
          </a:p>
          <a:p>
            <a:pPr marL="114300" indent="0">
              <a:buNone/>
            </a:pPr>
            <a:endParaRPr lang="en-IN" dirty="0"/>
          </a:p>
          <a:p>
            <a:pPr marL="114300" indent="0">
              <a:buNone/>
            </a:pPr>
            <a:endParaRPr lang="en-IN" dirty="0"/>
          </a:p>
          <a:p>
            <a:pPr marL="114300" indent="0">
              <a:buNone/>
            </a:pPr>
            <a:endParaRPr lang="en-IN" dirty="0"/>
          </a:p>
          <a:p>
            <a:pPr marL="114300" indent="0">
              <a:buNone/>
            </a:pPr>
            <a:r>
              <a:rPr lang="en-IN" b="1" dirty="0">
                <a:solidFill>
                  <a:schemeClr val="tx1"/>
                </a:solidFill>
              </a:rPr>
              <a:t>							</a:t>
            </a:r>
          </a:p>
          <a:p>
            <a:pPr marL="114300" indent="0">
              <a:buNone/>
            </a:pPr>
            <a:r>
              <a:rPr lang="en-IN" b="1" dirty="0">
                <a:solidFill>
                  <a:schemeClr val="tx1"/>
                </a:solidFill>
              </a:rPr>
              <a:t>							</a:t>
            </a:r>
            <a:endParaRPr lang="en-IN" dirty="0">
              <a:solidFill>
                <a:schemeClr val="tx1"/>
              </a:solidFill>
            </a:endParaRPr>
          </a:p>
        </p:txBody>
      </p:sp>
      <p:sp>
        <p:nvSpPr>
          <p:cNvPr id="4" name="Google Shape;70;p15"/>
          <p:cNvSpPr>
            <a:spLocks noGrp="1"/>
          </p:cNvSpPr>
          <p:nvPr>
            <p:ph type="title"/>
          </p:nvPr>
        </p:nvSpPr>
        <p:spPr>
          <a:xfrm>
            <a:off x="0" y="211016"/>
            <a:ext cx="6541477" cy="502418"/>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r>
              <a:rPr lang="en-IN" sz="2500" b="1" dirty="0">
                <a:ln w="6600">
                  <a:solidFill>
                    <a:schemeClr val="accent2"/>
                  </a:solidFill>
                  <a:prstDash val="solid"/>
                </a:ln>
                <a:solidFill>
                  <a:srgbClr val="FFFFFF"/>
                </a:solidFill>
                <a:effectLst>
                  <a:outerShdw dist="38100" dir="2700000" algn="tl" rotWithShape="0">
                    <a:schemeClr val="accent2"/>
                  </a:outerShdw>
                </a:effectLst>
              </a:rPr>
              <a:t>   Explanation:</a:t>
            </a:r>
            <a:endParaRPr lang="en-US" sz="25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7" name="Google Shape;69;p15"/>
          <p:cNvPicPr preferRelativeResize="0"/>
          <p:nvPr/>
        </p:nvPicPr>
        <p:blipFill>
          <a:blip r:embed="rId3"/>
          <a:stretch>
            <a:fillRect/>
          </a:stretch>
        </p:blipFill>
        <p:spPr>
          <a:xfrm>
            <a:off x="6983604" y="110532"/>
            <a:ext cx="1831460" cy="800147"/>
          </a:xfrm>
          <a:prstGeom prst="rect">
            <a:avLst/>
          </a:prstGeom>
          <a:noFill/>
          <a:ln>
            <a:noFill/>
          </a:ln>
        </p:spPr>
      </p:pic>
      <p:sp>
        <p:nvSpPr>
          <p:cNvPr id="9" name="Rectangle 8"/>
          <p:cNvSpPr/>
          <p:nvPr/>
        </p:nvSpPr>
        <p:spPr>
          <a:xfrm>
            <a:off x="279400" y="838200"/>
            <a:ext cx="8864600" cy="4030980"/>
          </a:xfrm>
          <a:prstGeom prst="rect">
            <a:avLst/>
          </a:prstGeom>
        </p:spPr>
        <p:txBody>
          <a:bodyPr wrap="square">
            <a:spAutoFit/>
          </a:bodyPr>
          <a:lstStyle/>
          <a:p>
            <a:r>
              <a:rPr lang="en-US" sz="1600" dirty="0">
                <a:solidFill>
                  <a:schemeClr val="tx1"/>
                </a:solidFill>
              </a:rPr>
              <a:t>The 20 </a:t>
            </a:r>
            <a:r>
              <a:rPr lang="en-US" sz="1600" dirty="0" err="1">
                <a:solidFill>
                  <a:schemeClr val="tx1"/>
                </a:solidFill>
              </a:rPr>
              <a:t>litre</a:t>
            </a:r>
            <a:r>
              <a:rPr lang="en-US" sz="1600" dirty="0">
                <a:solidFill>
                  <a:schemeClr val="tx1"/>
                </a:solidFill>
              </a:rPr>
              <a:t> mixture contains milk and water in the ratio of 3 : 2. Therefore, there</a:t>
            </a:r>
          </a:p>
          <a:p>
            <a:r>
              <a:rPr lang="en-US" sz="1600" dirty="0">
                <a:solidFill>
                  <a:schemeClr val="tx1"/>
                </a:solidFill>
              </a:rPr>
              <a:t> will be 12 </a:t>
            </a:r>
            <a:r>
              <a:rPr lang="en-US" sz="1600" dirty="0" err="1">
                <a:solidFill>
                  <a:schemeClr val="tx1"/>
                </a:solidFill>
              </a:rPr>
              <a:t>litres</a:t>
            </a:r>
            <a:r>
              <a:rPr lang="en-US" sz="1600" dirty="0">
                <a:solidFill>
                  <a:schemeClr val="tx1"/>
                </a:solidFill>
              </a:rPr>
              <a:t> of milk in the mixture and 8 </a:t>
            </a:r>
            <a:r>
              <a:rPr lang="en-US" sz="1600" dirty="0" err="1">
                <a:solidFill>
                  <a:schemeClr val="tx1"/>
                </a:solidFill>
              </a:rPr>
              <a:t>litres</a:t>
            </a:r>
            <a:r>
              <a:rPr lang="en-US" sz="1600" dirty="0">
                <a:solidFill>
                  <a:schemeClr val="tx1"/>
                </a:solidFill>
              </a:rPr>
              <a:t> of water in the mixture.</a:t>
            </a:r>
            <a:br>
              <a:rPr lang="en-US" sz="1600" dirty="0">
                <a:solidFill>
                  <a:schemeClr val="tx1"/>
                </a:solidFill>
              </a:rPr>
            </a:br>
            <a:br>
              <a:rPr lang="en-US" sz="1600" dirty="0">
                <a:solidFill>
                  <a:schemeClr val="tx1"/>
                </a:solidFill>
              </a:rPr>
            </a:br>
            <a:r>
              <a:rPr lang="en-US" sz="1600" b="1" dirty="0">
                <a:solidFill>
                  <a:schemeClr val="tx1"/>
                </a:solidFill>
              </a:rPr>
              <a:t>Step 1. </a:t>
            </a:r>
            <a:r>
              <a:rPr lang="en-US" sz="1600" dirty="0">
                <a:solidFill>
                  <a:schemeClr val="tx1"/>
                </a:solidFill>
              </a:rPr>
              <a:t>When 10 </a:t>
            </a:r>
            <a:r>
              <a:rPr lang="en-US" sz="1600" dirty="0" err="1">
                <a:solidFill>
                  <a:schemeClr val="tx1"/>
                </a:solidFill>
              </a:rPr>
              <a:t>litres</a:t>
            </a:r>
            <a:r>
              <a:rPr lang="en-US" sz="1600" dirty="0">
                <a:solidFill>
                  <a:schemeClr val="tx1"/>
                </a:solidFill>
              </a:rPr>
              <a:t> of the mixture is removed, 6 </a:t>
            </a:r>
            <a:r>
              <a:rPr lang="en-US" sz="1600" dirty="0" err="1">
                <a:solidFill>
                  <a:schemeClr val="tx1"/>
                </a:solidFill>
              </a:rPr>
              <a:t>litres</a:t>
            </a:r>
            <a:r>
              <a:rPr lang="en-US" sz="1600" dirty="0">
                <a:solidFill>
                  <a:schemeClr val="tx1"/>
                </a:solidFill>
              </a:rPr>
              <a:t> of milk is removed and 4 </a:t>
            </a:r>
            <a:r>
              <a:rPr lang="en-US" sz="1600" dirty="0" err="1">
                <a:solidFill>
                  <a:schemeClr val="tx1"/>
                </a:solidFill>
              </a:rPr>
              <a:t>litres</a:t>
            </a:r>
            <a:r>
              <a:rPr lang="en-US" sz="1600" dirty="0">
                <a:solidFill>
                  <a:schemeClr val="tx1"/>
                </a:solidFill>
              </a:rPr>
              <a:t> of water is removed. Therefore, there will be 6 </a:t>
            </a:r>
            <a:r>
              <a:rPr lang="en-US" sz="1600" dirty="0" err="1">
                <a:solidFill>
                  <a:schemeClr val="tx1"/>
                </a:solidFill>
              </a:rPr>
              <a:t>litres</a:t>
            </a:r>
            <a:r>
              <a:rPr lang="en-US" sz="1600" dirty="0">
                <a:solidFill>
                  <a:schemeClr val="tx1"/>
                </a:solidFill>
              </a:rPr>
              <a:t> of milk and 4 </a:t>
            </a:r>
            <a:r>
              <a:rPr lang="en-US" sz="1600" dirty="0" err="1">
                <a:solidFill>
                  <a:schemeClr val="tx1"/>
                </a:solidFill>
              </a:rPr>
              <a:t>litres</a:t>
            </a:r>
            <a:r>
              <a:rPr lang="en-US" sz="1600" dirty="0">
                <a:solidFill>
                  <a:schemeClr val="tx1"/>
                </a:solidFill>
              </a:rPr>
              <a:t> of water left in the container. It is then replaced with pure milk of 10 </a:t>
            </a:r>
            <a:r>
              <a:rPr lang="en-US" sz="1600" dirty="0" err="1">
                <a:solidFill>
                  <a:schemeClr val="tx1"/>
                </a:solidFill>
              </a:rPr>
              <a:t>litres</a:t>
            </a:r>
            <a:r>
              <a:rPr lang="en-US" sz="1600" dirty="0">
                <a:solidFill>
                  <a:schemeClr val="tx1"/>
                </a:solidFill>
              </a:rPr>
              <a:t>. Now the container will have 16 </a:t>
            </a:r>
            <a:r>
              <a:rPr lang="en-US" sz="1600" dirty="0" err="1">
                <a:solidFill>
                  <a:schemeClr val="tx1"/>
                </a:solidFill>
              </a:rPr>
              <a:t>litres</a:t>
            </a:r>
            <a:r>
              <a:rPr lang="en-US" sz="1600" dirty="0">
                <a:solidFill>
                  <a:schemeClr val="tx1"/>
                </a:solidFill>
              </a:rPr>
              <a:t> of milk and 4 </a:t>
            </a:r>
            <a:r>
              <a:rPr lang="en-US" sz="1600" dirty="0" err="1">
                <a:solidFill>
                  <a:schemeClr val="tx1"/>
                </a:solidFill>
              </a:rPr>
              <a:t>litres</a:t>
            </a:r>
            <a:r>
              <a:rPr lang="en-US" sz="1600" dirty="0">
                <a:solidFill>
                  <a:schemeClr val="tx1"/>
                </a:solidFill>
              </a:rPr>
              <a:t> of water.</a:t>
            </a:r>
            <a:br>
              <a:rPr lang="en-US" sz="1600" dirty="0">
                <a:solidFill>
                  <a:schemeClr val="tx1"/>
                </a:solidFill>
              </a:rPr>
            </a:br>
            <a:br>
              <a:rPr lang="en-US" sz="1600" dirty="0">
                <a:solidFill>
                  <a:schemeClr val="tx1"/>
                </a:solidFill>
              </a:rPr>
            </a:br>
            <a:r>
              <a:rPr lang="en-US" sz="1600" b="1" dirty="0">
                <a:solidFill>
                  <a:schemeClr val="tx1"/>
                </a:solidFill>
              </a:rPr>
              <a:t>Step 2. </a:t>
            </a:r>
            <a:r>
              <a:rPr lang="en-US" sz="1600" dirty="0">
                <a:solidFill>
                  <a:schemeClr val="tx1"/>
                </a:solidFill>
              </a:rPr>
              <a:t>When 10 </a:t>
            </a:r>
            <a:r>
              <a:rPr lang="en-US" sz="1600" dirty="0" err="1">
                <a:solidFill>
                  <a:schemeClr val="tx1"/>
                </a:solidFill>
              </a:rPr>
              <a:t>litres</a:t>
            </a:r>
            <a:r>
              <a:rPr lang="en-US" sz="1600" dirty="0">
                <a:solidFill>
                  <a:schemeClr val="tx1"/>
                </a:solidFill>
              </a:rPr>
              <a:t> of the new mixture is removed, 8 </a:t>
            </a:r>
            <a:r>
              <a:rPr lang="en-US" sz="1600" dirty="0" err="1">
                <a:solidFill>
                  <a:schemeClr val="tx1"/>
                </a:solidFill>
              </a:rPr>
              <a:t>litres</a:t>
            </a:r>
            <a:r>
              <a:rPr lang="en-US" sz="1600" dirty="0">
                <a:solidFill>
                  <a:schemeClr val="tx1"/>
                </a:solidFill>
              </a:rPr>
              <a:t> of milk and 2 </a:t>
            </a:r>
            <a:r>
              <a:rPr lang="en-US" sz="1600" dirty="0" err="1">
                <a:solidFill>
                  <a:schemeClr val="tx1"/>
                </a:solidFill>
              </a:rPr>
              <a:t>litres</a:t>
            </a:r>
            <a:r>
              <a:rPr lang="en-US" sz="1600" dirty="0">
                <a:solidFill>
                  <a:schemeClr val="tx1"/>
                </a:solidFill>
              </a:rPr>
              <a:t> of water is removed. The container will have 8 </a:t>
            </a:r>
            <a:r>
              <a:rPr lang="en-US" sz="1600" dirty="0" err="1">
                <a:solidFill>
                  <a:schemeClr val="tx1"/>
                </a:solidFill>
              </a:rPr>
              <a:t>litres</a:t>
            </a:r>
            <a:r>
              <a:rPr lang="en-US" sz="1600" dirty="0">
                <a:solidFill>
                  <a:schemeClr val="tx1"/>
                </a:solidFill>
              </a:rPr>
              <a:t> of milk and 2 </a:t>
            </a:r>
            <a:r>
              <a:rPr lang="en-US" sz="1600" dirty="0" err="1">
                <a:solidFill>
                  <a:schemeClr val="tx1"/>
                </a:solidFill>
              </a:rPr>
              <a:t>litres</a:t>
            </a:r>
            <a:r>
              <a:rPr lang="en-US" sz="1600" dirty="0">
                <a:solidFill>
                  <a:schemeClr val="tx1"/>
                </a:solidFill>
              </a:rPr>
              <a:t> of water in it. Now 10 </a:t>
            </a:r>
            <a:r>
              <a:rPr lang="en-US" sz="1600" dirty="0" err="1">
                <a:solidFill>
                  <a:schemeClr val="tx1"/>
                </a:solidFill>
              </a:rPr>
              <a:t>litres</a:t>
            </a:r>
            <a:r>
              <a:rPr lang="en-US" sz="1600" dirty="0">
                <a:solidFill>
                  <a:schemeClr val="tx1"/>
                </a:solidFill>
              </a:rPr>
              <a:t> of pure milk is added. Therefore, the container will have 18 </a:t>
            </a:r>
            <a:r>
              <a:rPr lang="en-US" sz="1600" dirty="0" err="1">
                <a:solidFill>
                  <a:schemeClr val="tx1"/>
                </a:solidFill>
              </a:rPr>
              <a:t>litres</a:t>
            </a:r>
            <a:r>
              <a:rPr lang="en-US" sz="1600" dirty="0">
                <a:solidFill>
                  <a:schemeClr val="tx1"/>
                </a:solidFill>
              </a:rPr>
              <a:t> of milk 				and 2 </a:t>
            </a:r>
            <a:r>
              <a:rPr lang="en-US" sz="1600" dirty="0" err="1">
                <a:solidFill>
                  <a:schemeClr val="tx1"/>
                </a:solidFill>
              </a:rPr>
              <a:t>litres</a:t>
            </a:r>
            <a:r>
              <a:rPr lang="en-US" sz="1600" dirty="0">
                <a:solidFill>
                  <a:schemeClr val="tx1"/>
                </a:solidFill>
              </a:rPr>
              <a:t> of water in it at the end of the second step.</a:t>
            </a:r>
            <a:br>
              <a:rPr lang="en-US" sz="1600" dirty="0">
                <a:solidFill>
                  <a:schemeClr val="tx1"/>
                </a:solidFill>
              </a:rPr>
            </a:br>
            <a:r>
              <a:rPr lang="en-US" sz="1600" dirty="0">
                <a:solidFill>
                  <a:schemeClr val="tx1"/>
                </a:solidFill>
              </a:rPr>
              <a:t>				Therefore, the ratio of milk and water is </a:t>
            </a:r>
          </a:p>
          <a:p>
            <a:r>
              <a:rPr lang="en-US" sz="1600" dirty="0">
                <a:solidFill>
                  <a:schemeClr val="tx1"/>
                </a:solidFill>
              </a:rPr>
              <a:t>				18 : 2 or </a:t>
            </a:r>
            <a:r>
              <a:rPr lang="en-US" sz="1600" b="1" dirty="0">
                <a:solidFill>
                  <a:schemeClr val="tx1"/>
                </a:solidFill>
              </a:rPr>
              <a:t>9 : 1.</a:t>
            </a:r>
            <a:br>
              <a:rPr lang="en-US" sz="1600" dirty="0"/>
            </a:br>
            <a:endParaRPr lang="en-US" sz="1600" dirty="0"/>
          </a:p>
        </p:txBody>
      </p:sp>
      <p:pic>
        <p:nvPicPr>
          <p:cNvPr id="8" name="Google Shape;68;p15"/>
          <p:cNvPicPr preferRelativeResize="0"/>
          <p:nvPr/>
        </p:nvPicPr>
        <p:blipFill rotWithShape="1">
          <a:blip r:embed="rId4"/>
          <a:srcRect l="41241" t="9528" r="-23988" b="51129"/>
          <a:stretch>
            <a:fillRect/>
          </a:stretch>
        </p:blipFill>
        <p:spPr>
          <a:xfrm>
            <a:off x="0" y="4073752"/>
            <a:ext cx="4457700" cy="1065625"/>
          </a:xfrm>
          <a:prstGeom prst="rect">
            <a:avLst/>
          </a:prstGeom>
          <a:noFill/>
          <a:ln>
            <a:noFill/>
          </a:ln>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8600" y="838200"/>
            <a:ext cx="8552900" cy="4114800"/>
          </a:xfrm>
        </p:spPr>
        <p:txBody>
          <a:bodyPr/>
          <a:lstStyle/>
          <a:p>
            <a:pPr marL="114300" indent="0">
              <a:lnSpc>
                <a:spcPct val="150000"/>
              </a:lnSpc>
              <a:buNone/>
            </a:pPr>
            <a:r>
              <a:rPr lang="en-US" dirty="0">
                <a:solidFill>
                  <a:schemeClr val="tx1"/>
                </a:solidFill>
              </a:rPr>
              <a:t>How many kgs of Basmati rice costing Rs. 42/kg should a shopkeeper mix with 25 kgs of ordinary rice costing Rs. 24 per kg so that he makes a profit of 25% on selling the mixture at Rs. 40/kg?</a:t>
            </a:r>
          </a:p>
          <a:p>
            <a:pPr marL="114300" indent="0">
              <a:lnSpc>
                <a:spcPct val="150000"/>
              </a:lnSpc>
              <a:buNone/>
            </a:pPr>
            <a:r>
              <a:rPr lang="en-US" dirty="0">
                <a:solidFill>
                  <a:schemeClr val="tx1"/>
                </a:solidFill>
              </a:rPr>
              <a:t>A. 20.0 kgs</a:t>
            </a:r>
          </a:p>
          <a:p>
            <a:pPr marL="114300" indent="0">
              <a:lnSpc>
                <a:spcPct val="150000"/>
              </a:lnSpc>
              <a:buNone/>
            </a:pPr>
            <a:r>
              <a:rPr lang="en-US" dirty="0">
                <a:solidFill>
                  <a:schemeClr val="tx1"/>
                </a:solidFill>
              </a:rPr>
              <a:t>B. 12.5 kgs</a:t>
            </a:r>
          </a:p>
          <a:p>
            <a:pPr marL="114300" indent="0">
              <a:lnSpc>
                <a:spcPct val="150000"/>
              </a:lnSpc>
              <a:buNone/>
            </a:pPr>
            <a:r>
              <a:rPr lang="en-US" dirty="0">
                <a:solidFill>
                  <a:schemeClr val="tx1"/>
                </a:solidFill>
              </a:rPr>
              <a:t>C. 16.0 kgs</a:t>
            </a:r>
          </a:p>
          <a:p>
            <a:pPr marL="114300" indent="0">
              <a:lnSpc>
                <a:spcPct val="150000"/>
              </a:lnSpc>
              <a:buNone/>
            </a:pPr>
            <a:r>
              <a:rPr lang="en-US" dirty="0">
                <a:solidFill>
                  <a:schemeClr val="tx1"/>
                </a:solidFill>
              </a:rPr>
              <a:t>D. 200.0 kgs</a:t>
            </a:r>
          </a:p>
          <a:p>
            <a:pPr marL="114300" indent="0">
              <a:lnSpc>
                <a:spcPct val="150000"/>
              </a:lnSpc>
              <a:buNone/>
            </a:pPr>
            <a:endParaRPr lang="en-US" dirty="0">
              <a:solidFill>
                <a:schemeClr val="tx1"/>
              </a:solidFill>
            </a:endParaRPr>
          </a:p>
          <a:p>
            <a:pPr marL="114300" indent="0">
              <a:lnSpc>
                <a:spcPct val="150000"/>
              </a:lnSpc>
              <a:buNone/>
            </a:pPr>
            <a:r>
              <a:rPr lang="en-US" dirty="0">
                <a:solidFill>
                  <a:schemeClr val="tx1"/>
                </a:solidFill>
              </a:rPr>
              <a:t>							</a:t>
            </a:r>
            <a:r>
              <a:rPr lang="en-US" b="1" dirty="0">
                <a:solidFill>
                  <a:schemeClr val="tx1"/>
                </a:solidFill>
              </a:rPr>
              <a:t>Answer: A</a:t>
            </a:r>
            <a:endParaRPr lang="en-US" dirty="0">
              <a:solidFill>
                <a:schemeClr val="tx1"/>
              </a:solidFill>
            </a:endParaRPr>
          </a:p>
          <a:p>
            <a:pPr marL="114300" indent="0">
              <a:lnSpc>
                <a:spcPct val="150000"/>
              </a:lnSpc>
              <a:buNone/>
            </a:pPr>
            <a:endParaRPr lang="en-US" dirty="0">
              <a:solidFill>
                <a:schemeClr val="tx1"/>
              </a:solidFill>
            </a:endParaRPr>
          </a:p>
        </p:txBody>
      </p:sp>
      <p:pic>
        <p:nvPicPr>
          <p:cNvPr id="4" name="Google Shape;69;p15"/>
          <p:cNvPicPr preferRelativeResize="0"/>
          <p:nvPr/>
        </p:nvPicPr>
        <p:blipFill>
          <a:blip r:embed="rId3"/>
          <a:stretch>
            <a:fillRect/>
          </a:stretch>
        </p:blipFill>
        <p:spPr>
          <a:xfrm>
            <a:off x="7120800" y="233550"/>
            <a:ext cx="1694264" cy="766799"/>
          </a:xfrm>
          <a:prstGeom prst="rect">
            <a:avLst/>
          </a:prstGeom>
          <a:noFill/>
          <a:ln>
            <a:noFill/>
          </a:ln>
        </p:spPr>
      </p:pic>
      <p:sp>
        <p:nvSpPr>
          <p:cNvPr id="5" name="Google Shape;70;p15"/>
          <p:cNvSpPr>
            <a:spLocks noGrp="1"/>
          </p:cNvSpPr>
          <p:nvPr>
            <p:ph type="title"/>
          </p:nvPr>
        </p:nvSpPr>
        <p:spPr>
          <a:xfrm>
            <a:off x="0" y="190500"/>
            <a:ext cx="6903218" cy="573175"/>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r>
              <a:rPr lang="en-IN" sz="2500" b="1" dirty="0">
                <a:ln w="6600">
                  <a:solidFill>
                    <a:schemeClr val="accent2"/>
                  </a:solidFill>
                  <a:prstDash val="solid"/>
                </a:ln>
                <a:solidFill>
                  <a:srgbClr val="FFFFFF"/>
                </a:solidFill>
                <a:effectLst>
                  <a:outerShdw dist="38100" dir="2700000" algn="tl" rotWithShape="0">
                    <a:schemeClr val="accent2"/>
                  </a:outerShdw>
                </a:effectLst>
              </a:rPr>
              <a:t>   Question 08:</a:t>
            </a:r>
            <a:endParaRPr lang="en-US" sz="25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6" name="Google Shape;68;p15"/>
          <p:cNvPicPr preferRelativeResize="0"/>
          <p:nvPr/>
        </p:nvPicPr>
        <p:blipFill rotWithShape="1">
          <a:blip r:embed="rId4"/>
          <a:srcRect l="41241" t="9528" r="-23988" b="51129"/>
          <a:stretch>
            <a:fillRect/>
          </a:stretch>
        </p:blipFill>
        <p:spPr>
          <a:xfrm>
            <a:off x="0" y="4073752"/>
            <a:ext cx="4457700" cy="10656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8600" y="838200"/>
            <a:ext cx="8552900" cy="4114800"/>
          </a:xfrm>
        </p:spPr>
        <p:txBody>
          <a:bodyPr/>
          <a:lstStyle/>
          <a:p>
            <a:pPr>
              <a:buNone/>
            </a:pPr>
            <a:r>
              <a:rPr lang="en-US" dirty="0">
                <a:solidFill>
                  <a:schemeClr val="tx1"/>
                </a:solidFill>
              </a:rPr>
              <a:t>Let the amount of Basmati rice being mixed be x </a:t>
            </a:r>
            <a:r>
              <a:rPr lang="en-US" dirty="0" err="1">
                <a:solidFill>
                  <a:schemeClr val="tx1"/>
                </a:solidFill>
              </a:rPr>
              <a:t>kgs</a:t>
            </a:r>
            <a:r>
              <a:rPr lang="en-US" dirty="0">
                <a:solidFill>
                  <a:schemeClr val="tx1"/>
                </a:solidFill>
              </a:rPr>
              <a:t>.</a:t>
            </a:r>
          </a:p>
          <a:p>
            <a:pPr>
              <a:buNone/>
            </a:pPr>
            <a:r>
              <a:rPr lang="en-US" dirty="0">
                <a:solidFill>
                  <a:schemeClr val="tx1"/>
                </a:solidFill>
              </a:rPr>
              <a:t>As the trader makes 25% profit by selling the mixture at Rs.40/kg, his cost per</a:t>
            </a:r>
          </a:p>
          <a:p>
            <a:pPr>
              <a:buNone/>
            </a:pPr>
            <a:r>
              <a:rPr lang="en-US" dirty="0">
                <a:solidFill>
                  <a:schemeClr val="tx1"/>
                </a:solidFill>
              </a:rPr>
              <a:t>kg of the mixture = Rs.32/kg. </a:t>
            </a:r>
          </a:p>
          <a:p>
            <a:pPr>
              <a:buNone/>
            </a:pPr>
            <a:r>
              <a:rPr lang="en-US" dirty="0">
                <a:solidFill>
                  <a:schemeClr val="tx1"/>
                </a:solidFill>
              </a:rPr>
              <a:t>i.e. (x×42)+(25×24)=32(x+25)</a:t>
            </a:r>
          </a:p>
          <a:p>
            <a:pPr>
              <a:buNone/>
            </a:pPr>
            <a:r>
              <a:rPr lang="en-US" dirty="0">
                <a:solidFill>
                  <a:schemeClr val="tx1"/>
                </a:solidFill>
              </a:rPr>
              <a:t>⇒ 42x+600=32x+800</a:t>
            </a:r>
          </a:p>
          <a:p>
            <a:pPr>
              <a:buNone/>
            </a:pPr>
            <a:r>
              <a:rPr lang="en-US" dirty="0">
                <a:solidFill>
                  <a:schemeClr val="tx1"/>
                </a:solidFill>
              </a:rPr>
              <a:t>⇒ 10x=200 </a:t>
            </a:r>
          </a:p>
          <a:p>
            <a:pPr>
              <a:buNone/>
            </a:pPr>
            <a:r>
              <a:rPr lang="en-US" dirty="0">
                <a:solidFill>
                  <a:schemeClr val="tx1"/>
                </a:solidFill>
              </a:rPr>
              <a:t>⇒ x=20kgs.</a:t>
            </a:r>
          </a:p>
          <a:p>
            <a:pPr>
              <a:buNone/>
            </a:pPr>
            <a:br>
              <a:rPr lang="en-US" dirty="0"/>
            </a:br>
            <a:endParaRPr lang="en-US" dirty="0">
              <a:solidFill>
                <a:schemeClr val="tx1"/>
              </a:solidFill>
            </a:endParaRPr>
          </a:p>
        </p:txBody>
      </p:sp>
      <p:pic>
        <p:nvPicPr>
          <p:cNvPr id="4" name="Google Shape;69;p15"/>
          <p:cNvPicPr preferRelativeResize="0"/>
          <p:nvPr/>
        </p:nvPicPr>
        <p:blipFill>
          <a:blip r:embed="rId3"/>
          <a:stretch>
            <a:fillRect/>
          </a:stretch>
        </p:blipFill>
        <p:spPr>
          <a:xfrm>
            <a:off x="7120800" y="233550"/>
            <a:ext cx="1694264" cy="766799"/>
          </a:xfrm>
          <a:prstGeom prst="rect">
            <a:avLst/>
          </a:prstGeom>
          <a:noFill/>
          <a:ln>
            <a:noFill/>
          </a:ln>
        </p:spPr>
      </p:pic>
      <p:sp>
        <p:nvSpPr>
          <p:cNvPr id="5" name="Google Shape;70;p15"/>
          <p:cNvSpPr>
            <a:spLocks noGrp="1"/>
          </p:cNvSpPr>
          <p:nvPr>
            <p:ph type="title"/>
          </p:nvPr>
        </p:nvSpPr>
        <p:spPr>
          <a:xfrm>
            <a:off x="0" y="190500"/>
            <a:ext cx="6903218" cy="573175"/>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r>
              <a:rPr lang="en-IN" sz="2500" b="1" dirty="0">
                <a:ln w="6600">
                  <a:solidFill>
                    <a:schemeClr val="accent2"/>
                  </a:solidFill>
                  <a:prstDash val="solid"/>
                </a:ln>
                <a:solidFill>
                  <a:srgbClr val="FFFFFF"/>
                </a:solidFill>
                <a:effectLst>
                  <a:outerShdw dist="38100" dir="2700000" algn="tl" rotWithShape="0">
                    <a:schemeClr val="accent2"/>
                  </a:outerShdw>
                </a:effectLst>
              </a:rPr>
              <a:t>   Explanation:</a:t>
            </a:r>
            <a:endParaRPr lang="en-US" sz="25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6" name="Google Shape;68;p15"/>
          <p:cNvPicPr preferRelativeResize="0"/>
          <p:nvPr/>
        </p:nvPicPr>
        <p:blipFill rotWithShape="1">
          <a:blip r:embed="rId4"/>
          <a:srcRect l="41241" t="9528" r="-23988" b="51129"/>
          <a:stretch>
            <a:fillRect/>
          </a:stretch>
        </p:blipFill>
        <p:spPr>
          <a:xfrm>
            <a:off x="0" y="4073752"/>
            <a:ext cx="4457700" cy="1065625"/>
          </a:xfrm>
          <a:prstGeom prst="rect">
            <a:avLst/>
          </a:prstGeom>
          <a:noFill/>
          <a:ln>
            <a:noFill/>
          </a:ln>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Google Shape;69;p15"/>
          <p:cNvPicPr preferRelativeResize="0"/>
          <p:nvPr/>
        </p:nvPicPr>
        <p:blipFill>
          <a:blip r:embed="rId3"/>
          <a:stretch>
            <a:fillRect/>
          </a:stretch>
        </p:blipFill>
        <p:spPr>
          <a:xfrm>
            <a:off x="7120800" y="233550"/>
            <a:ext cx="1694264" cy="766799"/>
          </a:xfrm>
          <a:prstGeom prst="rect">
            <a:avLst/>
          </a:prstGeom>
          <a:noFill/>
          <a:ln>
            <a:noFill/>
          </a:ln>
        </p:spPr>
      </p:pic>
      <p:sp>
        <p:nvSpPr>
          <p:cNvPr id="5" name="Google Shape;70;p15"/>
          <p:cNvSpPr>
            <a:spLocks noGrp="1"/>
          </p:cNvSpPr>
          <p:nvPr>
            <p:ph type="title"/>
          </p:nvPr>
        </p:nvSpPr>
        <p:spPr>
          <a:xfrm>
            <a:off x="0" y="190500"/>
            <a:ext cx="6903218" cy="573175"/>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r>
              <a:rPr lang="en-IN" sz="2500" b="1" dirty="0">
                <a:ln w="6600">
                  <a:solidFill>
                    <a:schemeClr val="accent2"/>
                  </a:solidFill>
                  <a:prstDash val="solid"/>
                </a:ln>
                <a:solidFill>
                  <a:srgbClr val="FFFFFF"/>
                </a:solidFill>
                <a:effectLst>
                  <a:outerShdw dist="38100" dir="2700000" algn="tl" rotWithShape="0">
                    <a:schemeClr val="accent2"/>
                  </a:outerShdw>
                </a:effectLst>
              </a:rPr>
              <a:t>   Question 09:</a:t>
            </a:r>
            <a:endParaRPr lang="en-US" sz="25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6" name="Google Shape;68;p15"/>
          <p:cNvPicPr preferRelativeResize="0"/>
          <p:nvPr/>
        </p:nvPicPr>
        <p:blipFill rotWithShape="1">
          <a:blip r:embed="rId4"/>
          <a:srcRect l="41241" t="9528" r="-23988" b="51129"/>
          <a:stretch>
            <a:fillRect/>
          </a:stretch>
        </p:blipFill>
        <p:spPr>
          <a:xfrm>
            <a:off x="0" y="4073752"/>
            <a:ext cx="4457700" cy="1065625"/>
          </a:xfrm>
          <a:prstGeom prst="rect">
            <a:avLst/>
          </a:prstGeom>
          <a:noFill/>
          <a:ln>
            <a:noFill/>
          </a:ln>
        </p:spPr>
      </p:pic>
      <p:sp>
        <p:nvSpPr>
          <p:cNvPr id="2" name="Text Placeholder 1"/>
          <p:cNvSpPr>
            <a:spLocks noGrp="1"/>
          </p:cNvSpPr>
          <p:nvPr>
            <p:ph type="body" idx="1"/>
          </p:nvPr>
        </p:nvSpPr>
        <p:spPr/>
        <p:txBody>
          <a:bodyPr/>
          <a:lstStyle/>
          <a:p>
            <a:pPr marL="114300" indent="0">
              <a:lnSpc>
                <a:spcPct val="135000"/>
              </a:lnSpc>
              <a:buNone/>
            </a:pPr>
            <a:r>
              <a:rPr lang="en-US" dirty="0">
                <a:solidFill>
                  <a:schemeClr val="tx1"/>
                </a:solidFill>
              </a:rPr>
              <a:t>In what ratio must a person mix three kinds of wheat costing him </a:t>
            </a:r>
            <a:r>
              <a:rPr lang="en-US" dirty="0" err="1">
                <a:solidFill>
                  <a:schemeClr val="tx1"/>
                </a:solidFill>
              </a:rPr>
              <a:t>Rs</a:t>
            </a:r>
            <a:r>
              <a:rPr lang="en-US" dirty="0">
                <a:solidFill>
                  <a:schemeClr val="tx1"/>
                </a:solidFill>
              </a:rPr>
              <a:t>. 1.20, Rs.1.44 and </a:t>
            </a:r>
            <a:r>
              <a:rPr lang="en-US" dirty="0" err="1">
                <a:solidFill>
                  <a:schemeClr val="tx1"/>
                </a:solidFill>
              </a:rPr>
              <a:t>Rs</a:t>
            </a:r>
            <a:r>
              <a:rPr lang="en-US" dirty="0">
                <a:solidFill>
                  <a:schemeClr val="tx1"/>
                </a:solidFill>
              </a:rPr>
              <a:t>. 1.74 per kg so that the mixture may be worth </a:t>
            </a:r>
            <a:r>
              <a:rPr lang="en-US" dirty="0" err="1">
                <a:solidFill>
                  <a:schemeClr val="tx1"/>
                </a:solidFill>
              </a:rPr>
              <a:t>Rs</a:t>
            </a:r>
            <a:r>
              <a:rPr lang="en-US" dirty="0">
                <a:solidFill>
                  <a:schemeClr val="tx1"/>
                </a:solidFill>
              </a:rPr>
              <a:t>. 1.41 per kg?</a:t>
            </a:r>
          </a:p>
          <a:p>
            <a:pPr marL="114300" indent="0">
              <a:lnSpc>
                <a:spcPct val="135000"/>
              </a:lnSpc>
              <a:buNone/>
            </a:pPr>
            <a:r>
              <a:rPr lang="en-US" dirty="0">
                <a:solidFill>
                  <a:schemeClr val="tx1"/>
                </a:solidFill>
              </a:rPr>
              <a:t>A. 11 : 77 : 7</a:t>
            </a:r>
          </a:p>
          <a:p>
            <a:pPr marL="114300" indent="0">
              <a:lnSpc>
                <a:spcPct val="135000"/>
              </a:lnSpc>
              <a:buNone/>
            </a:pPr>
            <a:r>
              <a:rPr lang="en-US" dirty="0">
                <a:solidFill>
                  <a:schemeClr val="tx1"/>
                </a:solidFill>
              </a:rPr>
              <a:t>B. 25 : 45 : 8</a:t>
            </a:r>
          </a:p>
          <a:p>
            <a:pPr marL="114300" indent="0">
              <a:lnSpc>
                <a:spcPct val="135000"/>
              </a:lnSpc>
              <a:buNone/>
            </a:pPr>
            <a:r>
              <a:rPr lang="en-US" dirty="0">
                <a:solidFill>
                  <a:schemeClr val="tx1"/>
                </a:solidFill>
              </a:rPr>
              <a:t>C. 27 : 23 : 6</a:t>
            </a:r>
          </a:p>
          <a:p>
            <a:pPr marL="114300" indent="0">
              <a:lnSpc>
                <a:spcPct val="135000"/>
              </a:lnSpc>
              <a:buNone/>
            </a:pPr>
            <a:r>
              <a:rPr lang="en-US" dirty="0">
                <a:solidFill>
                  <a:schemeClr val="tx1"/>
                </a:solidFill>
              </a:rPr>
              <a:t>D. 11 : 45 : 7</a:t>
            </a:r>
          </a:p>
          <a:p>
            <a:pPr marL="114300" indent="0">
              <a:lnSpc>
                <a:spcPct val="135000"/>
              </a:lnSpc>
              <a:buNone/>
            </a:pPr>
            <a:endParaRPr lang="en-US" dirty="0">
              <a:solidFill>
                <a:schemeClr val="tx1"/>
              </a:solidFill>
            </a:endParaRPr>
          </a:p>
          <a:p>
            <a:pPr marL="114300" indent="0">
              <a:lnSpc>
                <a:spcPct val="135000"/>
              </a:lnSpc>
              <a:buNone/>
            </a:pPr>
            <a:endParaRPr lang="en-US" dirty="0">
              <a:solidFill>
                <a:schemeClr val="tx1"/>
              </a:solidFill>
            </a:endParaRPr>
          </a:p>
          <a:p>
            <a:pPr marL="114300" indent="0">
              <a:lnSpc>
                <a:spcPct val="135000"/>
              </a:lnSpc>
              <a:buNone/>
            </a:pPr>
            <a:r>
              <a:rPr lang="en-US" dirty="0">
                <a:solidFill>
                  <a:schemeClr val="tx1"/>
                </a:solidFill>
              </a:rPr>
              <a:t>							</a:t>
            </a:r>
            <a:r>
              <a:rPr lang="en-US" b="1" dirty="0">
                <a:solidFill>
                  <a:schemeClr val="tx1"/>
                </a:solidFill>
              </a:rPr>
              <a:t>Answer: A</a:t>
            </a:r>
            <a:endParaRPr lang="en-US" dirty="0">
              <a:solidFill>
                <a:schemeClr val="tx1"/>
              </a:solidFill>
            </a:endParaRPr>
          </a:p>
          <a:p>
            <a:pPr marL="114300" indent="0">
              <a:lnSpc>
                <a:spcPct val="135000"/>
              </a:lnSpc>
              <a:buNone/>
            </a:pPr>
            <a:endParaRPr lang="en-US"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 calcmode="lin" valueType="num">
                                      <p:cBhvr additive="base">
                                        <p:cTn id="37"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41300" y="774700"/>
            <a:ext cx="8591000" cy="4216400"/>
          </a:xfrm>
        </p:spPr>
        <p:txBody>
          <a:bodyPr/>
          <a:lstStyle/>
          <a:p>
            <a:pPr>
              <a:buNone/>
            </a:pPr>
            <a:r>
              <a:rPr lang="en-US" dirty="0">
                <a:solidFill>
                  <a:schemeClr val="tx1"/>
                </a:solidFill>
              </a:rPr>
              <a:t>Quantity of 1st kind of wheat / Quantity of 2nd kind of wheat</a:t>
            </a:r>
          </a:p>
          <a:p>
            <a:pPr>
              <a:buNone/>
            </a:pPr>
            <a:r>
              <a:rPr lang="en-US" dirty="0">
                <a:solidFill>
                  <a:schemeClr val="tx1"/>
                </a:solidFill>
              </a:rPr>
              <a:t>=3/21=1/7.</a:t>
            </a:r>
          </a:p>
          <a:p>
            <a:pPr>
              <a:buNone/>
            </a:pPr>
            <a:r>
              <a:rPr lang="en-US" dirty="0">
                <a:solidFill>
                  <a:schemeClr val="tx1"/>
                </a:solidFill>
              </a:rPr>
              <a:t>So they must be mixed in the ratio 1 : 7.Thus,</a:t>
            </a:r>
          </a:p>
          <a:p>
            <a:pPr>
              <a:buNone/>
            </a:pPr>
            <a:r>
              <a:rPr lang="en-US" dirty="0">
                <a:solidFill>
                  <a:schemeClr val="tx1"/>
                </a:solidFill>
              </a:rPr>
              <a:t>(Quantity of 2nd kind of wheat / Quantity of 3rd kind of wheat)=</a:t>
            </a:r>
          </a:p>
          <a:p>
            <a:pPr>
              <a:buNone/>
            </a:pPr>
            <a:r>
              <a:rPr lang="en-US" dirty="0">
                <a:solidFill>
                  <a:schemeClr val="tx1"/>
                </a:solidFill>
              </a:rPr>
              <a:t>(Quantity of 1</a:t>
            </a:r>
            <a:r>
              <a:rPr lang="en-US" baseline="30000" dirty="0">
                <a:solidFill>
                  <a:schemeClr val="tx1"/>
                </a:solidFill>
              </a:rPr>
              <a:t>st</a:t>
            </a:r>
            <a:r>
              <a:rPr lang="en-US" dirty="0">
                <a:solidFill>
                  <a:schemeClr val="tx1"/>
                </a:solidFill>
              </a:rPr>
              <a:t> kind of wheat / Quantity of 3rd kind of wheat)×(Quantity of 2</a:t>
            </a:r>
            <a:r>
              <a:rPr lang="en-US" baseline="30000" dirty="0">
                <a:solidFill>
                  <a:schemeClr val="tx1"/>
                </a:solidFill>
              </a:rPr>
              <a:t>nd</a:t>
            </a:r>
            <a:endParaRPr lang="en-US" dirty="0">
              <a:solidFill>
                <a:schemeClr val="tx1"/>
              </a:solidFill>
            </a:endParaRPr>
          </a:p>
          <a:p>
            <a:pPr>
              <a:buNone/>
            </a:pPr>
            <a:r>
              <a:rPr lang="en-US" dirty="0">
                <a:solidFill>
                  <a:schemeClr val="tx1"/>
                </a:solidFill>
              </a:rPr>
              <a:t>kind of wheat / Quantity of 1st kind of wheat)</a:t>
            </a:r>
          </a:p>
          <a:p>
            <a:pPr>
              <a:buNone/>
            </a:pPr>
            <a:r>
              <a:rPr lang="en-US" dirty="0">
                <a:solidFill>
                  <a:schemeClr val="tx1"/>
                </a:solidFill>
              </a:rPr>
              <a:t>⇒(Quantity of 2nd kind of wheat / Quantity of 3</a:t>
            </a:r>
            <a:r>
              <a:rPr lang="en-US" baseline="30000" dirty="0">
                <a:solidFill>
                  <a:schemeClr val="tx1"/>
                </a:solidFill>
              </a:rPr>
              <a:t>rd</a:t>
            </a:r>
            <a:r>
              <a:rPr lang="en-US" dirty="0">
                <a:solidFill>
                  <a:schemeClr val="tx1"/>
                </a:solidFill>
              </a:rPr>
              <a:t> kind of wheat)</a:t>
            </a:r>
          </a:p>
          <a:p>
            <a:pPr>
              <a:buNone/>
            </a:pPr>
            <a:r>
              <a:rPr lang="en-US" dirty="0">
                <a:solidFill>
                  <a:schemeClr val="tx1"/>
                </a:solidFill>
              </a:rPr>
              <a:t>=(11/7×7/1)=(11/1) 				 </a:t>
            </a:r>
          </a:p>
          <a:p>
            <a:pPr>
              <a:buNone/>
            </a:pPr>
            <a:r>
              <a:rPr lang="en-US" dirty="0">
                <a:solidFill>
                  <a:schemeClr val="tx1"/>
                </a:solidFill>
              </a:rPr>
              <a:t>Thus, Quantities of wheat of 1st:2nd:3rd=11:77:7</a:t>
            </a:r>
            <a:br>
              <a:rPr lang="en-US" dirty="0"/>
            </a:br>
            <a:endParaRPr lang="en-US" dirty="0"/>
          </a:p>
          <a:p>
            <a:pPr>
              <a:buNone/>
            </a:pPr>
            <a:r>
              <a:rPr lang="en-US" dirty="0"/>
              <a:t>				       </a:t>
            </a:r>
          </a:p>
          <a:p>
            <a:br>
              <a:rPr lang="en-US" dirty="0"/>
            </a:br>
            <a:br>
              <a:rPr lang="en-US" dirty="0"/>
            </a:br>
            <a:endParaRPr lang="en-US" b="1" dirty="0">
              <a:solidFill>
                <a:schemeClr val="tx1"/>
              </a:solidFill>
            </a:endParaRPr>
          </a:p>
        </p:txBody>
      </p:sp>
      <p:pic>
        <p:nvPicPr>
          <p:cNvPr id="4" name="Google Shape;69;p15"/>
          <p:cNvPicPr preferRelativeResize="0"/>
          <p:nvPr/>
        </p:nvPicPr>
        <p:blipFill>
          <a:blip r:embed="rId3"/>
          <a:stretch>
            <a:fillRect/>
          </a:stretch>
        </p:blipFill>
        <p:spPr>
          <a:xfrm>
            <a:off x="7120800" y="233550"/>
            <a:ext cx="1694264" cy="766799"/>
          </a:xfrm>
          <a:prstGeom prst="rect">
            <a:avLst/>
          </a:prstGeom>
          <a:noFill/>
          <a:ln>
            <a:noFill/>
          </a:ln>
        </p:spPr>
      </p:pic>
      <p:sp>
        <p:nvSpPr>
          <p:cNvPr id="5" name="Google Shape;70;p15"/>
          <p:cNvSpPr>
            <a:spLocks noGrp="1"/>
          </p:cNvSpPr>
          <p:nvPr>
            <p:ph type="title"/>
          </p:nvPr>
        </p:nvSpPr>
        <p:spPr>
          <a:xfrm>
            <a:off x="0" y="190500"/>
            <a:ext cx="6903218" cy="573175"/>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r>
              <a:rPr lang="en-US" sz="2500" b="1" dirty="0">
                <a:ln w="6600">
                  <a:solidFill>
                    <a:schemeClr val="accent2"/>
                  </a:solidFill>
                  <a:prstDash val="solid"/>
                </a:ln>
                <a:solidFill>
                  <a:srgbClr val="FFFFFF"/>
                </a:solidFill>
                <a:effectLst>
                  <a:outerShdw dist="38100" dir="2700000" algn="tl" rotWithShape="0">
                    <a:schemeClr val="accent2"/>
                  </a:outerShdw>
                </a:effectLst>
              </a:rPr>
              <a:t>   </a:t>
            </a:r>
            <a:br>
              <a:rPr lang="en-US" sz="2500" b="1" dirty="0">
                <a:ln w="6600">
                  <a:solidFill>
                    <a:schemeClr val="accent2"/>
                  </a:solidFill>
                  <a:prstDash val="solid"/>
                </a:ln>
                <a:solidFill>
                  <a:srgbClr val="FFFFFF"/>
                </a:solidFill>
                <a:effectLst>
                  <a:outerShdw dist="38100" dir="2700000" algn="tl" rotWithShape="0">
                    <a:schemeClr val="accent2"/>
                  </a:outerShdw>
                </a:effectLst>
              </a:rPr>
            </a:br>
            <a:r>
              <a:rPr lang="en-US" sz="2500" b="1" dirty="0">
                <a:ln w="6600">
                  <a:solidFill>
                    <a:schemeClr val="accent2"/>
                  </a:solidFill>
                  <a:prstDash val="solid"/>
                </a:ln>
                <a:solidFill>
                  <a:srgbClr val="FFFFFF"/>
                </a:solidFill>
                <a:effectLst>
                  <a:outerShdw dist="38100" dir="2700000" algn="tl" rotWithShape="0">
                    <a:schemeClr val="accent2"/>
                  </a:outerShdw>
                </a:effectLst>
              </a:rPr>
              <a:t>   </a:t>
            </a:r>
            <a:r>
              <a:rPr lang="en-IN" sz="2500" b="1" dirty="0">
                <a:ln w="6600">
                  <a:solidFill>
                    <a:schemeClr val="accent2"/>
                  </a:solidFill>
                  <a:prstDash val="solid"/>
                </a:ln>
                <a:solidFill>
                  <a:srgbClr val="FFFFFF"/>
                </a:solidFill>
                <a:effectLst>
                  <a:outerShdw dist="38100" dir="2700000" algn="tl" rotWithShape="0">
                    <a:schemeClr val="accent2"/>
                  </a:outerShdw>
                </a:effectLst>
              </a:rPr>
              <a:t>Explanation:</a:t>
            </a:r>
            <a:br>
              <a:rPr lang="en-US" sz="2500" b="1" dirty="0">
                <a:ln w="6600">
                  <a:solidFill>
                    <a:schemeClr val="accent2"/>
                  </a:solidFill>
                  <a:prstDash val="solid"/>
                </a:ln>
                <a:solidFill>
                  <a:srgbClr val="FFFFFF"/>
                </a:solidFill>
                <a:effectLst>
                  <a:outerShdw dist="38100" dir="2700000" algn="tl" rotWithShape="0">
                    <a:schemeClr val="accent2"/>
                  </a:outerShdw>
                </a:effectLst>
              </a:rPr>
            </a:br>
            <a:endParaRPr lang="en-US" sz="25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6" name="Google Shape;68;p15"/>
          <p:cNvPicPr preferRelativeResize="0"/>
          <p:nvPr/>
        </p:nvPicPr>
        <p:blipFill rotWithShape="1">
          <a:blip r:embed="rId4"/>
          <a:srcRect l="41241" t="9528" r="-23988" b="51129"/>
          <a:stretch>
            <a:fillRect/>
          </a:stretch>
        </p:blipFill>
        <p:spPr>
          <a:xfrm>
            <a:off x="0" y="4073752"/>
            <a:ext cx="4457700" cy="1065625"/>
          </a:xfrm>
          <a:prstGeom prst="rect">
            <a:avLst/>
          </a:prstGeom>
          <a:noFill/>
          <a:ln>
            <a:noFill/>
          </a:ln>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69;p15"/>
          <p:cNvPicPr preferRelativeResize="0"/>
          <p:nvPr/>
        </p:nvPicPr>
        <p:blipFill>
          <a:blip r:embed="rId3"/>
          <a:stretch>
            <a:fillRect/>
          </a:stretch>
        </p:blipFill>
        <p:spPr>
          <a:xfrm>
            <a:off x="7120800" y="233550"/>
            <a:ext cx="1694264" cy="766799"/>
          </a:xfrm>
          <a:prstGeom prst="rect">
            <a:avLst/>
          </a:prstGeom>
          <a:noFill/>
          <a:ln>
            <a:noFill/>
          </a:ln>
        </p:spPr>
      </p:pic>
      <p:sp>
        <p:nvSpPr>
          <p:cNvPr id="5" name="Google Shape;70;p15"/>
          <p:cNvSpPr>
            <a:spLocks noGrp="1"/>
          </p:cNvSpPr>
          <p:nvPr>
            <p:ph type="title"/>
          </p:nvPr>
        </p:nvSpPr>
        <p:spPr>
          <a:xfrm>
            <a:off x="0" y="190500"/>
            <a:ext cx="6903218" cy="573175"/>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r>
              <a:rPr lang="en-US" sz="2500" b="1" dirty="0">
                <a:ln w="6600">
                  <a:solidFill>
                    <a:schemeClr val="accent2"/>
                  </a:solidFill>
                  <a:prstDash val="solid"/>
                </a:ln>
                <a:solidFill>
                  <a:srgbClr val="FFFFFF"/>
                </a:solidFill>
                <a:effectLst>
                  <a:outerShdw dist="38100" dir="2700000" algn="tl" rotWithShape="0">
                    <a:schemeClr val="accent2"/>
                  </a:outerShdw>
                </a:effectLst>
              </a:rPr>
              <a:t>   Question 10:</a:t>
            </a:r>
          </a:p>
        </p:txBody>
      </p:sp>
      <p:pic>
        <p:nvPicPr>
          <p:cNvPr id="6" name="Google Shape;68;p15"/>
          <p:cNvPicPr preferRelativeResize="0"/>
          <p:nvPr/>
        </p:nvPicPr>
        <p:blipFill rotWithShape="1">
          <a:blip r:embed="rId4"/>
          <a:srcRect l="41241" t="9528" r="-23988" b="51129"/>
          <a:stretch>
            <a:fillRect/>
          </a:stretch>
        </p:blipFill>
        <p:spPr>
          <a:xfrm>
            <a:off x="0" y="4073752"/>
            <a:ext cx="4457700" cy="1065625"/>
          </a:xfrm>
          <a:prstGeom prst="rect">
            <a:avLst/>
          </a:prstGeom>
          <a:noFill/>
          <a:ln>
            <a:noFill/>
          </a:ln>
        </p:spPr>
      </p:pic>
      <p:sp>
        <p:nvSpPr>
          <p:cNvPr id="7" name="Text Box 6"/>
          <p:cNvSpPr txBox="1"/>
          <p:nvPr/>
        </p:nvSpPr>
        <p:spPr>
          <a:xfrm>
            <a:off x="352425" y="1095375"/>
            <a:ext cx="8391525" cy="3964305"/>
          </a:xfrm>
          <a:prstGeom prst="rect">
            <a:avLst/>
          </a:prstGeom>
          <a:noFill/>
        </p:spPr>
        <p:txBody>
          <a:bodyPr wrap="square" rtlCol="0">
            <a:spAutoFit/>
          </a:bodyPr>
          <a:lstStyle/>
          <a:p>
            <a:pPr>
              <a:lnSpc>
                <a:spcPct val="140000"/>
              </a:lnSpc>
            </a:pPr>
            <a:r>
              <a:rPr lang="en-US" sz="1800" dirty="0"/>
              <a:t>How many </a:t>
            </a:r>
            <a:r>
              <a:rPr lang="en-US" sz="1800" dirty="0" err="1"/>
              <a:t>litres</a:t>
            </a:r>
            <a:r>
              <a:rPr lang="en-US" sz="1800" dirty="0"/>
              <a:t> of water should be added to a 30 </a:t>
            </a:r>
            <a:r>
              <a:rPr lang="en-US" sz="1800" dirty="0" err="1"/>
              <a:t>litre</a:t>
            </a:r>
            <a:r>
              <a:rPr lang="en-US" sz="1800" dirty="0"/>
              <a:t> mixture of milk and water containing milk and water in the ratio of 7 : 3 such that the resultant mixture has 40% water in it?</a:t>
            </a:r>
          </a:p>
          <a:p>
            <a:pPr>
              <a:lnSpc>
                <a:spcPct val="140000"/>
              </a:lnSpc>
            </a:pPr>
            <a:r>
              <a:rPr lang="en-US" sz="1800" dirty="0"/>
              <a:t>A. 5 </a:t>
            </a:r>
            <a:r>
              <a:rPr lang="en-US" sz="1800" dirty="0" err="1"/>
              <a:t>litres</a:t>
            </a:r>
            <a:endParaRPr lang="en-US" sz="1800" dirty="0"/>
          </a:p>
          <a:p>
            <a:pPr>
              <a:lnSpc>
                <a:spcPct val="140000"/>
              </a:lnSpc>
            </a:pPr>
            <a:r>
              <a:rPr lang="en-US" sz="1800" dirty="0"/>
              <a:t>B. 7 </a:t>
            </a:r>
            <a:r>
              <a:rPr lang="en-US" sz="1800" dirty="0" err="1"/>
              <a:t>litres</a:t>
            </a:r>
            <a:endParaRPr lang="en-US" sz="1800" dirty="0"/>
          </a:p>
          <a:p>
            <a:pPr>
              <a:lnSpc>
                <a:spcPct val="140000"/>
              </a:lnSpc>
            </a:pPr>
            <a:r>
              <a:rPr lang="en-US" sz="1800" dirty="0"/>
              <a:t>C. 10 </a:t>
            </a:r>
            <a:r>
              <a:rPr lang="en-US" sz="1800" dirty="0" err="1"/>
              <a:t>litres</a:t>
            </a:r>
            <a:endParaRPr lang="en-US" sz="1800" dirty="0"/>
          </a:p>
          <a:p>
            <a:pPr>
              <a:lnSpc>
                <a:spcPct val="140000"/>
              </a:lnSpc>
            </a:pPr>
            <a:r>
              <a:rPr lang="en-US" sz="1800" dirty="0"/>
              <a:t>D. None of these</a:t>
            </a:r>
          </a:p>
          <a:p>
            <a:pPr>
              <a:lnSpc>
                <a:spcPct val="140000"/>
              </a:lnSpc>
            </a:pPr>
            <a:r>
              <a:rPr lang="en-US" sz="1800" dirty="0"/>
              <a:t>                                                                                         </a:t>
            </a:r>
          </a:p>
          <a:p>
            <a:pPr>
              <a:lnSpc>
                <a:spcPct val="140000"/>
              </a:lnSpc>
            </a:pPr>
            <a:r>
              <a:rPr lang="en-US" sz="1800" b="1" dirty="0"/>
              <a:t>							Answer: A</a:t>
            </a:r>
            <a:endParaRPr lang="en-US" sz="1800" dirty="0"/>
          </a:p>
          <a:p>
            <a:pPr>
              <a:lnSpc>
                <a:spcPct val="140000"/>
              </a:lnSpc>
            </a:pPr>
            <a:endParaRPr 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additive="base">
                                        <p:cTn id="19"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xEl>
                                              <p:pRg st="3" end="3"/>
                                            </p:txEl>
                                          </p:spTgt>
                                        </p:tgtEl>
                                        <p:attrNameLst>
                                          <p:attrName>style.visibility</p:attrName>
                                        </p:attrNameLst>
                                      </p:cBhvr>
                                      <p:to>
                                        <p:strVal val="visible"/>
                                      </p:to>
                                    </p:set>
                                    <p:anim calcmode="lin" valueType="num">
                                      <p:cBhvr additive="base">
                                        <p:cTn id="25"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
                                            <p:txEl>
                                              <p:pRg st="4" end="4"/>
                                            </p:txEl>
                                          </p:spTgt>
                                        </p:tgtEl>
                                        <p:attrNameLst>
                                          <p:attrName>style.visibility</p:attrName>
                                        </p:attrNameLst>
                                      </p:cBhvr>
                                      <p:to>
                                        <p:strVal val="visible"/>
                                      </p:to>
                                    </p:set>
                                    <p:anim calcmode="lin" valueType="num">
                                      <p:cBhvr additive="base">
                                        <p:cTn id="31"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 calcmode="lin" valueType="num">
                                      <p:cBhvr additive="base">
                                        <p:cTn id="37"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8600" y="876300"/>
            <a:ext cx="8603700" cy="4114800"/>
          </a:xfrm>
        </p:spPr>
        <p:txBody>
          <a:bodyPr/>
          <a:lstStyle/>
          <a:p>
            <a:pPr>
              <a:buNone/>
            </a:pPr>
            <a:r>
              <a:rPr lang="en-US" dirty="0">
                <a:solidFill>
                  <a:schemeClr val="tx1"/>
                </a:solidFill>
              </a:rPr>
              <a:t>30 </a:t>
            </a:r>
            <a:r>
              <a:rPr lang="en-US" dirty="0" err="1">
                <a:solidFill>
                  <a:schemeClr val="tx1"/>
                </a:solidFill>
              </a:rPr>
              <a:t>litres</a:t>
            </a:r>
            <a:r>
              <a:rPr lang="en-US" dirty="0">
                <a:solidFill>
                  <a:schemeClr val="tx1"/>
                </a:solidFill>
              </a:rPr>
              <a:t> of the mixture has milk and water in the ratio 7 : 3. i.e. the solution has</a:t>
            </a:r>
          </a:p>
          <a:p>
            <a:pPr>
              <a:buNone/>
            </a:pPr>
            <a:r>
              <a:rPr lang="en-US" dirty="0">
                <a:solidFill>
                  <a:schemeClr val="tx1"/>
                </a:solidFill>
              </a:rPr>
              <a:t>21 </a:t>
            </a:r>
            <a:r>
              <a:rPr lang="en-US" dirty="0" err="1">
                <a:solidFill>
                  <a:schemeClr val="tx1"/>
                </a:solidFill>
              </a:rPr>
              <a:t>litres</a:t>
            </a:r>
            <a:r>
              <a:rPr lang="en-US" dirty="0">
                <a:solidFill>
                  <a:schemeClr val="tx1"/>
                </a:solidFill>
              </a:rPr>
              <a:t> of milk and 9 </a:t>
            </a:r>
            <a:r>
              <a:rPr lang="en-US" dirty="0" err="1">
                <a:solidFill>
                  <a:schemeClr val="tx1"/>
                </a:solidFill>
              </a:rPr>
              <a:t>litres</a:t>
            </a:r>
            <a:r>
              <a:rPr lang="en-US" dirty="0">
                <a:solidFill>
                  <a:schemeClr val="tx1"/>
                </a:solidFill>
              </a:rPr>
              <a:t> of water.</a:t>
            </a:r>
          </a:p>
          <a:p>
            <a:pPr>
              <a:buNone/>
            </a:pPr>
            <a:r>
              <a:rPr lang="en-US" dirty="0">
                <a:solidFill>
                  <a:schemeClr val="tx1"/>
                </a:solidFill>
              </a:rPr>
              <a:t>When you add more water, the amount of milk in the mixture remains constant</a:t>
            </a:r>
          </a:p>
          <a:p>
            <a:pPr>
              <a:buNone/>
            </a:pPr>
            <a:r>
              <a:rPr lang="en-US" dirty="0">
                <a:solidFill>
                  <a:schemeClr val="tx1"/>
                </a:solidFill>
              </a:rPr>
              <a:t>at 21 </a:t>
            </a:r>
            <a:r>
              <a:rPr lang="en-US" dirty="0" err="1">
                <a:solidFill>
                  <a:schemeClr val="tx1"/>
                </a:solidFill>
              </a:rPr>
              <a:t>litres</a:t>
            </a:r>
            <a:r>
              <a:rPr lang="en-US" dirty="0">
                <a:solidFill>
                  <a:schemeClr val="tx1"/>
                </a:solidFill>
              </a:rPr>
              <a:t>. In the first case, before addition of further water, 21 </a:t>
            </a:r>
            <a:r>
              <a:rPr lang="en-US" dirty="0" err="1">
                <a:solidFill>
                  <a:schemeClr val="tx1"/>
                </a:solidFill>
              </a:rPr>
              <a:t>litres</a:t>
            </a:r>
            <a:r>
              <a:rPr lang="en-US" dirty="0">
                <a:solidFill>
                  <a:schemeClr val="tx1"/>
                </a:solidFill>
              </a:rPr>
              <a:t> of milk</a:t>
            </a:r>
          </a:p>
          <a:p>
            <a:pPr>
              <a:buNone/>
            </a:pPr>
            <a:r>
              <a:rPr lang="en-US" dirty="0">
                <a:solidFill>
                  <a:schemeClr val="tx1"/>
                </a:solidFill>
              </a:rPr>
              <a:t>accounts for 70% by volume. After water is added, the new mixture contains</a:t>
            </a:r>
          </a:p>
          <a:p>
            <a:pPr>
              <a:buNone/>
            </a:pPr>
            <a:r>
              <a:rPr lang="en-US" dirty="0">
                <a:solidFill>
                  <a:schemeClr val="tx1"/>
                </a:solidFill>
              </a:rPr>
              <a:t>60% milk and 40% water.</a:t>
            </a:r>
          </a:p>
          <a:p>
            <a:pPr>
              <a:buNone/>
            </a:pPr>
            <a:r>
              <a:rPr lang="en-US" dirty="0">
                <a:solidFill>
                  <a:schemeClr val="tx1"/>
                </a:solidFill>
              </a:rPr>
              <a:t>Therefore, the 21 </a:t>
            </a:r>
            <a:r>
              <a:rPr lang="en-US" dirty="0" err="1">
                <a:solidFill>
                  <a:schemeClr val="tx1"/>
                </a:solidFill>
              </a:rPr>
              <a:t>litres</a:t>
            </a:r>
            <a:r>
              <a:rPr lang="en-US" dirty="0">
                <a:solidFill>
                  <a:schemeClr val="tx1"/>
                </a:solidFill>
              </a:rPr>
              <a:t> of milk accounts for 60% by volume.</a:t>
            </a:r>
          </a:p>
          <a:p>
            <a:pPr>
              <a:buNone/>
            </a:pPr>
            <a:r>
              <a:rPr lang="en-US" dirty="0">
                <a:solidFill>
                  <a:schemeClr val="tx1"/>
                </a:solidFill>
              </a:rPr>
              <a:t>Hence, 100% volume =21/0.6=35 </a:t>
            </a:r>
            <a:r>
              <a:rPr lang="en-US" dirty="0" err="1">
                <a:solidFill>
                  <a:schemeClr val="tx1"/>
                </a:solidFill>
              </a:rPr>
              <a:t>litres</a:t>
            </a:r>
            <a:r>
              <a:rPr lang="en-US" dirty="0">
                <a:solidFill>
                  <a:schemeClr val="tx1"/>
                </a:solidFill>
              </a:rPr>
              <a:t>.</a:t>
            </a:r>
          </a:p>
          <a:p>
            <a:pPr>
              <a:buNone/>
            </a:pPr>
            <a:r>
              <a:rPr lang="en-US" dirty="0">
                <a:solidFill>
                  <a:schemeClr val="tx1"/>
                </a:solidFill>
              </a:rPr>
              <a:t>We started with 30 </a:t>
            </a:r>
            <a:r>
              <a:rPr lang="en-US" dirty="0" err="1">
                <a:solidFill>
                  <a:schemeClr val="tx1"/>
                </a:solidFill>
              </a:rPr>
              <a:t>litres</a:t>
            </a:r>
            <a:r>
              <a:rPr lang="en-US" dirty="0">
                <a:solidFill>
                  <a:schemeClr val="tx1"/>
                </a:solidFill>
              </a:rPr>
              <a:t> and ended up with 35 </a:t>
            </a:r>
            <a:r>
              <a:rPr lang="en-US" dirty="0" err="1">
                <a:solidFill>
                  <a:schemeClr val="tx1"/>
                </a:solidFill>
              </a:rPr>
              <a:t>litres</a:t>
            </a:r>
            <a:r>
              <a:rPr lang="en-US" dirty="0">
                <a:solidFill>
                  <a:schemeClr val="tx1"/>
                </a:solidFill>
              </a:rPr>
              <a:t>.</a:t>
            </a:r>
          </a:p>
          <a:p>
            <a:pPr>
              <a:buNone/>
            </a:pPr>
            <a:r>
              <a:rPr lang="en-US" dirty="0">
                <a:solidFill>
                  <a:schemeClr val="tx1"/>
                </a:solidFill>
              </a:rPr>
              <a:t>Therefore, </a:t>
            </a:r>
            <a:r>
              <a:rPr lang="en-US" b="1" dirty="0">
                <a:solidFill>
                  <a:schemeClr val="tx1"/>
                </a:solidFill>
              </a:rPr>
              <a:t>5 </a:t>
            </a:r>
            <a:r>
              <a:rPr lang="en-US" b="1" dirty="0" err="1">
                <a:solidFill>
                  <a:schemeClr val="tx1"/>
                </a:solidFill>
              </a:rPr>
              <a:t>litres</a:t>
            </a:r>
            <a:r>
              <a:rPr lang="en-US" dirty="0">
                <a:solidFill>
                  <a:schemeClr val="tx1"/>
                </a:solidFill>
              </a:rPr>
              <a:t> of water was added.</a:t>
            </a:r>
          </a:p>
          <a:p>
            <a:pPr>
              <a:buNone/>
            </a:pPr>
            <a:endParaRPr lang="en-US" dirty="0">
              <a:solidFill>
                <a:schemeClr val="tx1"/>
              </a:solidFill>
            </a:endParaRPr>
          </a:p>
        </p:txBody>
      </p:sp>
      <p:pic>
        <p:nvPicPr>
          <p:cNvPr id="4" name="Google Shape;69;p15"/>
          <p:cNvPicPr preferRelativeResize="0"/>
          <p:nvPr/>
        </p:nvPicPr>
        <p:blipFill>
          <a:blip r:embed="rId3"/>
          <a:stretch>
            <a:fillRect/>
          </a:stretch>
        </p:blipFill>
        <p:spPr>
          <a:xfrm>
            <a:off x="7120800" y="233550"/>
            <a:ext cx="1694264" cy="766799"/>
          </a:xfrm>
          <a:prstGeom prst="rect">
            <a:avLst/>
          </a:prstGeom>
          <a:noFill/>
          <a:ln>
            <a:noFill/>
          </a:ln>
        </p:spPr>
      </p:pic>
      <p:sp>
        <p:nvSpPr>
          <p:cNvPr id="5" name="Google Shape;70;p15"/>
          <p:cNvSpPr>
            <a:spLocks noGrp="1"/>
          </p:cNvSpPr>
          <p:nvPr>
            <p:ph type="title"/>
          </p:nvPr>
        </p:nvSpPr>
        <p:spPr>
          <a:xfrm>
            <a:off x="0" y="190500"/>
            <a:ext cx="6903218" cy="573175"/>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r>
              <a:rPr lang="en-US" sz="2500" b="1" dirty="0">
                <a:ln w="6600">
                  <a:solidFill>
                    <a:schemeClr val="accent2"/>
                  </a:solidFill>
                  <a:prstDash val="solid"/>
                </a:ln>
                <a:solidFill>
                  <a:srgbClr val="FFFFFF"/>
                </a:solidFill>
                <a:effectLst>
                  <a:outerShdw dist="38100" dir="2700000" algn="tl" rotWithShape="0">
                    <a:schemeClr val="accent2"/>
                  </a:outerShdw>
                </a:effectLst>
              </a:rPr>
              <a:t>   Explanation:</a:t>
            </a:r>
          </a:p>
        </p:txBody>
      </p:sp>
      <p:pic>
        <p:nvPicPr>
          <p:cNvPr id="6" name="Google Shape;68;p15"/>
          <p:cNvPicPr preferRelativeResize="0"/>
          <p:nvPr/>
        </p:nvPicPr>
        <p:blipFill rotWithShape="1">
          <a:blip r:embed="rId4"/>
          <a:srcRect l="41241" t="9528" r="-23988" b="51129"/>
          <a:stretch>
            <a:fillRect/>
          </a:stretch>
        </p:blipFill>
        <p:spPr>
          <a:xfrm>
            <a:off x="0" y="4073752"/>
            <a:ext cx="4457700" cy="1065625"/>
          </a:xfrm>
          <a:prstGeom prst="rect">
            <a:avLst/>
          </a:prstGeom>
          <a:noFill/>
          <a:ln>
            <a:noFill/>
          </a:ln>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69;p15"/>
          <p:cNvPicPr preferRelativeResize="0"/>
          <p:nvPr/>
        </p:nvPicPr>
        <p:blipFill>
          <a:blip r:embed="rId3"/>
          <a:stretch>
            <a:fillRect/>
          </a:stretch>
        </p:blipFill>
        <p:spPr>
          <a:xfrm>
            <a:off x="7120800" y="233550"/>
            <a:ext cx="1694264" cy="766799"/>
          </a:xfrm>
          <a:prstGeom prst="rect">
            <a:avLst/>
          </a:prstGeom>
          <a:noFill/>
          <a:ln>
            <a:noFill/>
          </a:ln>
        </p:spPr>
      </p:pic>
      <p:sp>
        <p:nvSpPr>
          <p:cNvPr id="5" name="Google Shape;70;p15"/>
          <p:cNvSpPr>
            <a:spLocks noGrp="1"/>
          </p:cNvSpPr>
          <p:nvPr>
            <p:ph type="title"/>
          </p:nvPr>
        </p:nvSpPr>
        <p:spPr>
          <a:xfrm>
            <a:off x="0" y="190500"/>
            <a:ext cx="6903218" cy="573175"/>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r>
              <a:rPr lang="en-IN" sz="2500" b="1" dirty="0">
                <a:ln w="6600">
                  <a:solidFill>
                    <a:schemeClr val="accent2"/>
                  </a:solidFill>
                  <a:prstDash val="solid"/>
                </a:ln>
                <a:solidFill>
                  <a:srgbClr val="FFFFFF"/>
                </a:solidFill>
                <a:effectLst>
                  <a:outerShdw dist="38100" dir="2700000" algn="tl" rotWithShape="0">
                    <a:schemeClr val="accent2"/>
                  </a:outerShdw>
                </a:effectLst>
              </a:rPr>
              <a:t>   Question 11:</a:t>
            </a:r>
            <a:endParaRPr lang="en-US" sz="25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6" name="Google Shape;68;p15"/>
          <p:cNvPicPr preferRelativeResize="0"/>
          <p:nvPr/>
        </p:nvPicPr>
        <p:blipFill rotWithShape="1">
          <a:blip r:embed="rId4"/>
          <a:srcRect l="41241" t="9528" r="-23988" b="51129"/>
          <a:stretch>
            <a:fillRect/>
          </a:stretch>
        </p:blipFill>
        <p:spPr>
          <a:xfrm>
            <a:off x="0" y="4073752"/>
            <a:ext cx="4457700" cy="1065625"/>
          </a:xfrm>
          <a:prstGeom prst="rect">
            <a:avLst/>
          </a:prstGeom>
          <a:noFill/>
          <a:ln>
            <a:noFill/>
          </a:ln>
        </p:spPr>
      </p:pic>
      <p:sp>
        <p:nvSpPr>
          <p:cNvPr id="2" name="Text Box 1"/>
          <p:cNvSpPr txBox="1"/>
          <p:nvPr/>
        </p:nvSpPr>
        <p:spPr>
          <a:xfrm>
            <a:off x="276225" y="1009650"/>
            <a:ext cx="8572500" cy="3964305"/>
          </a:xfrm>
          <a:prstGeom prst="rect">
            <a:avLst/>
          </a:prstGeom>
          <a:noFill/>
        </p:spPr>
        <p:txBody>
          <a:bodyPr wrap="square" rtlCol="0">
            <a:spAutoFit/>
          </a:bodyPr>
          <a:lstStyle/>
          <a:p>
            <a:pPr>
              <a:lnSpc>
                <a:spcPct val="140000"/>
              </a:lnSpc>
            </a:pPr>
            <a:r>
              <a:rPr lang="en-US" sz="1800" dirty="0"/>
              <a:t>A sample of x </a:t>
            </a:r>
            <a:r>
              <a:rPr lang="en-US" sz="1800" dirty="0" err="1"/>
              <a:t>litres</a:t>
            </a:r>
            <a:r>
              <a:rPr lang="en-US" sz="1800" dirty="0"/>
              <a:t> from a container having a 60 </a:t>
            </a:r>
            <a:r>
              <a:rPr lang="en-US" sz="1800" dirty="0" err="1"/>
              <a:t>litre</a:t>
            </a:r>
            <a:r>
              <a:rPr lang="en-US" sz="1800" dirty="0"/>
              <a:t>  mixture of milk and water containing milk and water in the ratio of 2 : 3 is replaced with pure milk so that the container will have milk and water in equal proportions. What is the value of x? </a:t>
            </a:r>
          </a:p>
          <a:p>
            <a:pPr>
              <a:lnSpc>
                <a:spcPct val="140000"/>
              </a:lnSpc>
            </a:pPr>
            <a:r>
              <a:rPr lang="en-US" sz="1800" dirty="0"/>
              <a:t>A. 6 </a:t>
            </a:r>
            <a:r>
              <a:rPr lang="en-US" sz="1800" dirty="0" err="1"/>
              <a:t>litres</a:t>
            </a:r>
            <a:endParaRPr lang="en-US" sz="1800" dirty="0"/>
          </a:p>
          <a:p>
            <a:pPr>
              <a:lnSpc>
                <a:spcPct val="140000"/>
              </a:lnSpc>
            </a:pPr>
            <a:r>
              <a:rPr lang="en-US" sz="1800" dirty="0"/>
              <a:t>B. 10 </a:t>
            </a:r>
            <a:r>
              <a:rPr lang="en-US" sz="1800" dirty="0" err="1"/>
              <a:t>litres</a:t>
            </a:r>
            <a:endParaRPr lang="en-US" sz="1800" dirty="0"/>
          </a:p>
          <a:p>
            <a:pPr>
              <a:lnSpc>
                <a:spcPct val="140000"/>
              </a:lnSpc>
            </a:pPr>
            <a:r>
              <a:rPr lang="en-US" sz="1800" dirty="0"/>
              <a:t>C. 30 </a:t>
            </a:r>
            <a:r>
              <a:rPr lang="en-US" sz="1800" dirty="0" err="1"/>
              <a:t>litres</a:t>
            </a:r>
            <a:endParaRPr lang="en-US" sz="1800" dirty="0"/>
          </a:p>
          <a:p>
            <a:pPr>
              <a:lnSpc>
                <a:spcPct val="140000"/>
              </a:lnSpc>
            </a:pPr>
            <a:r>
              <a:rPr lang="en-US" sz="1800" dirty="0"/>
              <a:t>D. None of these</a:t>
            </a:r>
          </a:p>
          <a:p>
            <a:pPr>
              <a:lnSpc>
                <a:spcPct val="140000"/>
              </a:lnSpc>
            </a:pPr>
            <a:endParaRPr lang="en-US" sz="1800" dirty="0"/>
          </a:p>
          <a:p>
            <a:pPr>
              <a:lnSpc>
                <a:spcPct val="140000"/>
              </a:lnSpc>
            </a:pPr>
            <a:r>
              <a:rPr lang="en-US" sz="1800" dirty="0"/>
              <a:t>							</a:t>
            </a:r>
            <a:r>
              <a:rPr lang="en-US" sz="1800" b="1" dirty="0"/>
              <a:t>Answer: B</a:t>
            </a:r>
            <a:endParaRPr lang="en-US" sz="1800" dirty="0"/>
          </a:p>
          <a:p>
            <a:pPr>
              <a:lnSpc>
                <a:spcPct val="140000"/>
              </a:lnSpc>
            </a:pPr>
            <a:endParaRPr 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 calcmode="lin" valueType="num">
                                      <p:cBhvr additive="base">
                                        <p:cTn id="37"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90500" y="762000"/>
            <a:ext cx="8641800" cy="4203700"/>
          </a:xfrm>
        </p:spPr>
        <p:txBody>
          <a:bodyPr/>
          <a:lstStyle/>
          <a:p>
            <a:pPr>
              <a:lnSpc>
                <a:spcPct val="100000"/>
              </a:lnSpc>
              <a:buNone/>
            </a:pPr>
            <a:r>
              <a:rPr lang="en-US" dirty="0">
                <a:solidFill>
                  <a:schemeClr val="tx1"/>
                </a:solidFill>
              </a:rPr>
              <a:t>The mixture of 60 </a:t>
            </a:r>
            <a:r>
              <a:rPr lang="en-US" dirty="0" err="1">
                <a:solidFill>
                  <a:schemeClr val="tx1"/>
                </a:solidFill>
              </a:rPr>
              <a:t>litres</a:t>
            </a:r>
            <a:r>
              <a:rPr lang="en-US" dirty="0">
                <a:solidFill>
                  <a:schemeClr val="tx1"/>
                </a:solidFill>
              </a:rPr>
              <a:t> has in it 24 </a:t>
            </a:r>
            <a:r>
              <a:rPr lang="en-US" dirty="0" err="1">
                <a:solidFill>
                  <a:schemeClr val="tx1"/>
                </a:solidFill>
              </a:rPr>
              <a:t>litres</a:t>
            </a:r>
            <a:r>
              <a:rPr lang="en-US" dirty="0">
                <a:solidFill>
                  <a:schemeClr val="tx1"/>
                </a:solidFill>
              </a:rPr>
              <a:t> of milk and 36 </a:t>
            </a:r>
            <a:r>
              <a:rPr lang="en-US" dirty="0" err="1">
                <a:solidFill>
                  <a:schemeClr val="tx1"/>
                </a:solidFill>
              </a:rPr>
              <a:t>litres</a:t>
            </a:r>
            <a:r>
              <a:rPr lang="en-US" dirty="0">
                <a:solidFill>
                  <a:schemeClr val="tx1"/>
                </a:solidFill>
              </a:rPr>
              <a:t> of </a:t>
            </a:r>
          </a:p>
          <a:p>
            <a:pPr>
              <a:lnSpc>
                <a:spcPct val="100000"/>
              </a:lnSpc>
              <a:buNone/>
            </a:pPr>
            <a:r>
              <a:rPr lang="en-US" dirty="0">
                <a:solidFill>
                  <a:schemeClr val="tx1"/>
                </a:solidFill>
              </a:rPr>
              <a:t>water. (2 : 3 :: milk : water) </a:t>
            </a:r>
          </a:p>
          <a:p>
            <a:pPr>
              <a:lnSpc>
                <a:spcPct val="100000"/>
              </a:lnSpc>
              <a:buNone/>
            </a:pPr>
            <a:r>
              <a:rPr lang="en-US" dirty="0">
                <a:solidFill>
                  <a:schemeClr val="tx1"/>
                </a:solidFill>
              </a:rPr>
              <a:t>When you remove x </a:t>
            </a:r>
            <a:r>
              <a:rPr lang="en-US" dirty="0" err="1">
                <a:solidFill>
                  <a:schemeClr val="tx1"/>
                </a:solidFill>
              </a:rPr>
              <a:t>litres</a:t>
            </a:r>
            <a:r>
              <a:rPr lang="en-US" dirty="0">
                <a:solidFill>
                  <a:schemeClr val="tx1"/>
                </a:solidFill>
              </a:rPr>
              <a:t> from it, you will remove 0.4x </a:t>
            </a:r>
            <a:r>
              <a:rPr lang="en-US" dirty="0" err="1">
                <a:solidFill>
                  <a:schemeClr val="tx1"/>
                </a:solidFill>
              </a:rPr>
              <a:t>litres</a:t>
            </a:r>
            <a:r>
              <a:rPr lang="en-US" dirty="0">
                <a:solidFill>
                  <a:schemeClr val="tx1"/>
                </a:solidFill>
              </a:rPr>
              <a:t> of milk and 0.6x </a:t>
            </a:r>
            <a:r>
              <a:rPr lang="en-US" dirty="0" err="1">
                <a:solidFill>
                  <a:schemeClr val="tx1"/>
                </a:solidFill>
              </a:rPr>
              <a:t>litres</a:t>
            </a:r>
            <a:endParaRPr lang="en-US" dirty="0">
              <a:solidFill>
                <a:schemeClr val="tx1"/>
              </a:solidFill>
            </a:endParaRPr>
          </a:p>
          <a:p>
            <a:pPr>
              <a:lnSpc>
                <a:spcPct val="100000"/>
              </a:lnSpc>
              <a:buNone/>
            </a:pPr>
            <a:r>
              <a:rPr lang="en-US" dirty="0">
                <a:solidFill>
                  <a:schemeClr val="tx1"/>
                </a:solidFill>
              </a:rPr>
              <a:t>of water from it. </a:t>
            </a:r>
          </a:p>
          <a:p>
            <a:pPr>
              <a:lnSpc>
                <a:spcPct val="100000"/>
              </a:lnSpc>
              <a:buNone/>
            </a:pPr>
            <a:r>
              <a:rPr lang="en-US" dirty="0">
                <a:solidFill>
                  <a:schemeClr val="tx1"/>
                </a:solidFill>
              </a:rPr>
              <a:t>Take choice (2). According to this choice, x=10</a:t>
            </a:r>
          </a:p>
          <a:p>
            <a:pPr>
              <a:lnSpc>
                <a:spcPct val="100000"/>
              </a:lnSpc>
              <a:buNone/>
            </a:pPr>
            <a:r>
              <a:rPr lang="en-US" dirty="0">
                <a:solidFill>
                  <a:schemeClr val="tx1"/>
                </a:solidFill>
              </a:rPr>
              <a:t>So, when one removes, 10 </a:t>
            </a:r>
            <a:r>
              <a:rPr lang="en-US" dirty="0" err="1">
                <a:solidFill>
                  <a:schemeClr val="tx1"/>
                </a:solidFill>
              </a:rPr>
              <a:t>litres</a:t>
            </a:r>
            <a:r>
              <a:rPr lang="en-US" dirty="0">
                <a:solidFill>
                  <a:schemeClr val="tx1"/>
                </a:solidFill>
              </a:rPr>
              <a:t> of the mixture, one is removing 4 </a:t>
            </a:r>
            <a:r>
              <a:rPr lang="en-US" dirty="0" err="1">
                <a:solidFill>
                  <a:schemeClr val="tx1"/>
                </a:solidFill>
              </a:rPr>
              <a:t>litres</a:t>
            </a:r>
            <a:r>
              <a:rPr lang="en-US" dirty="0">
                <a:solidFill>
                  <a:schemeClr val="tx1"/>
                </a:solidFill>
              </a:rPr>
              <a:t> of milk</a:t>
            </a:r>
          </a:p>
          <a:p>
            <a:pPr>
              <a:lnSpc>
                <a:spcPct val="100000"/>
              </a:lnSpc>
              <a:buNone/>
            </a:pPr>
            <a:r>
              <a:rPr lang="en-US" dirty="0">
                <a:solidFill>
                  <a:schemeClr val="tx1"/>
                </a:solidFill>
              </a:rPr>
              <a:t>and 6 </a:t>
            </a:r>
            <a:r>
              <a:rPr lang="en-US" dirty="0" err="1">
                <a:solidFill>
                  <a:schemeClr val="tx1"/>
                </a:solidFill>
              </a:rPr>
              <a:t>litres</a:t>
            </a:r>
            <a:r>
              <a:rPr lang="en-US" dirty="0">
                <a:solidFill>
                  <a:schemeClr val="tx1"/>
                </a:solidFill>
              </a:rPr>
              <a:t> of water. </a:t>
            </a:r>
          </a:p>
          <a:p>
            <a:pPr>
              <a:lnSpc>
                <a:spcPct val="100000"/>
              </a:lnSpc>
              <a:buNone/>
            </a:pPr>
            <a:r>
              <a:rPr lang="en-US" dirty="0">
                <a:solidFill>
                  <a:schemeClr val="tx1"/>
                </a:solidFill>
              </a:rPr>
              <a:t>Therefore, there will be 20 </a:t>
            </a:r>
            <a:r>
              <a:rPr lang="en-US" dirty="0" err="1">
                <a:solidFill>
                  <a:schemeClr val="tx1"/>
                </a:solidFill>
              </a:rPr>
              <a:t>litres</a:t>
            </a:r>
            <a:r>
              <a:rPr lang="en-US" dirty="0">
                <a:solidFill>
                  <a:schemeClr val="tx1"/>
                </a:solidFill>
              </a:rPr>
              <a:t> of milk and 30 </a:t>
            </a:r>
            <a:r>
              <a:rPr lang="en-US" dirty="0" err="1">
                <a:solidFill>
                  <a:schemeClr val="tx1"/>
                </a:solidFill>
              </a:rPr>
              <a:t>litres</a:t>
            </a:r>
            <a:r>
              <a:rPr lang="en-US" dirty="0">
                <a:solidFill>
                  <a:schemeClr val="tx1"/>
                </a:solidFill>
              </a:rPr>
              <a:t> of water in the container. </a:t>
            </a:r>
          </a:p>
          <a:p>
            <a:pPr>
              <a:lnSpc>
                <a:spcPct val="100000"/>
              </a:lnSpc>
              <a:buNone/>
            </a:pPr>
            <a:r>
              <a:rPr lang="en-US" dirty="0">
                <a:solidFill>
                  <a:schemeClr val="tx1"/>
                </a:solidFill>
              </a:rPr>
              <a:t>Now, when you add 10 </a:t>
            </a:r>
            <a:r>
              <a:rPr lang="en-US" dirty="0" err="1">
                <a:solidFill>
                  <a:schemeClr val="tx1"/>
                </a:solidFill>
              </a:rPr>
              <a:t>litres</a:t>
            </a:r>
            <a:r>
              <a:rPr lang="en-US" dirty="0">
                <a:solidFill>
                  <a:schemeClr val="tx1"/>
                </a:solidFill>
              </a:rPr>
              <a:t> of milk, you will have 30 </a:t>
            </a:r>
            <a:r>
              <a:rPr lang="en-US" dirty="0" err="1">
                <a:solidFill>
                  <a:schemeClr val="tx1"/>
                </a:solidFill>
              </a:rPr>
              <a:t>litres</a:t>
            </a:r>
            <a:r>
              <a:rPr lang="en-US" dirty="0">
                <a:solidFill>
                  <a:schemeClr val="tx1"/>
                </a:solidFill>
              </a:rPr>
              <a:t> of milk and 30 </a:t>
            </a:r>
            <a:r>
              <a:rPr lang="en-US" dirty="0" err="1">
                <a:solidFill>
                  <a:schemeClr val="tx1"/>
                </a:solidFill>
              </a:rPr>
              <a:t>litres</a:t>
            </a:r>
            <a:r>
              <a:rPr lang="en-US" dirty="0">
                <a:solidFill>
                  <a:schemeClr val="tx1"/>
                </a:solidFill>
              </a:rPr>
              <a:t> of</a:t>
            </a:r>
          </a:p>
          <a:p>
            <a:pPr>
              <a:lnSpc>
                <a:spcPct val="100000"/>
              </a:lnSpc>
              <a:buNone/>
            </a:pPr>
            <a:r>
              <a:rPr lang="en-US" dirty="0">
                <a:solidFill>
                  <a:schemeClr val="tx1"/>
                </a:solidFill>
              </a:rPr>
              <a:t>water - i.e. milk and water are in equal proportion. </a:t>
            </a:r>
          </a:p>
        </p:txBody>
      </p:sp>
      <p:pic>
        <p:nvPicPr>
          <p:cNvPr id="4" name="Google Shape;69;p15"/>
          <p:cNvPicPr preferRelativeResize="0"/>
          <p:nvPr/>
        </p:nvPicPr>
        <p:blipFill>
          <a:blip r:embed="rId3"/>
          <a:stretch>
            <a:fillRect/>
          </a:stretch>
        </p:blipFill>
        <p:spPr>
          <a:xfrm>
            <a:off x="7120800" y="233550"/>
            <a:ext cx="1694264" cy="766799"/>
          </a:xfrm>
          <a:prstGeom prst="rect">
            <a:avLst/>
          </a:prstGeom>
          <a:noFill/>
          <a:ln>
            <a:noFill/>
          </a:ln>
        </p:spPr>
      </p:pic>
      <p:sp>
        <p:nvSpPr>
          <p:cNvPr id="5" name="Google Shape;70;p15"/>
          <p:cNvSpPr>
            <a:spLocks noGrp="1"/>
          </p:cNvSpPr>
          <p:nvPr>
            <p:ph type="title"/>
          </p:nvPr>
        </p:nvSpPr>
        <p:spPr>
          <a:xfrm>
            <a:off x="0" y="190500"/>
            <a:ext cx="6903218" cy="573175"/>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r>
              <a:rPr lang="en-IN" sz="2500" b="1" dirty="0">
                <a:ln w="6600">
                  <a:solidFill>
                    <a:schemeClr val="accent2"/>
                  </a:solidFill>
                  <a:prstDash val="solid"/>
                </a:ln>
                <a:solidFill>
                  <a:srgbClr val="FFFFFF"/>
                </a:solidFill>
                <a:effectLst>
                  <a:outerShdw dist="38100" dir="2700000" algn="tl" rotWithShape="0">
                    <a:schemeClr val="accent2"/>
                  </a:outerShdw>
                </a:effectLst>
              </a:rPr>
              <a:t>   Explanation:</a:t>
            </a:r>
            <a:endParaRPr lang="en-US" sz="25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6" name="Google Shape;68;p15"/>
          <p:cNvPicPr preferRelativeResize="0"/>
          <p:nvPr/>
        </p:nvPicPr>
        <p:blipFill rotWithShape="1">
          <a:blip r:embed="rId4"/>
          <a:srcRect l="41241" t="9528" r="-23988" b="51129"/>
          <a:stretch>
            <a:fillRect/>
          </a:stretch>
        </p:blipFill>
        <p:spPr>
          <a:xfrm>
            <a:off x="0" y="4073752"/>
            <a:ext cx="4457700" cy="1065625"/>
          </a:xfrm>
          <a:prstGeom prst="rect">
            <a:avLst/>
          </a:prstGeom>
          <a:noFill/>
          <a:ln>
            <a:noFill/>
          </a:ln>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69;p15"/>
          <p:cNvPicPr preferRelativeResize="0"/>
          <p:nvPr/>
        </p:nvPicPr>
        <p:blipFill>
          <a:blip r:embed="rId3"/>
          <a:stretch>
            <a:fillRect/>
          </a:stretch>
        </p:blipFill>
        <p:spPr>
          <a:xfrm>
            <a:off x="7120800" y="233550"/>
            <a:ext cx="1694264" cy="766799"/>
          </a:xfrm>
          <a:prstGeom prst="rect">
            <a:avLst/>
          </a:prstGeom>
          <a:noFill/>
          <a:ln>
            <a:noFill/>
          </a:ln>
        </p:spPr>
      </p:pic>
      <p:sp>
        <p:nvSpPr>
          <p:cNvPr id="5" name="Google Shape;70;p15"/>
          <p:cNvSpPr>
            <a:spLocks noGrp="1"/>
          </p:cNvSpPr>
          <p:nvPr>
            <p:ph type="title"/>
          </p:nvPr>
        </p:nvSpPr>
        <p:spPr>
          <a:xfrm>
            <a:off x="0" y="190500"/>
            <a:ext cx="6903218" cy="573175"/>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r>
              <a:rPr lang="en-IN" sz="2500" b="1" dirty="0">
                <a:ln w="6600">
                  <a:solidFill>
                    <a:schemeClr val="accent2"/>
                  </a:solidFill>
                  <a:prstDash val="solid"/>
                </a:ln>
                <a:solidFill>
                  <a:srgbClr val="FFFFFF"/>
                </a:solidFill>
                <a:effectLst>
                  <a:outerShdw dist="38100" dir="2700000" algn="tl" rotWithShape="0">
                    <a:schemeClr val="accent2"/>
                  </a:outerShdw>
                </a:effectLst>
              </a:rPr>
              <a:t>   Question 12:</a:t>
            </a:r>
            <a:endParaRPr lang="en-US" sz="25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6" name="Google Shape;68;p15"/>
          <p:cNvPicPr preferRelativeResize="0"/>
          <p:nvPr/>
        </p:nvPicPr>
        <p:blipFill rotWithShape="1">
          <a:blip r:embed="rId4"/>
          <a:srcRect l="41241" t="9528" r="-23988" b="51129"/>
          <a:stretch>
            <a:fillRect/>
          </a:stretch>
        </p:blipFill>
        <p:spPr>
          <a:xfrm>
            <a:off x="0" y="4073752"/>
            <a:ext cx="4457700" cy="1065625"/>
          </a:xfrm>
          <a:prstGeom prst="rect">
            <a:avLst/>
          </a:prstGeom>
          <a:noFill/>
          <a:ln>
            <a:noFill/>
          </a:ln>
        </p:spPr>
      </p:pic>
      <p:sp>
        <p:nvSpPr>
          <p:cNvPr id="2" name="Text Box 1"/>
          <p:cNvSpPr txBox="1"/>
          <p:nvPr/>
        </p:nvSpPr>
        <p:spPr>
          <a:xfrm>
            <a:off x="337820" y="904875"/>
            <a:ext cx="8477250" cy="4351655"/>
          </a:xfrm>
          <a:prstGeom prst="rect">
            <a:avLst/>
          </a:prstGeom>
          <a:noFill/>
        </p:spPr>
        <p:txBody>
          <a:bodyPr wrap="square" rtlCol="0">
            <a:spAutoFit/>
          </a:bodyPr>
          <a:lstStyle/>
          <a:p>
            <a:pPr>
              <a:lnSpc>
                <a:spcPct val="140000"/>
              </a:lnSpc>
            </a:pPr>
            <a:r>
              <a:rPr lang="en-US" sz="1800"/>
              <a:t>From a cask of milk containing 30 litres, 6 litres are drawn out and the cask is filled up with water. If the same process is repeated a second, then a third time, what will be the number of litres of milk left in the cask?</a:t>
            </a:r>
          </a:p>
          <a:p>
            <a:pPr>
              <a:lnSpc>
                <a:spcPct val="140000"/>
              </a:lnSpc>
            </a:pPr>
            <a:r>
              <a:rPr lang="en-US" sz="1800"/>
              <a:t>A. 5.12 litres</a:t>
            </a:r>
          </a:p>
          <a:p>
            <a:pPr>
              <a:lnSpc>
                <a:spcPct val="140000"/>
              </a:lnSpc>
            </a:pPr>
            <a:r>
              <a:rPr lang="en-US" sz="1800"/>
              <a:t>B. 12 litres</a:t>
            </a:r>
          </a:p>
          <a:p>
            <a:pPr>
              <a:lnSpc>
                <a:spcPct val="140000"/>
              </a:lnSpc>
            </a:pPr>
            <a:r>
              <a:rPr lang="en-US" sz="1800"/>
              <a:t>C. 14.38 litres</a:t>
            </a:r>
          </a:p>
          <a:p>
            <a:pPr>
              <a:lnSpc>
                <a:spcPct val="140000"/>
              </a:lnSpc>
            </a:pPr>
            <a:r>
              <a:rPr lang="en-US" sz="1800"/>
              <a:t>D. 15.36 litres</a:t>
            </a:r>
          </a:p>
          <a:p>
            <a:pPr>
              <a:lnSpc>
                <a:spcPct val="140000"/>
              </a:lnSpc>
            </a:pPr>
            <a:endParaRPr lang="en-US" sz="1800"/>
          </a:p>
          <a:p>
            <a:pPr>
              <a:lnSpc>
                <a:spcPct val="140000"/>
              </a:lnSpc>
            </a:pPr>
            <a:r>
              <a:rPr lang="en-US" sz="1800"/>
              <a:t>							</a:t>
            </a:r>
            <a:r>
              <a:rPr lang="en-US" sz="1800" b="1"/>
              <a:t>Answer: D</a:t>
            </a:r>
            <a:endParaRPr lang="en-US" sz="1800"/>
          </a:p>
          <a:p>
            <a:pPr>
              <a:lnSpc>
                <a:spcPct val="140000"/>
              </a:lnSpc>
            </a:pPr>
            <a:endParaRPr lang="en-US" sz="1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 calcmode="lin" valueType="num">
                                      <p:cBhvr additive="base">
                                        <p:cTn id="37"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66255" y="736600"/>
            <a:ext cx="9088581" cy="4038600"/>
          </a:xfrm>
        </p:spPr>
        <p:txBody>
          <a:bodyPr/>
          <a:lstStyle/>
          <a:p>
            <a:pPr>
              <a:buNone/>
            </a:pPr>
            <a:r>
              <a:rPr lang="en-US" dirty="0">
                <a:solidFill>
                  <a:schemeClr val="tx1"/>
                </a:solidFill>
              </a:rPr>
              <a:t>It is given by (x−y/x)^n of the whole quantity, where xx is the </a:t>
            </a:r>
          </a:p>
          <a:p>
            <a:pPr>
              <a:buNone/>
            </a:pPr>
            <a:r>
              <a:rPr lang="en-US" dirty="0">
                <a:solidFill>
                  <a:schemeClr val="tx1"/>
                </a:solidFill>
              </a:rPr>
              <a:t>initial quantity of milk in the cask y is the quantity of milk withdrawn in each process</a:t>
            </a:r>
          </a:p>
          <a:p>
            <a:pPr>
              <a:buNone/>
            </a:pPr>
            <a:r>
              <a:rPr lang="en-US" dirty="0">
                <a:solidFill>
                  <a:schemeClr val="tx1"/>
                </a:solidFill>
              </a:rPr>
              <a:t>and n is the number of processes.</a:t>
            </a:r>
          </a:p>
          <a:p>
            <a:pPr>
              <a:buNone/>
            </a:pPr>
            <a:r>
              <a:rPr lang="en-US" dirty="0">
                <a:solidFill>
                  <a:schemeClr val="tx1"/>
                </a:solidFill>
              </a:rPr>
              <a:t>Hence from the above rule it can be say that, </a:t>
            </a:r>
          </a:p>
          <a:p>
            <a:pPr>
              <a:buNone/>
            </a:pPr>
            <a:r>
              <a:rPr lang="en-US" dirty="0">
                <a:solidFill>
                  <a:schemeClr val="tx1"/>
                </a:solidFill>
              </a:rPr>
              <a:t>Quantity of milk left after the 3rd operation =30×[(30−6)/30]^n</a:t>
            </a:r>
          </a:p>
          <a:p>
            <a:pPr>
              <a:buNone/>
            </a:pPr>
            <a:r>
              <a:rPr lang="en-US" dirty="0">
                <a:solidFill>
                  <a:schemeClr val="tx1"/>
                </a:solidFill>
              </a:rPr>
              <a:t>=15.36 </a:t>
            </a:r>
            <a:r>
              <a:rPr lang="en-US" dirty="0" err="1">
                <a:solidFill>
                  <a:schemeClr val="tx1"/>
                </a:solidFill>
              </a:rPr>
              <a:t>litres</a:t>
            </a:r>
            <a:r>
              <a:rPr lang="en-US" dirty="0">
                <a:solidFill>
                  <a:schemeClr val="tx1"/>
                </a:solidFill>
              </a:rPr>
              <a:t>.</a:t>
            </a:r>
          </a:p>
          <a:p>
            <a:pPr marL="114300" indent="0">
              <a:lnSpc>
                <a:spcPct val="150000"/>
              </a:lnSpc>
              <a:buNone/>
            </a:pPr>
            <a:endParaRPr lang="en-US" dirty="0">
              <a:solidFill>
                <a:schemeClr val="tx1"/>
              </a:solidFill>
            </a:endParaRPr>
          </a:p>
        </p:txBody>
      </p:sp>
      <p:pic>
        <p:nvPicPr>
          <p:cNvPr id="4" name="Google Shape;69;p15"/>
          <p:cNvPicPr preferRelativeResize="0"/>
          <p:nvPr/>
        </p:nvPicPr>
        <p:blipFill>
          <a:blip r:embed="rId3"/>
          <a:stretch>
            <a:fillRect/>
          </a:stretch>
        </p:blipFill>
        <p:spPr>
          <a:xfrm>
            <a:off x="7120800" y="233550"/>
            <a:ext cx="1694264" cy="766799"/>
          </a:xfrm>
          <a:prstGeom prst="rect">
            <a:avLst/>
          </a:prstGeom>
          <a:noFill/>
          <a:ln>
            <a:noFill/>
          </a:ln>
        </p:spPr>
      </p:pic>
      <p:sp>
        <p:nvSpPr>
          <p:cNvPr id="5" name="Google Shape;70;p15"/>
          <p:cNvSpPr>
            <a:spLocks noGrp="1"/>
          </p:cNvSpPr>
          <p:nvPr>
            <p:ph type="title"/>
          </p:nvPr>
        </p:nvSpPr>
        <p:spPr>
          <a:xfrm>
            <a:off x="0" y="190500"/>
            <a:ext cx="6903218" cy="573175"/>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r>
              <a:rPr lang="en-IN" sz="2500" b="1" dirty="0">
                <a:ln w="6600">
                  <a:solidFill>
                    <a:schemeClr val="accent2"/>
                  </a:solidFill>
                  <a:prstDash val="solid"/>
                </a:ln>
                <a:solidFill>
                  <a:srgbClr val="FFFFFF"/>
                </a:solidFill>
                <a:effectLst>
                  <a:outerShdw dist="38100" dir="2700000" algn="tl" rotWithShape="0">
                    <a:schemeClr val="accent2"/>
                  </a:outerShdw>
                </a:effectLst>
              </a:rPr>
              <a:t>   Explanation:</a:t>
            </a:r>
            <a:endParaRPr lang="en-US" sz="25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7" name="Google Shape;68;p15"/>
          <p:cNvPicPr preferRelativeResize="0"/>
          <p:nvPr/>
        </p:nvPicPr>
        <p:blipFill rotWithShape="1">
          <a:blip r:embed="rId4"/>
          <a:srcRect l="41241" t="9528" r="-23988" b="51129"/>
          <a:stretch>
            <a:fillRect/>
          </a:stretch>
        </p:blipFill>
        <p:spPr>
          <a:xfrm>
            <a:off x="0" y="4073752"/>
            <a:ext cx="4457700" cy="1065625"/>
          </a:xfrm>
          <a:prstGeom prst="rect">
            <a:avLst/>
          </a:prstGeom>
          <a:noFill/>
          <a:ln>
            <a:noFill/>
          </a:ln>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69;p15"/>
          <p:cNvPicPr preferRelativeResize="0"/>
          <p:nvPr/>
        </p:nvPicPr>
        <p:blipFill>
          <a:blip r:embed="rId3"/>
          <a:stretch>
            <a:fillRect/>
          </a:stretch>
        </p:blipFill>
        <p:spPr>
          <a:xfrm>
            <a:off x="7120800" y="233550"/>
            <a:ext cx="1694264" cy="766799"/>
          </a:xfrm>
          <a:prstGeom prst="rect">
            <a:avLst/>
          </a:prstGeom>
          <a:noFill/>
          <a:ln>
            <a:noFill/>
          </a:ln>
        </p:spPr>
      </p:pic>
      <p:sp>
        <p:nvSpPr>
          <p:cNvPr id="5" name="Google Shape;70;p15"/>
          <p:cNvSpPr>
            <a:spLocks noGrp="1"/>
          </p:cNvSpPr>
          <p:nvPr>
            <p:ph type="title"/>
          </p:nvPr>
        </p:nvSpPr>
        <p:spPr>
          <a:xfrm>
            <a:off x="0" y="190500"/>
            <a:ext cx="6903218" cy="573175"/>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r>
              <a:rPr lang="en-IN" sz="2500" b="1" dirty="0">
                <a:ln w="6600">
                  <a:solidFill>
                    <a:schemeClr val="accent2"/>
                  </a:solidFill>
                  <a:prstDash val="solid"/>
                </a:ln>
                <a:solidFill>
                  <a:srgbClr val="FFFFFF"/>
                </a:solidFill>
                <a:effectLst>
                  <a:outerShdw dist="38100" dir="2700000" algn="tl" rotWithShape="0">
                    <a:schemeClr val="accent2"/>
                  </a:outerShdw>
                </a:effectLst>
              </a:rPr>
              <a:t>   Question 13:</a:t>
            </a:r>
            <a:endParaRPr lang="en-US" sz="25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6" name="Google Shape;68;p15"/>
          <p:cNvPicPr preferRelativeResize="0"/>
          <p:nvPr/>
        </p:nvPicPr>
        <p:blipFill rotWithShape="1">
          <a:blip r:embed="rId4"/>
          <a:srcRect l="41241" t="9528" r="-23988" b="51129"/>
          <a:stretch>
            <a:fillRect/>
          </a:stretch>
        </p:blipFill>
        <p:spPr>
          <a:xfrm>
            <a:off x="0" y="4073752"/>
            <a:ext cx="4457700" cy="1065625"/>
          </a:xfrm>
          <a:prstGeom prst="rect">
            <a:avLst/>
          </a:prstGeom>
          <a:noFill/>
          <a:ln>
            <a:noFill/>
          </a:ln>
        </p:spPr>
      </p:pic>
      <p:sp>
        <p:nvSpPr>
          <p:cNvPr id="2" name="Text Placeholder 1"/>
          <p:cNvSpPr>
            <a:spLocks noGrp="1"/>
          </p:cNvSpPr>
          <p:nvPr>
            <p:ph type="body" idx="1"/>
          </p:nvPr>
        </p:nvSpPr>
        <p:spPr>
          <a:xfrm>
            <a:off x="294555" y="863550"/>
            <a:ext cx="8520600" cy="3416400"/>
          </a:xfrm>
        </p:spPr>
        <p:txBody>
          <a:bodyPr/>
          <a:lstStyle/>
          <a:p>
            <a:pPr marL="114300" indent="0">
              <a:lnSpc>
                <a:spcPct val="135000"/>
              </a:lnSpc>
              <a:buNone/>
            </a:pPr>
            <a:r>
              <a:rPr lang="en-US" dirty="0">
                <a:solidFill>
                  <a:schemeClr val="tx1"/>
                </a:solidFill>
              </a:rPr>
              <a:t>A zookeeper counted the heads of the animals in a zoo and found it to be 80. When he counted the legs of the animals he found it to be 260. If the zoo had either pigeons or horses, how many horses were there in the zoo?</a:t>
            </a:r>
          </a:p>
          <a:p>
            <a:pPr marL="114300" indent="0">
              <a:lnSpc>
                <a:spcPct val="135000"/>
              </a:lnSpc>
              <a:buFont typeface="+mj-lt"/>
              <a:buNone/>
            </a:pPr>
            <a:r>
              <a:rPr lang="" altLang="en-US" dirty="0">
                <a:solidFill>
                  <a:schemeClr val="tx1"/>
                </a:solidFill>
              </a:rPr>
              <a:t>A. </a:t>
            </a:r>
            <a:r>
              <a:rPr lang="en-US" dirty="0">
                <a:solidFill>
                  <a:schemeClr val="tx1"/>
                </a:solidFill>
              </a:rPr>
              <a:t>30</a:t>
            </a:r>
          </a:p>
          <a:p>
            <a:pPr marL="114300" indent="0">
              <a:lnSpc>
                <a:spcPct val="135000"/>
              </a:lnSpc>
              <a:buFont typeface="+mj-lt"/>
              <a:buNone/>
            </a:pPr>
            <a:r>
              <a:rPr lang="" altLang="en-US" dirty="0">
                <a:solidFill>
                  <a:schemeClr val="tx1"/>
                </a:solidFill>
              </a:rPr>
              <a:t>B. </a:t>
            </a:r>
            <a:r>
              <a:rPr lang="en-US" dirty="0">
                <a:solidFill>
                  <a:schemeClr val="tx1"/>
                </a:solidFill>
              </a:rPr>
              <a:t>40</a:t>
            </a:r>
          </a:p>
          <a:p>
            <a:pPr marL="114300" indent="0">
              <a:lnSpc>
                <a:spcPct val="135000"/>
              </a:lnSpc>
              <a:buFont typeface="+mj-lt"/>
              <a:buNone/>
            </a:pPr>
            <a:r>
              <a:rPr lang="" altLang="en-US" dirty="0">
                <a:solidFill>
                  <a:schemeClr val="tx1"/>
                </a:solidFill>
              </a:rPr>
              <a:t>C. </a:t>
            </a:r>
            <a:r>
              <a:rPr lang="en-US" dirty="0">
                <a:solidFill>
                  <a:schemeClr val="tx1"/>
                </a:solidFill>
              </a:rPr>
              <a:t>50</a:t>
            </a:r>
          </a:p>
          <a:p>
            <a:pPr marL="114300" indent="0">
              <a:lnSpc>
                <a:spcPct val="135000"/>
              </a:lnSpc>
              <a:buFont typeface="+mj-lt"/>
              <a:buNone/>
            </a:pPr>
            <a:r>
              <a:rPr lang="" altLang="en-US" dirty="0">
                <a:solidFill>
                  <a:schemeClr val="tx1"/>
                </a:solidFill>
              </a:rPr>
              <a:t>D. </a:t>
            </a:r>
            <a:r>
              <a:rPr lang="en-US" dirty="0">
                <a:solidFill>
                  <a:schemeClr val="tx1"/>
                </a:solidFill>
              </a:rPr>
              <a:t>60</a:t>
            </a:r>
          </a:p>
          <a:p>
            <a:pPr>
              <a:lnSpc>
                <a:spcPct val="135000"/>
              </a:lnSpc>
              <a:buNone/>
            </a:pPr>
            <a:endParaRPr lang="en-US" dirty="0">
              <a:solidFill>
                <a:schemeClr val="tx1"/>
              </a:solidFill>
            </a:endParaRPr>
          </a:p>
          <a:p>
            <a:pPr>
              <a:lnSpc>
                <a:spcPct val="135000"/>
              </a:lnSpc>
              <a:buNone/>
            </a:pPr>
            <a:endParaRPr lang="en-US" dirty="0">
              <a:solidFill>
                <a:schemeClr val="tx1"/>
              </a:solidFill>
            </a:endParaRPr>
          </a:p>
          <a:p>
            <a:pPr marL="114300" indent="0">
              <a:lnSpc>
                <a:spcPct val="135000"/>
              </a:lnSpc>
              <a:buNone/>
            </a:pPr>
            <a:r>
              <a:rPr lang="en-US" dirty="0">
                <a:solidFill>
                  <a:schemeClr val="tx1"/>
                </a:solidFill>
              </a:rPr>
              <a:t>							</a:t>
            </a:r>
            <a:r>
              <a:rPr lang="en-US" b="1" dirty="0">
                <a:solidFill>
                  <a:schemeClr val="tx1"/>
                </a:solidFill>
              </a:rPr>
              <a:t>Answer: 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 calcmode="lin" valueType="num">
                                      <p:cBhvr additive="base">
                                        <p:cTn id="37"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11700" y="825500"/>
            <a:ext cx="8520600" cy="3732213"/>
          </a:xfrm>
        </p:spPr>
        <p:txBody>
          <a:bodyPr/>
          <a:lstStyle/>
          <a:p>
            <a:pPr marL="0" lvl="0" indent="0" fontAlgn="base">
              <a:lnSpc>
                <a:spcPct val="100000"/>
              </a:lnSpc>
              <a:spcBef>
                <a:spcPct val="0"/>
              </a:spcBef>
              <a:spcAft>
                <a:spcPct val="0"/>
              </a:spcAft>
              <a:buClrTx/>
              <a:buSzTx/>
              <a:buNone/>
            </a:pPr>
            <a:r>
              <a:rPr lang="en-US" dirty="0">
                <a:solidFill>
                  <a:schemeClr val="tx1"/>
                </a:solidFill>
                <a:latin typeface="Helvetica Neue"/>
                <a:cs typeface="Arial" panose="02080604020202020204" pitchFamily="34" charset="0"/>
              </a:rPr>
              <a:t>Let the number of horses=x</a:t>
            </a:r>
            <a:br>
              <a:rPr lang="en-US" dirty="0">
                <a:solidFill>
                  <a:schemeClr val="tx1"/>
                </a:solidFill>
                <a:latin typeface="Helvetica Neue"/>
                <a:cs typeface="Arial" panose="02080604020202020204" pitchFamily="34" charset="0"/>
              </a:rPr>
            </a:br>
            <a:r>
              <a:rPr lang="en-US" dirty="0">
                <a:solidFill>
                  <a:schemeClr val="tx1"/>
                </a:solidFill>
                <a:latin typeface="Helvetica Neue"/>
                <a:cs typeface="Arial" panose="02080604020202020204" pitchFamily="34" charset="0"/>
              </a:rPr>
              <a:t>Then the number of pigeons=80−x.</a:t>
            </a:r>
            <a:br>
              <a:rPr lang="en-US" dirty="0">
                <a:solidFill>
                  <a:schemeClr val="tx1"/>
                </a:solidFill>
                <a:latin typeface="Helvetica Neue"/>
                <a:cs typeface="Arial" panose="02080604020202020204" pitchFamily="34" charset="0"/>
              </a:rPr>
            </a:br>
            <a:r>
              <a:rPr lang="en-US" dirty="0">
                <a:solidFill>
                  <a:schemeClr val="tx1"/>
                </a:solidFill>
                <a:latin typeface="Helvetica Neue"/>
                <a:cs typeface="Arial" panose="02080604020202020204" pitchFamily="34" charset="0"/>
              </a:rPr>
              <a:t>Each pigeon has 2 legs and each horse has 4 legs.</a:t>
            </a:r>
            <a:br>
              <a:rPr lang="en-US" dirty="0">
                <a:solidFill>
                  <a:schemeClr val="tx1"/>
                </a:solidFill>
                <a:latin typeface="Helvetica Neue"/>
                <a:cs typeface="Arial" panose="02080604020202020204" pitchFamily="34" charset="0"/>
              </a:rPr>
            </a:br>
            <a:r>
              <a:rPr lang="en-US" dirty="0">
                <a:solidFill>
                  <a:schemeClr val="tx1"/>
                </a:solidFill>
                <a:latin typeface="Helvetica Neue"/>
                <a:cs typeface="Arial" panose="02080604020202020204" pitchFamily="34" charset="0"/>
              </a:rPr>
              <a:t>Therefore, total number of legs =4x+2(80−x)=260</a:t>
            </a:r>
            <a:endParaRPr lang="en-US" dirty="0">
              <a:solidFill>
                <a:schemeClr val="tx1"/>
              </a:solidFill>
              <a:latin typeface="Arial" panose="02080604020202020204" pitchFamily="34" charset="0"/>
              <a:cs typeface="Arial" panose="02080604020202020204" pitchFamily="34" charset="0"/>
            </a:endParaRPr>
          </a:p>
          <a:p>
            <a:pPr marL="0" lvl="0" indent="0" eaLnBrk="0" fontAlgn="base" hangingPunct="0">
              <a:lnSpc>
                <a:spcPct val="100000"/>
              </a:lnSpc>
              <a:spcBef>
                <a:spcPct val="0"/>
              </a:spcBef>
              <a:spcAft>
                <a:spcPct val="0"/>
              </a:spcAft>
              <a:buClrTx/>
              <a:buSzTx/>
              <a:buNone/>
            </a:pPr>
            <a:r>
              <a:rPr lang="en-US" dirty="0">
                <a:solidFill>
                  <a:schemeClr val="tx1"/>
                </a:solidFill>
                <a:latin typeface="Helvetica Neue"/>
                <a:cs typeface="Arial" panose="02080604020202020204" pitchFamily="34" charset="0"/>
              </a:rPr>
              <a:t>⇒4x+160−2x=260</a:t>
            </a:r>
            <a:br>
              <a:rPr lang="en-US" dirty="0">
                <a:solidFill>
                  <a:schemeClr val="tx1"/>
                </a:solidFill>
                <a:latin typeface="Helvetica Neue"/>
                <a:cs typeface="Arial" panose="02080604020202020204" pitchFamily="34" charset="0"/>
              </a:rPr>
            </a:br>
            <a:r>
              <a:rPr lang="en-US" dirty="0">
                <a:solidFill>
                  <a:schemeClr val="tx1"/>
                </a:solidFill>
                <a:latin typeface="Helvetica Neue"/>
                <a:cs typeface="Arial" panose="02080604020202020204" pitchFamily="34" charset="0"/>
              </a:rPr>
              <a:t>⇒2x=100</a:t>
            </a:r>
            <a:br>
              <a:rPr lang="en-US" dirty="0">
                <a:solidFill>
                  <a:schemeClr val="tx1"/>
                </a:solidFill>
                <a:latin typeface="Helvetica Neue"/>
                <a:cs typeface="Arial" panose="02080604020202020204" pitchFamily="34" charset="0"/>
              </a:rPr>
            </a:br>
            <a:r>
              <a:rPr lang="en-US" dirty="0">
                <a:solidFill>
                  <a:schemeClr val="tx1"/>
                </a:solidFill>
                <a:latin typeface="Helvetica Neue"/>
                <a:cs typeface="Arial" panose="02080604020202020204" pitchFamily="34" charset="0"/>
              </a:rPr>
              <a:t>⇒x=50.</a:t>
            </a:r>
            <a:endParaRPr lang="en-US" dirty="0">
              <a:solidFill>
                <a:schemeClr val="tx1"/>
              </a:solidFill>
              <a:latin typeface="Arial" panose="02080604020202020204" pitchFamily="34" charset="0"/>
              <a:cs typeface="Arial" panose="02080604020202020204" pitchFamily="34" charset="0"/>
            </a:endParaRPr>
          </a:p>
          <a:p>
            <a:pPr marL="114300" indent="0">
              <a:buNone/>
            </a:pPr>
            <a:endParaRPr lang="en-IN" b="1" dirty="0">
              <a:solidFill>
                <a:schemeClr val="tx1"/>
              </a:solidFill>
            </a:endParaRPr>
          </a:p>
        </p:txBody>
      </p:sp>
      <p:pic>
        <p:nvPicPr>
          <p:cNvPr id="4" name="Google Shape;69;p15"/>
          <p:cNvPicPr preferRelativeResize="0"/>
          <p:nvPr/>
        </p:nvPicPr>
        <p:blipFill>
          <a:blip r:embed="rId3"/>
          <a:stretch>
            <a:fillRect/>
          </a:stretch>
        </p:blipFill>
        <p:spPr>
          <a:xfrm>
            <a:off x="7120800" y="233550"/>
            <a:ext cx="1694264" cy="766799"/>
          </a:xfrm>
          <a:prstGeom prst="rect">
            <a:avLst/>
          </a:prstGeom>
          <a:noFill/>
          <a:ln>
            <a:noFill/>
          </a:ln>
        </p:spPr>
      </p:pic>
      <p:sp>
        <p:nvSpPr>
          <p:cNvPr id="5" name="Google Shape;70;p15"/>
          <p:cNvSpPr>
            <a:spLocks noGrp="1"/>
          </p:cNvSpPr>
          <p:nvPr>
            <p:ph type="title"/>
          </p:nvPr>
        </p:nvSpPr>
        <p:spPr>
          <a:xfrm>
            <a:off x="0" y="190500"/>
            <a:ext cx="6903218" cy="573175"/>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r>
              <a:rPr lang="en-IN" sz="2500" b="1" dirty="0">
                <a:ln w="6600">
                  <a:solidFill>
                    <a:schemeClr val="accent2"/>
                  </a:solidFill>
                  <a:prstDash val="solid"/>
                </a:ln>
                <a:solidFill>
                  <a:srgbClr val="FFFFFF"/>
                </a:solidFill>
                <a:effectLst>
                  <a:outerShdw dist="38100" dir="2700000" algn="tl" rotWithShape="0">
                    <a:schemeClr val="accent2"/>
                  </a:outerShdw>
                </a:effectLst>
              </a:rPr>
              <a:t>   Explanation:</a:t>
            </a:r>
            <a:endParaRPr lang="en-US" sz="25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6" name="Google Shape;68;p15"/>
          <p:cNvPicPr preferRelativeResize="0"/>
          <p:nvPr/>
        </p:nvPicPr>
        <p:blipFill rotWithShape="1">
          <a:blip r:embed="rId4"/>
          <a:srcRect l="41241" t="9528" r="-23988" b="51129"/>
          <a:stretch>
            <a:fillRect/>
          </a:stretch>
        </p:blipFill>
        <p:spPr>
          <a:xfrm>
            <a:off x="0" y="4073752"/>
            <a:ext cx="4457700" cy="1065625"/>
          </a:xfrm>
          <a:prstGeom prst="rect">
            <a:avLst/>
          </a:prstGeom>
          <a:noFill/>
          <a:ln>
            <a:noFill/>
          </a:ln>
        </p:spPr>
      </p:pic>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69;p15"/>
          <p:cNvPicPr preferRelativeResize="0"/>
          <p:nvPr/>
        </p:nvPicPr>
        <p:blipFill>
          <a:blip r:embed="rId3"/>
          <a:stretch>
            <a:fillRect/>
          </a:stretch>
        </p:blipFill>
        <p:spPr>
          <a:xfrm>
            <a:off x="7120800" y="233550"/>
            <a:ext cx="1694264" cy="766799"/>
          </a:xfrm>
          <a:prstGeom prst="rect">
            <a:avLst/>
          </a:prstGeom>
          <a:noFill/>
          <a:ln>
            <a:noFill/>
          </a:ln>
        </p:spPr>
      </p:pic>
      <p:sp>
        <p:nvSpPr>
          <p:cNvPr id="5" name="Google Shape;70;p15"/>
          <p:cNvSpPr>
            <a:spLocks noGrp="1"/>
          </p:cNvSpPr>
          <p:nvPr>
            <p:ph type="title"/>
          </p:nvPr>
        </p:nvSpPr>
        <p:spPr>
          <a:xfrm>
            <a:off x="0" y="190500"/>
            <a:ext cx="6903218" cy="573175"/>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r>
              <a:rPr lang="en-IN" sz="2500" b="1" dirty="0">
                <a:ln w="6600">
                  <a:solidFill>
                    <a:schemeClr val="accent2"/>
                  </a:solidFill>
                  <a:prstDash val="solid"/>
                </a:ln>
                <a:solidFill>
                  <a:srgbClr val="FFFFFF"/>
                </a:solidFill>
                <a:effectLst>
                  <a:outerShdw dist="38100" dir="2700000" algn="tl" rotWithShape="0">
                    <a:schemeClr val="accent2"/>
                  </a:outerShdw>
                </a:effectLst>
              </a:rPr>
              <a:t>   Question 14 :</a:t>
            </a:r>
            <a:endParaRPr lang="en-US" sz="25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6" name="Google Shape;68;p15"/>
          <p:cNvPicPr preferRelativeResize="0"/>
          <p:nvPr/>
        </p:nvPicPr>
        <p:blipFill rotWithShape="1">
          <a:blip r:embed="rId4"/>
          <a:srcRect l="41241" t="9528" r="-23988" b="51129"/>
          <a:stretch>
            <a:fillRect/>
          </a:stretch>
        </p:blipFill>
        <p:spPr>
          <a:xfrm>
            <a:off x="0" y="4073752"/>
            <a:ext cx="4457700" cy="1065625"/>
          </a:xfrm>
          <a:prstGeom prst="rect">
            <a:avLst/>
          </a:prstGeom>
          <a:noFill/>
          <a:ln>
            <a:noFill/>
          </a:ln>
        </p:spPr>
      </p:pic>
      <p:sp>
        <p:nvSpPr>
          <p:cNvPr id="2" name="Text Box 1"/>
          <p:cNvSpPr txBox="1"/>
          <p:nvPr/>
        </p:nvSpPr>
        <p:spPr>
          <a:xfrm>
            <a:off x="247650" y="1028700"/>
            <a:ext cx="8562975" cy="4015971"/>
          </a:xfrm>
          <a:prstGeom prst="rect">
            <a:avLst/>
          </a:prstGeom>
          <a:noFill/>
        </p:spPr>
        <p:txBody>
          <a:bodyPr wrap="square" rtlCol="0">
            <a:spAutoFit/>
          </a:bodyPr>
          <a:lstStyle/>
          <a:p>
            <a:pPr>
              <a:lnSpc>
                <a:spcPct val="130000"/>
              </a:lnSpc>
            </a:pPr>
            <a:r>
              <a:rPr lang="en-US" sz="1800" dirty="0">
                <a:solidFill>
                  <a:schemeClr val="tx1"/>
                </a:solidFill>
              </a:rPr>
              <a:t>How many </a:t>
            </a:r>
            <a:r>
              <a:rPr lang="en-US" sz="1800" dirty="0" err="1">
                <a:solidFill>
                  <a:schemeClr val="tx1"/>
                </a:solidFill>
              </a:rPr>
              <a:t>litres</a:t>
            </a:r>
            <a:r>
              <a:rPr lang="en-US" sz="1800" dirty="0">
                <a:solidFill>
                  <a:schemeClr val="tx1"/>
                </a:solidFill>
              </a:rPr>
              <a:t> of a 12 </a:t>
            </a:r>
            <a:r>
              <a:rPr lang="en-US" sz="1800" dirty="0" err="1">
                <a:solidFill>
                  <a:schemeClr val="tx1"/>
                </a:solidFill>
              </a:rPr>
              <a:t>litre</a:t>
            </a:r>
            <a:r>
              <a:rPr lang="en-US" sz="1800" dirty="0">
                <a:solidFill>
                  <a:schemeClr val="tx1"/>
                </a:solidFill>
              </a:rPr>
              <a:t> mixture containing milk and water in the ratio of 2:3 be replaced with pure milk so that the resultant mixture contains milk and water in equal proportion?</a:t>
            </a:r>
          </a:p>
          <a:p>
            <a:pPr>
              <a:lnSpc>
                <a:spcPct val="130000"/>
              </a:lnSpc>
            </a:pPr>
            <a:r>
              <a:rPr lang="en-US" sz="1800" dirty="0">
                <a:solidFill>
                  <a:schemeClr val="tx1"/>
                </a:solidFill>
              </a:rPr>
              <a:t>A. 1.0 </a:t>
            </a:r>
            <a:r>
              <a:rPr lang="en-US" sz="1800" dirty="0" err="1">
                <a:solidFill>
                  <a:schemeClr val="tx1"/>
                </a:solidFill>
              </a:rPr>
              <a:t>litres</a:t>
            </a:r>
            <a:endParaRPr lang="en-US" sz="1800" dirty="0">
              <a:solidFill>
                <a:schemeClr val="tx1"/>
              </a:solidFill>
            </a:endParaRPr>
          </a:p>
          <a:p>
            <a:pPr>
              <a:lnSpc>
                <a:spcPct val="130000"/>
              </a:lnSpc>
            </a:pPr>
            <a:r>
              <a:rPr lang="en-US" sz="1800" dirty="0">
                <a:solidFill>
                  <a:schemeClr val="tx1"/>
                </a:solidFill>
              </a:rPr>
              <a:t>B. 1.5 </a:t>
            </a:r>
            <a:r>
              <a:rPr lang="en-US" sz="1800" dirty="0" err="1">
                <a:solidFill>
                  <a:schemeClr val="tx1"/>
                </a:solidFill>
              </a:rPr>
              <a:t>litres</a:t>
            </a:r>
            <a:endParaRPr lang="en-US" sz="1800" dirty="0">
              <a:solidFill>
                <a:schemeClr val="tx1"/>
              </a:solidFill>
            </a:endParaRPr>
          </a:p>
          <a:p>
            <a:pPr>
              <a:lnSpc>
                <a:spcPct val="130000"/>
              </a:lnSpc>
            </a:pPr>
            <a:r>
              <a:rPr lang="en-US" sz="1800" dirty="0">
                <a:solidFill>
                  <a:schemeClr val="tx1"/>
                </a:solidFill>
              </a:rPr>
              <a:t>C. 2.0 </a:t>
            </a:r>
            <a:r>
              <a:rPr lang="en-US" sz="1800" dirty="0" err="1">
                <a:solidFill>
                  <a:schemeClr val="tx1"/>
                </a:solidFill>
              </a:rPr>
              <a:t>litres</a:t>
            </a:r>
            <a:endParaRPr lang="en-US" sz="1800" dirty="0">
              <a:solidFill>
                <a:schemeClr val="tx1"/>
              </a:solidFill>
            </a:endParaRPr>
          </a:p>
          <a:p>
            <a:pPr>
              <a:lnSpc>
                <a:spcPct val="130000"/>
              </a:lnSpc>
            </a:pPr>
            <a:r>
              <a:rPr lang="en-US" sz="1800" dirty="0">
                <a:solidFill>
                  <a:schemeClr val="tx1"/>
                </a:solidFill>
              </a:rPr>
              <a:t>D. 4.0 </a:t>
            </a:r>
            <a:r>
              <a:rPr lang="en-US" sz="1800" dirty="0" err="1">
                <a:solidFill>
                  <a:schemeClr val="tx1"/>
                </a:solidFill>
              </a:rPr>
              <a:t>litres</a:t>
            </a:r>
            <a:endParaRPr lang="en-US" sz="1800" dirty="0">
              <a:solidFill>
                <a:schemeClr val="tx1"/>
              </a:solidFill>
            </a:endParaRPr>
          </a:p>
          <a:p>
            <a:pPr>
              <a:lnSpc>
                <a:spcPct val="130000"/>
              </a:lnSpc>
            </a:pPr>
            <a:endParaRPr lang="en-US" sz="1800" dirty="0">
              <a:solidFill>
                <a:schemeClr val="tx1"/>
              </a:solidFill>
            </a:endParaRPr>
          </a:p>
          <a:p>
            <a:pPr>
              <a:lnSpc>
                <a:spcPct val="130000"/>
              </a:lnSpc>
            </a:pPr>
            <a:endParaRPr lang="en-US" sz="1800" dirty="0">
              <a:solidFill>
                <a:schemeClr val="tx1"/>
              </a:solidFill>
            </a:endParaRPr>
          </a:p>
          <a:p>
            <a:pPr>
              <a:lnSpc>
                <a:spcPct val="130000"/>
              </a:lnSpc>
            </a:pPr>
            <a:r>
              <a:rPr lang="en-US" sz="1800" dirty="0">
                <a:solidFill>
                  <a:schemeClr val="tx1"/>
                </a:solidFill>
              </a:rPr>
              <a:t>							</a:t>
            </a:r>
            <a:r>
              <a:rPr lang="en-US" sz="1800" b="1" dirty="0">
                <a:solidFill>
                  <a:schemeClr val="tx1"/>
                </a:solidFill>
              </a:rPr>
              <a:t>Answer: C</a:t>
            </a:r>
            <a:endParaRPr lang="en-US" sz="1800" dirty="0">
              <a:solidFill>
                <a:schemeClr val="tx1"/>
              </a:solidFill>
            </a:endParaRPr>
          </a:p>
          <a:p>
            <a:pPr>
              <a:lnSpc>
                <a:spcPct val="130000"/>
              </a:lnSpc>
            </a:pPr>
            <a:endParaRPr lang="en-US" sz="18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 calcmode="lin" valueType="num">
                                      <p:cBhvr additive="base">
                                        <p:cTn id="37"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90500" y="863600"/>
            <a:ext cx="8641800" cy="3924300"/>
          </a:xfrm>
        </p:spPr>
        <p:txBody>
          <a:bodyPr/>
          <a:lstStyle/>
          <a:p>
            <a:pPr>
              <a:buNone/>
            </a:pPr>
            <a:r>
              <a:rPr lang="en-US" dirty="0">
                <a:solidFill>
                  <a:schemeClr val="tx1"/>
                </a:solidFill>
              </a:rPr>
              <a:t>The mixture contains 40% milk and 60% water in it. That is 4.8 </a:t>
            </a:r>
            <a:r>
              <a:rPr lang="en-US" dirty="0" err="1">
                <a:solidFill>
                  <a:schemeClr val="tx1"/>
                </a:solidFill>
              </a:rPr>
              <a:t>litres</a:t>
            </a:r>
            <a:r>
              <a:rPr lang="en-US" dirty="0">
                <a:solidFill>
                  <a:schemeClr val="tx1"/>
                </a:solidFill>
              </a:rPr>
              <a:t> of milk and</a:t>
            </a:r>
          </a:p>
          <a:p>
            <a:pPr>
              <a:buNone/>
            </a:pPr>
            <a:r>
              <a:rPr lang="en-US" dirty="0">
                <a:solidFill>
                  <a:schemeClr val="tx1"/>
                </a:solidFill>
              </a:rPr>
              <a:t>7.2 </a:t>
            </a:r>
            <a:r>
              <a:rPr lang="en-US" dirty="0" err="1">
                <a:solidFill>
                  <a:schemeClr val="tx1"/>
                </a:solidFill>
              </a:rPr>
              <a:t>litres</a:t>
            </a:r>
            <a:r>
              <a:rPr lang="en-US" dirty="0">
                <a:solidFill>
                  <a:schemeClr val="tx1"/>
                </a:solidFill>
              </a:rPr>
              <a:t> of water.</a:t>
            </a:r>
          </a:p>
          <a:p>
            <a:pPr>
              <a:buNone/>
            </a:pPr>
            <a:r>
              <a:rPr lang="en-US" dirty="0">
                <a:solidFill>
                  <a:schemeClr val="tx1"/>
                </a:solidFill>
              </a:rPr>
              <a:t>Now we are replacing the mixture with pure milk so that the amount of milk and</a:t>
            </a:r>
          </a:p>
          <a:p>
            <a:pPr>
              <a:buNone/>
            </a:pPr>
            <a:r>
              <a:rPr lang="en-US" dirty="0">
                <a:solidFill>
                  <a:schemeClr val="tx1"/>
                </a:solidFill>
              </a:rPr>
              <a:t>water in the mixture is 50% and 50%.That is we will end up with 6 </a:t>
            </a:r>
            <a:r>
              <a:rPr lang="en-US" dirty="0" err="1">
                <a:solidFill>
                  <a:schemeClr val="tx1"/>
                </a:solidFill>
              </a:rPr>
              <a:t>litres</a:t>
            </a:r>
            <a:r>
              <a:rPr lang="en-US" dirty="0">
                <a:solidFill>
                  <a:schemeClr val="tx1"/>
                </a:solidFill>
              </a:rPr>
              <a:t> of milk and</a:t>
            </a:r>
          </a:p>
          <a:p>
            <a:pPr>
              <a:buNone/>
            </a:pPr>
            <a:r>
              <a:rPr lang="en-US" dirty="0">
                <a:solidFill>
                  <a:schemeClr val="tx1"/>
                </a:solidFill>
              </a:rPr>
              <a:t>6 </a:t>
            </a:r>
            <a:r>
              <a:rPr lang="en-US" dirty="0" err="1">
                <a:solidFill>
                  <a:schemeClr val="tx1"/>
                </a:solidFill>
              </a:rPr>
              <a:t>litres</a:t>
            </a:r>
            <a:r>
              <a:rPr lang="en-US" dirty="0">
                <a:solidFill>
                  <a:schemeClr val="tx1"/>
                </a:solidFill>
              </a:rPr>
              <a:t> of water.</a:t>
            </a:r>
          </a:p>
          <a:p>
            <a:pPr>
              <a:buNone/>
            </a:pPr>
            <a:r>
              <a:rPr lang="en-US" dirty="0">
                <a:solidFill>
                  <a:schemeClr val="tx1"/>
                </a:solidFill>
              </a:rPr>
              <a:t>Water gets reduced by 1.2 </a:t>
            </a:r>
            <a:r>
              <a:rPr lang="en-US" dirty="0" err="1">
                <a:solidFill>
                  <a:schemeClr val="tx1"/>
                </a:solidFill>
              </a:rPr>
              <a:t>litres</a:t>
            </a:r>
            <a:r>
              <a:rPr lang="en-US" dirty="0">
                <a:solidFill>
                  <a:schemeClr val="tx1"/>
                </a:solidFill>
              </a:rPr>
              <a:t>.</a:t>
            </a:r>
          </a:p>
          <a:p>
            <a:pPr>
              <a:buNone/>
            </a:pPr>
            <a:r>
              <a:rPr lang="en-US" dirty="0">
                <a:solidFill>
                  <a:schemeClr val="tx1"/>
                </a:solidFill>
              </a:rPr>
              <a:t>To remove 1.2 </a:t>
            </a:r>
            <a:r>
              <a:rPr lang="en-US" dirty="0" err="1">
                <a:solidFill>
                  <a:schemeClr val="tx1"/>
                </a:solidFill>
              </a:rPr>
              <a:t>litres</a:t>
            </a:r>
            <a:r>
              <a:rPr lang="en-US" dirty="0">
                <a:solidFill>
                  <a:schemeClr val="tx1"/>
                </a:solidFill>
              </a:rPr>
              <a:t> of water from the original mixture containing 60% water, we</a:t>
            </a:r>
          </a:p>
          <a:p>
            <a:pPr>
              <a:buNone/>
            </a:pPr>
            <a:r>
              <a:rPr lang="en-US" dirty="0">
                <a:solidFill>
                  <a:schemeClr val="tx1"/>
                </a:solidFill>
              </a:rPr>
              <a:t>need to remove 1.2/0.6 </a:t>
            </a:r>
            <a:r>
              <a:rPr lang="en-US" dirty="0" err="1">
                <a:solidFill>
                  <a:schemeClr val="tx1"/>
                </a:solidFill>
              </a:rPr>
              <a:t>litres</a:t>
            </a:r>
            <a:r>
              <a:rPr lang="en-US" dirty="0">
                <a:solidFill>
                  <a:schemeClr val="tx1"/>
                </a:solidFill>
              </a:rPr>
              <a:t> of the mixture = 2 </a:t>
            </a:r>
            <a:r>
              <a:rPr lang="en-US" dirty="0" err="1">
                <a:solidFill>
                  <a:schemeClr val="tx1"/>
                </a:solidFill>
              </a:rPr>
              <a:t>litres</a:t>
            </a:r>
            <a:r>
              <a:rPr lang="en-US" dirty="0">
                <a:solidFill>
                  <a:schemeClr val="tx1"/>
                </a:solidFill>
              </a:rPr>
              <a:t>.</a:t>
            </a:r>
          </a:p>
        </p:txBody>
      </p:sp>
      <p:pic>
        <p:nvPicPr>
          <p:cNvPr id="4" name="Google Shape;69;p15"/>
          <p:cNvPicPr preferRelativeResize="0"/>
          <p:nvPr/>
        </p:nvPicPr>
        <p:blipFill>
          <a:blip r:embed="rId3"/>
          <a:stretch>
            <a:fillRect/>
          </a:stretch>
        </p:blipFill>
        <p:spPr>
          <a:xfrm>
            <a:off x="7120800" y="233550"/>
            <a:ext cx="1694264" cy="766799"/>
          </a:xfrm>
          <a:prstGeom prst="rect">
            <a:avLst/>
          </a:prstGeom>
          <a:noFill/>
          <a:ln>
            <a:noFill/>
          </a:ln>
        </p:spPr>
      </p:pic>
      <p:sp>
        <p:nvSpPr>
          <p:cNvPr id="5" name="Google Shape;70;p15"/>
          <p:cNvSpPr>
            <a:spLocks noGrp="1"/>
          </p:cNvSpPr>
          <p:nvPr>
            <p:ph type="title"/>
          </p:nvPr>
        </p:nvSpPr>
        <p:spPr>
          <a:xfrm>
            <a:off x="0" y="190500"/>
            <a:ext cx="6903218" cy="573175"/>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r>
              <a:rPr lang="en-IN" sz="2500" b="1" dirty="0">
                <a:ln w="6600">
                  <a:solidFill>
                    <a:schemeClr val="accent2"/>
                  </a:solidFill>
                  <a:prstDash val="solid"/>
                </a:ln>
                <a:solidFill>
                  <a:srgbClr val="FFFFFF"/>
                </a:solidFill>
                <a:effectLst>
                  <a:outerShdw dist="38100" dir="2700000" algn="tl" rotWithShape="0">
                    <a:schemeClr val="accent2"/>
                  </a:outerShdw>
                </a:effectLst>
              </a:rPr>
              <a:t>   Explanation:</a:t>
            </a:r>
            <a:endParaRPr lang="en-US" sz="25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7" name="Google Shape;68;p15"/>
          <p:cNvPicPr preferRelativeResize="0"/>
          <p:nvPr/>
        </p:nvPicPr>
        <p:blipFill rotWithShape="1">
          <a:blip r:embed="rId4"/>
          <a:srcRect l="41241" t="9528" r="-23988" b="51129"/>
          <a:stretch>
            <a:fillRect/>
          </a:stretch>
        </p:blipFill>
        <p:spPr>
          <a:xfrm>
            <a:off x="0" y="4073752"/>
            <a:ext cx="4457700" cy="1065625"/>
          </a:xfrm>
          <a:prstGeom prst="rect">
            <a:avLst/>
          </a:prstGeom>
          <a:noFill/>
          <a:ln>
            <a:noFill/>
          </a:ln>
        </p:spPr>
      </p:pic>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69;p15"/>
          <p:cNvPicPr preferRelativeResize="0"/>
          <p:nvPr/>
        </p:nvPicPr>
        <p:blipFill>
          <a:blip r:embed="rId3"/>
          <a:stretch>
            <a:fillRect/>
          </a:stretch>
        </p:blipFill>
        <p:spPr>
          <a:xfrm>
            <a:off x="7120800" y="233550"/>
            <a:ext cx="1694264" cy="766799"/>
          </a:xfrm>
          <a:prstGeom prst="rect">
            <a:avLst/>
          </a:prstGeom>
          <a:noFill/>
          <a:ln>
            <a:noFill/>
          </a:ln>
        </p:spPr>
      </p:pic>
      <p:sp>
        <p:nvSpPr>
          <p:cNvPr id="5" name="Google Shape;70;p15"/>
          <p:cNvSpPr>
            <a:spLocks noGrp="1"/>
          </p:cNvSpPr>
          <p:nvPr>
            <p:ph type="title"/>
          </p:nvPr>
        </p:nvSpPr>
        <p:spPr>
          <a:xfrm>
            <a:off x="0" y="190500"/>
            <a:ext cx="6903218" cy="573175"/>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r>
              <a:rPr lang="en-IN" sz="2500" b="1" dirty="0">
                <a:ln w="6600">
                  <a:solidFill>
                    <a:schemeClr val="accent2"/>
                  </a:solidFill>
                  <a:prstDash val="solid"/>
                </a:ln>
                <a:solidFill>
                  <a:srgbClr val="FFFFFF"/>
                </a:solidFill>
                <a:effectLst>
                  <a:outerShdw dist="38100" dir="2700000" algn="tl" rotWithShape="0">
                    <a:schemeClr val="accent2"/>
                  </a:outerShdw>
                </a:effectLst>
              </a:rPr>
              <a:t>   Question 15:</a:t>
            </a:r>
            <a:endParaRPr lang="en-US" sz="25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6" name="Google Shape;68;p15"/>
          <p:cNvPicPr preferRelativeResize="0"/>
          <p:nvPr/>
        </p:nvPicPr>
        <p:blipFill rotWithShape="1">
          <a:blip r:embed="rId4"/>
          <a:srcRect l="41241" t="9528" r="-23988" b="51129"/>
          <a:stretch>
            <a:fillRect/>
          </a:stretch>
        </p:blipFill>
        <p:spPr>
          <a:xfrm>
            <a:off x="0" y="4073752"/>
            <a:ext cx="4457700" cy="1065625"/>
          </a:xfrm>
          <a:prstGeom prst="rect">
            <a:avLst/>
          </a:prstGeom>
          <a:noFill/>
          <a:ln>
            <a:noFill/>
          </a:ln>
        </p:spPr>
      </p:pic>
      <p:sp>
        <p:nvSpPr>
          <p:cNvPr id="2" name="Text Box 1"/>
          <p:cNvSpPr txBox="1"/>
          <p:nvPr/>
        </p:nvSpPr>
        <p:spPr>
          <a:xfrm>
            <a:off x="228600" y="1028700"/>
            <a:ext cx="8524875" cy="4413516"/>
          </a:xfrm>
          <a:prstGeom prst="rect">
            <a:avLst/>
          </a:prstGeom>
          <a:noFill/>
        </p:spPr>
        <p:txBody>
          <a:bodyPr wrap="square" rtlCol="0">
            <a:spAutoFit/>
          </a:bodyPr>
          <a:lstStyle/>
          <a:p>
            <a:pPr>
              <a:lnSpc>
                <a:spcPct val="120000"/>
              </a:lnSpc>
            </a:pPr>
            <a:r>
              <a:rPr lang="en-US" sz="1800" dirty="0">
                <a:solidFill>
                  <a:schemeClr val="tx1"/>
                </a:solidFill>
              </a:rPr>
              <a:t>A merchant mixes three varieties of rice costing </a:t>
            </a:r>
            <a:r>
              <a:rPr lang="en-US" sz="1800" dirty="0" err="1">
                <a:solidFill>
                  <a:schemeClr val="tx1"/>
                </a:solidFill>
              </a:rPr>
              <a:t>Rs</a:t>
            </a:r>
            <a:r>
              <a:rPr lang="en-US" sz="1800" dirty="0">
                <a:solidFill>
                  <a:schemeClr val="tx1"/>
                </a:solidFill>
              </a:rPr>
              <a:t>. 20/kg, </a:t>
            </a:r>
            <a:r>
              <a:rPr lang="en-US" sz="1800" dirty="0" err="1">
                <a:solidFill>
                  <a:schemeClr val="tx1"/>
                </a:solidFill>
              </a:rPr>
              <a:t>Rs</a:t>
            </a:r>
            <a:r>
              <a:rPr lang="en-US" sz="1800" dirty="0">
                <a:solidFill>
                  <a:schemeClr val="tx1"/>
                </a:solidFill>
              </a:rPr>
              <a:t>. 24/kg and </a:t>
            </a:r>
            <a:r>
              <a:rPr lang="en-US" sz="1800" dirty="0" err="1">
                <a:solidFill>
                  <a:schemeClr val="tx1"/>
                </a:solidFill>
              </a:rPr>
              <a:t>Rs</a:t>
            </a:r>
            <a:r>
              <a:rPr lang="en-US" sz="1800" dirty="0">
                <a:solidFill>
                  <a:schemeClr val="tx1"/>
                </a:solidFill>
              </a:rPr>
              <a:t>. 30/kg and sells the mixture at a profit of 20% at </a:t>
            </a:r>
            <a:r>
              <a:rPr lang="en-US" sz="1800" dirty="0" err="1">
                <a:solidFill>
                  <a:schemeClr val="tx1"/>
                </a:solidFill>
              </a:rPr>
              <a:t>Rs</a:t>
            </a:r>
            <a:r>
              <a:rPr lang="en-US" sz="1800" dirty="0">
                <a:solidFill>
                  <a:schemeClr val="tx1"/>
                </a:solidFill>
              </a:rPr>
              <a:t>. 30/kg. How many </a:t>
            </a:r>
            <a:r>
              <a:rPr lang="en-US" sz="1800" dirty="0" err="1">
                <a:solidFill>
                  <a:schemeClr val="tx1"/>
                </a:solidFill>
              </a:rPr>
              <a:t>kgs</a:t>
            </a:r>
            <a:r>
              <a:rPr lang="en-US" sz="1800" dirty="0">
                <a:solidFill>
                  <a:schemeClr val="tx1"/>
                </a:solidFill>
              </a:rPr>
              <a:t> of the second variety will be in the mixture if  2 </a:t>
            </a:r>
            <a:r>
              <a:rPr lang="en-US" sz="1800" dirty="0" err="1">
                <a:solidFill>
                  <a:schemeClr val="tx1"/>
                </a:solidFill>
              </a:rPr>
              <a:t>kgs</a:t>
            </a:r>
            <a:r>
              <a:rPr lang="en-US" sz="1800" dirty="0">
                <a:solidFill>
                  <a:schemeClr val="tx1"/>
                </a:solidFill>
              </a:rPr>
              <a:t> of the third variety is there in the mixture?</a:t>
            </a:r>
          </a:p>
          <a:p>
            <a:pPr>
              <a:lnSpc>
                <a:spcPct val="120000"/>
              </a:lnSpc>
            </a:pPr>
            <a:r>
              <a:rPr lang="en-US" sz="1800" dirty="0">
                <a:solidFill>
                  <a:schemeClr val="tx1"/>
                </a:solidFill>
              </a:rPr>
              <a:t>A. 1 kg</a:t>
            </a:r>
          </a:p>
          <a:p>
            <a:pPr>
              <a:lnSpc>
                <a:spcPct val="120000"/>
              </a:lnSpc>
            </a:pPr>
            <a:r>
              <a:rPr lang="en-US" sz="1800" dirty="0">
                <a:solidFill>
                  <a:schemeClr val="tx1"/>
                </a:solidFill>
              </a:rPr>
              <a:t>B. 3 </a:t>
            </a:r>
            <a:r>
              <a:rPr lang="en-US" sz="1800" dirty="0" err="1">
                <a:solidFill>
                  <a:schemeClr val="tx1"/>
                </a:solidFill>
              </a:rPr>
              <a:t>kgs</a:t>
            </a:r>
            <a:endParaRPr lang="en-US" sz="1800" dirty="0">
              <a:solidFill>
                <a:schemeClr val="tx1"/>
              </a:solidFill>
            </a:endParaRPr>
          </a:p>
          <a:p>
            <a:pPr>
              <a:lnSpc>
                <a:spcPct val="120000"/>
              </a:lnSpc>
            </a:pPr>
            <a:r>
              <a:rPr lang="en-US" sz="1800" dirty="0">
                <a:solidFill>
                  <a:schemeClr val="tx1"/>
                </a:solidFill>
              </a:rPr>
              <a:t>C. 5 </a:t>
            </a:r>
            <a:r>
              <a:rPr lang="en-US" sz="1800" dirty="0" err="1">
                <a:solidFill>
                  <a:schemeClr val="tx1"/>
                </a:solidFill>
              </a:rPr>
              <a:t>kgs</a:t>
            </a:r>
            <a:endParaRPr lang="en-US" sz="1800" dirty="0">
              <a:solidFill>
                <a:schemeClr val="tx1"/>
              </a:solidFill>
            </a:endParaRPr>
          </a:p>
          <a:p>
            <a:pPr>
              <a:lnSpc>
                <a:spcPct val="120000"/>
              </a:lnSpc>
            </a:pPr>
            <a:r>
              <a:rPr lang="en-US" sz="1800" dirty="0">
                <a:solidFill>
                  <a:schemeClr val="tx1"/>
                </a:solidFill>
              </a:rPr>
              <a:t>D. 6 </a:t>
            </a:r>
            <a:r>
              <a:rPr lang="en-US" sz="1800" dirty="0" err="1">
                <a:solidFill>
                  <a:schemeClr val="tx1"/>
                </a:solidFill>
              </a:rPr>
              <a:t>kgs</a:t>
            </a:r>
            <a:endParaRPr lang="en-US" sz="1800" dirty="0">
              <a:solidFill>
                <a:schemeClr val="tx1"/>
              </a:solidFill>
            </a:endParaRPr>
          </a:p>
          <a:p>
            <a:pPr>
              <a:lnSpc>
                <a:spcPct val="120000"/>
              </a:lnSpc>
            </a:pPr>
            <a:endParaRPr lang="en-US" sz="1800" dirty="0">
              <a:solidFill>
                <a:schemeClr val="tx1"/>
              </a:solidFill>
            </a:endParaRPr>
          </a:p>
          <a:p>
            <a:pPr>
              <a:lnSpc>
                <a:spcPct val="120000"/>
              </a:lnSpc>
            </a:pPr>
            <a:endParaRPr lang="en-US" sz="1800" dirty="0">
              <a:solidFill>
                <a:schemeClr val="tx1"/>
              </a:solidFill>
            </a:endParaRPr>
          </a:p>
          <a:p>
            <a:pPr>
              <a:lnSpc>
                <a:spcPct val="120000"/>
              </a:lnSpc>
            </a:pPr>
            <a:r>
              <a:rPr lang="en-US" sz="1800" dirty="0">
                <a:solidFill>
                  <a:schemeClr val="tx1"/>
                </a:solidFill>
              </a:rPr>
              <a:t>							</a:t>
            </a:r>
            <a:r>
              <a:rPr lang="en-US" sz="1800" b="1" dirty="0">
                <a:solidFill>
                  <a:schemeClr val="tx1"/>
                </a:solidFill>
              </a:rPr>
              <a:t>Answer: C</a:t>
            </a:r>
            <a:endParaRPr lang="en-US" sz="1800" dirty="0">
              <a:solidFill>
                <a:schemeClr val="tx1"/>
              </a:solidFill>
            </a:endParaRPr>
          </a:p>
          <a:p>
            <a:pPr>
              <a:lnSpc>
                <a:spcPct val="120000"/>
              </a:lnSpc>
            </a:pPr>
            <a:endParaRPr lang="en-US" sz="1800" dirty="0">
              <a:solidFill>
                <a:schemeClr val="tx1"/>
              </a:solidFill>
            </a:endParaRPr>
          </a:p>
          <a:p>
            <a:pPr>
              <a:lnSpc>
                <a:spcPct val="120000"/>
              </a:lnSpc>
            </a:pPr>
            <a:endParaRPr lang="en-US" sz="18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 calcmode="lin" valueType="num">
                                      <p:cBhvr additive="base">
                                        <p:cTn id="37"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8600" y="876300"/>
            <a:ext cx="8603700" cy="4064000"/>
          </a:xfrm>
        </p:spPr>
        <p:txBody>
          <a:bodyPr/>
          <a:lstStyle/>
          <a:p>
            <a:pPr>
              <a:buNone/>
            </a:pPr>
            <a:r>
              <a:rPr lang="en-US" dirty="0">
                <a:solidFill>
                  <a:schemeClr val="tx1"/>
                </a:solidFill>
              </a:rPr>
              <a:t>If the selling price of the mixture is Rs.30/kg and the merchant makes a profit of</a:t>
            </a:r>
          </a:p>
          <a:p>
            <a:pPr>
              <a:buNone/>
            </a:pPr>
            <a:r>
              <a:rPr lang="en-US" dirty="0">
                <a:solidFill>
                  <a:schemeClr val="tx1"/>
                </a:solidFill>
              </a:rPr>
              <a:t>20%, then the cost price of the mixture =30/1.2= Rs.25/kg. </a:t>
            </a:r>
          </a:p>
          <a:p>
            <a:pPr>
              <a:buNone/>
            </a:pPr>
            <a:r>
              <a:rPr lang="en-US" dirty="0">
                <a:solidFill>
                  <a:schemeClr val="tx1"/>
                </a:solidFill>
              </a:rPr>
              <a:t>We need to find out the ratio in which the three varieties are mixed to obtain a</a:t>
            </a:r>
          </a:p>
          <a:p>
            <a:pPr>
              <a:buNone/>
            </a:pPr>
            <a:r>
              <a:rPr lang="en-US" dirty="0">
                <a:solidFill>
                  <a:schemeClr val="tx1"/>
                </a:solidFill>
              </a:rPr>
              <a:t>mixture costing Rs.25 /kg. </a:t>
            </a:r>
          </a:p>
          <a:p>
            <a:pPr>
              <a:buNone/>
            </a:pPr>
            <a:r>
              <a:rPr lang="en-US" dirty="0">
                <a:solidFill>
                  <a:schemeClr val="tx1"/>
                </a:solidFill>
              </a:rPr>
              <a:t>Let variety A cost Rs.20/kg, variety B cost Rs.24 / kg and variety C cost</a:t>
            </a:r>
          </a:p>
          <a:p>
            <a:pPr>
              <a:buNone/>
            </a:pPr>
            <a:r>
              <a:rPr lang="en-US" dirty="0">
                <a:solidFill>
                  <a:schemeClr val="tx1"/>
                </a:solidFill>
              </a:rPr>
              <a:t>Rs.30/kg.</a:t>
            </a:r>
          </a:p>
          <a:p>
            <a:pPr>
              <a:buNone/>
            </a:pPr>
            <a:r>
              <a:rPr lang="en-US" dirty="0">
                <a:solidFill>
                  <a:schemeClr val="tx1"/>
                </a:solidFill>
              </a:rPr>
              <a:t>The mean desired price falls between B and C</a:t>
            </a:r>
          </a:p>
          <a:p>
            <a:pPr>
              <a:buNone/>
            </a:pPr>
            <a:r>
              <a:rPr lang="en-US" b="1" dirty="0">
                <a:solidFill>
                  <a:schemeClr val="tx1"/>
                </a:solidFill>
              </a:rPr>
              <a:t>Step 1: </a:t>
            </a:r>
          </a:p>
          <a:p>
            <a:pPr>
              <a:buNone/>
            </a:pPr>
            <a:r>
              <a:rPr lang="en-US" dirty="0">
                <a:solidFill>
                  <a:schemeClr val="tx1"/>
                </a:solidFill>
              </a:rPr>
              <a:t>Find out the ratio </a:t>
            </a:r>
            <a:r>
              <a:rPr lang="en-US" dirty="0" err="1">
                <a:solidFill>
                  <a:schemeClr val="tx1"/>
                </a:solidFill>
              </a:rPr>
              <a:t>Qa:Qc</a:t>
            </a:r>
            <a:r>
              <a:rPr lang="en-US" dirty="0">
                <a:solidFill>
                  <a:schemeClr val="tx1"/>
                </a:solidFill>
              </a:rPr>
              <a:t> using </a:t>
            </a:r>
            <a:r>
              <a:rPr lang="en-US" dirty="0" err="1">
                <a:solidFill>
                  <a:schemeClr val="tx1"/>
                </a:solidFill>
              </a:rPr>
              <a:t>alligation</a:t>
            </a:r>
            <a:r>
              <a:rPr lang="en-US" dirty="0">
                <a:solidFill>
                  <a:schemeClr val="tx1"/>
                </a:solidFill>
              </a:rPr>
              <a:t> rule. </a:t>
            </a:r>
          </a:p>
          <a:p>
            <a:pPr>
              <a:buNone/>
            </a:pPr>
            <a:r>
              <a:rPr lang="en-US" dirty="0" err="1">
                <a:solidFill>
                  <a:schemeClr val="tx1"/>
                </a:solidFill>
              </a:rPr>
              <a:t>Qa</a:t>
            </a:r>
            <a:r>
              <a:rPr lang="en-US" dirty="0">
                <a:solidFill>
                  <a:schemeClr val="tx1"/>
                </a:solidFill>
              </a:rPr>
              <a:t>/Qc=(30−25/25−20)=1/1</a:t>
            </a:r>
          </a:p>
          <a:p>
            <a:pPr>
              <a:buNone/>
            </a:pPr>
            <a:endParaRPr lang="en-US" dirty="0">
              <a:solidFill>
                <a:schemeClr val="tx1"/>
              </a:solidFill>
            </a:endParaRPr>
          </a:p>
        </p:txBody>
      </p:sp>
      <p:pic>
        <p:nvPicPr>
          <p:cNvPr id="4" name="Google Shape;69;p15"/>
          <p:cNvPicPr preferRelativeResize="0"/>
          <p:nvPr/>
        </p:nvPicPr>
        <p:blipFill>
          <a:blip r:embed="rId3"/>
          <a:stretch>
            <a:fillRect/>
          </a:stretch>
        </p:blipFill>
        <p:spPr>
          <a:xfrm>
            <a:off x="7120800" y="233550"/>
            <a:ext cx="1694264" cy="766799"/>
          </a:xfrm>
          <a:prstGeom prst="rect">
            <a:avLst/>
          </a:prstGeom>
          <a:noFill/>
          <a:ln>
            <a:noFill/>
          </a:ln>
        </p:spPr>
      </p:pic>
      <p:sp>
        <p:nvSpPr>
          <p:cNvPr id="5" name="Google Shape;70;p15"/>
          <p:cNvSpPr>
            <a:spLocks noGrp="1"/>
          </p:cNvSpPr>
          <p:nvPr>
            <p:ph type="title"/>
          </p:nvPr>
        </p:nvSpPr>
        <p:spPr>
          <a:xfrm>
            <a:off x="0" y="190500"/>
            <a:ext cx="6903218" cy="573175"/>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r>
              <a:rPr lang="en-IN" sz="2500" b="1" dirty="0">
                <a:ln w="6600">
                  <a:solidFill>
                    <a:schemeClr val="accent2"/>
                  </a:solidFill>
                  <a:prstDash val="solid"/>
                </a:ln>
                <a:solidFill>
                  <a:srgbClr val="FFFFFF"/>
                </a:solidFill>
                <a:effectLst>
                  <a:outerShdw dist="38100" dir="2700000" algn="tl" rotWithShape="0">
                    <a:schemeClr val="accent2"/>
                  </a:outerShdw>
                </a:effectLst>
              </a:rPr>
              <a:t>   Explanation:</a:t>
            </a:r>
            <a:endParaRPr lang="en-US" sz="25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6" name="Google Shape;68;p15"/>
          <p:cNvPicPr preferRelativeResize="0"/>
          <p:nvPr/>
        </p:nvPicPr>
        <p:blipFill rotWithShape="1">
          <a:blip r:embed="rId4"/>
          <a:srcRect l="41241" t="9528" r="-23988" b="51129"/>
          <a:stretch>
            <a:fillRect/>
          </a:stretch>
        </p:blipFill>
        <p:spPr>
          <a:xfrm>
            <a:off x="0" y="4073752"/>
            <a:ext cx="4457700" cy="1065625"/>
          </a:xfrm>
          <a:prstGeom prst="rect">
            <a:avLst/>
          </a:prstGeom>
          <a:noFill/>
          <a:ln>
            <a:noFill/>
          </a:ln>
        </p:spPr>
      </p:pic>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8600" y="876300"/>
            <a:ext cx="8603700" cy="4064000"/>
          </a:xfrm>
        </p:spPr>
        <p:txBody>
          <a:bodyPr/>
          <a:lstStyle/>
          <a:p>
            <a:pPr>
              <a:buNone/>
            </a:pPr>
            <a:r>
              <a:rPr lang="en-US" b="1" dirty="0">
                <a:solidFill>
                  <a:schemeClr val="tx1"/>
                </a:solidFill>
              </a:rPr>
              <a:t>Step 2:</a:t>
            </a:r>
          </a:p>
          <a:p>
            <a:pPr>
              <a:buNone/>
            </a:pPr>
            <a:r>
              <a:rPr lang="en-US" dirty="0">
                <a:solidFill>
                  <a:schemeClr val="tx1"/>
                </a:solidFill>
              </a:rPr>
              <a:t>Find out the ratio </a:t>
            </a:r>
            <a:r>
              <a:rPr lang="en-US" dirty="0" err="1">
                <a:solidFill>
                  <a:schemeClr val="tx1"/>
                </a:solidFill>
              </a:rPr>
              <a:t>Qb:Qc</a:t>
            </a:r>
            <a:r>
              <a:rPr lang="en-US" dirty="0">
                <a:solidFill>
                  <a:schemeClr val="tx1"/>
                </a:solidFill>
              </a:rPr>
              <a:t> using </a:t>
            </a:r>
            <a:r>
              <a:rPr lang="en-US" dirty="0" err="1">
                <a:solidFill>
                  <a:schemeClr val="tx1"/>
                </a:solidFill>
              </a:rPr>
              <a:t>alligation</a:t>
            </a:r>
            <a:r>
              <a:rPr lang="en-US" dirty="0">
                <a:solidFill>
                  <a:schemeClr val="tx1"/>
                </a:solidFill>
              </a:rPr>
              <a:t> rule.   </a:t>
            </a:r>
          </a:p>
          <a:p>
            <a:pPr>
              <a:buNone/>
            </a:pPr>
            <a:r>
              <a:rPr lang="en-US" dirty="0" err="1">
                <a:solidFill>
                  <a:schemeClr val="tx1"/>
                </a:solidFill>
              </a:rPr>
              <a:t>Qb</a:t>
            </a:r>
            <a:r>
              <a:rPr lang="en-US" dirty="0">
                <a:solidFill>
                  <a:schemeClr val="tx1"/>
                </a:solidFill>
              </a:rPr>
              <a:t>/Qc=(30−25/25−24)=5/1</a:t>
            </a:r>
          </a:p>
          <a:p>
            <a:pPr>
              <a:buNone/>
            </a:pPr>
            <a:r>
              <a:rPr lang="en-US" b="1" dirty="0">
                <a:solidFill>
                  <a:schemeClr val="tx1"/>
                </a:solidFill>
              </a:rPr>
              <a:t>Step 3: </a:t>
            </a:r>
          </a:p>
          <a:p>
            <a:pPr>
              <a:buNone/>
            </a:pPr>
            <a:r>
              <a:rPr lang="en-US" dirty="0">
                <a:solidFill>
                  <a:schemeClr val="tx1"/>
                </a:solidFill>
              </a:rPr>
              <a:t>Qc is found by adding the value of Qc in step 1 and step 2 =1+1=2</a:t>
            </a:r>
          </a:p>
          <a:p>
            <a:pPr>
              <a:buNone/>
            </a:pPr>
            <a:br>
              <a:rPr lang="en-US" dirty="0">
                <a:solidFill>
                  <a:schemeClr val="tx1"/>
                </a:solidFill>
              </a:rPr>
            </a:br>
            <a:endParaRPr lang="en-IN" dirty="0">
              <a:solidFill>
                <a:schemeClr val="tx1"/>
              </a:solidFill>
            </a:endParaRPr>
          </a:p>
        </p:txBody>
      </p:sp>
      <p:pic>
        <p:nvPicPr>
          <p:cNvPr id="4" name="Google Shape;69;p15"/>
          <p:cNvPicPr preferRelativeResize="0"/>
          <p:nvPr/>
        </p:nvPicPr>
        <p:blipFill>
          <a:blip r:embed="rId3"/>
          <a:stretch>
            <a:fillRect/>
          </a:stretch>
        </p:blipFill>
        <p:spPr>
          <a:xfrm>
            <a:off x="7120800" y="233550"/>
            <a:ext cx="1694264" cy="766799"/>
          </a:xfrm>
          <a:prstGeom prst="rect">
            <a:avLst/>
          </a:prstGeom>
          <a:noFill/>
          <a:ln>
            <a:noFill/>
          </a:ln>
        </p:spPr>
      </p:pic>
      <p:sp>
        <p:nvSpPr>
          <p:cNvPr id="5" name="Google Shape;70;p15"/>
          <p:cNvSpPr>
            <a:spLocks noGrp="1"/>
          </p:cNvSpPr>
          <p:nvPr>
            <p:ph type="title"/>
          </p:nvPr>
        </p:nvSpPr>
        <p:spPr>
          <a:xfrm>
            <a:off x="0" y="190500"/>
            <a:ext cx="6903218" cy="573175"/>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r>
              <a:rPr lang="en-IN" sz="2500" b="1" dirty="0">
                <a:ln w="6600">
                  <a:solidFill>
                    <a:schemeClr val="accent2"/>
                  </a:solidFill>
                  <a:prstDash val="solid"/>
                </a:ln>
                <a:solidFill>
                  <a:srgbClr val="FFFFFF"/>
                </a:solidFill>
                <a:effectLst>
                  <a:outerShdw dist="38100" dir="2700000" algn="tl" rotWithShape="0">
                    <a:schemeClr val="accent2"/>
                  </a:outerShdw>
                </a:effectLst>
              </a:rPr>
              <a:t>   Explanation:</a:t>
            </a:r>
            <a:endParaRPr lang="en-US" sz="25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6" name="Google Shape;68;p15"/>
          <p:cNvPicPr preferRelativeResize="0"/>
          <p:nvPr/>
        </p:nvPicPr>
        <p:blipFill rotWithShape="1">
          <a:blip r:embed="rId4"/>
          <a:srcRect l="41241" t="9528" r="-23988" b="51129"/>
          <a:stretch>
            <a:fillRect/>
          </a:stretch>
        </p:blipFill>
        <p:spPr>
          <a:xfrm>
            <a:off x="0" y="4073752"/>
            <a:ext cx="4457700" cy="1065625"/>
          </a:xfrm>
          <a:prstGeom prst="rect">
            <a:avLst/>
          </a:prstGeom>
          <a:noFill/>
          <a:ln>
            <a:noFill/>
          </a:ln>
        </p:spPr>
      </p:pic>
    </p:spTree>
  </p:cSld>
  <p:clrMapOvr>
    <a:masterClrMapping/>
  </p:clrMapOvr>
  <p:transition/>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TotalTime>
  <Words>2825</Words>
  <Application>Microsoft Office PowerPoint</Application>
  <PresentationFormat>On-screen Show (16:9)</PresentationFormat>
  <Paragraphs>278</Paragraphs>
  <Slides>35</Slides>
  <Notes>35</Notes>
  <HiddenSlides>19</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MathJax_Main</vt:lpstr>
      <vt:lpstr>Helvetica Neue</vt:lpstr>
      <vt:lpstr>MathJax_Math-italic</vt:lpstr>
      <vt:lpstr>Arial</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Question 07:</vt:lpstr>
      <vt:lpstr>   Explanation:</vt:lpstr>
      <vt:lpstr>   Question 08:</vt:lpstr>
      <vt:lpstr>   Explanation:</vt:lpstr>
      <vt:lpstr>   Question 09:</vt:lpstr>
      <vt:lpstr>       Explanation: </vt:lpstr>
      <vt:lpstr>   Question 10:</vt:lpstr>
      <vt:lpstr>   Explanation:</vt:lpstr>
      <vt:lpstr>   Question 11:</vt:lpstr>
      <vt:lpstr>   Explanation:</vt:lpstr>
      <vt:lpstr>   Question 12:</vt:lpstr>
      <vt:lpstr>   Explanation:</vt:lpstr>
      <vt:lpstr>   Question 13:</vt:lpstr>
      <vt:lpstr>   Explanation:</vt:lpstr>
      <vt:lpstr>   Question 14 :</vt:lpstr>
      <vt:lpstr>   Explanation:</vt:lpstr>
      <vt:lpstr>   Question 15:</vt:lpstr>
      <vt:lpstr>   Explanation:</vt:lpstr>
      <vt:lpstr>   Explanation: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sushmitha</dc:creator>
  <cp:lastModifiedBy>POOJITHA</cp:lastModifiedBy>
  <cp:revision>614</cp:revision>
  <dcterms:created xsi:type="dcterms:W3CDTF">2019-12-12T06:54:28Z</dcterms:created>
  <dcterms:modified xsi:type="dcterms:W3CDTF">2024-02-29T05:29:14Z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1033-10.1.0.6757</vt:lpwstr>
  </property>
</Properties>
</file>