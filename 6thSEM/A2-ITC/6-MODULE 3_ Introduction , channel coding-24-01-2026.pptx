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786" r:id="rId2"/>
    <p:sldId id="787" r:id="rId3"/>
    <p:sldId id="760" r:id="rId4"/>
    <p:sldId id="761" r:id="rId5"/>
    <p:sldId id="762" r:id="rId6"/>
    <p:sldId id="763" r:id="rId7"/>
    <p:sldId id="766" r:id="rId8"/>
    <p:sldId id="764" r:id="rId9"/>
    <p:sldId id="765" r:id="rId10"/>
    <p:sldId id="768" r:id="rId11"/>
    <p:sldId id="767" r:id="rId12"/>
    <p:sldId id="769" r:id="rId13"/>
    <p:sldId id="770" r:id="rId14"/>
    <p:sldId id="771" r:id="rId15"/>
    <p:sldId id="772" r:id="rId16"/>
    <p:sldId id="773" r:id="rId17"/>
    <p:sldId id="775" r:id="rId18"/>
    <p:sldId id="774" r:id="rId19"/>
    <p:sldId id="776" r:id="rId20"/>
    <p:sldId id="785" r:id="rId21"/>
    <p:sldId id="777" r:id="rId22"/>
    <p:sldId id="778" r:id="rId23"/>
    <p:sldId id="779" r:id="rId24"/>
    <p:sldId id="780" r:id="rId25"/>
    <p:sldId id="781" r:id="rId26"/>
    <p:sldId id="782" r:id="rId27"/>
    <p:sldId id="7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60"/>
  </p:normalViewPr>
  <p:slideViewPr>
    <p:cSldViewPr snapToGrid="0">
      <p:cViewPr varScale="1">
        <p:scale>
          <a:sx n="78" d="100"/>
          <a:sy n="78" d="100"/>
        </p:scale>
        <p:origin x="874"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B4F893-DF5F-4A3B-AF46-4FFD08C68E9A}"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18D4-E752-40F5-AC7A-051EE8BE05E9}" type="slidenum">
              <a:rPr lang="en-US" smtClean="0"/>
              <a:t>‹#›</a:t>
            </a:fld>
            <a:endParaRPr lang="en-US"/>
          </a:p>
        </p:txBody>
      </p:sp>
    </p:spTree>
    <p:extLst>
      <p:ext uri="{BB962C8B-B14F-4D97-AF65-F5344CB8AC3E}">
        <p14:creationId xmlns:p14="http://schemas.microsoft.com/office/powerpoint/2010/main" val="3083136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5050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455740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4130761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755988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118847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066568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022043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922535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562326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466879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375069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128103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238310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307220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267966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177765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492401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097529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389960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195124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473193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0184215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733739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627136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814399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A58355-9BD2-49A1-8268-22E65F3DD6AA}" type="datetime1">
              <a:rPr lang="en-IN" smtClean="0"/>
              <a:t>23-01-2026</a:t>
            </a:fld>
            <a:endParaRPr lang="en-IN"/>
          </a:p>
        </p:txBody>
      </p:sp>
      <p:sp>
        <p:nvSpPr>
          <p:cNvPr id="5" name="Footer Placeholder 4"/>
          <p:cNvSpPr>
            <a:spLocks noGrp="1"/>
          </p:cNvSpPr>
          <p:nvPr>
            <p:ph type="ftr" sz="quarter" idx="11"/>
          </p:nvPr>
        </p:nvSpPr>
        <p:spPr/>
        <p:txBody>
          <a:bodyPr/>
          <a:lstStyle/>
          <a:p>
            <a:r>
              <a:rPr lang="en-IN"/>
              <a:t>Dr Saladi Saritha</a:t>
            </a:r>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335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6EBB0B-25C7-45AF-9616-7A4ECE3E6692}" type="datetime1">
              <a:rPr lang="en-IN" smtClean="0"/>
              <a:t>23-01-2026</a:t>
            </a:fld>
            <a:endParaRPr lang="en-IN"/>
          </a:p>
        </p:txBody>
      </p:sp>
      <p:sp>
        <p:nvSpPr>
          <p:cNvPr id="5" name="Footer Placeholder 4"/>
          <p:cNvSpPr>
            <a:spLocks noGrp="1"/>
          </p:cNvSpPr>
          <p:nvPr>
            <p:ph type="ftr" sz="quarter" idx="11"/>
          </p:nvPr>
        </p:nvSpPr>
        <p:spPr/>
        <p:txBody>
          <a:bodyPr/>
          <a:lstStyle/>
          <a:p>
            <a:r>
              <a:rPr lang="en-IN"/>
              <a:t>Dr Saladi Saritha</a:t>
            </a:r>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312168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43CDC6-7E98-4AAC-A4E0-267F9611280C}" type="datetime1">
              <a:rPr lang="en-IN" smtClean="0"/>
              <a:t>23-01-2026</a:t>
            </a:fld>
            <a:endParaRPr lang="en-IN"/>
          </a:p>
        </p:txBody>
      </p:sp>
      <p:sp>
        <p:nvSpPr>
          <p:cNvPr id="5" name="Footer Placeholder 4"/>
          <p:cNvSpPr>
            <a:spLocks noGrp="1"/>
          </p:cNvSpPr>
          <p:nvPr>
            <p:ph type="ftr" sz="quarter" idx="11"/>
          </p:nvPr>
        </p:nvSpPr>
        <p:spPr/>
        <p:txBody>
          <a:bodyPr/>
          <a:lstStyle/>
          <a:p>
            <a:r>
              <a:rPr lang="en-IN"/>
              <a:t>Dr Saladi Saritha</a:t>
            </a:r>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342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00DD20-8B1E-4FA6-902C-C01DDE2EAA6A}" type="datetime1">
              <a:rPr lang="en-IN" smtClean="0"/>
              <a:t>23-01-2026</a:t>
            </a:fld>
            <a:endParaRPr lang="en-IN"/>
          </a:p>
        </p:txBody>
      </p:sp>
      <p:sp>
        <p:nvSpPr>
          <p:cNvPr id="6" name="Footer Placeholder 5"/>
          <p:cNvSpPr>
            <a:spLocks noGrp="1"/>
          </p:cNvSpPr>
          <p:nvPr>
            <p:ph type="ftr" sz="quarter" idx="11"/>
          </p:nvPr>
        </p:nvSpPr>
        <p:spPr/>
        <p:txBody>
          <a:bodyPr/>
          <a:lstStyle/>
          <a:p>
            <a:r>
              <a:rPr lang="en-IN"/>
              <a:t>Dr Saladi Saritha</a:t>
            </a:r>
          </a:p>
        </p:txBody>
      </p:sp>
      <p:sp>
        <p:nvSpPr>
          <p:cNvPr id="7" name="Slide Number Placeholder 6"/>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565862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1F7177-15B8-4491-8494-2A564FED7D24}" type="datetime1">
              <a:rPr lang="en-IN" smtClean="0"/>
              <a:t>23-01-2026</a:t>
            </a:fld>
            <a:endParaRPr lang="en-IN"/>
          </a:p>
        </p:txBody>
      </p:sp>
      <p:sp>
        <p:nvSpPr>
          <p:cNvPr id="8" name="Footer Placeholder 7"/>
          <p:cNvSpPr>
            <a:spLocks noGrp="1"/>
          </p:cNvSpPr>
          <p:nvPr>
            <p:ph type="ftr" sz="quarter" idx="11"/>
          </p:nvPr>
        </p:nvSpPr>
        <p:spPr/>
        <p:txBody>
          <a:bodyPr/>
          <a:lstStyle/>
          <a:p>
            <a:r>
              <a:rPr lang="en-IN"/>
              <a:t>Dr Saladi Saritha</a:t>
            </a:r>
          </a:p>
        </p:txBody>
      </p:sp>
      <p:sp>
        <p:nvSpPr>
          <p:cNvPr id="9" name="Slide Number Placeholder 8"/>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484244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D5084A-8C7C-4AB7-8E28-46EB052251F0}" type="datetime1">
              <a:rPr lang="en-IN" smtClean="0"/>
              <a:t>23-01-2026</a:t>
            </a:fld>
            <a:endParaRPr lang="en-IN"/>
          </a:p>
        </p:txBody>
      </p:sp>
      <p:sp>
        <p:nvSpPr>
          <p:cNvPr id="4" name="Footer Placeholder 3"/>
          <p:cNvSpPr>
            <a:spLocks noGrp="1"/>
          </p:cNvSpPr>
          <p:nvPr>
            <p:ph type="ftr" sz="quarter" idx="11"/>
          </p:nvPr>
        </p:nvSpPr>
        <p:spPr/>
        <p:txBody>
          <a:bodyPr/>
          <a:lstStyle/>
          <a:p>
            <a:r>
              <a:rPr lang="en-IN"/>
              <a:t>Dr Saladi Saritha</a:t>
            </a:r>
          </a:p>
        </p:txBody>
      </p:sp>
      <p:sp>
        <p:nvSpPr>
          <p:cNvPr id="5" name="Slide Number Placeholder 4"/>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70261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7910396-1B70-4FEF-86CF-C2A0978E5486}" type="datetime1">
              <a:rPr lang="en-IN" smtClean="0"/>
              <a:t>23-01-2026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Dr Saladi Saritha</a:t>
            </a:r>
          </a:p>
        </p:txBody>
      </p:sp>
      <p:sp>
        <p:nvSpPr>
          <p:cNvPr id="9" name="Slide Number Placeholder 8"/>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720446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2AD756B-7037-4CFB-B4B4-79778D4B28DE}" type="datetime1">
              <a:rPr lang="en-IN" smtClean="0"/>
              <a:t>23-01-2026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Dr Saladi Saritha</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AEA75B2-F555-4190-9D20-7B0AA5D969FF}" type="slidenum">
              <a:rPr lang="en-IN" smtClean="0"/>
              <a:t>‹#›</a:t>
            </a:fld>
            <a:endParaRPr lang="en-IN"/>
          </a:p>
        </p:txBody>
      </p:sp>
    </p:spTree>
    <p:extLst>
      <p:ext uri="{BB962C8B-B14F-4D97-AF65-F5344CB8AC3E}">
        <p14:creationId xmlns:p14="http://schemas.microsoft.com/office/powerpoint/2010/main" val="2996545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C41B4D-3443-48DD-B38D-25B19E83021E}" type="datetime1">
              <a:rPr lang="en-IN" smtClean="0"/>
              <a:t>23-01-2026</a:t>
            </a:fld>
            <a:endParaRPr lang="en-IN"/>
          </a:p>
        </p:txBody>
      </p:sp>
      <p:sp>
        <p:nvSpPr>
          <p:cNvPr id="6" name="Footer Placeholder 5"/>
          <p:cNvSpPr>
            <a:spLocks noGrp="1"/>
          </p:cNvSpPr>
          <p:nvPr>
            <p:ph type="ftr" sz="quarter" idx="11"/>
          </p:nvPr>
        </p:nvSpPr>
        <p:spPr/>
        <p:txBody>
          <a:bodyPr/>
          <a:lstStyle/>
          <a:p>
            <a:r>
              <a:rPr lang="en-IN"/>
              <a:t>Dr Saladi Saritha</a:t>
            </a:r>
          </a:p>
        </p:txBody>
      </p:sp>
      <p:sp>
        <p:nvSpPr>
          <p:cNvPr id="7" name="Slide Number Placeholder 6"/>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33743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19A40F-A1C1-4BD3-9BBC-990C583A9064}" type="datetime1">
              <a:rPr lang="en-IN" smtClean="0"/>
              <a:t>23-01-2026</a:t>
            </a:fld>
            <a:endParaRPr lang="en-IN"/>
          </a:p>
        </p:txBody>
      </p:sp>
      <p:sp>
        <p:nvSpPr>
          <p:cNvPr id="5" name="Footer Placeholder 4"/>
          <p:cNvSpPr>
            <a:spLocks noGrp="1"/>
          </p:cNvSpPr>
          <p:nvPr>
            <p:ph type="ftr" sz="quarter" idx="11"/>
          </p:nvPr>
        </p:nvSpPr>
        <p:spPr/>
        <p:txBody>
          <a:bodyPr/>
          <a:lstStyle/>
          <a:p>
            <a:r>
              <a:rPr lang="en-IN"/>
              <a:t>Dr Saladi Saritha</a:t>
            </a:r>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488476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0E236D-3526-43E2-A135-6A1F0CD1935E}" type="datetime1">
              <a:rPr lang="en-IN" smtClean="0"/>
              <a:t>23-01-2026</a:t>
            </a:fld>
            <a:endParaRPr lang="en-IN"/>
          </a:p>
        </p:txBody>
      </p:sp>
      <p:sp>
        <p:nvSpPr>
          <p:cNvPr id="5" name="Footer Placeholder 4"/>
          <p:cNvSpPr>
            <a:spLocks noGrp="1"/>
          </p:cNvSpPr>
          <p:nvPr>
            <p:ph type="ftr" sz="quarter" idx="11"/>
          </p:nvPr>
        </p:nvSpPr>
        <p:spPr/>
        <p:txBody>
          <a:bodyPr/>
          <a:lstStyle/>
          <a:p>
            <a:r>
              <a:rPr lang="en-IN"/>
              <a:t>Dr Saladi Saritha</a:t>
            </a:r>
          </a:p>
        </p:txBody>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96657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51F5FB8-4EBA-4CC9-A2D1-C053E6D7488B}" type="datetime1">
              <a:rPr lang="en-IN" smtClean="0"/>
              <a:t>23-01-2026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Dr Saladi Saritha</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AEA75B2-F555-4190-9D20-7B0AA5D969FF}"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0762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8.emf"/><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B9CDB-30C5-4DF0-81D5-2147421AFE19}"/>
              </a:ext>
            </a:extLst>
          </p:cNvPr>
          <p:cNvSpPr>
            <a:spLocks noGrp="1"/>
          </p:cNvSpPr>
          <p:nvPr>
            <p:ph type="ctrTitle"/>
          </p:nvPr>
        </p:nvSpPr>
        <p:spPr>
          <a:xfrm>
            <a:off x="1359108" y="1057457"/>
            <a:ext cx="9144000" cy="1655762"/>
          </a:xfrm>
        </p:spPr>
        <p:txBody>
          <a:bodyPr>
            <a:normAutofit fontScale="90000"/>
          </a:bodyPr>
          <a:lstStyle/>
          <a:p>
            <a:r>
              <a:rPr lang="en-US" sz="4800" b="1" dirty="0">
                <a:solidFill>
                  <a:srgbClr val="000000"/>
                </a:solidFill>
                <a:effectLst/>
                <a:latin typeface="Times New Roman" panose="02020603050405020304" pitchFamily="18" charset="0"/>
                <a:ea typeface="Calibri" panose="020F0502020204030204" pitchFamily="34" charset="0"/>
              </a:rPr>
              <a:t>Information Theory and Coding</a:t>
            </a:r>
            <a:br>
              <a:rPr lang="en-US" sz="4800" b="1" dirty="0">
                <a:solidFill>
                  <a:srgbClr val="000000"/>
                </a:solidFill>
                <a:effectLst/>
                <a:latin typeface="Times New Roman" panose="02020603050405020304" pitchFamily="18" charset="0"/>
                <a:ea typeface="Calibri" panose="020F0502020204030204" pitchFamily="34" charset="0"/>
              </a:rPr>
            </a:br>
            <a:br>
              <a:rPr lang="en-US" sz="4800" b="1" dirty="0">
                <a:solidFill>
                  <a:srgbClr val="000000"/>
                </a:solidFill>
                <a:effectLst/>
                <a:latin typeface="Times New Roman" panose="02020603050405020304" pitchFamily="18" charset="0"/>
                <a:ea typeface="Calibri" panose="020F0502020204030204" pitchFamily="34" charset="0"/>
              </a:rPr>
            </a:br>
            <a:r>
              <a:rPr lang="en-US" sz="2800" b="1" dirty="0">
                <a:solidFill>
                  <a:srgbClr val="000000"/>
                </a:solidFill>
                <a:effectLst/>
                <a:latin typeface="Times New Roman" panose="02020603050405020304" pitchFamily="18" charset="0"/>
                <a:ea typeface="Calibri" panose="020F0502020204030204" pitchFamily="34" charset="0"/>
              </a:rPr>
              <a:t>Module </a:t>
            </a:r>
            <a:r>
              <a:rPr lang="en-US" sz="2800" b="1" dirty="0">
                <a:solidFill>
                  <a:srgbClr val="000000"/>
                </a:solidFill>
                <a:latin typeface="Times New Roman" panose="02020603050405020304" pitchFamily="18" charset="0"/>
                <a:ea typeface="Calibri" panose="020F0502020204030204" pitchFamily="34" charset="0"/>
              </a:rPr>
              <a:t>3: </a:t>
            </a:r>
            <a:r>
              <a:rPr lang="en-US" sz="4400" b="1" dirty="0">
                <a:latin typeface="Times New Roman" panose="02020603050405020304" pitchFamily="18" charset="0"/>
                <a:cs typeface="Times New Roman" panose="02020603050405020304" pitchFamily="18" charset="0"/>
              </a:rPr>
              <a:t>Lossless Compression Techniques</a:t>
            </a:r>
            <a:endParaRPr lang="en-IN" sz="16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4C82D2E-3AC7-2363-7776-4F0C9C7B48DC}"/>
              </a:ext>
            </a:extLst>
          </p:cNvPr>
          <p:cNvSpPr txBox="1"/>
          <p:nvPr/>
        </p:nvSpPr>
        <p:spPr>
          <a:xfrm>
            <a:off x="1976282" y="4323215"/>
            <a:ext cx="6243485" cy="1477328"/>
          </a:xfrm>
          <a:prstGeom prst="rect">
            <a:avLst/>
          </a:prstGeom>
          <a:noFill/>
        </p:spPr>
        <p:txBody>
          <a:bodyPr wrap="square">
            <a:spAutoFit/>
          </a:bodyPr>
          <a:lstStyle/>
          <a:p>
            <a:r>
              <a:rPr lang="en-IN" b="1" dirty="0"/>
              <a:t>Presented By:</a:t>
            </a:r>
          </a:p>
          <a:p>
            <a:r>
              <a:rPr lang="en-IN" b="1" dirty="0" err="1"/>
              <a:t>Dr.</a:t>
            </a:r>
            <a:r>
              <a:rPr lang="en-IN" b="1" dirty="0"/>
              <a:t> Saladi Saritha</a:t>
            </a:r>
          </a:p>
          <a:p>
            <a:r>
              <a:rPr lang="en-IN" b="1" dirty="0"/>
              <a:t>Associate Professor,</a:t>
            </a:r>
          </a:p>
          <a:p>
            <a:r>
              <a:rPr lang="en-IN" b="1" dirty="0"/>
              <a:t>School of Electronics  Engineering </a:t>
            </a:r>
          </a:p>
          <a:p>
            <a:r>
              <a:rPr lang="en-IN" b="1" dirty="0"/>
              <a:t>VIT-AP University</a:t>
            </a:r>
          </a:p>
        </p:txBody>
      </p:sp>
      <p:sp>
        <p:nvSpPr>
          <p:cNvPr id="3" name="Footer Placeholder 2">
            <a:extLst>
              <a:ext uri="{FF2B5EF4-FFF2-40B4-BE49-F238E27FC236}">
                <a16:creationId xmlns:a16="http://schemas.microsoft.com/office/drawing/2014/main" id="{123F7285-429C-9BE8-D213-597F0C9FA810}"/>
              </a:ext>
            </a:extLst>
          </p:cNvPr>
          <p:cNvSpPr>
            <a:spLocks noGrp="1"/>
          </p:cNvSpPr>
          <p:nvPr>
            <p:ph type="ftr" sz="quarter" idx="11"/>
          </p:nvPr>
        </p:nvSpPr>
        <p:spPr/>
        <p:txBody>
          <a:bodyPr/>
          <a:lstStyle/>
          <a:p>
            <a:r>
              <a:rPr lang="en-IN"/>
              <a:t>Dr Saladi Saritha</a:t>
            </a:r>
          </a:p>
        </p:txBody>
      </p:sp>
      <p:sp>
        <p:nvSpPr>
          <p:cNvPr id="5" name="Slide Number Placeholder 4">
            <a:extLst>
              <a:ext uri="{FF2B5EF4-FFF2-40B4-BE49-F238E27FC236}">
                <a16:creationId xmlns:a16="http://schemas.microsoft.com/office/drawing/2014/main" id="{2A328793-3A38-5F49-84AE-BC9F7051ECC5}"/>
              </a:ext>
            </a:extLst>
          </p:cNvPr>
          <p:cNvSpPr>
            <a:spLocks noGrp="1"/>
          </p:cNvSpPr>
          <p:nvPr>
            <p:ph type="sldNum" sz="quarter" idx="12"/>
          </p:nvPr>
        </p:nvSpPr>
        <p:spPr/>
        <p:txBody>
          <a:bodyPr/>
          <a:lstStyle/>
          <a:p>
            <a:fld id="{BAEA75B2-F555-4190-9D20-7B0AA5D969FF}" type="slidenum">
              <a:rPr lang="en-IN" smtClean="0"/>
              <a:t>1</a:t>
            </a:fld>
            <a:endParaRPr lang="en-IN"/>
          </a:p>
        </p:txBody>
      </p:sp>
    </p:spTree>
    <p:extLst>
      <p:ext uri="{BB962C8B-B14F-4D97-AF65-F5344CB8AC3E}">
        <p14:creationId xmlns:p14="http://schemas.microsoft.com/office/powerpoint/2010/main" val="97427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E8379-3A12-D3B1-1F6F-C65C5079013C}"/>
              </a:ext>
            </a:extLst>
          </p:cNvPr>
          <p:cNvSpPr>
            <a:spLocks noGrp="1"/>
          </p:cNvSpPr>
          <p:nvPr>
            <p:ph type="title"/>
          </p:nvPr>
        </p:nvSpPr>
        <p:spPr>
          <a:xfrm>
            <a:off x="1097280" y="286603"/>
            <a:ext cx="10058400" cy="922765"/>
          </a:xfrm>
        </p:spPr>
        <p:txBody>
          <a:bodyPr/>
          <a:lstStyle/>
          <a:p>
            <a:r>
              <a:rPr lang="en-IN" dirty="0"/>
              <a:t>TOPICS TO BE COVERED</a:t>
            </a:r>
          </a:p>
        </p:txBody>
      </p:sp>
      <p:sp>
        <p:nvSpPr>
          <p:cNvPr id="3" name="Content Placeholder 2">
            <a:extLst>
              <a:ext uri="{FF2B5EF4-FFF2-40B4-BE49-F238E27FC236}">
                <a16:creationId xmlns:a16="http://schemas.microsoft.com/office/drawing/2014/main" id="{D0DFAC87-5A2A-825B-FB5B-94E25AF119CF}"/>
              </a:ext>
            </a:extLst>
          </p:cNvPr>
          <p:cNvSpPr>
            <a:spLocks noGrp="1"/>
          </p:cNvSpPr>
          <p:nvPr>
            <p:ph idx="1"/>
          </p:nvPr>
        </p:nvSpPr>
        <p:spPr>
          <a:xfrm>
            <a:off x="1097280" y="1317523"/>
            <a:ext cx="10058400" cy="4551571"/>
          </a:xfrm>
        </p:spPr>
        <p:txBody>
          <a:bodyPr/>
          <a:lstStyle/>
          <a:p>
            <a:r>
              <a:rPr lang="en-US" dirty="0">
                <a:solidFill>
                  <a:schemeClr val="tx1"/>
                </a:solidFill>
                <a:latin typeface="Times New Roman" panose="02020603050405020304" pitchFamily="18" charset="0"/>
                <a:cs typeface="Times New Roman" panose="02020603050405020304" pitchFamily="18" charset="0"/>
              </a:rPr>
              <a:t>Source Coding Theorem,</a:t>
            </a:r>
          </a:p>
          <a:p>
            <a:r>
              <a:rPr lang="en-US" dirty="0">
                <a:solidFill>
                  <a:schemeClr val="tx1"/>
                </a:solidFill>
                <a:latin typeface="Times New Roman" panose="02020603050405020304" pitchFamily="18" charset="0"/>
                <a:cs typeface="Times New Roman" panose="02020603050405020304" pitchFamily="18" charset="0"/>
              </a:rPr>
              <a:t> Uniquely Decodable codes, </a:t>
            </a:r>
          </a:p>
          <a:p>
            <a:r>
              <a:rPr lang="en-US" dirty="0">
                <a:solidFill>
                  <a:schemeClr val="tx1"/>
                </a:solidFill>
                <a:latin typeface="Times New Roman" panose="02020603050405020304" pitchFamily="18" charset="0"/>
                <a:cs typeface="Times New Roman" panose="02020603050405020304" pitchFamily="18" charset="0"/>
              </a:rPr>
              <a:t>Instantaneous Codes, </a:t>
            </a:r>
          </a:p>
          <a:p>
            <a:r>
              <a:rPr lang="en-US" dirty="0">
                <a:solidFill>
                  <a:schemeClr val="tx1"/>
                </a:solidFill>
                <a:latin typeface="Times New Roman" panose="02020603050405020304" pitchFamily="18" charset="0"/>
                <a:cs typeface="Times New Roman" panose="02020603050405020304" pitchFamily="18" charset="0"/>
              </a:rPr>
              <a:t>Kraft-McMillan  Inequality, </a:t>
            </a:r>
          </a:p>
          <a:p>
            <a:r>
              <a:rPr lang="en-US" dirty="0">
                <a:solidFill>
                  <a:schemeClr val="tx1"/>
                </a:solidFill>
                <a:latin typeface="Times New Roman" panose="02020603050405020304" pitchFamily="18" charset="0"/>
                <a:cs typeface="Times New Roman" panose="02020603050405020304" pitchFamily="18" charset="0"/>
              </a:rPr>
              <a:t>Shannon Fano coding, </a:t>
            </a:r>
          </a:p>
          <a:p>
            <a:r>
              <a:rPr lang="en-US" dirty="0">
                <a:solidFill>
                  <a:schemeClr val="tx1"/>
                </a:solidFill>
                <a:latin typeface="Times New Roman" panose="02020603050405020304" pitchFamily="18" charset="0"/>
                <a:cs typeface="Times New Roman" panose="02020603050405020304" pitchFamily="18" charset="0"/>
              </a:rPr>
              <a:t>Huffman coding, </a:t>
            </a:r>
          </a:p>
          <a:p>
            <a:r>
              <a:rPr lang="en-US" dirty="0">
                <a:solidFill>
                  <a:schemeClr val="tx1"/>
                </a:solidFill>
                <a:latin typeface="Times New Roman" panose="02020603050405020304" pitchFamily="18" charset="0"/>
                <a:cs typeface="Times New Roman" panose="02020603050405020304" pitchFamily="18" charset="0"/>
              </a:rPr>
              <a:t>Minimum variance Huffman coding,</a:t>
            </a:r>
          </a:p>
          <a:p>
            <a:r>
              <a:rPr lang="en-US" dirty="0">
                <a:solidFill>
                  <a:schemeClr val="tx1"/>
                </a:solidFill>
                <a:latin typeface="Times New Roman" panose="02020603050405020304" pitchFamily="18" charset="0"/>
                <a:cs typeface="Times New Roman" panose="02020603050405020304" pitchFamily="18" charset="0"/>
              </a:rPr>
              <a:t> Arithmetic coding.</a:t>
            </a:r>
            <a:endParaRPr lang="en-IN"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Dictionary Coding- Lempel-Ziv-Welch (LZW) coding.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E02B3BF-AE49-8B75-7CE4-FE844EF81E22}"/>
              </a:ext>
            </a:extLst>
          </p:cNvPr>
          <p:cNvSpPr>
            <a:spLocks noGrp="1"/>
          </p:cNvSpPr>
          <p:nvPr>
            <p:ph type="ftr" sz="quarter" idx="11"/>
          </p:nvPr>
        </p:nvSpPr>
        <p:spPr/>
        <p:txBody>
          <a:bodyPr/>
          <a:lstStyle/>
          <a:p>
            <a:r>
              <a:rPr lang="en-IN"/>
              <a:t>Dr Saladi Saritha</a:t>
            </a:r>
          </a:p>
        </p:txBody>
      </p:sp>
      <p:sp>
        <p:nvSpPr>
          <p:cNvPr id="5" name="Slide Number Placeholder 4">
            <a:extLst>
              <a:ext uri="{FF2B5EF4-FFF2-40B4-BE49-F238E27FC236}">
                <a16:creationId xmlns:a16="http://schemas.microsoft.com/office/drawing/2014/main" id="{99F2EEB8-CC29-2B3D-3DB4-F1247218FEA9}"/>
              </a:ext>
            </a:extLst>
          </p:cNvPr>
          <p:cNvSpPr>
            <a:spLocks noGrp="1"/>
          </p:cNvSpPr>
          <p:nvPr>
            <p:ph type="sldNum" sz="quarter" idx="12"/>
          </p:nvPr>
        </p:nvSpPr>
        <p:spPr/>
        <p:txBody>
          <a:bodyPr/>
          <a:lstStyle/>
          <a:p>
            <a:fld id="{BAEA75B2-F555-4190-9D20-7B0AA5D969FF}" type="slidenum">
              <a:rPr lang="en-IN" smtClean="0"/>
              <a:t>2</a:t>
            </a:fld>
            <a:endParaRPr lang="en-IN"/>
          </a:p>
        </p:txBody>
      </p:sp>
    </p:spTree>
    <p:extLst>
      <p:ext uri="{BB962C8B-B14F-4D97-AF65-F5344CB8AC3E}">
        <p14:creationId xmlns:p14="http://schemas.microsoft.com/office/powerpoint/2010/main" val="83813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34676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solidFill>
                  <a:srgbClr val="000000"/>
                </a:solidFill>
                <a:cs typeface="Arial" panose="020B0604020202020204" pitchFamily="34" charset="0"/>
              </a:rPr>
              <a:t>Source Coding</a:t>
            </a:r>
            <a:endParaRPr lang="en-US" sz="3600" i="0" dirty="0">
              <a:solidFill>
                <a:srgbClr val="000000"/>
              </a:solidFill>
              <a:effectLst/>
              <a:cs typeface="Arial" panose="020B0604020202020204" pitchFamily="34"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D4A638E4-3619-43F7-8A10-AAE39318F58C}"/>
              </a:ext>
            </a:extLst>
          </p:cNvPr>
          <p:cNvSpPr txBox="1"/>
          <p:nvPr/>
        </p:nvSpPr>
        <p:spPr>
          <a:xfrm>
            <a:off x="97767" y="1091757"/>
            <a:ext cx="12094233" cy="2862322"/>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Code produced by a discrete memoryless source, has to be efficiently represented, which is an important </a:t>
            </a:r>
            <a:r>
              <a:rPr lang="en-US" dirty="0">
                <a:solidFill>
                  <a:srgbClr val="000000"/>
                </a:solidFill>
                <a:latin typeface="Arial" panose="020B0604020202020204" pitchFamily="34" charset="0"/>
              </a:rPr>
              <a:t>problem in communications. For this to happen, there are code words, which represent these source codes.</a:t>
            </a:r>
          </a:p>
          <a:p>
            <a:endParaRPr lang="en-US" dirty="0">
              <a:solidFill>
                <a:srgbClr val="000000"/>
              </a:solidFill>
              <a:latin typeface="Arial" panose="020B0604020202020204" pitchFamily="34" charset="0"/>
            </a:endParaRPr>
          </a:p>
          <a:p>
            <a:pPr algn="l"/>
            <a:r>
              <a:rPr lang="en-US" dirty="0">
                <a:solidFill>
                  <a:srgbClr val="000000"/>
                </a:solidFill>
                <a:latin typeface="Arial" panose="020B0604020202020204" pitchFamily="34" charset="0"/>
              </a:rPr>
              <a:t>the process of encoding the information source message to a binary code word, and lossless and faithful decoding from the binary code word to the original information source message.</a:t>
            </a:r>
          </a:p>
          <a:p>
            <a:pPr algn="l"/>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Ex: For example, in telegraphy, we use Morse code, in which the alphabets are denoted by </a:t>
            </a:r>
            <a:r>
              <a:rPr lang="en-US" b="1" i="0" dirty="0">
                <a:solidFill>
                  <a:srgbClr val="000000"/>
                </a:solidFill>
                <a:effectLst/>
                <a:latin typeface="Arial" panose="020B0604020202020204" pitchFamily="34" charset="0"/>
              </a:rPr>
              <a:t>Marks</a:t>
            </a:r>
            <a:r>
              <a:rPr lang="en-US" b="0" i="0" dirty="0">
                <a:solidFill>
                  <a:srgbClr val="000000"/>
                </a:solidFill>
                <a:effectLst/>
                <a:latin typeface="Arial" panose="020B0604020202020204" pitchFamily="34" charset="0"/>
              </a:rPr>
              <a:t> and </a:t>
            </a:r>
            <a:r>
              <a:rPr lang="en-US" b="1" i="0" dirty="0">
                <a:solidFill>
                  <a:srgbClr val="000000"/>
                </a:solidFill>
                <a:effectLst/>
                <a:latin typeface="Arial" panose="020B0604020202020204" pitchFamily="34" charset="0"/>
              </a:rPr>
              <a:t>Spaces</a:t>
            </a:r>
            <a:r>
              <a:rPr lang="en-US" b="0" i="0" dirty="0">
                <a:solidFill>
                  <a:srgbClr val="000000"/>
                </a:solidFill>
                <a:effectLst/>
                <a:latin typeface="Arial" panose="020B0604020202020204" pitchFamily="34" charset="0"/>
              </a:rPr>
              <a:t>. If the letter </a:t>
            </a:r>
            <a:r>
              <a:rPr lang="en-US" b="1" i="0" dirty="0">
                <a:solidFill>
                  <a:srgbClr val="000000"/>
                </a:solidFill>
                <a:effectLst/>
                <a:latin typeface="Arial" panose="020B0604020202020204" pitchFamily="34" charset="0"/>
              </a:rPr>
              <a:t>E</a:t>
            </a:r>
            <a:r>
              <a:rPr lang="en-US" b="0" i="0" dirty="0">
                <a:solidFill>
                  <a:srgbClr val="000000"/>
                </a:solidFill>
                <a:effectLst/>
                <a:latin typeface="Arial" panose="020B0604020202020204" pitchFamily="34" charset="0"/>
              </a:rPr>
              <a:t> is considered, which is mostly used, it is denoted by </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Whereas the letter </a:t>
            </a:r>
            <a:r>
              <a:rPr lang="en-US" b="1" i="0" dirty="0">
                <a:solidFill>
                  <a:srgbClr val="000000"/>
                </a:solidFill>
                <a:effectLst/>
                <a:latin typeface="Arial" panose="020B0604020202020204" pitchFamily="34" charset="0"/>
              </a:rPr>
              <a:t>Q</a:t>
            </a:r>
            <a:r>
              <a:rPr lang="en-US" b="0" i="0" dirty="0">
                <a:solidFill>
                  <a:srgbClr val="000000"/>
                </a:solidFill>
                <a:effectLst/>
                <a:latin typeface="Arial" panose="020B0604020202020204" pitchFamily="34" charset="0"/>
              </a:rPr>
              <a:t> which is rarely used, is denoted by </a:t>
            </a:r>
            <a:r>
              <a:rPr lang="en-US" b="1" i="0" dirty="0">
                <a:solidFill>
                  <a:srgbClr val="000000"/>
                </a:solidFill>
                <a:effectLst/>
                <a:latin typeface="Arial" panose="020B0604020202020204" pitchFamily="34" charset="0"/>
              </a:rPr>
              <a:t>“--.-”</a:t>
            </a:r>
          </a:p>
          <a:p>
            <a:endParaRPr lang="en-US" b="1" dirty="0">
              <a:solidFill>
                <a:srgbClr val="000000"/>
              </a:solidFill>
              <a:latin typeface="Arial" panose="020B0604020202020204" pitchFamily="34" charset="0"/>
            </a:endParaRPr>
          </a:p>
        </p:txBody>
      </p:sp>
      <p:pic>
        <p:nvPicPr>
          <p:cNvPr id="5" name="Picture 4">
            <a:extLst>
              <a:ext uri="{FF2B5EF4-FFF2-40B4-BE49-F238E27FC236}">
                <a16:creationId xmlns:a16="http://schemas.microsoft.com/office/drawing/2014/main" id="{279F6F6F-E338-43FA-BF39-D560B797AC2B}"/>
              </a:ext>
            </a:extLst>
          </p:cNvPr>
          <p:cNvPicPr>
            <a:picLocks noChangeAspect="1"/>
          </p:cNvPicPr>
          <p:nvPr/>
        </p:nvPicPr>
        <p:blipFill>
          <a:blip r:embed="rId3"/>
          <a:stretch>
            <a:fillRect/>
          </a:stretch>
        </p:blipFill>
        <p:spPr>
          <a:xfrm>
            <a:off x="1587581" y="4233648"/>
            <a:ext cx="9450998" cy="1532595"/>
          </a:xfrm>
          <a:prstGeom prst="rect">
            <a:avLst/>
          </a:prstGeom>
        </p:spPr>
      </p:pic>
      <p:sp>
        <p:nvSpPr>
          <p:cNvPr id="2" name="Footer Placeholder 1">
            <a:extLst>
              <a:ext uri="{FF2B5EF4-FFF2-40B4-BE49-F238E27FC236}">
                <a16:creationId xmlns:a16="http://schemas.microsoft.com/office/drawing/2014/main" id="{E2C1F293-037E-A4CB-5946-FCF6B605EA43}"/>
              </a:ext>
            </a:extLst>
          </p:cNvPr>
          <p:cNvSpPr>
            <a:spLocks noGrp="1"/>
          </p:cNvSpPr>
          <p:nvPr>
            <p:ph type="ftr" sz="quarter" idx="11"/>
          </p:nvPr>
        </p:nvSpPr>
        <p:spPr/>
        <p:txBody>
          <a:bodyPr/>
          <a:lstStyle/>
          <a:p>
            <a:r>
              <a:rPr lang="en-IN"/>
              <a:t>Dr Saladi Saritha</a:t>
            </a:r>
          </a:p>
        </p:txBody>
      </p:sp>
      <p:sp>
        <p:nvSpPr>
          <p:cNvPr id="3" name="Slide Number Placeholder 2">
            <a:extLst>
              <a:ext uri="{FF2B5EF4-FFF2-40B4-BE49-F238E27FC236}">
                <a16:creationId xmlns:a16="http://schemas.microsoft.com/office/drawing/2014/main" id="{2B3D955A-5D56-0B1F-87DD-648695D793AF}"/>
              </a:ext>
            </a:extLst>
          </p:cNvPr>
          <p:cNvSpPr>
            <a:spLocks noGrp="1"/>
          </p:cNvSpPr>
          <p:nvPr>
            <p:ph type="sldNum" sz="quarter" idx="12"/>
          </p:nvPr>
        </p:nvSpPr>
        <p:spPr/>
        <p:txBody>
          <a:bodyPr/>
          <a:lstStyle/>
          <a:p>
            <a:fld id="{BAEA75B2-F555-4190-9D20-7B0AA5D969FF}" type="slidenum">
              <a:rPr lang="en-IN" smtClean="0"/>
              <a:t>3</a:t>
            </a:fld>
            <a:endParaRPr lang="en-IN"/>
          </a:p>
        </p:txBody>
      </p:sp>
    </p:spTree>
    <p:extLst>
      <p:ext uri="{BB962C8B-B14F-4D97-AF65-F5344CB8AC3E}">
        <p14:creationId xmlns:p14="http://schemas.microsoft.com/office/powerpoint/2010/main" val="1746833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34676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solidFill>
                  <a:srgbClr val="000000"/>
                </a:solidFill>
                <a:cs typeface="Arial" panose="020B0604020202020204" pitchFamily="34" charset="0"/>
              </a:rPr>
              <a:t>Source Coding</a:t>
            </a:r>
            <a:endParaRPr lang="en-US" sz="3600" i="0" dirty="0">
              <a:solidFill>
                <a:srgbClr val="000000"/>
              </a:solidFill>
              <a:effectLst/>
              <a:cs typeface="Arial" panose="020B0604020202020204" pitchFamily="34"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A638E4-3619-43F7-8A10-AAE39318F58C}"/>
                  </a:ext>
                </a:extLst>
              </p:cNvPr>
              <p:cNvSpPr txBox="1"/>
              <p:nvPr/>
            </p:nvSpPr>
            <p:spPr>
              <a:xfrm>
                <a:off x="97767" y="1091757"/>
                <a:ext cx="12094233" cy="5620385"/>
              </a:xfrm>
              <a:prstGeom prst="rect">
                <a:avLst/>
              </a:prstGeom>
              <a:noFill/>
            </p:spPr>
            <p:txBody>
              <a:bodyPr wrap="square">
                <a:spAutoFit/>
              </a:bodyPr>
              <a:lstStyle/>
              <a:p>
                <a:pPr algn="l"/>
                <a:r>
                  <a:rPr lang="en-US" sz="1800" b="0" i="0" u="none" strike="noStrike" baseline="0" dirty="0">
                    <a:solidFill>
                      <a:srgbClr val="231F20"/>
                    </a:solidFill>
                    <a:latin typeface="Times-Roman"/>
                  </a:rPr>
                  <a:t>The goal of source coding</a:t>
                </a:r>
                <a:endParaRPr lang="en-US" dirty="0"/>
              </a:p>
              <a:p>
                <a:pPr marL="342900" indent="-342900">
                  <a:buAutoNum type="arabicParenR"/>
                </a:pPr>
                <a:r>
                  <a:rPr lang="en-US" sz="1800" b="0" i="0" u="none" strike="noStrike" baseline="0" dirty="0">
                    <a:solidFill>
                      <a:srgbClr val="231F20"/>
                    </a:solidFill>
                    <a:latin typeface="Times-Roman"/>
                  </a:rPr>
                  <a:t>Uniquely map any arbitrary source message to a binary code and back again.</a:t>
                </a:r>
              </a:p>
              <a:p>
                <a:pPr algn="l"/>
                <a:r>
                  <a:rPr lang="en-US" sz="1800" b="0" i="0" u="none" strike="noStrike" baseline="0" dirty="0">
                    <a:solidFill>
                      <a:srgbClr val="231F20"/>
                    </a:solidFill>
                    <a:latin typeface="Times-Roman"/>
                  </a:rPr>
                  <a:t>2. Efficiently map a source message to the most compact binary code and back again</a:t>
                </a:r>
              </a:p>
              <a:p>
                <a:pPr algn="l"/>
                <a:endParaRPr lang="en-US" dirty="0">
                  <a:solidFill>
                    <a:srgbClr val="231F20"/>
                  </a:solidFill>
                  <a:latin typeface="Times-Roman"/>
                </a:endParaRPr>
              </a:p>
              <a:p>
                <a:pPr algn="l"/>
                <a:r>
                  <a:rPr lang="en-US" sz="2400" b="1" dirty="0">
                    <a:solidFill>
                      <a:srgbClr val="231F20"/>
                    </a:solidFill>
                    <a:latin typeface="Times-Roman"/>
                  </a:rPr>
                  <a:t>Important Terms: </a:t>
                </a:r>
              </a:p>
              <a:p>
                <a:pPr algn="l"/>
                <a:r>
                  <a:rPr lang="en-US" sz="2400" b="1" dirty="0">
                    <a:solidFill>
                      <a:srgbClr val="231F20"/>
                    </a:solidFill>
                    <a:latin typeface="Times-Roman"/>
                  </a:rPr>
                  <a:t>Codeword Length: </a:t>
                </a:r>
                <a:r>
                  <a:rPr lang="en-US" dirty="0">
                    <a:latin typeface="Arial" panose="020B0604020202020204" pitchFamily="34" charset="0"/>
                    <a:cs typeface="Arial" panose="020B0604020202020204" pitchFamily="34" charset="0"/>
                  </a:rPr>
                  <a:t>Let S be DMC with finite entropy H(S) and </a:t>
                </a:r>
                <a:r>
                  <a:rPr lang="en-IN" dirty="0">
                    <a:latin typeface="Arial" panose="020B0604020202020204" pitchFamily="34" charset="0"/>
                    <a:cs typeface="Arial" panose="020B0604020202020204" pitchFamily="34" charset="0"/>
                  </a:rPr>
                  <a:t>source alphabet </a:t>
                </a:r>
                <a14:m>
                  <m:oMath xmlns:m="http://schemas.openxmlformats.org/officeDocument/2006/math">
                    <m:r>
                      <a:rPr lang="en-IN">
                        <a:latin typeface="Cambria Math" panose="02040503050406030204" pitchFamily="18" charset="0"/>
                        <a:cs typeface="Arial" panose="020B0604020202020204" pitchFamily="34" charset="0"/>
                      </a:rPr>
                      <m:t>𝒮</m:t>
                    </m:r>
                    <m:r>
                      <a:rPr lang="en-IN">
                        <a:latin typeface="Cambria Math" panose="02040503050406030204" pitchFamily="18" charset="0"/>
                        <a:cs typeface="Arial" panose="020B0604020202020204" pitchFamily="34" charset="0"/>
                      </a:rPr>
                      <m:t>={</m:t>
                    </m:r>
                    <m:sSub>
                      <m:sSubPr>
                        <m:ctrlPr>
                          <a:rPr lang="en-IN" i="1">
                            <a:latin typeface="Cambria Math" panose="02040503050406030204" pitchFamily="18" charset="0"/>
                            <a:cs typeface="Arial" panose="020B0604020202020204" pitchFamily="34" charset="0"/>
                          </a:rPr>
                        </m:ctrlPr>
                      </m:sSubPr>
                      <m:e>
                        <m:r>
                          <a:rPr lang="en-IN">
                            <a:latin typeface="Cambria Math" panose="02040503050406030204" pitchFamily="18" charset="0"/>
                            <a:cs typeface="Arial" panose="020B0604020202020204" pitchFamily="34" charset="0"/>
                          </a:rPr>
                          <m:t>𝑠</m:t>
                        </m:r>
                      </m:e>
                      <m:sub>
                        <m:r>
                          <a:rPr lang="en-IN">
                            <a:latin typeface="Cambria Math" panose="02040503050406030204" pitchFamily="18" charset="0"/>
                            <a:cs typeface="Arial" panose="020B0604020202020204" pitchFamily="34" charset="0"/>
                          </a:rPr>
                          <m:t>1</m:t>
                        </m:r>
                      </m:sub>
                    </m:sSub>
                    <m:r>
                      <a:rPr lang="en-IN">
                        <a:latin typeface="Cambria Math" panose="02040503050406030204" pitchFamily="18" charset="0"/>
                        <a:cs typeface="Arial" panose="020B0604020202020204" pitchFamily="34" charset="0"/>
                      </a:rPr>
                      <m:t>, </m:t>
                    </m:r>
                    <m:sSub>
                      <m:sSubPr>
                        <m:ctrlPr>
                          <a:rPr lang="en-IN" i="1">
                            <a:latin typeface="Cambria Math" panose="02040503050406030204" pitchFamily="18" charset="0"/>
                            <a:cs typeface="Arial" panose="020B0604020202020204" pitchFamily="34" charset="0"/>
                          </a:rPr>
                        </m:ctrlPr>
                      </m:sSubPr>
                      <m:e>
                        <m:r>
                          <a:rPr lang="en-IN">
                            <a:latin typeface="Cambria Math" panose="02040503050406030204" pitchFamily="18" charset="0"/>
                            <a:cs typeface="Arial" panose="020B0604020202020204" pitchFamily="34" charset="0"/>
                          </a:rPr>
                          <m:t>𝑠</m:t>
                        </m:r>
                      </m:e>
                      <m:sub>
                        <m:r>
                          <a:rPr lang="en-IN">
                            <a:latin typeface="Cambria Math" panose="02040503050406030204" pitchFamily="18" charset="0"/>
                            <a:cs typeface="Arial" panose="020B0604020202020204" pitchFamily="34" charset="0"/>
                          </a:rPr>
                          <m:t>2</m:t>
                        </m:r>
                      </m:sub>
                    </m:sSub>
                    <m:r>
                      <a:rPr lang="en-IN">
                        <a:latin typeface="Cambria Math" panose="02040503050406030204" pitchFamily="18" charset="0"/>
                        <a:cs typeface="Arial" panose="020B0604020202020204" pitchFamily="34" charset="0"/>
                      </a:rPr>
                      <m:t>,….., </m:t>
                    </m:r>
                    <m:sSub>
                      <m:sSubPr>
                        <m:ctrlPr>
                          <a:rPr lang="en-IN" i="1">
                            <a:latin typeface="Cambria Math" panose="02040503050406030204" pitchFamily="18" charset="0"/>
                            <a:cs typeface="Arial" panose="020B0604020202020204" pitchFamily="34" charset="0"/>
                          </a:rPr>
                        </m:ctrlPr>
                      </m:sSubPr>
                      <m:e>
                        <m:r>
                          <a:rPr lang="en-IN">
                            <a:latin typeface="Cambria Math" panose="02040503050406030204" pitchFamily="18" charset="0"/>
                            <a:cs typeface="Arial" panose="020B0604020202020204" pitchFamily="34" charset="0"/>
                          </a:rPr>
                          <m:t>𝑠</m:t>
                        </m:r>
                      </m:e>
                      <m:sub>
                        <m:r>
                          <a:rPr lang="en-IN">
                            <a:latin typeface="Cambria Math" panose="02040503050406030204" pitchFamily="18" charset="0"/>
                            <a:cs typeface="Arial" panose="020B0604020202020204" pitchFamily="34" charset="0"/>
                          </a:rPr>
                          <m:t>𝐾</m:t>
                        </m:r>
                      </m:sub>
                    </m:sSub>
                    <m:r>
                      <a:rPr lang="en-IN">
                        <a:latin typeface="Cambria Math" panose="02040503050406030204" pitchFamily="18" charset="0"/>
                        <a:cs typeface="Arial" panose="020B0604020202020204" pitchFamily="34" charset="0"/>
                      </a:rPr>
                      <m:t>}</m:t>
                    </m:r>
                  </m:oMath>
                </a14:m>
                <a:r>
                  <a:rPr lang="en-IN" dirty="0">
                    <a:latin typeface="Arial" panose="020B0604020202020204" pitchFamily="34" charset="0"/>
                    <a:cs typeface="Arial" panose="020B0604020202020204" pitchFamily="34" charset="0"/>
                  </a:rPr>
                  <a:t> where </a:t>
                </a:r>
                <a14:m>
                  <m:oMath xmlns:m="http://schemas.openxmlformats.org/officeDocument/2006/math">
                    <m:r>
                      <a:rPr lang="en-IN" dirty="0">
                        <a:latin typeface="Cambria Math" panose="02040503050406030204" pitchFamily="18" charset="0"/>
                        <a:cs typeface="Arial" panose="020B0604020202020204" pitchFamily="34" charset="0"/>
                      </a:rPr>
                      <m:t>𝐾</m:t>
                    </m:r>
                  </m:oMath>
                </a14:m>
                <a:r>
                  <a:rPr lang="en-IN" dirty="0">
                    <a:latin typeface="Arial" panose="020B0604020202020204" pitchFamily="34" charset="0"/>
                    <a:cs typeface="Arial" panose="020B0604020202020204" pitchFamily="34" charset="0"/>
                  </a:rPr>
                  <a:t> is the number of symbols each with probability distribution </a:t>
                </a:r>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2</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𝐾</m:t>
                        </m:r>
                      </m:sub>
                    </m:sSub>
                    <m:r>
                      <a:rPr lang="en-IN" b="0" i="1" smtClean="0">
                        <a:latin typeface="Cambria Math" panose="02040503050406030204" pitchFamily="18" charset="0"/>
                      </a:rPr>
                      <m:t>}</m:t>
                    </m:r>
                  </m:oMath>
                </a14:m>
                <a:r>
                  <a:rPr lang="en-IN" sz="3600" dirty="0"/>
                  <a:t>.</a:t>
                </a:r>
                <a:r>
                  <a:rPr lang="en-IN" dirty="0">
                    <a:latin typeface="Arial" panose="020B0604020202020204" pitchFamily="34" charset="0"/>
                    <a:cs typeface="Arial" panose="020B0604020202020204" pitchFamily="34" charset="0"/>
                  </a:rPr>
                  <a:t> Let the binary codeword assigned to the symbol </a:t>
                </a:r>
                <a:r>
                  <a:rPr lang="en-IN" dirty="0" err="1">
                    <a:latin typeface="Arial" panose="020B0604020202020204" pitchFamily="34" charset="0"/>
                    <a:cs typeface="Arial" panose="020B0604020202020204" pitchFamily="34" charset="0"/>
                  </a:rPr>
                  <a:t>s</a:t>
                </a:r>
                <a:r>
                  <a:rPr lang="en-IN" baseline="-25000"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by the encoder have a length </a:t>
                </a:r>
                <a:r>
                  <a:rPr lang="en-IN" dirty="0" err="1">
                    <a:latin typeface="Arial" panose="020B0604020202020204" pitchFamily="34" charset="0"/>
                    <a:cs typeface="Arial" panose="020B0604020202020204" pitchFamily="34" charset="0"/>
                  </a:rPr>
                  <a:t>n</a:t>
                </a:r>
                <a:r>
                  <a:rPr lang="en-IN" baseline="-25000"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measured in bits. The length of a codeword is  the number of binary digits in the codeword.</a:t>
                </a:r>
              </a:p>
              <a:p>
                <a:pPr algn="l"/>
                <a:endParaRPr lang="en-IN" dirty="0">
                  <a:latin typeface="Arial" panose="020B0604020202020204" pitchFamily="34" charset="0"/>
                  <a:cs typeface="Arial" panose="020B0604020202020204" pitchFamily="34" charset="0"/>
                </a:endParaRPr>
              </a:p>
              <a:p>
                <a:pPr algn="l"/>
                <a:r>
                  <a:rPr lang="en-IN" sz="2400" b="1" dirty="0">
                    <a:solidFill>
                      <a:srgbClr val="231F20"/>
                    </a:solidFill>
                    <a:latin typeface="Times-Roman"/>
                  </a:rPr>
                  <a:t>Average Codeword Length: </a:t>
                </a:r>
                <a:r>
                  <a:rPr lang="en-IN" dirty="0">
                    <a:latin typeface="Arial" panose="020B0604020202020204" pitchFamily="34" charset="0"/>
                    <a:cs typeface="Arial" panose="020B0604020202020204" pitchFamily="34" charset="0"/>
                  </a:rPr>
                  <a:t>Average codeword length L, per source symbol is given by:</a:t>
                </a:r>
              </a:p>
              <a:p>
                <a:pPr marL="0" indent="0" algn="just">
                  <a:buNone/>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𝐿</m:t>
                      </m:r>
                      <m:r>
                        <a:rPr lang="en-US" sz="3600" b="0" i="1" smtClean="0">
                          <a:latin typeface="Cambria Math" panose="02040503050406030204" pitchFamily="18" charset="0"/>
                        </a:rPr>
                        <m:t>   </m:t>
                      </m:r>
                      <m:r>
                        <a:rPr lang="en-US" sz="3600" b="0" i="1" smtClean="0">
                          <a:latin typeface="Cambria Math" panose="02040503050406030204" pitchFamily="18" charset="0"/>
                        </a:rPr>
                        <m:t>𝑜𝑟</m:t>
                      </m:r>
                      <m:r>
                        <a:rPr lang="en-US" sz="3600" b="0" i="1" smtClean="0">
                          <a:latin typeface="Cambria Math" panose="02040503050406030204" pitchFamily="18" charset="0"/>
                        </a:rPr>
                        <m:t>  </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rPr>
                            <m:t>𝐻</m:t>
                          </m:r>
                        </m:e>
                      </m:acc>
                      <m:r>
                        <a:rPr lang="en-IN" sz="3600" b="0" i="1" smtClean="0">
                          <a:latin typeface="Cambria Math" panose="02040503050406030204" pitchFamily="18" charset="0"/>
                        </a:rPr>
                        <m:t>=</m:t>
                      </m:r>
                      <m:nary>
                        <m:naryPr>
                          <m:chr m:val="∑"/>
                          <m:ctrlPr>
                            <a:rPr lang="en-IN" sz="3600" b="0" i="1" smtClean="0">
                              <a:latin typeface="Cambria Math" panose="02040503050406030204" pitchFamily="18" charset="0"/>
                            </a:rPr>
                          </m:ctrlPr>
                        </m:naryPr>
                        <m:sub>
                          <m:r>
                            <a:rPr lang="en-IN" sz="3600" b="0" i="1" smtClean="0">
                              <a:latin typeface="Cambria Math" panose="02040503050406030204" pitchFamily="18" charset="0"/>
                            </a:rPr>
                            <m:t>𝑖</m:t>
                          </m:r>
                          <m:r>
                            <a:rPr lang="en-IN" sz="3600" b="0" i="1" smtClean="0">
                              <a:latin typeface="Cambria Math" panose="02040503050406030204" pitchFamily="18" charset="0"/>
                            </a:rPr>
                            <m:t>=1</m:t>
                          </m:r>
                        </m:sub>
                        <m:sup>
                          <m:r>
                            <a:rPr lang="en-IN" sz="3600" b="0" i="1" smtClean="0">
                              <a:latin typeface="Cambria Math" panose="02040503050406030204" pitchFamily="18" charset="0"/>
                            </a:rPr>
                            <m:t>𝐾</m:t>
                          </m:r>
                        </m:sup>
                        <m:e>
                          <m:sSub>
                            <m:sSubPr>
                              <m:ctrlPr>
                                <a:rPr lang="en-IN" sz="3600" b="0" i="1" smtClean="0">
                                  <a:latin typeface="Cambria Math" panose="02040503050406030204" pitchFamily="18" charset="0"/>
                                </a:rPr>
                              </m:ctrlPr>
                            </m:sSubPr>
                            <m:e>
                              <m:r>
                                <a:rPr lang="en-IN" sz="3600" b="0" i="1" smtClean="0">
                                  <a:latin typeface="Cambria Math" panose="02040503050406030204" pitchFamily="18" charset="0"/>
                                </a:rPr>
                                <m:t>𝑝</m:t>
                              </m:r>
                            </m:e>
                            <m:sub>
                              <m:r>
                                <a:rPr lang="en-IN" sz="3600" b="0" i="1" smtClean="0">
                                  <a:latin typeface="Cambria Math" panose="02040503050406030204" pitchFamily="18" charset="0"/>
                                </a:rPr>
                                <m:t>𝑖</m:t>
                              </m:r>
                            </m:sub>
                          </m:sSub>
                          <m:sSub>
                            <m:sSubPr>
                              <m:ctrlPr>
                                <a:rPr lang="en-IN"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𝑖</m:t>
                              </m:r>
                            </m:sub>
                          </m:sSub>
                        </m:e>
                      </m:nary>
                    </m:oMath>
                  </m:oMathPara>
                </a14:m>
                <a:endParaRPr lang="en-US" sz="2400" b="1" dirty="0">
                  <a:solidFill>
                    <a:srgbClr val="231F20"/>
                  </a:solidFill>
                  <a:latin typeface="Times-Roman"/>
                </a:endParaRPr>
              </a:p>
              <a:p>
                <a:pPr marL="0" indent="0" algn="just">
                  <a:buNone/>
                </a:pPr>
                <a:r>
                  <a:rPr lang="en-US" sz="2400" b="1" dirty="0">
                    <a:solidFill>
                      <a:srgbClr val="231F20"/>
                    </a:solidFill>
                    <a:latin typeface="Times-Roman"/>
                  </a:rPr>
                  <a:t>L: </a:t>
                </a:r>
                <a:r>
                  <a:rPr lang="en-US" sz="2400" dirty="0">
                    <a:solidFill>
                      <a:srgbClr val="231F20"/>
                    </a:solidFill>
                    <a:latin typeface="Times-Roman"/>
                  </a:rPr>
                  <a:t>average number of bits per source symbol used in the coding process.</a:t>
                </a:r>
              </a:p>
            </p:txBody>
          </p:sp>
        </mc:Choice>
        <mc:Fallback xmlns="">
          <p:sp>
            <p:nvSpPr>
              <p:cNvPr id="9" name="TextBox 8">
                <a:extLst>
                  <a:ext uri="{FF2B5EF4-FFF2-40B4-BE49-F238E27FC236}">
                    <a16:creationId xmlns:a16="http://schemas.microsoft.com/office/drawing/2014/main" id="{D4A638E4-3619-43F7-8A10-AAE39318F58C}"/>
                  </a:ext>
                </a:extLst>
              </p:cNvPr>
              <p:cNvSpPr txBox="1">
                <a:spLocks noRot="1" noChangeAspect="1" noMove="1" noResize="1" noEditPoints="1" noAdjustHandles="1" noChangeArrowheads="1" noChangeShapeType="1" noTextEdit="1"/>
              </p:cNvSpPr>
              <p:nvPr/>
            </p:nvSpPr>
            <p:spPr>
              <a:xfrm>
                <a:off x="97767" y="1091757"/>
                <a:ext cx="12094233" cy="5620385"/>
              </a:xfrm>
              <a:prstGeom prst="rect">
                <a:avLst/>
              </a:prstGeom>
              <a:blipFill>
                <a:blip r:embed="rId3"/>
                <a:stretch>
                  <a:fillRect l="-756" t="-651" r="-655" b="-1518"/>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AF26630-B376-3A0B-26BB-2B90D821CFD6}"/>
              </a:ext>
            </a:extLst>
          </p:cNvPr>
          <p:cNvSpPr>
            <a:spLocks noGrp="1"/>
          </p:cNvSpPr>
          <p:nvPr>
            <p:ph type="ftr" sz="quarter" idx="11"/>
          </p:nvPr>
        </p:nvSpPr>
        <p:spPr/>
        <p:txBody>
          <a:bodyPr/>
          <a:lstStyle/>
          <a:p>
            <a:r>
              <a:rPr lang="en-IN"/>
              <a:t>Dr Saladi Saritha</a:t>
            </a:r>
          </a:p>
        </p:txBody>
      </p:sp>
      <p:sp>
        <p:nvSpPr>
          <p:cNvPr id="3" name="Slide Number Placeholder 2">
            <a:extLst>
              <a:ext uri="{FF2B5EF4-FFF2-40B4-BE49-F238E27FC236}">
                <a16:creationId xmlns:a16="http://schemas.microsoft.com/office/drawing/2014/main" id="{8DC22751-1BE9-A34A-B472-72718FFD38BA}"/>
              </a:ext>
            </a:extLst>
          </p:cNvPr>
          <p:cNvSpPr>
            <a:spLocks noGrp="1"/>
          </p:cNvSpPr>
          <p:nvPr>
            <p:ph type="sldNum" sz="quarter" idx="12"/>
          </p:nvPr>
        </p:nvSpPr>
        <p:spPr/>
        <p:txBody>
          <a:bodyPr/>
          <a:lstStyle/>
          <a:p>
            <a:fld id="{BAEA75B2-F555-4190-9D20-7B0AA5D969FF}" type="slidenum">
              <a:rPr lang="en-IN" smtClean="0"/>
              <a:t>4</a:t>
            </a:fld>
            <a:endParaRPr lang="en-IN"/>
          </a:p>
        </p:txBody>
      </p:sp>
    </p:spTree>
    <p:extLst>
      <p:ext uri="{BB962C8B-B14F-4D97-AF65-F5344CB8AC3E}">
        <p14:creationId xmlns:p14="http://schemas.microsoft.com/office/powerpoint/2010/main" val="941461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34676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solidFill>
                  <a:srgbClr val="000000"/>
                </a:solidFill>
                <a:cs typeface="Arial" panose="020B0604020202020204" pitchFamily="34" charset="0"/>
              </a:rPr>
              <a:t>Source Coding</a:t>
            </a:r>
            <a:endParaRPr lang="en-US" sz="3600" i="0" dirty="0">
              <a:solidFill>
                <a:srgbClr val="000000"/>
              </a:solidFill>
              <a:effectLst/>
              <a:cs typeface="Arial" panose="020B0604020202020204" pitchFamily="34"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A638E4-3619-43F7-8A10-AAE39318F58C}"/>
                  </a:ext>
                </a:extLst>
              </p:cNvPr>
              <p:cNvSpPr txBox="1"/>
              <p:nvPr/>
            </p:nvSpPr>
            <p:spPr>
              <a:xfrm>
                <a:off x="97767" y="1091757"/>
                <a:ext cx="12094233" cy="3830792"/>
              </a:xfrm>
              <a:prstGeom prst="rect">
                <a:avLst/>
              </a:prstGeom>
              <a:noFill/>
            </p:spPr>
            <p:txBody>
              <a:bodyPr wrap="square">
                <a:spAutoFit/>
              </a:bodyPr>
              <a:lstStyle/>
              <a:p>
                <a:pPr algn="l"/>
                <a:r>
                  <a:rPr lang="en-IN" sz="2400" b="1" dirty="0">
                    <a:solidFill>
                      <a:srgbClr val="231F20"/>
                    </a:solidFill>
                    <a:latin typeface="Times-Roman"/>
                  </a:rPr>
                  <a:t>Codeword Efficiency: </a:t>
                </a:r>
                <a:r>
                  <a:rPr lang="en-IN" dirty="0">
                    <a:latin typeface="Arial" panose="020B0604020202020204" pitchFamily="34" charset="0"/>
                    <a:cs typeface="Arial" panose="020B0604020202020204" pitchFamily="34" charset="0"/>
                  </a:rPr>
                  <a:t>code efficiency is defined as:</a:t>
                </a:r>
              </a:p>
              <a:p>
                <a:pPr marL="0" indent="0" algn="just">
                  <a:buNone/>
                </a:pPr>
                <a:r>
                  <a:rPr lang="en-US" sz="3600" b="0" dirty="0">
                    <a:latin typeface="Calibri Light" panose="020F0302020204030204" pitchFamily="34" charset="0"/>
                    <a:cs typeface="Calibri Light" panose="020F0302020204030204" pitchFamily="34" charset="0"/>
                  </a:rPr>
                  <a:t>				</a:t>
                </a:r>
                <a:r>
                  <a:rPr lang="ka-GE" sz="3600" b="0" dirty="0">
                    <a:latin typeface="Calibri Light" panose="020F0302020204030204" pitchFamily="34" charset="0"/>
                    <a:cs typeface="Calibri Light" panose="020F0302020204030204" pitchFamily="34" charset="0"/>
                  </a:rPr>
                  <a:t>ⴄ</a:t>
                </a:r>
                <a14:m>
                  <m:oMath xmlns:m="http://schemas.openxmlformats.org/officeDocument/2006/math">
                    <m:r>
                      <a:rPr lang="en-IN" sz="3600" b="0" i="1" smtClean="0">
                        <a:latin typeface="Cambria Math" panose="02040503050406030204" pitchFamily="18" charset="0"/>
                      </a:rPr>
                      <m:t>=</m:t>
                    </m:r>
                    <m:nary>
                      <m:naryPr>
                        <m:chr m:val="∑"/>
                        <m:ctrlPr>
                          <a:rPr lang="en-IN" sz="3600" b="0" i="1" smtClean="0">
                            <a:latin typeface="Cambria Math" panose="02040503050406030204" pitchFamily="18" charset="0"/>
                          </a:rPr>
                        </m:ctrlPr>
                      </m:naryPr>
                      <m:sub>
                        <m:r>
                          <a:rPr lang="en-IN" sz="3600" b="0" i="1" smtClean="0">
                            <a:latin typeface="Cambria Math" panose="02040503050406030204" pitchFamily="18" charset="0"/>
                          </a:rPr>
                          <m:t>𝑖</m:t>
                        </m:r>
                        <m:r>
                          <a:rPr lang="en-IN" sz="3600" b="0" i="1" smtClean="0">
                            <a:latin typeface="Cambria Math" panose="02040503050406030204" pitchFamily="18" charset="0"/>
                          </a:rPr>
                          <m:t>=1</m:t>
                        </m:r>
                      </m:sub>
                      <m:sup>
                        <m:r>
                          <a:rPr lang="en-IN" sz="3600" b="0" i="1" smtClean="0">
                            <a:latin typeface="Cambria Math" panose="02040503050406030204" pitchFamily="18" charset="0"/>
                          </a:rPr>
                          <m:t>𝐾</m:t>
                        </m:r>
                      </m:sup>
                      <m:e>
                        <m:f>
                          <m:fPr>
                            <m:ctrlPr>
                              <a:rPr lang="en-IN" sz="3600" b="0" i="1" smtClean="0">
                                <a:latin typeface="Cambria Math" panose="02040503050406030204" pitchFamily="18" charset="0"/>
                              </a:rPr>
                            </m:ctrlPr>
                          </m:fPr>
                          <m:num>
                            <m:sSub>
                              <m:sSubPr>
                                <m:ctrlPr>
                                  <a:rPr lang="en-IN" sz="3600" b="0" i="1" smtClean="0">
                                    <a:latin typeface="Cambria Math" panose="02040503050406030204" pitchFamily="18" charset="0"/>
                                  </a:rPr>
                                </m:ctrlPr>
                              </m:sSubPr>
                              <m:e>
                                <m:r>
                                  <a:rPr lang="en-US" sz="3600" b="0" i="1" smtClean="0">
                                    <a:latin typeface="Cambria Math" panose="02040503050406030204" pitchFamily="18" charset="0"/>
                                  </a:rPr>
                                  <m:t>𝐿</m:t>
                                </m:r>
                              </m:e>
                              <m:sub>
                                <m:r>
                                  <a:rPr lang="en-US" sz="3600" b="0" i="1" smtClean="0">
                                    <a:latin typeface="Cambria Math" panose="02040503050406030204" pitchFamily="18" charset="0"/>
                                  </a:rPr>
                                  <m:t>𝑚𝑖𝑛</m:t>
                                </m:r>
                              </m:sub>
                            </m:sSub>
                          </m:num>
                          <m:den>
                            <m:r>
                              <a:rPr lang="en-US" sz="3600" b="0" i="1" smtClean="0">
                                <a:latin typeface="Cambria Math" panose="02040503050406030204" pitchFamily="18" charset="0"/>
                              </a:rPr>
                              <m:t>𝐿</m:t>
                            </m:r>
                          </m:den>
                        </m:f>
                      </m:e>
                    </m:nary>
                    <m:r>
                      <a:rPr lang="en-US" sz="3600" b="0" i="1" smtClean="0">
                        <a:latin typeface="Cambria Math" panose="02040503050406030204" pitchFamily="18" charset="0"/>
                      </a:rPr>
                      <m:t> </m:t>
                    </m:r>
                  </m:oMath>
                </a14:m>
                <a:endParaRPr lang="en-US" sz="2400" b="1" dirty="0">
                  <a:solidFill>
                    <a:srgbClr val="231F20"/>
                  </a:solidFill>
                  <a:latin typeface="Times-Roman"/>
                </a:endParaRPr>
              </a:p>
              <a:p>
                <a:pPr marL="0" indent="0" algn="just">
                  <a:buNone/>
                </a:pPr>
                <a:r>
                  <a:rPr lang="en-US" sz="2400" b="1" dirty="0" err="1">
                    <a:solidFill>
                      <a:srgbClr val="231F20"/>
                    </a:solidFill>
                    <a:latin typeface="Times-Roman"/>
                  </a:rPr>
                  <a:t>L</a:t>
                </a:r>
                <a:r>
                  <a:rPr lang="en-US" sz="2400" b="1" baseline="-25000" dirty="0" err="1">
                    <a:solidFill>
                      <a:srgbClr val="231F20"/>
                    </a:solidFill>
                    <a:latin typeface="Times-Roman"/>
                  </a:rPr>
                  <a:t>min</a:t>
                </a:r>
                <a:r>
                  <a:rPr lang="en-US" sz="2400" b="1" dirty="0">
                    <a:solidFill>
                      <a:srgbClr val="231F20"/>
                    </a:solidFill>
                    <a:latin typeface="Times-Roman"/>
                  </a:rPr>
                  <a:t>: </a:t>
                </a:r>
                <a:r>
                  <a:rPr lang="en-US" sz="2400" dirty="0">
                    <a:solidFill>
                      <a:srgbClr val="231F20"/>
                    </a:solidFill>
                    <a:latin typeface="Times-Roman"/>
                  </a:rPr>
                  <a:t>minimum possible value of L. When</a:t>
                </a:r>
                <a:r>
                  <a:rPr lang="ka-GE" sz="2400" dirty="0">
                    <a:latin typeface="Calibri Light" panose="020F0302020204030204" pitchFamily="34" charset="0"/>
                    <a:cs typeface="Calibri Light" panose="020F0302020204030204" pitchFamily="34" charset="0"/>
                  </a:rPr>
                  <a:t> </a:t>
                </a:r>
                <a:r>
                  <a:rPr lang="ka-GE" sz="2400" b="0" dirty="0">
                    <a:latin typeface="Calibri Light" panose="020F0302020204030204" pitchFamily="34" charset="0"/>
                    <a:cs typeface="Calibri Light" panose="020F0302020204030204" pitchFamily="34" charset="0"/>
                  </a:rPr>
                  <a:t>ⴄ</a:t>
                </a:r>
                <a:r>
                  <a:rPr lang="en-US" sz="2400" b="0" dirty="0">
                    <a:latin typeface="Calibri Light" panose="020F0302020204030204" pitchFamily="34" charset="0"/>
                    <a:cs typeface="Calibri Light" panose="020F0302020204030204" pitchFamily="34" charset="0"/>
                  </a:rPr>
                  <a:t> approaches unity, the code is said to be most efficient.</a:t>
                </a:r>
              </a:p>
              <a:p>
                <a:pPr marL="0" indent="0" algn="just">
                  <a:buNone/>
                </a:pPr>
                <a:endParaRPr lang="en-US" sz="2400" b="0" dirty="0">
                  <a:latin typeface="Calibri Light" panose="020F0302020204030204" pitchFamily="34" charset="0"/>
                  <a:cs typeface="Calibri Light" panose="020F0302020204030204" pitchFamily="34" charset="0"/>
                </a:endParaRPr>
              </a:p>
              <a:p>
                <a:pPr marL="0" indent="0" algn="just">
                  <a:buNone/>
                </a:pPr>
                <a:endParaRPr lang="en-US" sz="2400" dirty="0">
                  <a:solidFill>
                    <a:srgbClr val="FF0000"/>
                  </a:solidFill>
                  <a:latin typeface="Calibri Light" panose="020F0302020204030204" pitchFamily="34" charset="0"/>
                  <a:cs typeface="Calibri Light" panose="020F0302020204030204" pitchFamily="34" charset="0"/>
                </a:endParaRPr>
              </a:p>
              <a:p>
                <a:pPr algn="just"/>
                <a:r>
                  <a:rPr lang="en-US" sz="2400" b="1" dirty="0">
                    <a:solidFill>
                      <a:srgbClr val="231F20"/>
                    </a:solidFill>
                    <a:latin typeface="Calibri Light" panose="020F0302020204030204" pitchFamily="34" charset="0"/>
                    <a:cs typeface="Calibri Light" panose="020F0302020204030204" pitchFamily="34" charset="0"/>
                  </a:rPr>
                  <a:t>Code Redundancy: </a:t>
                </a:r>
                <a:r>
                  <a:rPr lang="en-IN" sz="2400" dirty="0">
                    <a:solidFill>
                      <a:srgbClr val="231F20"/>
                    </a:solidFill>
                    <a:latin typeface="Times-Roman"/>
                  </a:rPr>
                  <a:t>code redundancy is defined as:</a:t>
                </a:r>
              </a:p>
              <a:p>
                <a:pPr algn="just"/>
                <a:r>
                  <a:rPr lang="en-US" sz="2400" b="1" dirty="0">
                    <a:solidFill>
                      <a:srgbClr val="231F20"/>
                    </a:solidFill>
                    <a:latin typeface="Times-Roman"/>
                  </a:rPr>
                  <a:t>				</a:t>
                </a:r>
                <a:r>
                  <a:rPr lang="el-GR" sz="2400" b="1" dirty="0">
                    <a:solidFill>
                      <a:srgbClr val="231F20"/>
                    </a:solidFill>
                    <a:latin typeface="Times-Roman"/>
                  </a:rPr>
                  <a:t>γ</a:t>
                </a:r>
                <a:r>
                  <a:rPr lang="en-US" sz="2400" b="1" dirty="0">
                    <a:solidFill>
                      <a:srgbClr val="231F20"/>
                    </a:solidFill>
                    <a:latin typeface="Times-Roman"/>
                  </a:rPr>
                  <a:t> = 1  - </a:t>
                </a:r>
                <a:r>
                  <a:rPr lang="ka-GE" sz="2400" b="0" dirty="0">
                    <a:latin typeface="Calibri Light" panose="020F0302020204030204" pitchFamily="34" charset="0"/>
                    <a:cs typeface="Calibri Light" panose="020F0302020204030204" pitchFamily="34" charset="0"/>
                  </a:rPr>
                  <a:t>ⴄ</a:t>
                </a:r>
                <a:endParaRPr lang="en-US" sz="2400" b="0" dirty="0">
                  <a:latin typeface="Calibri Light" panose="020F0302020204030204" pitchFamily="34" charset="0"/>
                  <a:cs typeface="Calibri Light" panose="020F0302020204030204" pitchFamily="34" charset="0"/>
                </a:endParaRPr>
              </a:p>
              <a:p>
                <a:pPr algn="just"/>
                <a:endParaRPr lang="en-US" sz="2400" b="1" dirty="0">
                  <a:solidFill>
                    <a:srgbClr val="231F20"/>
                  </a:solidFill>
                  <a:latin typeface="Times-Roman"/>
                </a:endParaRPr>
              </a:p>
            </p:txBody>
          </p:sp>
        </mc:Choice>
        <mc:Fallback xmlns="">
          <p:sp>
            <p:nvSpPr>
              <p:cNvPr id="9" name="TextBox 8">
                <a:extLst>
                  <a:ext uri="{FF2B5EF4-FFF2-40B4-BE49-F238E27FC236}">
                    <a16:creationId xmlns:a16="http://schemas.microsoft.com/office/drawing/2014/main" id="{D4A638E4-3619-43F7-8A10-AAE39318F58C}"/>
                  </a:ext>
                </a:extLst>
              </p:cNvPr>
              <p:cNvSpPr txBox="1">
                <a:spLocks noRot="1" noChangeAspect="1" noMove="1" noResize="1" noEditPoints="1" noAdjustHandles="1" noChangeArrowheads="1" noChangeShapeType="1" noTextEdit="1"/>
              </p:cNvSpPr>
              <p:nvPr/>
            </p:nvSpPr>
            <p:spPr>
              <a:xfrm>
                <a:off x="97767" y="1091757"/>
                <a:ext cx="12094233" cy="3830792"/>
              </a:xfrm>
              <a:prstGeom prst="rect">
                <a:avLst/>
              </a:prstGeom>
              <a:blipFill>
                <a:blip r:embed="rId3"/>
                <a:stretch>
                  <a:fillRect l="-756" t="-1272" r="-806"/>
                </a:stretch>
              </a:blipFill>
            </p:spPr>
            <p:txBody>
              <a:bodyPr/>
              <a:lstStyle/>
              <a:p>
                <a:r>
                  <a:rPr lang="en-IN">
                    <a:noFill/>
                  </a:rPr>
                  <a:t> </a:t>
                </a:r>
              </a:p>
            </p:txBody>
          </p:sp>
        </mc:Fallback>
      </mc:AlternateContent>
      <p:sp>
        <p:nvSpPr>
          <p:cNvPr id="2" name="Footer Placeholder 1">
            <a:extLst>
              <a:ext uri="{FF2B5EF4-FFF2-40B4-BE49-F238E27FC236}">
                <a16:creationId xmlns:a16="http://schemas.microsoft.com/office/drawing/2014/main" id="{05197F3A-1597-FCAB-BEC6-EDF843AFAC65}"/>
              </a:ext>
            </a:extLst>
          </p:cNvPr>
          <p:cNvSpPr>
            <a:spLocks noGrp="1"/>
          </p:cNvSpPr>
          <p:nvPr>
            <p:ph type="ftr" sz="quarter" idx="11"/>
          </p:nvPr>
        </p:nvSpPr>
        <p:spPr/>
        <p:txBody>
          <a:bodyPr/>
          <a:lstStyle/>
          <a:p>
            <a:r>
              <a:rPr lang="en-IN"/>
              <a:t>Dr Saladi Saritha</a:t>
            </a:r>
          </a:p>
        </p:txBody>
      </p:sp>
      <p:sp>
        <p:nvSpPr>
          <p:cNvPr id="3" name="Slide Number Placeholder 2">
            <a:extLst>
              <a:ext uri="{FF2B5EF4-FFF2-40B4-BE49-F238E27FC236}">
                <a16:creationId xmlns:a16="http://schemas.microsoft.com/office/drawing/2014/main" id="{04D64F43-CDA1-8E1C-58C2-5F4DDB23E47C}"/>
              </a:ext>
            </a:extLst>
          </p:cNvPr>
          <p:cNvSpPr>
            <a:spLocks noGrp="1"/>
          </p:cNvSpPr>
          <p:nvPr>
            <p:ph type="sldNum" sz="quarter" idx="12"/>
          </p:nvPr>
        </p:nvSpPr>
        <p:spPr/>
        <p:txBody>
          <a:bodyPr/>
          <a:lstStyle/>
          <a:p>
            <a:fld id="{BAEA75B2-F555-4190-9D20-7B0AA5D969FF}" type="slidenum">
              <a:rPr lang="en-IN" smtClean="0"/>
              <a:t>5</a:t>
            </a:fld>
            <a:endParaRPr lang="en-IN"/>
          </a:p>
        </p:txBody>
      </p:sp>
    </p:spTree>
    <p:extLst>
      <p:ext uri="{BB962C8B-B14F-4D97-AF65-F5344CB8AC3E}">
        <p14:creationId xmlns:p14="http://schemas.microsoft.com/office/powerpoint/2010/main" val="1814529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5451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solidFill>
                  <a:srgbClr val="000000"/>
                </a:solidFill>
                <a:cs typeface="Arial" panose="020B0604020202020204" pitchFamily="34" charset="0"/>
              </a:rPr>
              <a:t>Source Coding Theorem</a:t>
            </a:r>
            <a:endParaRPr lang="en-US" sz="3600" i="0" dirty="0">
              <a:solidFill>
                <a:srgbClr val="000000"/>
              </a:solidFill>
              <a:effectLst/>
              <a:cs typeface="Arial" panose="020B0604020202020204" pitchFamily="34"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A638E4-3619-43F7-8A10-AAE39318F58C}"/>
                  </a:ext>
                </a:extLst>
              </p:cNvPr>
              <p:cNvSpPr txBox="1"/>
              <p:nvPr/>
            </p:nvSpPr>
            <p:spPr>
              <a:xfrm>
                <a:off x="97767" y="1091757"/>
                <a:ext cx="12094233" cy="4216539"/>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The primary objective is the compression of data by efficient representation of the symbols.</a:t>
                </a:r>
              </a:p>
              <a:p>
                <a:pPr algn="l"/>
                <a:endParaRPr lang="en-US" sz="2000" dirty="0">
                  <a:solidFill>
                    <a:srgbClr val="231F20"/>
                  </a:solidFill>
                  <a:latin typeface="Arial" panose="020B0604020202020204" pitchFamily="34" charset="0"/>
                  <a:cs typeface="Arial" panose="020B0604020202020204" pitchFamily="34" charset="0"/>
                </a:endParaRPr>
              </a:p>
              <a:p>
                <a:pPr algn="l"/>
                <a:r>
                  <a:rPr lang="en-US" sz="2000" b="0" i="0" u="none" strike="noStrike" baseline="0" dirty="0">
                    <a:latin typeface="Arial" panose="020B0604020202020204" pitchFamily="34" charset="0"/>
                    <a:cs typeface="Arial" panose="020B0604020202020204" pitchFamily="34" charset="0"/>
                  </a:rPr>
                  <a:t>Suppose a discrete memoryless source (DMS) outputs a symbol every </a:t>
                </a:r>
                <a:r>
                  <a:rPr lang="en-US" sz="2000" b="0" i="1" u="none" strike="noStrike" baseline="0" dirty="0">
                    <a:latin typeface="Arial" panose="020B0604020202020204" pitchFamily="34" charset="0"/>
                    <a:cs typeface="Arial" panose="020B0604020202020204" pitchFamily="34" charset="0"/>
                  </a:rPr>
                  <a:t>t </a:t>
                </a:r>
                <a:r>
                  <a:rPr lang="en-US" sz="2000" b="0" i="0" u="none" strike="noStrike" baseline="0" dirty="0">
                    <a:latin typeface="Arial" panose="020B0604020202020204" pitchFamily="34" charset="0"/>
                    <a:cs typeface="Arial" panose="020B0604020202020204" pitchFamily="34" charset="0"/>
                  </a:rPr>
                  <a:t>seconds and each symbol is selected from a finite set of symbols </a:t>
                </a:r>
                <a14:m>
                  <m:oMath xmlns:m="http://schemas.openxmlformats.org/officeDocument/2006/math">
                    <m:r>
                      <a:rPr lang="en-IN" sz="2000" smtClean="0">
                        <a:latin typeface="Cambria Math" panose="02040503050406030204" pitchFamily="18" charset="0"/>
                        <a:cs typeface="Arial" panose="020B0604020202020204" pitchFamily="34" charset="0"/>
                      </a:rPr>
                      <m:t>𝒮</m:t>
                    </m:r>
                    <m:r>
                      <a:rPr lang="en-IN" sz="2000" smtClean="0">
                        <a:latin typeface="Cambria Math" panose="02040503050406030204" pitchFamily="18" charset="0"/>
                        <a:cs typeface="Arial" panose="020B0604020202020204" pitchFamily="34" charset="0"/>
                      </a:rPr>
                      <m:t>={</m:t>
                    </m:r>
                    <m:sSub>
                      <m:sSubPr>
                        <m:ctrlPr>
                          <a:rPr lang="en-IN" sz="2000" i="1">
                            <a:latin typeface="Cambria Math" panose="02040503050406030204" pitchFamily="18" charset="0"/>
                            <a:cs typeface="Arial" panose="020B0604020202020204" pitchFamily="34" charset="0"/>
                          </a:rPr>
                        </m:ctrlPr>
                      </m:sSubPr>
                      <m:e>
                        <m:r>
                          <a:rPr lang="en-IN" sz="2000">
                            <a:latin typeface="Cambria Math" panose="02040503050406030204" pitchFamily="18" charset="0"/>
                            <a:cs typeface="Arial" panose="020B0604020202020204" pitchFamily="34" charset="0"/>
                          </a:rPr>
                          <m:t>𝑠</m:t>
                        </m:r>
                      </m:e>
                      <m:sub>
                        <m:r>
                          <a:rPr lang="en-IN" sz="2000">
                            <a:latin typeface="Cambria Math" panose="02040503050406030204" pitchFamily="18" charset="0"/>
                            <a:cs typeface="Arial" panose="020B0604020202020204" pitchFamily="34" charset="0"/>
                          </a:rPr>
                          <m:t>1</m:t>
                        </m:r>
                      </m:sub>
                    </m:sSub>
                    <m:r>
                      <a:rPr lang="en-IN" sz="2000">
                        <a:latin typeface="Cambria Math" panose="02040503050406030204" pitchFamily="18" charset="0"/>
                        <a:cs typeface="Arial" panose="020B0604020202020204" pitchFamily="34" charset="0"/>
                      </a:rPr>
                      <m:t>, </m:t>
                    </m:r>
                    <m:sSub>
                      <m:sSubPr>
                        <m:ctrlPr>
                          <a:rPr lang="en-IN" sz="2000" i="1">
                            <a:latin typeface="Cambria Math" panose="02040503050406030204" pitchFamily="18" charset="0"/>
                            <a:cs typeface="Arial" panose="020B0604020202020204" pitchFamily="34" charset="0"/>
                          </a:rPr>
                        </m:ctrlPr>
                      </m:sSubPr>
                      <m:e>
                        <m:r>
                          <a:rPr lang="en-IN" sz="2000">
                            <a:latin typeface="Cambria Math" panose="02040503050406030204" pitchFamily="18" charset="0"/>
                            <a:cs typeface="Arial" panose="020B0604020202020204" pitchFamily="34" charset="0"/>
                          </a:rPr>
                          <m:t>𝑠</m:t>
                        </m:r>
                      </m:e>
                      <m:sub>
                        <m:r>
                          <a:rPr lang="en-IN" sz="2000">
                            <a:latin typeface="Cambria Math" panose="02040503050406030204" pitchFamily="18" charset="0"/>
                            <a:cs typeface="Arial" panose="020B0604020202020204" pitchFamily="34" charset="0"/>
                          </a:rPr>
                          <m:t>2</m:t>
                        </m:r>
                      </m:sub>
                    </m:sSub>
                    <m:r>
                      <a:rPr lang="en-IN" sz="2000">
                        <a:latin typeface="Cambria Math" panose="02040503050406030204" pitchFamily="18" charset="0"/>
                        <a:cs typeface="Arial" panose="020B0604020202020204" pitchFamily="34" charset="0"/>
                      </a:rPr>
                      <m:t>,….., </m:t>
                    </m:r>
                    <m:sSub>
                      <m:sSubPr>
                        <m:ctrlPr>
                          <a:rPr lang="en-IN" sz="2000" i="1">
                            <a:latin typeface="Cambria Math" panose="02040503050406030204" pitchFamily="18" charset="0"/>
                            <a:cs typeface="Arial" panose="020B0604020202020204" pitchFamily="34" charset="0"/>
                          </a:rPr>
                        </m:ctrlPr>
                      </m:sSubPr>
                      <m:e>
                        <m:r>
                          <a:rPr lang="en-IN" sz="2000">
                            <a:latin typeface="Cambria Math" panose="02040503050406030204" pitchFamily="18" charset="0"/>
                            <a:cs typeface="Arial" panose="020B0604020202020204" pitchFamily="34" charset="0"/>
                          </a:rPr>
                          <m:t>𝑠</m:t>
                        </m:r>
                      </m:e>
                      <m:sub>
                        <m:r>
                          <a:rPr lang="en-IN" sz="2000">
                            <a:latin typeface="Cambria Math" panose="02040503050406030204" pitchFamily="18" charset="0"/>
                            <a:cs typeface="Arial" panose="020B0604020202020204" pitchFamily="34" charset="0"/>
                          </a:rPr>
                          <m:t>𝐾</m:t>
                        </m:r>
                      </m:sub>
                    </m:sSub>
                    <m:r>
                      <a:rPr lang="en-IN" sz="2000">
                        <a:latin typeface="Cambria Math" panose="02040503050406030204" pitchFamily="18" charset="0"/>
                        <a:cs typeface="Arial" panose="020B0604020202020204" pitchFamily="34" charset="0"/>
                      </a:rPr>
                      <m:t>}</m:t>
                    </m:r>
                  </m:oMath>
                </a14:m>
                <a:r>
                  <a:rPr lang="en-IN" sz="2000" dirty="0">
                    <a:latin typeface="Arial" panose="020B0604020202020204" pitchFamily="34" charset="0"/>
                    <a:cs typeface="Arial" panose="020B0604020202020204" pitchFamily="34" charset="0"/>
                  </a:rPr>
                  <a:t> where </a:t>
                </a:r>
                <a14:m>
                  <m:oMath xmlns:m="http://schemas.openxmlformats.org/officeDocument/2006/math">
                    <m:r>
                      <a:rPr lang="en-IN" sz="2000" dirty="0">
                        <a:latin typeface="Cambria Math" panose="02040503050406030204" pitchFamily="18" charset="0"/>
                        <a:cs typeface="Arial" panose="020B0604020202020204" pitchFamily="34" charset="0"/>
                      </a:rPr>
                      <m:t>𝐾</m:t>
                    </m:r>
                  </m:oMath>
                </a14:m>
                <a:r>
                  <a:rPr lang="en-IN" sz="2000" dirty="0">
                    <a:latin typeface="Arial" panose="020B0604020202020204" pitchFamily="34" charset="0"/>
                    <a:cs typeface="Arial" panose="020B0604020202020204" pitchFamily="34" charset="0"/>
                  </a:rPr>
                  <a:t> is the number of symbols each with probability distribution </a:t>
                </a:r>
                <a14:m>
                  <m:oMath xmlns:m="http://schemas.openxmlformats.org/officeDocument/2006/math">
                    <m:r>
                      <a:rPr lang="en-IN" sz="2000" b="0" i="1" smtClean="0">
                        <a:latin typeface="Cambria Math" panose="02040503050406030204" pitchFamily="18" charset="0"/>
                      </a:rPr>
                      <m:t>𝑃</m:t>
                    </m:r>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𝑝</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 </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𝑝</m:t>
                        </m:r>
                      </m:e>
                      <m:sub>
                        <m:r>
                          <a:rPr lang="en-IN" sz="2000" b="0" i="1" smtClean="0">
                            <a:latin typeface="Cambria Math" panose="02040503050406030204" pitchFamily="18" charset="0"/>
                          </a:rPr>
                          <m:t>2</m:t>
                        </m:r>
                      </m:sub>
                    </m:sSub>
                    <m:r>
                      <a:rPr lang="en-IN" sz="2000" b="0" i="1" smtClean="0">
                        <a:latin typeface="Cambria Math" panose="02040503050406030204" pitchFamily="18" charset="0"/>
                      </a:rPr>
                      <m:t>,….., </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𝑝</m:t>
                        </m:r>
                      </m:e>
                      <m:sub>
                        <m:r>
                          <a:rPr lang="en-IN" sz="2000" b="0" i="1" smtClean="0">
                            <a:latin typeface="Cambria Math" panose="02040503050406030204" pitchFamily="18" charset="0"/>
                          </a:rPr>
                          <m:t>𝐾</m:t>
                        </m:r>
                      </m:sub>
                    </m:sSub>
                    <m:r>
                      <a:rPr lang="en-IN" sz="2000" b="0" i="1" smtClean="0">
                        <a:latin typeface="Cambria Math" panose="02040503050406030204" pitchFamily="18" charset="0"/>
                      </a:rPr>
                      <m:t>}</m:t>
                    </m:r>
                  </m:oMath>
                </a14:m>
                <a:r>
                  <a:rPr lang="en-IN"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a:t>
                </a:r>
                <a:r>
                  <a:rPr lang="en-US" sz="2000" b="0" i="0" u="none" strike="noStrike" baseline="0" dirty="0">
                    <a:latin typeface="Arial" panose="020B0604020202020204" pitchFamily="34" charset="0"/>
                    <a:cs typeface="Arial" panose="020B0604020202020204" pitchFamily="34" charset="0"/>
                  </a:rPr>
                  <a:t>he entropy of this DMS in bits per source symbols is</a:t>
                </a:r>
              </a:p>
              <a:p>
                <a:pPr algn="l"/>
                <a:endParaRPr lang="en-US" sz="2000" dirty="0">
                  <a:solidFill>
                    <a:srgbClr val="231F20"/>
                  </a:solidFill>
                  <a:latin typeface="Arial" panose="020B0604020202020204" pitchFamily="34" charset="0"/>
                  <a:cs typeface="Arial" panose="020B0604020202020204" pitchFamily="34" charset="0"/>
                </a:endParaRPr>
              </a:p>
              <a:p>
                <a:pPr algn="l"/>
                <a:endParaRPr lang="en-US" sz="2000" b="1" dirty="0">
                  <a:solidFill>
                    <a:srgbClr val="231F20"/>
                  </a:solidFill>
                  <a:latin typeface="Arial" panose="020B0604020202020204" pitchFamily="34" charset="0"/>
                  <a:cs typeface="Arial" panose="020B0604020202020204" pitchFamily="34" charset="0"/>
                </a:endParaRPr>
              </a:p>
              <a:p>
                <a:pPr algn="l"/>
                <a:endParaRPr lang="en-US" sz="2000" b="1" dirty="0">
                  <a:solidFill>
                    <a:srgbClr val="231F20"/>
                  </a:solidFill>
                  <a:latin typeface="Arial" panose="020B0604020202020204" pitchFamily="34" charset="0"/>
                  <a:cs typeface="Arial" panose="020B0604020202020204" pitchFamily="34" charset="0"/>
                </a:endParaRPr>
              </a:p>
              <a:p>
                <a:pPr algn="l"/>
                <a:endParaRPr lang="en-US" sz="2000" dirty="0">
                  <a:solidFill>
                    <a:srgbClr val="231F20"/>
                  </a:solidFill>
                  <a:latin typeface="Arial" panose="020B0604020202020204" pitchFamily="34" charset="0"/>
                  <a:cs typeface="Arial" panose="020B0604020202020204" pitchFamily="34" charset="0"/>
                </a:endParaRPr>
              </a:p>
              <a:p>
                <a:pPr algn="l"/>
                <a:r>
                  <a:rPr lang="en-US" sz="2000" dirty="0">
                    <a:solidFill>
                      <a:srgbClr val="231F20"/>
                    </a:solidFill>
                    <a:latin typeface="Arial" panose="020B0604020202020204" pitchFamily="34" charset="0"/>
                    <a:cs typeface="Arial" panose="020B0604020202020204" pitchFamily="34" charset="0"/>
                  </a:rPr>
                  <a:t>L can be made close to H(S) using some suitably chosen code.</a:t>
                </a:r>
              </a:p>
              <a:p>
                <a:pPr algn="l"/>
                <a:r>
                  <a:rPr lang="en-US" sz="2000" dirty="0">
                    <a:solidFill>
                      <a:srgbClr val="231F20"/>
                    </a:solidFill>
                    <a:latin typeface="Arial" panose="020B0604020202020204" pitchFamily="34" charset="0"/>
                    <a:cs typeface="Arial" panose="020B0604020202020204" pitchFamily="34" charset="0"/>
                  </a:rPr>
                  <a:t>Thus, with </a:t>
                </a:r>
                <a:r>
                  <a:rPr lang="en-US" sz="2000" b="1" dirty="0" err="1">
                    <a:solidFill>
                      <a:srgbClr val="231F20"/>
                    </a:solidFill>
                    <a:latin typeface="Arial" panose="020B0604020202020204" pitchFamily="34" charset="0"/>
                    <a:cs typeface="Arial" panose="020B0604020202020204" pitchFamily="34" charset="0"/>
                  </a:rPr>
                  <a:t>L</a:t>
                </a:r>
                <a:r>
                  <a:rPr lang="en-US" sz="2000" b="1" baseline="-25000" dirty="0" err="1">
                    <a:solidFill>
                      <a:srgbClr val="231F20"/>
                    </a:solidFill>
                    <a:latin typeface="Arial" panose="020B0604020202020204" pitchFamily="34" charset="0"/>
                    <a:cs typeface="Arial" panose="020B0604020202020204" pitchFamily="34" charset="0"/>
                  </a:rPr>
                  <a:t>min</a:t>
                </a:r>
                <a:r>
                  <a:rPr lang="en-US" sz="2000" b="1" dirty="0">
                    <a:solidFill>
                      <a:srgbClr val="231F20"/>
                    </a:solidFill>
                    <a:latin typeface="Arial" panose="020B0604020202020204" pitchFamily="34" charset="0"/>
                    <a:cs typeface="Arial" panose="020B0604020202020204" pitchFamily="34" charset="0"/>
                  </a:rPr>
                  <a:t> = H(S)</a:t>
                </a:r>
              </a:p>
              <a:p>
                <a:pPr algn="l"/>
                <a:endParaRPr lang="en-US" sz="2000" b="1" dirty="0">
                  <a:solidFill>
                    <a:srgbClr val="231F20"/>
                  </a:solidFill>
                  <a:latin typeface="Arial" panose="020B0604020202020204" pitchFamily="34" charset="0"/>
                  <a:cs typeface="Arial" panose="020B0604020202020204" pitchFamily="34" charset="0"/>
                </a:endParaRPr>
              </a:p>
              <a:p>
                <a:pPr algn="l"/>
                <a:r>
                  <a:rPr lang="en-US" sz="2000" b="1" dirty="0">
                    <a:latin typeface="Calibri Light" panose="020F0302020204030204" pitchFamily="34" charset="0"/>
                    <a:cs typeface="Calibri Light" panose="020F0302020204030204" pitchFamily="34" charset="0"/>
                  </a:rPr>
                  <a:t>					</a:t>
                </a:r>
                <a:r>
                  <a:rPr lang="ka-GE" sz="2800" b="1" dirty="0">
                    <a:latin typeface="Calibri Light" panose="020F0302020204030204" pitchFamily="34" charset="0"/>
                    <a:cs typeface="Calibri Light" panose="020F0302020204030204" pitchFamily="34" charset="0"/>
                  </a:rPr>
                  <a:t>ⴄ</a:t>
                </a:r>
                <a:r>
                  <a:rPr lang="en-US" sz="2800" b="1" dirty="0">
                    <a:latin typeface="Calibri Light" panose="020F0302020204030204" pitchFamily="34" charset="0"/>
                    <a:cs typeface="Calibri Light" panose="020F0302020204030204" pitchFamily="34" charset="0"/>
                  </a:rPr>
                  <a:t> </a:t>
                </a:r>
                <a14:m>
                  <m:oMath xmlns:m="http://schemas.openxmlformats.org/officeDocument/2006/math">
                    <m:r>
                      <a:rPr lang="en-IN" sz="2800" b="1" i="1" smtClean="0">
                        <a:latin typeface="Cambria Math" panose="02040503050406030204" pitchFamily="18" charset="0"/>
                      </a:rPr>
                      <m:t>=</m:t>
                    </m:r>
                    <m:r>
                      <a:rPr lang="en-US" sz="2800" b="1" i="1" smtClean="0">
                        <a:latin typeface="Cambria Math" panose="02040503050406030204" pitchFamily="18" charset="0"/>
                      </a:rPr>
                      <m:t> </m:t>
                    </m:r>
                  </m:oMath>
                </a14:m>
                <a:r>
                  <a:rPr lang="en-US" sz="2800" b="1" dirty="0">
                    <a:solidFill>
                      <a:srgbClr val="231F20"/>
                    </a:solidFill>
                    <a:latin typeface="Arial" panose="020B0604020202020204" pitchFamily="34" charset="0"/>
                    <a:cs typeface="Arial" panose="020B0604020202020204" pitchFamily="34" charset="0"/>
                  </a:rPr>
                  <a:t>H(S) / L</a:t>
                </a:r>
                <a:endParaRPr lang="en-US" sz="2000" b="1" dirty="0">
                  <a:solidFill>
                    <a:srgbClr val="231F20"/>
                  </a:solidFill>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D4A638E4-3619-43F7-8A10-AAE39318F58C}"/>
                  </a:ext>
                </a:extLst>
              </p:cNvPr>
              <p:cNvSpPr txBox="1">
                <a:spLocks noRot="1" noChangeAspect="1" noMove="1" noResize="1" noEditPoints="1" noAdjustHandles="1" noChangeArrowheads="1" noChangeShapeType="1" noTextEdit="1"/>
              </p:cNvSpPr>
              <p:nvPr/>
            </p:nvSpPr>
            <p:spPr>
              <a:xfrm>
                <a:off x="97767" y="1091757"/>
                <a:ext cx="12094233" cy="4216539"/>
              </a:xfrm>
              <a:prstGeom prst="rect">
                <a:avLst/>
              </a:prstGeom>
              <a:blipFill>
                <a:blip r:embed="rId3"/>
                <a:stretch>
                  <a:fillRect l="-504" t="-578" b="-31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6130B3-E34D-4590-A9A0-7A2650693D19}"/>
                  </a:ext>
                </a:extLst>
              </p:cNvPr>
              <p:cNvSpPr txBox="1"/>
              <p:nvPr/>
            </p:nvSpPr>
            <p:spPr>
              <a:xfrm>
                <a:off x="2990538" y="2989620"/>
                <a:ext cx="6160956" cy="855875"/>
              </a:xfrm>
              <a:prstGeom prst="rect">
                <a:avLst/>
              </a:prstGeom>
              <a:noFill/>
            </p:spPr>
            <p:txBody>
              <a:bodyPr wrap="square">
                <a:spAutoFit/>
              </a:bodyPr>
              <a:lstStyle/>
              <a:p>
                <a:pPr algn="just"/>
                <a14:m>
                  <m:oMath xmlns:m="http://schemas.openxmlformats.org/officeDocument/2006/math">
                    <m:r>
                      <a:rPr lang="en-US" sz="2400" b="1" i="1" smtClean="0">
                        <a:latin typeface="Cambria Math" panose="02040503050406030204" pitchFamily="18" charset="0"/>
                      </a:rPr>
                      <m:t>𝑯</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𝑺</m:t>
                        </m:r>
                      </m:e>
                    </m:d>
                    <m:r>
                      <a:rPr lang="en-US" sz="2400" b="1" i="1" smtClean="0">
                        <a:latin typeface="Cambria Math" panose="02040503050406030204" pitchFamily="18" charset="0"/>
                      </a:rPr>
                      <m:t>=</m:t>
                    </m:r>
                    <m:r>
                      <a:rPr lang="en-IN" sz="2400" b="1" i="1" smtClean="0">
                        <a:latin typeface="Cambria Math" panose="02040503050406030204" pitchFamily="18" charset="0"/>
                      </a:rPr>
                      <m:t>−</m:t>
                    </m:r>
                    <m:nary>
                      <m:naryPr>
                        <m:chr m:val="∑"/>
                        <m:ctrlPr>
                          <a:rPr lang="en-IN" sz="2400" b="1" i="1" smtClean="0">
                            <a:latin typeface="Cambria Math" panose="02040503050406030204" pitchFamily="18" charset="0"/>
                          </a:rPr>
                        </m:ctrlPr>
                      </m:naryPr>
                      <m:sub>
                        <m:r>
                          <a:rPr lang="en-IN" sz="2400" b="1" i="1">
                            <a:latin typeface="Cambria Math" panose="02040503050406030204" pitchFamily="18" charset="0"/>
                          </a:rPr>
                          <m:t>𝒊</m:t>
                        </m:r>
                        <m:r>
                          <a:rPr lang="en-IN" sz="2400" b="1" i="1">
                            <a:latin typeface="Cambria Math" panose="02040503050406030204" pitchFamily="18" charset="0"/>
                          </a:rPr>
                          <m:t>=</m:t>
                        </m:r>
                        <m:r>
                          <a:rPr lang="en-IN" sz="2400" b="1" i="1">
                            <a:latin typeface="Cambria Math" panose="02040503050406030204" pitchFamily="18" charset="0"/>
                          </a:rPr>
                          <m:t>𝟏</m:t>
                        </m:r>
                      </m:sub>
                      <m:sup>
                        <m:r>
                          <a:rPr lang="en-IN" sz="2400" b="1" i="1">
                            <a:latin typeface="Cambria Math" panose="02040503050406030204" pitchFamily="18" charset="0"/>
                          </a:rPr>
                          <m:t>𝑲</m:t>
                        </m:r>
                      </m:sup>
                      <m:e>
                        <m:sSub>
                          <m:sSubPr>
                            <m:ctrlPr>
                              <a:rPr lang="en-IN" sz="2400" b="1" i="1">
                                <a:latin typeface="Cambria Math" panose="02040503050406030204" pitchFamily="18" charset="0"/>
                              </a:rPr>
                            </m:ctrlPr>
                          </m:sSubPr>
                          <m:e>
                            <m:r>
                              <a:rPr lang="en-IN" sz="2400" b="1" i="1">
                                <a:latin typeface="Cambria Math" panose="02040503050406030204" pitchFamily="18" charset="0"/>
                              </a:rPr>
                              <m:t>𝒑</m:t>
                            </m:r>
                          </m:e>
                          <m:sub>
                            <m:r>
                              <a:rPr lang="en-IN" sz="2400" b="1" i="1">
                                <a:latin typeface="Cambria Math" panose="02040503050406030204" pitchFamily="18" charset="0"/>
                              </a:rPr>
                              <m:t>𝒊</m:t>
                            </m:r>
                          </m:sub>
                        </m:sSub>
                      </m:e>
                    </m:nary>
                    <m:func>
                      <m:funcPr>
                        <m:ctrlPr>
                          <a:rPr lang="en-IN" sz="2400" b="1" i="1" smtClean="0">
                            <a:latin typeface="Cambria Math" panose="02040503050406030204" pitchFamily="18" charset="0"/>
                          </a:rPr>
                        </m:ctrlPr>
                      </m:funcPr>
                      <m:fName>
                        <m:sSub>
                          <m:sSubPr>
                            <m:ctrlPr>
                              <a:rPr lang="en-IN" sz="2400" b="1" i="1" smtClean="0">
                                <a:latin typeface="Cambria Math" panose="02040503050406030204" pitchFamily="18" charset="0"/>
                              </a:rPr>
                            </m:ctrlPr>
                          </m:sSubPr>
                          <m:e>
                            <m:r>
                              <a:rPr lang="en-IN" sz="2400" b="1" i="0" smtClean="0">
                                <a:latin typeface="Cambria Math" panose="02040503050406030204" pitchFamily="18" charset="0"/>
                              </a:rPr>
                              <m:t>𝐥𝐨𝐠</m:t>
                            </m:r>
                          </m:e>
                          <m:sub>
                            <m:r>
                              <a:rPr lang="en-IN" sz="2400" b="1" i="0" smtClean="0">
                                <a:latin typeface="Cambria Math" panose="02040503050406030204" pitchFamily="18" charset="0"/>
                              </a:rPr>
                              <m:t>𝟐</m:t>
                            </m:r>
                          </m:sub>
                        </m:sSub>
                      </m:fName>
                      <m:e>
                        <m:d>
                          <m:dPr>
                            <m:ctrlPr>
                              <a:rPr lang="en-IN" sz="2400" b="1" i="1" smtClean="0">
                                <a:latin typeface="Cambria Math" panose="02040503050406030204" pitchFamily="18" charset="0"/>
                              </a:rPr>
                            </m:ctrlPr>
                          </m:dPr>
                          <m:e>
                            <m:sSub>
                              <m:sSubPr>
                                <m:ctrlPr>
                                  <a:rPr lang="en-IN" sz="2400" b="1" i="1" smtClean="0">
                                    <a:latin typeface="Cambria Math" panose="02040503050406030204" pitchFamily="18" charset="0"/>
                                  </a:rPr>
                                </m:ctrlPr>
                              </m:sSubPr>
                              <m:e>
                                <m:r>
                                  <a:rPr lang="en-IN" sz="2400" b="1" i="1" smtClean="0">
                                    <a:latin typeface="Cambria Math" panose="02040503050406030204" pitchFamily="18" charset="0"/>
                                  </a:rPr>
                                  <m:t>𝒑</m:t>
                                </m:r>
                              </m:e>
                              <m:sub>
                                <m:r>
                                  <a:rPr lang="en-IN" sz="2400" b="1" i="1" smtClean="0">
                                    <a:latin typeface="Cambria Math" panose="02040503050406030204" pitchFamily="18" charset="0"/>
                                  </a:rPr>
                                  <m:t>𝒊</m:t>
                                </m:r>
                              </m:sub>
                            </m:sSub>
                          </m:e>
                        </m:d>
                      </m:e>
                    </m:func>
                    <m:r>
                      <a:rPr lang="en-IN" sz="2400" b="1" i="1" smtClean="0">
                        <a:latin typeface="Cambria Math" panose="02040503050406030204" pitchFamily="18" charset="0"/>
                      </a:rPr>
                      <m:t>≤</m:t>
                    </m:r>
                    <m:r>
                      <a:rPr lang="en-US" sz="2400" b="1" i="1" smtClean="0">
                        <a:latin typeface="Cambria Math" panose="02040503050406030204" pitchFamily="18" charset="0"/>
                      </a:rPr>
                      <m:t>𝑳</m:t>
                    </m:r>
                  </m:oMath>
                </a14:m>
                <a:r>
                  <a:rPr lang="en-IN" sz="2400" b="1" dirty="0"/>
                  <a:t> </a:t>
                </a:r>
                <a14:m>
                  <m:oMath xmlns:m="http://schemas.openxmlformats.org/officeDocument/2006/math">
                    <m:r>
                      <a:rPr lang="en-IN" sz="2400" b="1" i="1">
                        <a:latin typeface="Cambria Math" panose="02040503050406030204" pitchFamily="18" charset="0"/>
                      </a:rPr>
                      <m:t>≤</m:t>
                    </m:r>
                  </m:oMath>
                </a14:m>
                <a:r>
                  <a:rPr lang="en-IN" sz="2400" b="1" dirty="0"/>
                  <a:t> H(S)+1</a:t>
                </a:r>
              </a:p>
              <a:p>
                <a:pPr algn="just"/>
                <a:endParaRPr lang="en-IN" sz="2400" b="1" dirty="0"/>
              </a:p>
            </p:txBody>
          </p:sp>
        </mc:Choice>
        <mc:Fallback xmlns="">
          <p:sp>
            <p:nvSpPr>
              <p:cNvPr id="8" name="TextBox 7">
                <a:extLst>
                  <a:ext uri="{FF2B5EF4-FFF2-40B4-BE49-F238E27FC236}">
                    <a16:creationId xmlns:a16="http://schemas.microsoft.com/office/drawing/2014/main" id="{1F6130B3-E34D-4590-A9A0-7A2650693D19}"/>
                  </a:ext>
                </a:extLst>
              </p:cNvPr>
              <p:cNvSpPr txBox="1">
                <a:spLocks noRot="1" noChangeAspect="1" noMove="1" noResize="1" noEditPoints="1" noAdjustHandles="1" noChangeArrowheads="1" noChangeShapeType="1" noTextEdit="1"/>
              </p:cNvSpPr>
              <p:nvPr/>
            </p:nvSpPr>
            <p:spPr>
              <a:xfrm>
                <a:off x="2990538" y="2989620"/>
                <a:ext cx="6160956" cy="855875"/>
              </a:xfrm>
              <a:prstGeom prst="rect">
                <a:avLst/>
              </a:prstGeom>
              <a:blipFill>
                <a:blip r:embed="rId4"/>
                <a:stretch>
                  <a:fillRect t="-2837"/>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EE3DCBD0-30B5-DFBC-C13A-95FB070FCC2E}"/>
              </a:ext>
            </a:extLst>
          </p:cNvPr>
          <p:cNvSpPr>
            <a:spLocks noGrp="1"/>
          </p:cNvSpPr>
          <p:nvPr>
            <p:ph type="ftr" sz="quarter" idx="11"/>
          </p:nvPr>
        </p:nvSpPr>
        <p:spPr/>
        <p:txBody>
          <a:bodyPr/>
          <a:lstStyle/>
          <a:p>
            <a:r>
              <a:rPr lang="en-IN"/>
              <a:t>Dr Saladi Saritha</a:t>
            </a:r>
          </a:p>
        </p:txBody>
      </p:sp>
      <p:sp>
        <p:nvSpPr>
          <p:cNvPr id="3" name="Slide Number Placeholder 2">
            <a:extLst>
              <a:ext uri="{FF2B5EF4-FFF2-40B4-BE49-F238E27FC236}">
                <a16:creationId xmlns:a16="http://schemas.microsoft.com/office/drawing/2014/main" id="{4659E66C-B1F5-E3A9-2951-6F7D99445E0A}"/>
              </a:ext>
            </a:extLst>
          </p:cNvPr>
          <p:cNvSpPr>
            <a:spLocks noGrp="1"/>
          </p:cNvSpPr>
          <p:nvPr>
            <p:ph type="sldNum" sz="quarter" idx="12"/>
          </p:nvPr>
        </p:nvSpPr>
        <p:spPr/>
        <p:txBody>
          <a:bodyPr/>
          <a:lstStyle/>
          <a:p>
            <a:fld id="{BAEA75B2-F555-4190-9D20-7B0AA5D969FF}" type="slidenum">
              <a:rPr lang="en-IN" smtClean="0"/>
              <a:t>6</a:t>
            </a:fld>
            <a:endParaRPr lang="en-IN"/>
          </a:p>
        </p:txBody>
      </p:sp>
    </p:spTree>
    <p:extLst>
      <p:ext uri="{BB962C8B-B14F-4D97-AF65-F5344CB8AC3E}">
        <p14:creationId xmlns:p14="http://schemas.microsoft.com/office/powerpoint/2010/main" val="162977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22365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solidFill>
                  <a:srgbClr val="000000"/>
                </a:solidFill>
                <a:cs typeface="Arial" panose="020B0604020202020204" pitchFamily="34" charset="0"/>
              </a:rPr>
              <a:t>Example:</a:t>
            </a:r>
            <a:endParaRPr lang="en-US" sz="3600" i="0" dirty="0">
              <a:solidFill>
                <a:srgbClr val="000000"/>
              </a:solidFill>
              <a:effectLst/>
              <a:cs typeface="Arial" panose="020B0604020202020204" pitchFamily="34"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D4A638E4-3619-43F7-8A10-AAE39318F58C}"/>
              </a:ext>
            </a:extLst>
          </p:cNvPr>
          <p:cNvSpPr txBox="1"/>
          <p:nvPr/>
        </p:nvSpPr>
        <p:spPr>
          <a:xfrm>
            <a:off x="97767" y="1091757"/>
            <a:ext cx="12094233" cy="1200329"/>
          </a:xfrm>
          <a:prstGeom prst="rect">
            <a:avLst/>
          </a:prstGeom>
          <a:noFill/>
        </p:spPr>
        <p:txBody>
          <a:bodyPr wrap="square">
            <a:spAutoFit/>
          </a:bodyPr>
          <a:lstStyle/>
          <a:p>
            <a:pPr algn="l"/>
            <a:r>
              <a:rPr lang="en-US" sz="2400" b="0" i="0" u="none" strike="noStrike" baseline="0" dirty="0">
                <a:latin typeface="Times New Roman" panose="02020603050405020304" pitchFamily="18" charset="0"/>
              </a:rPr>
              <a:t>Q: Consider a source </a:t>
            </a:r>
            <a:r>
              <a:rPr lang="en-US" sz="2400" b="0" i="1" u="none" strike="noStrike" baseline="0" dirty="0">
                <a:latin typeface="Times New Roman" panose="02020603050405020304" pitchFamily="18" charset="0"/>
              </a:rPr>
              <a:t>X </a:t>
            </a:r>
            <a:r>
              <a:rPr lang="en-US" sz="2400" b="0" i="0" u="none" strike="noStrike" baseline="0" dirty="0">
                <a:latin typeface="Times New Roman" panose="02020603050405020304" pitchFamily="18" charset="0"/>
              </a:rPr>
              <a:t>which generates four symbols with probabilities p1 </a:t>
            </a:r>
            <a:r>
              <a:rPr lang="en-US" sz="2400" b="0" i="0" u="none" strike="noStrike" baseline="0" dirty="0">
                <a:latin typeface="Arial" panose="020B0604020202020204" pitchFamily="34" charset="0"/>
              </a:rPr>
              <a:t>= </a:t>
            </a:r>
            <a:r>
              <a:rPr lang="en-US" sz="2400" b="0" i="0" u="none" strike="noStrike" baseline="0" dirty="0">
                <a:latin typeface="Times New Roman" panose="02020603050405020304" pitchFamily="18" charset="0"/>
              </a:rPr>
              <a:t>0.5, p2 = 0.3, </a:t>
            </a:r>
            <a:r>
              <a:rPr lang="en-US" sz="2400" b="0" i="1" u="none" strike="noStrike" baseline="0" dirty="0">
                <a:latin typeface="Arial" panose="020B0604020202020204" pitchFamily="34" charset="0"/>
              </a:rPr>
              <a:t>p</a:t>
            </a:r>
            <a:r>
              <a:rPr lang="en-US" sz="2400" b="0" i="1" u="none" strike="noStrike" baseline="0" dirty="0">
                <a:latin typeface="Times New Roman" panose="02020603050405020304" pitchFamily="18" charset="0"/>
              </a:rPr>
              <a:t>3 </a:t>
            </a:r>
            <a:r>
              <a:rPr lang="en-US" sz="2400" b="0" i="0" u="none" strike="noStrike" baseline="0" dirty="0">
                <a:latin typeface="Times New Roman" panose="02020603050405020304" pitchFamily="18" charset="0"/>
              </a:rPr>
              <a:t>= 0.1 and </a:t>
            </a:r>
            <a:r>
              <a:rPr lang="en-US" sz="2400" b="0" i="1" u="none" strike="noStrike" baseline="0" dirty="0">
                <a:latin typeface="Arial" panose="020B0604020202020204" pitchFamily="34" charset="0"/>
              </a:rPr>
              <a:t>p</a:t>
            </a:r>
            <a:r>
              <a:rPr lang="en-US" sz="2400" b="0" i="1" u="none" strike="noStrike" baseline="0" dirty="0">
                <a:latin typeface="Times New Roman" panose="02020603050405020304" pitchFamily="18" charset="0"/>
              </a:rPr>
              <a:t>4 </a:t>
            </a:r>
            <a:r>
              <a:rPr lang="en-US" sz="2400" b="0" i="0" u="none" strike="noStrike" baseline="0" dirty="0">
                <a:latin typeface="Times New Roman" panose="02020603050405020304" pitchFamily="18" charset="0"/>
              </a:rPr>
              <a:t>= 0.1. Calculate average codeword length, and efficiency of this code if the coding sche</a:t>
            </a:r>
            <a:r>
              <a:rPr lang="en-US" sz="2400" dirty="0">
                <a:latin typeface="Times New Roman" panose="02020603050405020304" pitchFamily="18" charset="0"/>
              </a:rPr>
              <a:t>me is as follow</a:t>
            </a:r>
            <a:r>
              <a:rPr lang="en-US" sz="2400" b="0" i="0" u="none" strike="noStrike" baseline="0" dirty="0">
                <a:latin typeface="Times New Roman" panose="02020603050405020304" pitchFamily="18" charset="0"/>
              </a:rPr>
              <a:t>.</a:t>
            </a:r>
            <a:endParaRPr lang="en-US" sz="28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000994B-F2A3-8866-AED0-63C2FC5A2EA8}"/>
              </a:ext>
            </a:extLst>
          </p:cNvPr>
          <p:cNvSpPr txBox="1"/>
          <p:nvPr/>
        </p:nvSpPr>
        <p:spPr>
          <a:xfrm>
            <a:off x="4159808" y="2411278"/>
            <a:ext cx="1253359" cy="1569660"/>
          </a:xfrm>
          <a:prstGeom prst="rect">
            <a:avLst/>
          </a:prstGeom>
          <a:noFill/>
        </p:spPr>
        <p:txBody>
          <a:bodyPr wrap="square">
            <a:spAutoFit/>
          </a:bodyPr>
          <a:lstStyle/>
          <a:p>
            <a:r>
              <a:rPr lang="en-IN" sz="2400" dirty="0"/>
              <a:t>1-- 01 </a:t>
            </a:r>
          </a:p>
          <a:p>
            <a:r>
              <a:rPr lang="en-IN" sz="2400" dirty="0"/>
              <a:t>2-- 10</a:t>
            </a:r>
          </a:p>
          <a:p>
            <a:r>
              <a:rPr lang="en-IN" sz="2400" dirty="0"/>
              <a:t>3-- 011</a:t>
            </a:r>
          </a:p>
          <a:p>
            <a:r>
              <a:rPr lang="en-IN" sz="2400" dirty="0"/>
              <a:t>4---111</a:t>
            </a:r>
          </a:p>
        </p:txBody>
      </p:sp>
      <p:sp>
        <p:nvSpPr>
          <p:cNvPr id="2" name="Footer Placeholder 1">
            <a:extLst>
              <a:ext uri="{FF2B5EF4-FFF2-40B4-BE49-F238E27FC236}">
                <a16:creationId xmlns:a16="http://schemas.microsoft.com/office/drawing/2014/main" id="{385DA7F3-FAC5-6C6A-98F9-5A76EEE13752}"/>
              </a:ext>
            </a:extLst>
          </p:cNvPr>
          <p:cNvSpPr>
            <a:spLocks noGrp="1"/>
          </p:cNvSpPr>
          <p:nvPr>
            <p:ph type="ftr" sz="quarter" idx="11"/>
          </p:nvPr>
        </p:nvSpPr>
        <p:spPr/>
        <p:txBody>
          <a:bodyPr/>
          <a:lstStyle/>
          <a:p>
            <a:r>
              <a:rPr lang="en-IN"/>
              <a:t>Dr Saladi Saritha</a:t>
            </a:r>
          </a:p>
        </p:txBody>
      </p:sp>
      <p:sp>
        <p:nvSpPr>
          <p:cNvPr id="3" name="Slide Number Placeholder 2">
            <a:extLst>
              <a:ext uri="{FF2B5EF4-FFF2-40B4-BE49-F238E27FC236}">
                <a16:creationId xmlns:a16="http://schemas.microsoft.com/office/drawing/2014/main" id="{87C4C4AD-4964-E5EB-D94D-3265FA59D14F}"/>
              </a:ext>
            </a:extLst>
          </p:cNvPr>
          <p:cNvSpPr>
            <a:spLocks noGrp="1"/>
          </p:cNvSpPr>
          <p:nvPr>
            <p:ph type="sldNum" sz="quarter" idx="12"/>
          </p:nvPr>
        </p:nvSpPr>
        <p:spPr/>
        <p:txBody>
          <a:bodyPr/>
          <a:lstStyle/>
          <a:p>
            <a:fld id="{BAEA75B2-F555-4190-9D20-7B0AA5D969FF}" type="slidenum">
              <a:rPr lang="en-IN" smtClean="0"/>
              <a:t>7</a:t>
            </a:fld>
            <a:endParaRPr lang="en-IN"/>
          </a:p>
        </p:txBody>
      </p:sp>
    </p:spTree>
    <p:extLst>
      <p:ext uri="{BB962C8B-B14F-4D97-AF65-F5344CB8AC3E}">
        <p14:creationId xmlns:p14="http://schemas.microsoft.com/office/powerpoint/2010/main" val="2409812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5451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b="1" dirty="0">
                <a:latin typeface="Arial" panose="020B0604020202020204" pitchFamily="34" charset="0"/>
                <a:cs typeface="Arial" panose="020B0604020202020204" pitchFamily="34" charset="0"/>
              </a:rPr>
              <a:t>Classification of Codes</a:t>
            </a:r>
            <a:r>
              <a:rPr lang="en-US" sz="3200" b="1" dirty="0">
                <a:latin typeface="Arial" panose="020B0604020202020204" pitchFamily="34" charset="0"/>
                <a:cs typeface="Arial" panose="020B0604020202020204" pitchFamily="34" charset="0"/>
              </a:rPr>
              <a:t>:</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D4A638E4-3619-43F7-8A10-AAE39318F58C}"/>
              </a:ext>
            </a:extLst>
          </p:cNvPr>
          <p:cNvSpPr txBox="1"/>
          <p:nvPr/>
        </p:nvSpPr>
        <p:spPr>
          <a:xfrm>
            <a:off x="97767" y="1025206"/>
            <a:ext cx="12094233" cy="5324535"/>
          </a:xfrm>
          <a:prstGeom prst="rect">
            <a:avLst/>
          </a:prstGeom>
          <a:noFill/>
        </p:spPr>
        <p:txBody>
          <a:bodyPr wrap="square">
            <a:spAutoFit/>
          </a:bodyPr>
          <a:lstStyle/>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r>
              <a:rPr lang="en-US" sz="2000" b="1" dirty="0">
                <a:latin typeface="Arial" panose="020B0604020202020204" pitchFamily="34" charset="0"/>
                <a:cs typeface="Arial" panose="020B0604020202020204" pitchFamily="34" charset="0"/>
              </a:rPr>
              <a:t>Fixed Length Code: </a:t>
            </a:r>
            <a:r>
              <a:rPr lang="en-US" sz="2000" dirty="0">
                <a:latin typeface="Arial" panose="020B0604020202020204" pitchFamily="34" charset="0"/>
                <a:cs typeface="Arial" panose="020B0604020202020204" pitchFamily="34" charset="0"/>
              </a:rPr>
              <a:t>Codeword length is fixed (Code 1,2,7). </a:t>
            </a:r>
          </a:p>
          <a:p>
            <a:pPr algn="l"/>
            <a:r>
              <a:rPr lang="en-US" sz="2000" dirty="0">
                <a:latin typeface="Arial" panose="020B0604020202020204" pitchFamily="34" charset="0"/>
                <a:cs typeface="Arial" panose="020B0604020202020204" pitchFamily="34" charset="0"/>
              </a:rPr>
              <a:t>Ex: BCD, ASCII</a:t>
            </a:r>
          </a:p>
          <a:p>
            <a:pPr algn="l"/>
            <a:r>
              <a:rPr lang="en-US" sz="2000" b="1" dirty="0">
                <a:latin typeface="Arial" panose="020B0604020202020204" pitchFamily="34" charset="0"/>
                <a:cs typeface="Arial" panose="020B0604020202020204" pitchFamily="34" charset="0"/>
              </a:rPr>
              <a:t>Variable Length Code:  </a:t>
            </a:r>
            <a:r>
              <a:rPr lang="en-US" sz="2000" dirty="0">
                <a:latin typeface="Arial" panose="020B0604020202020204" pitchFamily="34" charset="0"/>
                <a:cs typeface="Arial" panose="020B0604020202020204" pitchFamily="34" charset="0"/>
              </a:rPr>
              <a:t>Codeword length is not fixed (Code 3,4,5,6). </a:t>
            </a:r>
          </a:p>
          <a:p>
            <a:pPr algn="l"/>
            <a:r>
              <a:rPr lang="en-US" sz="2000" dirty="0">
                <a:latin typeface="Arial" panose="020B0604020202020204" pitchFamily="34" charset="0"/>
                <a:cs typeface="Arial" panose="020B0604020202020204" pitchFamily="34" charset="0"/>
              </a:rPr>
              <a:t>Ex: Huffman, Shannon-Fano, Lempel-Ziv</a:t>
            </a:r>
          </a:p>
          <a:p>
            <a:pPr algn="l"/>
            <a:r>
              <a:rPr lang="en-US" sz="2000" b="1" dirty="0">
                <a:latin typeface="Arial" panose="020B0604020202020204" pitchFamily="34" charset="0"/>
                <a:cs typeface="Arial" panose="020B0604020202020204" pitchFamily="34" charset="0"/>
              </a:rPr>
              <a:t>Distinct Codes: </a:t>
            </a:r>
            <a:r>
              <a:rPr lang="en-US" sz="2000" dirty="0">
                <a:latin typeface="Arial" panose="020B0604020202020204" pitchFamily="34" charset="0"/>
                <a:cs typeface="Arial" panose="020B0604020202020204" pitchFamily="34" charset="0"/>
              </a:rPr>
              <a:t>Each codeword is distinguishable from other codeword. (code 7: x1 and x3 same so non a distinct code.)</a:t>
            </a:r>
          </a:p>
          <a:p>
            <a:pPr algn="l"/>
            <a:r>
              <a:rPr lang="en-US" sz="2000" b="1" dirty="0">
                <a:latin typeface="Arial" panose="020B0604020202020204" pitchFamily="34" charset="0"/>
                <a:cs typeface="Arial" panose="020B0604020202020204" pitchFamily="34" charset="0"/>
              </a:rPr>
              <a:t>Prefix free code: </a:t>
            </a:r>
            <a:r>
              <a:rPr lang="en-US" sz="2000" dirty="0">
                <a:latin typeface="Arial" panose="020B0604020202020204" pitchFamily="34" charset="0"/>
                <a:cs typeface="Arial" panose="020B0604020202020204" pitchFamily="34" charset="0"/>
              </a:rPr>
              <a:t>No codeword should be prefix of other codeword (Code 3 is  prefix free).</a:t>
            </a:r>
          </a:p>
          <a:p>
            <a:pPr algn="l"/>
            <a:r>
              <a:rPr lang="en-US" sz="2000" b="1" dirty="0">
                <a:latin typeface="Arial" panose="020B0604020202020204" pitchFamily="34" charset="0"/>
                <a:cs typeface="Arial" panose="020B0604020202020204" pitchFamily="34" charset="0"/>
              </a:rPr>
              <a:t>Uniquely decodable codes: </a:t>
            </a:r>
            <a:r>
              <a:rPr lang="en-US" sz="2000" dirty="0">
                <a:latin typeface="Arial" panose="020B0604020202020204" pitchFamily="34" charset="0"/>
                <a:cs typeface="Arial" panose="020B0604020202020204" pitchFamily="34" charset="0"/>
              </a:rPr>
              <a:t>Original sequence can be reconstructed perfectly from the encoded sequence. Prefix-free  codes are uniquely decodable, but converse is not always true (Code5: Uniquely decodable but not prefix-free).</a:t>
            </a:r>
          </a:p>
          <a:p>
            <a:pPr algn="l"/>
            <a:endParaRPr lang="en-US" sz="2000" dirty="0">
              <a:latin typeface="Arial" panose="020B0604020202020204" pitchFamily="34" charset="0"/>
              <a:cs typeface="Arial" panose="020B0604020202020204" pitchFamily="34" charset="0"/>
            </a:endParaRPr>
          </a:p>
        </p:txBody>
      </p:sp>
      <p:pic>
        <p:nvPicPr>
          <p:cNvPr id="3" name="Picture 2" descr="A picture containing clock&#10;&#10;Description automatically generated">
            <a:extLst>
              <a:ext uri="{FF2B5EF4-FFF2-40B4-BE49-F238E27FC236}">
                <a16:creationId xmlns:a16="http://schemas.microsoft.com/office/drawing/2014/main" id="{7B42FD29-4A5F-4EFA-BB65-F408484AC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6669" y="1249741"/>
            <a:ext cx="9448800" cy="1466850"/>
          </a:xfrm>
          <a:prstGeom prst="rect">
            <a:avLst/>
          </a:prstGeom>
        </p:spPr>
      </p:pic>
      <p:sp>
        <p:nvSpPr>
          <p:cNvPr id="2" name="Footer Placeholder 1">
            <a:extLst>
              <a:ext uri="{FF2B5EF4-FFF2-40B4-BE49-F238E27FC236}">
                <a16:creationId xmlns:a16="http://schemas.microsoft.com/office/drawing/2014/main" id="{E506FB14-B4C5-69A4-9B59-B904C94A3EDA}"/>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740F94F3-5B44-B323-C550-6F20F72DD7ED}"/>
              </a:ext>
            </a:extLst>
          </p:cNvPr>
          <p:cNvSpPr>
            <a:spLocks noGrp="1"/>
          </p:cNvSpPr>
          <p:nvPr>
            <p:ph type="sldNum" sz="quarter" idx="12"/>
          </p:nvPr>
        </p:nvSpPr>
        <p:spPr/>
        <p:txBody>
          <a:bodyPr/>
          <a:lstStyle/>
          <a:p>
            <a:fld id="{BAEA75B2-F555-4190-9D20-7B0AA5D969FF}" type="slidenum">
              <a:rPr lang="en-IN" smtClean="0"/>
              <a:t>8</a:t>
            </a:fld>
            <a:endParaRPr lang="en-IN"/>
          </a:p>
        </p:txBody>
      </p:sp>
    </p:spTree>
    <p:extLst>
      <p:ext uri="{BB962C8B-B14F-4D97-AF65-F5344CB8AC3E}">
        <p14:creationId xmlns:p14="http://schemas.microsoft.com/office/powerpoint/2010/main" val="252681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5451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b="1" dirty="0">
                <a:latin typeface="Arial" panose="020B0604020202020204" pitchFamily="34" charset="0"/>
                <a:cs typeface="Arial" panose="020B0604020202020204" pitchFamily="34" charset="0"/>
              </a:rPr>
              <a:t>Classification of Codes</a:t>
            </a:r>
            <a:r>
              <a:rPr lang="en-US" sz="3200" b="1" dirty="0">
                <a:latin typeface="Arial" panose="020B0604020202020204" pitchFamily="34" charset="0"/>
                <a:cs typeface="Arial" panose="020B0604020202020204" pitchFamily="34" charset="0"/>
              </a:rPr>
              <a:t>:</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D4A638E4-3619-43F7-8A10-AAE39318F58C}"/>
              </a:ext>
            </a:extLst>
          </p:cNvPr>
          <p:cNvSpPr txBox="1"/>
          <p:nvPr/>
        </p:nvSpPr>
        <p:spPr>
          <a:xfrm>
            <a:off x="97767" y="1025206"/>
            <a:ext cx="12094233" cy="4093428"/>
          </a:xfrm>
          <a:prstGeom prst="rect">
            <a:avLst/>
          </a:prstGeom>
          <a:noFill/>
        </p:spPr>
        <p:txBody>
          <a:bodyPr wrap="square">
            <a:spAutoFit/>
          </a:bodyPr>
          <a:lstStyle/>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endParaRPr lang="en-US" sz="2000" b="1" dirty="0">
              <a:latin typeface="Arial" panose="020B0604020202020204" pitchFamily="34" charset="0"/>
              <a:cs typeface="Arial" panose="020B0604020202020204" pitchFamily="34" charset="0"/>
            </a:endParaRPr>
          </a:p>
          <a:p>
            <a:pPr algn="l"/>
            <a:r>
              <a:rPr lang="en-US" sz="2000" b="1" dirty="0">
                <a:latin typeface="Arial" panose="020B0604020202020204" pitchFamily="34" charset="0"/>
                <a:cs typeface="Arial" panose="020B0604020202020204" pitchFamily="34" charset="0"/>
              </a:rPr>
              <a:t>Instantaneous Code: </a:t>
            </a:r>
            <a:r>
              <a:rPr lang="en-US" sz="2000" dirty="0">
                <a:latin typeface="Arial" panose="020B0604020202020204" pitchFamily="34" charset="0"/>
                <a:cs typeface="Arial" panose="020B0604020202020204" pitchFamily="34" charset="0"/>
              </a:rPr>
              <a:t>Prefix-free code sometimes known as instantaneous code (code 1,2).</a:t>
            </a:r>
          </a:p>
          <a:p>
            <a:pPr algn="l"/>
            <a:r>
              <a:rPr lang="en-US" sz="2000" b="1" dirty="0">
                <a:latin typeface="Arial" panose="020B0604020202020204" pitchFamily="34" charset="0"/>
                <a:cs typeface="Arial" panose="020B0604020202020204" pitchFamily="34" charset="0"/>
              </a:rPr>
              <a:t>Optimal Code: </a:t>
            </a:r>
            <a:r>
              <a:rPr lang="en-US" sz="2000" dirty="0">
                <a:latin typeface="Arial" panose="020B0604020202020204" pitchFamily="34" charset="0"/>
                <a:cs typeface="Arial" panose="020B0604020202020204" pitchFamily="34" charset="0"/>
              </a:rPr>
              <a:t>a code is optimal if it is instantaneous and minimum L.</a:t>
            </a:r>
          </a:p>
          <a:p>
            <a:pPr algn="l"/>
            <a:r>
              <a:rPr lang="en-US" sz="2000" dirty="0">
                <a:latin typeface="Arial" panose="020B0604020202020204" pitchFamily="34" charset="0"/>
                <a:cs typeface="Arial" panose="020B0604020202020204" pitchFamily="34" charset="0"/>
              </a:rPr>
              <a:t>Ex: Huffman</a:t>
            </a:r>
          </a:p>
          <a:p>
            <a:pPr algn="l"/>
            <a:endParaRPr lang="en-US" sz="2000" dirty="0">
              <a:latin typeface="Arial" panose="020B0604020202020204" pitchFamily="34" charset="0"/>
              <a:cs typeface="Arial" panose="020B0604020202020204" pitchFamily="34" charset="0"/>
            </a:endParaRPr>
          </a:p>
          <a:p>
            <a:pPr algn="l"/>
            <a:endParaRPr lang="en-US" sz="2000" dirty="0">
              <a:latin typeface="Arial" panose="020B0604020202020204" pitchFamily="34" charset="0"/>
              <a:cs typeface="Arial" panose="020B0604020202020204" pitchFamily="34" charset="0"/>
            </a:endParaRPr>
          </a:p>
        </p:txBody>
      </p:sp>
      <p:pic>
        <p:nvPicPr>
          <p:cNvPr id="3" name="Picture 2" descr="A picture containing clock&#10;&#10;Description automatically generated">
            <a:extLst>
              <a:ext uri="{FF2B5EF4-FFF2-40B4-BE49-F238E27FC236}">
                <a16:creationId xmlns:a16="http://schemas.microsoft.com/office/drawing/2014/main" id="{7B42FD29-4A5F-4EFA-BB65-F408484AC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6669" y="1510624"/>
            <a:ext cx="9448800" cy="1466850"/>
          </a:xfrm>
          <a:prstGeom prst="rect">
            <a:avLst/>
          </a:prstGeom>
        </p:spPr>
      </p:pic>
      <p:sp>
        <p:nvSpPr>
          <p:cNvPr id="2" name="Footer Placeholder 1">
            <a:extLst>
              <a:ext uri="{FF2B5EF4-FFF2-40B4-BE49-F238E27FC236}">
                <a16:creationId xmlns:a16="http://schemas.microsoft.com/office/drawing/2014/main" id="{81C67F4F-678A-5B75-703C-4FA4A420C84F}"/>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8D904D63-FBD8-C562-ECC0-2F998F744087}"/>
              </a:ext>
            </a:extLst>
          </p:cNvPr>
          <p:cNvSpPr>
            <a:spLocks noGrp="1"/>
          </p:cNvSpPr>
          <p:nvPr>
            <p:ph type="sldNum" sz="quarter" idx="12"/>
          </p:nvPr>
        </p:nvSpPr>
        <p:spPr/>
        <p:txBody>
          <a:bodyPr/>
          <a:lstStyle/>
          <a:p>
            <a:fld id="{BAEA75B2-F555-4190-9D20-7B0AA5D969FF}" type="slidenum">
              <a:rPr lang="en-IN" smtClean="0"/>
              <a:t>9</a:t>
            </a:fld>
            <a:endParaRPr lang="en-IN"/>
          </a:p>
        </p:txBody>
      </p:sp>
    </p:spTree>
    <p:extLst>
      <p:ext uri="{BB962C8B-B14F-4D97-AF65-F5344CB8AC3E}">
        <p14:creationId xmlns:p14="http://schemas.microsoft.com/office/powerpoint/2010/main" val="4043910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968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Linux Libertine"/>
              </a:rPr>
              <a:t>Examples</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235973" y="1115198"/>
            <a:ext cx="12053793" cy="1015663"/>
          </a:xfrm>
          <a:prstGeom prst="rect">
            <a:avLst/>
          </a:prstGeom>
          <a:noFill/>
        </p:spPr>
        <p:txBody>
          <a:bodyPr wrap="square">
            <a:spAutoFit/>
          </a:bodyPr>
          <a:lstStyle/>
          <a:p>
            <a:r>
              <a:rPr lang="en-US" sz="2000" b="1" i="0" dirty="0">
                <a:effectLst/>
                <a:latin typeface="Arial" panose="020B0604020202020204" pitchFamily="34" charset="0"/>
              </a:rPr>
              <a:t>For the given DMS with two symbols x</a:t>
            </a:r>
            <a:r>
              <a:rPr lang="en-US" sz="2000" b="1" i="0" baseline="-25000" dirty="0">
                <a:effectLst/>
                <a:latin typeface="Arial" panose="020B0604020202020204" pitchFamily="34" charset="0"/>
              </a:rPr>
              <a:t>1 </a:t>
            </a:r>
            <a:r>
              <a:rPr lang="en-US" sz="2000" b="1" i="0" dirty="0">
                <a:effectLst/>
                <a:latin typeface="Arial" panose="020B0604020202020204" pitchFamily="34" charset="0"/>
              </a:rPr>
              <a:t>and x</a:t>
            </a:r>
            <a:r>
              <a:rPr lang="en-US" sz="2000" b="1" i="0" baseline="-25000" dirty="0">
                <a:effectLst/>
                <a:latin typeface="Arial" panose="020B0604020202020204" pitchFamily="34" charset="0"/>
              </a:rPr>
              <a:t>2,  </a:t>
            </a:r>
            <a:r>
              <a:rPr lang="en-US" sz="2000" b="1" i="0" dirty="0">
                <a:effectLst/>
                <a:latin typeface="Arial" panose="020B0604020202020204" pitchFamily="34" charset="0"/>
              </a:rPr>
              <a:t>p(x</a:t>
            </a:r>
            <a:r>
              <a:rPr lang="en-US" sz="2000" b="1" i="0" baseline="-25000" dirty="0">
                <a:effectLst/>
                <a:latin typeface="Arial" panose="020B0604020202020204" pitchFamily="34" charset="0"/>
              </a:rPr>
              <a:t>1</a:t>
            </a:r>
            <a:r>
              <a:rPr lang="en-US" sz="2000" b="1" i="0" dirty="0">
                <a:effectLst/>
                <a:latin typeface="Arial" panose="020B0604020202020204" pitchFamily="34" charset="0"/>
              </a:rPr>
              <a:t>) =  0.9, p(x</a:t>
            </a:r>
            <a:r>
              <a:rPr lang="en-US" sz="2000" b="1" i="0" baseline="-25000" dirty="0">
                <a:effectLst/>
                <a:latin typeface="Arial" panose="020B0604020202020204" pitchFamily="34" charset="0"/>
              </a:rPr>
              <a:t>2</a:t>
            </a:r>
            <a:r>
              <a:rPr lang="en-US" sz="2000" b="1" i="0" dirty="0">
                <a:effectLst/>
                <a:latin typeface="Arial" panose="020B0604020202020204" pitchFamily="34" charset="0"/>
              </a:rPr>
              <a:t>) =  0.1. The symbols x</a:t>
            </a:r>
            <a:r>
              <a:rPr lang="en-US" sz="2000" b="1" i="0" baseline="-25000" dirty="0">
                <a:effectLst/>
                <a:latin typeface="Arial" panose="020B0604020202020204" pitchFamily="34" charset="0"/>
              </a:rPr>
              <a:t>1 </a:t>
            </a:r>
            <a:r>
              <a:rPr lang="en-US" sz="2000" b="1" i="0" dirty="0">
                <a:effectLst/>
                <a:latin typeface="Arial" panose="020B0604020202020204" pitchFamily="34" charset="0"/>
              </a:rPr>
              <a:t>and x</a:t>
            </a:r>
            <a:r>
              <a:rPr lang="en-US" sz="2000" b="1" i="0" baseline="-25000" dirty="0">
                <a:effectLst/>
                <a:latin typeface="Arial" panose="020B0604020202020204" pitchFamily="34" charset="0"/>
              </a:rPr>
              <a:t>2 </a:t>
            </a:r>
            <a:r>
              <a:rPr lang="en-US" sz="2000" b="1" i="0" dirty="0">
                <a:effectLst/>
                <a:latin typeface="Arial" panose="020B0604020202020204" pitchFamily="34" charset="0"/>
              </a:rPr>
              <a:t>is encoded as per the </a:t>
            </a:r>
            <a:r>
              <a:rPr lang="en-US" sz="2000" b="1" dirty="0">
                <a:latin typeface="Arial" panose="020B0604020202020204" pitchFamily="34" charset="0"/>
              </a:rPr>
              <a:t>table</a:t>
            </a:r>
            <a:r>
              <a:rPr lang="en-US" sz="2000" b="1" i="0" dirty="0">
                <a:effectLst/>
                <a:latin typeface="Arial" panose="020B0604020202020204" pitchFamily="34" charset="0"/>
              </a:rPr>
              <a:t>. Find efficiency and redundancy of  thi</a:t>
            </a:r>
            <a:r>
              <a:rPr lang="en-US" sz="2000" b="1" dirty="0">
                <a:latin typeface="Arial" panose="020B0604020202020204" pitchFamily="34" charset="0"/>
              </a:rPr>
              <a:t>s code.</a:t>
            </a:r>
            <a:endParaRPr lang="en-US" sz="2000" b="1" i="0" dirty="0">
              <a:effectLst/>
              <a:latin typeface="Arial" panose="020B0604020202020204" pitchFamily="34" charset="0"/>
            </a:endParaRPr>
          </a:p>
          <a:p>
            <a:r>
              <a:rPr lang="en-US" sz="2000" b="1" i="0" dirty="0">
                <a:effectLst/>
                <a:latin typeface="Arial" panose="020B0604020202020204" pitchFamily="34" charset="0"/>
              </a:rPr>
              <a:t> </a:t>
            </a:r>
            <a:endParaRPr lang="en-US" sz="2000" dirty="0"/>
          </a:p>
        </p:txBody>
      </p:sp>
      <p:graphicFrame>
        <p:nvGraphicFramePr>
          <p:cNvPr id="3" name="Table 4">
            <a:extLst>
              <a:ext uri="{FF2B5EF4-FFF2-40B4-BE49-F238E27FC236}">
                <a16:creationId xmlns:a16="http://schemas.microsoft.com/office/drawing/2014/main" id="{E152FAB8-2F82-4A76-B37A-B1706779C0C7}"/>
              </a:ext>
            </a:extLst>
          </p:cNvPr>
          <p:cNvGraphicFramePr>
            <a:graphicFrameLocks noGrp="1"/>
          </p:cNvGraphicFramePr>
          <p:nvPr>
            <p:extLst>
              <p:ext uri="{D42A27DB-BD31-4B8C-83A1-F6EECF244321}">
                <p14:modId xmlns:p14="http://schemas.microsoft.com/office/powerpoint/2010/main" val="3518857541"/>
              </p:ext>
            </p:extLst>
          </p:nvPr>
        </p:nvGraphicFramePr>
        <p:xfrm>
          <a:off x="2817218" y="2258806"/>
          <a:ext cx="2052489" cy="1170194"/>
        </p:xfrm>
        <a:graphic>
          <a:graphicData uri="http://schemas.openxmlformats.org/drawingml/2006/table">
            <a:tbl>
              <a:tblPr firstRow="1" bandRow="1">
                <a:tableStyleId>{5940675A-B579-460E-94D1-54222C63F5DA}</a:tableStyleId>
              </a:tblPr>
              <a:tblGrid>
                <a:gridCol w="684163">
                  <a:extLst>
                    <a:ext uri="{9D8B030D-6E8A-4147-A177-3AD203B41FA5}">
                      <a16:colId xmlns:a16="http://schemas.microsoft.com/office/drawing/2014/main" val="3334770979"/>
                    </a:ext>
                  </a:extLst>
                </a:gridCol>
                <a:gridCol w="684163">
                  <a:extLst>
                    <a:ext uri="{9D8B030D-6E8A-4147-A177-3AD203B41FA5}">
                      <a16:colId xmlns:a16="http://schemas.microsoft.com/office/drawing/2014/main" val="384102866"/>
                    </a:ext>
                  </a:extLst>
                </a:gridCol>
                <a:gridCol w="684163">
                  <a:extLst>
                    <a:ext uri="{9D8B030D-6E8A-4147-A177-3AD203B41FA5}">
                      <a16:colId xmlns:a16="http://schemas.microsoft.com/office/drawing/2014/main" val="2757410966"/>
                    </a:ext>
                  </a:extLst>
                </a:gridCol>
              </a:tblGrid>
              <a:tr h="325286">
                <a:tc>
                  <a:txBody>
                    <a:bodyPr/>
                    <a:lstStyle/>
                    <a:p>
                      <a:r>
                        <a:rPr lang="en-US" b="1" dirty="0"/>
                        <a:t>xi</a:t>
                      </a:r>
                    </a:p>
                  </a:txBody>
                  <a:tcPr/>
                </a:tc>
                <a:tc>
                  <a:txBody>
                    <a:bodyPr/>
                    <a:lstStyle/>
                    <a:p>
                      <a:r>
                        <a:rPr lang="en-US" b="1" dirty="0"/>
                        <a:t>p(xi)</a:t>
                      </a:r>
                    </a:p>
                  </a:txBody>
                  <a:tcPr/>
                </a:tc>
                <a:tc>
                  <a:txBody>
                    <a:bodyPr/>
                    <a:lstStyle/>
                    <a:p>
                      <a:r>
                        <a:rPr lang="en-US" b="1" dirty="0"/>
                        <a:t>code</a:t>
                      </a:r>
                    </a:p>
                  </a:txBody>
                  <a:tcPr/>
                </a:tc>
                <a:extLst>
                  <a:ext uri="{0D108BD9-81ED-4DB2-BD59-A6C34878D82A}">
                    <a16:rowId xmlns:a16="http://schemas.microsoft.com/office/drawing/2014/main" val="88217692"/>
                  </a:ext>
                </a:extLst>
              </a:tr>
              <a:tr h="402217">
                <a:tc>
                  <a:txBody>
                    <a:bodyPr/>
                    <a:lstStyle/>
                    <a:p>
                      <a:r>
                        <a:rPr lang="en-US" dirty="0"/>
                        <a:t>x1</a:t>
                      </a:r>
                    </a:p>
                  </a:txBody>
                  <a:tcPr/>
                </a:tc>
                <a:tc>
                  <a:txBody>
                    <a:bodyPr/>
                    <a:lstStyle/>
                    <a:p>
                      <a:r>
                        <a:rPr lang="en-US" dirty="0"/>
                        <a:t>0.9</a:t>
                      </a:r>
                    </a:p>
                  </a:txBody>
                  <a:tcPr/>
                </a:tc>
                <a:tc>
                  <a:txBody>
                    <a:bodyPr/>
                    <a:lstStyle/>
                    <a:p>
                      <a:r>
                        <a:rPr lang="en-US" dirty="0"/>
                        <a:t>0</a:t>
                      </a:r>
                    </a:p>
                  </a:txBody>
                  <a:tcPr/>
                </a:tc>
                <a:extLst>
                  <a:ext uri="{0D108BD9-81ED-4DB2-BD59-A6C34878D82A}">
                    <a16:rowId xmlns:a16="http://schemas.microsoft.com/office/drawing/2014/main" val="4258413841"/>
                  </a:ext>
                </a:extLst>
              </a:tr>
              <a:tr h="402217">
                <a:tc>
                  <a:txBody>
                    <a:bodyPr/>
                    <a:lstStyle/>
                    <a:p>
                      <a:r>
                        <a:rPr lang="en-US" dirty="0"/>
                        <a:t>x2</a:t>
                      </a:r>
                    </a:p>
                  </a:txBody>
                  <a:tcPr/>
                </a:tc>
                <a:tc>
                  <a:txBody>
                    <a:bodyPr/>
                    <a:lstStyle/>
                    <a:p>
                      <a:r>
                        <a:rPr lang="en-US" dirty="0"/>
                        <a:t>0.1</a:t>
                      </a:r>
                    </a:p>
                  </a:txBody>
                  <a:tcPr/>
                </a:tc>
                <a:tc>
                  <a:txBody>
                    <a:bodyPr/>
                    <a:lstStyle/>
                    <a:p>
                      <a:r>
                        <a:rPr lang="en-US" dirty="0"/>
                        <a:t>1</a:t>
                      </a:r>
                    </a:p>
                  </a:txBody>
                  <a:tcPr/>
                </a:tc>
                <a:extLst>
                  <a:ext uri="{0D108BD9-81ED-4DB2-BD59-A6C34878D82A}">
                    <a16:rowId xmlns:a16="http://schemas.microsoft.com/office/drawing/2014/main" val="1886911566"/>
                  </a:ext>
                </a:extLst>
              </a:tr>
            </a:tbl>
          </a:graphicData>
        </a:graphic>
      </p:graphicFrame>
      <p:sp>
        <p:nvSpPr>
          <p:cNvPr id="4" name="Footer Placeholder 3">
            <a:extLst>
              <a:ext uri="{FF2B5EF4-FFF2-40B4-BE49-F238E27FC236}">
                <a16:creationId xmlns:a16="http://schemas.microsoft.com/office/drawing/2014/main" id="{D384B1EE-E8B5-429B-69AE-E0644D497CAC}"/>
              </a:ext>
            </a:extLst>
          </p:cNvPr>
          <p:cNvSpPr>
            <a:spLocks noGrp="1"/>
          </p:cNvSpPr>
          <p:nvPr>
            <p:ph type="ftr" sz="quarter" idx="11"/>
          </p:nvPr>
        </p:nvSpPr>
        <p:spPr/>
        <p:txBody>
          <a:bodyPr/>
          <a:lstStyle/>
          <a:p>
            <a:r>
              <a:rPr lang="en-IN"/>
              <a:t>Dr Saladi Saritha</a:t>
            </a:r>
          </a:p>
        </p:txBody>
      </p:sp>
      <p:sp>
        <p:nvSpPr>
          <p:cNvPr id="5" name="Slide Number Placeholder 4">
            <a:extLst>
              <a:ext uri="{FF2B5EF4-FFF2-40B4-BE49-F238E27FC236}">
                <a16:creationId xmlns:a16="http://schemas.microsoft.com/office/drawing/2014/main" id="{030E9C54-88BB-5296-E9C0-4E2A9AB6569A}"/>
              </a:ext>
            </a:extLst>
          </p:cNvPr>
          <p:cNvSpPr>
            <a:spLocks noGrp="1"/>
          </p:cNvSpPr>
          <p:nvPr>
            <p:ph type="sldNum" sz="quarter" idx="12"/>
          </p:nvPr>
        </p:nvSpPr>
        <p:spPr/>
        <p:txBody>
          <a:bodyPr/>
          <a:lstStyle/>
          <a:p>
            <a:fld id="{BAEA75B2-F555-4190-9D20-7B0AA5D969FF}" type="slidenum">
              <a:rPr lang="en-IN" smtClean="0"/>
              <a:t>10</a:t>
            </a:fld>
            <a:endParaRPr lang="en-IN"/>
          </a:p>
        </p:txBody>
      </p:sp>
    </p:spTree>
    <p:extLst>
      <p:ext uri="{BB962C8B-B14F-4D97-AF65-F5344CB8AC3E}">
        <p14:creationId xmlns:p14="http://schemas.microsoft.com/office/powerpoint/2010/main" val="205311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1149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Linux Libertine"/>
              </a:rPr>
              <a:t>Kraft–McMillan inequality</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TextBox 9">
            <a:extLst>
              <a:ext uri="{FF2B5EF4-FFF2-40B4-BE49-F238E27FC236}">
                <a16:creationId xmlns:a16="http://schemas.microsoft.com/office/drawing/2014/main" id="{EE989A6E-D4A3-461B-875C-039556BEF984}"/>
              </a:ext>
            </a:extLst>
          </p:cNvPr>
          <p:cNvSpPr txBox="1"/>
          <p:nvPr/>
        </p:nvSpPr>
        <p:spPr>
          <a:xfrm>
            <a:off x="689547" y="1555063"/>
            <a:ext cx="11062741" cy="707886"/>
          </a:xfrm>
          <a:prstGeom prst="rect">
            <a:avLst/>
          </a:prstGeom>
          <a:noFill/>
        </p:spPr>
        <p:txBody>
          <a:bodyPr wrap="square">
            <a:spAutoFit/>
          </a:bodyPr>
          <a:lstStyle/>
          <a:p>
            <a:r>
              <a:rPr lang="en-US" sz="2000" b="1" i="0" dirty="0">
                <a:effectLst/>
                <a:latin typeface="Arial" panose="020B0604020202020204" pitchFamily="34" charset="0"/>
              </a:rPr>
              <a:t>Kraft–McMillan inequality</a:t>
            </a:r>
            <a:r>
              <a:rPr lang="en-US" sz="2000" b="0" i="0" dirty="0">
                <a:effectLst/>
                <a:latin typeface="Arial" panose="020B0604020202020204" pitchFamily="34" charset="0"/>
              </a:rPr>
              <a:t> gives a necessary and sufficient condition for the existence of a </a:t>
            </a:r>
            <a:r>
              <a:rPr lang="en-US" sz="2000" b="1" i="0" u="sng" strike="noStrike" dirty="0">
                <a:effectLst/>
                <a:latin typeface="Arial" panose="020B0604020202020204" pitchFamily="34" charset="0"/>
              </a:rPr>
              <a:t>prefix code</a:t>
            </a:r>
            <a:r>
              <a:rPr lang="en-US" sz="2000" b="1" i="0" u="sng" strike="noStrike" baseline="30000" dirty="0">
                <a:effectLst/>
                <a:latin typeface="Arial" panose="020B0604020202020204" pitchFamily="34" charset="0"/>
              </a:rPr>
              <a:t>\</a:t>
            </a:r>
            <a:r>
              <a:rPr lang="en-US" sz="2000" b="1" i="0" u="sng" dirty="0">
                <a:effectLst/>
                <a:latin typeface="Arial" panose="020B0604020202020204" pitchFamily="34" charset="0"/>
              </a:rPr>
              <a:t>or a uniquely decodable </a:t>
            </a:r>
            <a:r>
              <a:rPr lang="en-US" sz="2000" b="0" i="0" dirty="0">
                <a:effectLst/>
                <a:latin typeface="Arial" panose="020B0604020202020204" pitchFamily="34" charset="0"/>
              </a:rPr>
              <a:t>for a given set of </a:t>
            </a:r>
            <a:r>
              <a:rPr lang="en-US" sz="2000" b="0" i="0" u="none" strike="noStrike" dirty="0">
                <a:effectLst/>
                <a:latin typeface="Arial" panose="020B0604020202020204" pitchFamily="34" charset="0"/>
              </a:rPr>
              <a:t>codeword</a:t>
            </a:r>
            <a:r>
              <a:rPr lang="en-US" sz="2000" b="0" i="0" dirty="0">
                <a:effectLst/>
                <a:latin typeface="Arial" panose="020B0604020202020204" pitchFamily="34" charset="0"/>
              </a:rPr>
              <a:t> lengths</a:t>
            </a:r>
            <a:endParaRPr lang="en-US" sz="20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40DC73-1A51-48D6-A239-809733F30705}"/>
                  </a:ext>
                </a:extLst>
              </p:cNvPr>
              <p:cNvSpPr txBox="1"/>
              <p:nvPr/>
            </p:nvSpPr>
            <p:spPr>
              <a:xfrm>
                <a:off x="4379626" y="3274515"/>
                <a:ext cx="3432747" cy="5723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subSup"/>
                          <m:ctrlPr>
                            <a:rPr lang="en-US" b="1" i="1" smtClean="0">
                              <a:latin typeface="Cambria Math" panose="02040503050406030204" pitchFamily="18" charset="0"/>
                            </a:rPr>
                          </m:ctrlPr>
                        </m:naryPr>
                        <m:sub>
                          <m:r>
                            <m:rPr>
                              <m:brk m:alnAt="25"/>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𝑲</m:t>
                          </m:r>
                        </m:sup>
                        <m:e>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e>
                            <m:sup>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𝒊</m:t>
                                  </m:r>
                                </m:sub>
                              </m:sSub>
                            </m:sup>
                          </m:sSup>
                        </m:e>
                      </m:nary>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oMath>
                  </m:oMathPara>
                </a14:m>
                <a:endParaRPr lang="en-US" b="1" dirty="0"/>
              </a:p>
            </p:txBody>
          </p:sp>
        </mc:Choice>
        <mc:Fallback xmlns="">
          <p:sp>
            <p:nvSpPr>
              <p:cNvPr id="4" name="TextBox 3">
                <a:extLst>
                  <a:ext uri="{FF2B5EF4-FFF2-40B4-BE49-F238E27FC236}">
                    <a16:creationId xmlns:a16="http://schemas.microsoft.com/office/drawing/2014/main" id="{E540DC73-1A51-48D6-A239-809733F30705}"/>
                  </a:ext>
                </a:extLst>
              </p:cNvPr>
              <p:cNvSpPr txBox="1">
                <a:spLocks noRot="1" noChangeAspect="1" noMove="1" noResize="1" noEditPoints="1" noAdjustHandles="1" noChangeArrowheads="1" noChangeShapeType="1" noTextEdit="1"/>
              </p:cNvSpPr>
              <p:nvPr/>
            </p:nvSpPr>
            <p:spPr>
              <a:xfrm>
                <a:off x="4379626" y="3274515"/>
                <a:ext cx="3432747" cy="5723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F1CB407-1986-4505-9FE9-743F0EF34315}"/>
                  </a:ext>
                </a:extLst>
              </p:cNvPr>
              <p:cNvSpPr txBox="1"/>
              <p:nvPr/>
            </p:nvSpPr>
            <p:spPr>
              <a:xfrm>
                <a:off x="689546" y="4421250"/>
                <a:ext cx="10792919" cy="1200329"/>
              </a:xfrm>
              <a:prstGeom prst="rect">
                <a:avLst/>
              </a:prstGeom>
              <a:noFill/>
            </p:spPr>
            <p:txBody>
              <a:bodyPr wrap="square">
                <a:spAutoFit/>
              </a:bodyPr>
              <a:lstStyle/>
              <a:p>
                <a:r>
                  <a:rPr lang="en-IN" dirty="0">
                    <a:latin typeface="Arial" panose="020B0604020202020204" pitchFamily="34" charset="0"/>
                    <a:cs typeface="Arial" panose="020B0604020202020204" pitchFamily="34" charset="0"/>
                  </a:rPr>
                  <a:t>Where, source alphabet </a:t>
                </a:r>
                <a14:m>
                  <m:oMath xmlns:m="http://schemas.openxmlformats.org/officeDocument/2006/math">
                    <m:r>
                      <a:rPr lang="en-IN">
                        <a:latin typeface="Cambria Math" panose="02040503050406030204" pitchFamily="18" charset="0"/>
                        <a:cs typeface="Arial" panose="020B0604020202020204" pitchFamily="34" charset="0"/>
                      </a:rPr>
                      <m:t>𝒮</m:t>
                    </m:r>
                    <m:r>
                      <a:rPr lang="en-IN">
                        <a:latin typeface="Cambria Math" panose="02040503050406030204" pitchFamily="18" charset="0"/>
                        <a:cs typeface="Arial" panose="020B0604020202020204" pitchFamily="34" charset="0"/>
                      </a:rPr>
                      <m:t>={</m:t>
                    </m:r>
                    <m:sSub>
                      <m:sSubPr>
                        <m:ctrlPr>
                          <a:rPr lang="en-IN" i="1">
                            <a:latin typeface="Cambria Math" panose="02040503050406030204" pitchFamily="18" charset="0"/>
                            <a:cs typeface="Arial" panose="020B0604020202020204" pitchFamily="34" charset="0"/>
                          </a:rPr>
                        </m:ctrlPr>
                      </m:sSubPr>
                      <m:e>
                        <m:r>
                          <a:rPr lang="en-IN">
                            <a:latin typeface="Cambria Math" panose="02040503050406030204" pitchFamily="18" charset="0"/>
                            <a:cs typeface="Arial" panose="020B0604020202020204" pitchFamily="34" charset="0"/>
                          </a:rPr>
                          <m:t>𝑠</m:t>
                        </m:r>
                      </m:e>
                      <m:sub>
                        <m:r>
                          <a:rPr lang="en-IN">
                            <a:latin typeface="Cambria Math" panose="02040503050406030204" pitchFamily="18" charset="0"/>
                            <a:cs typeface="Arial" panose="020B0604020202020204" pitchFamily="34" charset="0"/>
                          </a:rPr>
                          <m:t>1</m:t>
                        </m:r>
                      </m:sub>
                    </m:sSub>
                    <m:r>
                      <a:rPr lang="en-IN">
                        <a:latin typeface="Cambria Math" panose="02040503050406030204" pitchFamily="18" charset="0"/>
                        <a:cs typeface="Arial" panose="020B0604020202020204" pitchFamily="34" charset="0"/>
                      </a:rPr>
                      <m:t>, </m:t>
                    </m:r>
                    <m:sSub>
                      <m:sSubPr>
                        <m:ctrlPr>
                          <a:rPr lang="en-IN" i="1">
                            <a:latin typeface="Cambria Math" panose="02040503050406030204" pitchFamily="18" charset="0"/>
                            <a:cs typeface="Arial" panose="020B0604020202020204" pitchFamily="34" charset="0"/>
                          </a:rPr>
                        </m:ctrlPr>
                      </m:sSubPr>
                      <m:e>
                        <m:r>
                          <a:rPr lang="en-IN">
                            <a:latin typeface="Cambria Math" panose="02040503050406030204" pitchFamily="18" charset="0"/>
                            <a:cs typeface="Arial" panose="020B0604020202020204" pitchFamily="34" charset="0"/>
                          </a:rPr>
                          <m:t>𝑠</m:t>
                        </m:r>
                      </m:e>
                      <m:sub>
                        <m:r>
                          <a:rPr lang="en-IN">
                            <a:latin typeface="Cambria Math" panose="02040503050406030204" pitchFamily="18" charset="0"/>
                            <a:cs typeface="Arial" panose="020B0604020202020204" pitchFamily="34" charset="0"/>
                          </a:rPr>
                          <m:t>2</m:t>
                        </m:r>
                      </m:sub>
                    </m:sSub>
                    <m:r>
                      <a:rPr lang="en-IN">
                        <a:latin typeface="Cambria Math" panose="02040503050406030204" pitchFamily="18" charset="0"/>
                        <a:cs typeface="Arial" panose="020B0604020202020204" pitchFamily="34" charset="0"/>
                      </a:rPr>
                      <m:t>,….., </m:t>
                    </m:r>
                    <m:sSub>
                      <m:sSubPr>
                        <m:ctrlPr>
                          <a:rPr lang="en-IN" i="1">
                            <a:latin typeface="Cambria Math" panose="02040503050406030204" pitchFamily="18" charset="0"/>
                            <a:cs typeface="Arial" panose="020B0604020202020204" pitchFamily="34" charset="0"/>
                          </a:rPr>
                        </m:ctrlPr>
                      </m:sSubPr>
                      <m:e>
                        <m:r>
                          <a:rPr lang="en-IN">
                            <a:latin typeface="Cambria Math" panose="02040503050406030204" pitchFamily="18" charset="0"/>
                            <a:cs typeface="Arial" panose="020B0604020202020204" pitchFamily="34" charset="0"/>
                          </a:rPr>
                          <m:t>𝑠</m:t>
                        </m:r>
                      </m:e>
                      <m:sub>
                        <m:r>
                          <a:rPr lang="en-IN">
                            <a:latin typeface="Cambria Math" panose="02040503050406030204" pitchFamily="18" charset="0"/>
                            <a:cs typeface="Arial" panose="020B0604020202020204" pitchFamily="34" charset="0"/>
                          </a:rPr>
                          <m:t>𝐾</m:t>
                        </m:r>
                      </m:sub>
                    </m:sSub>
                    <m:r>
                      <a:rPr lang="en-IN">
                        <a:latin typeface="Cambria Math" panose="02040503050406030204" pitchFamily="18" charset="0"/>
                        <a:cs typeface="Arial" panose="020B0604020202020204" pitchFamily="34" charset="0"/>
                      </a:rPr>
                      <m:t>}</m:t>
                    </m:r>
                  </m:oMath>
                </a14:m>
                <a:r>
                  <a:rPr lang="en-IN" dirty="0">
                    <a:latin typeface="Arial" panose="020B0604020202020204" pitchFamily="34" charset="0"/>
                    <a:cs typeface="Arial" panose="020B0604020202020204" pitchFamily="34" charset="0"/>
                  </a:rPr>
                  <a:t> where </a:t>
                </a:r>
                <a14:m>
                  <m:oMath xmlns:m="http://schemas.openxmlformats.org/officeDocument/2006/math">
                    <m:r>
                      <a:rPr lang="en-IN" dirty="0">
                        <a:latin typeface="Cambria Math" panose="02040503050406030204" pitchFamily="18" charset="0"/>
                        <a:cs typeface="Arial" panose="020B0604020202020204" pitchFamily="34" charset="0"/>
                      </a:rPr>
                      <m:t>𝐾</m:t>
                    </m:r>
                  </m:oMath>
                </a14:m>
                <a:r>
                  <a:rPr lang="en-IN" dirty="0">
                    <a:latin typeface="Arial" panose="020B0604020202020204" pitchFamily="34" charset="0"/>
                    <a:cs typeface="Arial" panose="020B0604020202020204" pitchFamily="34" charset="0"/>
                  </a:rPr>
                  <a:t> is the number of symbols each with probability distribution </a:t>
                </a:r>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2</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𝐾</m:t>
                        </m:r>
                      </m:sub>
                    </m:sSub>
                    <m:r>
                      <a:rPr lang="en-IN" b="0" i="1" smtClean="0">
                        <a:latin typeface="Cambria Math" panose="02040503050406030204" pitchFamily="18" charset="0"/>
                      </a:rPr>
                      <m:t>}</m:t>
                    </m:r>
                  </m:oMath>
                </a14:m>
                <a:r>
                  <a:rPr lang="en-IN" sz="3600" dirty="0"/>
                  <a:t>.</a:t>
                </a:r>
                <a:r>
                  <a:rPr lang="en-IN" dirty="0">
                    <a:latin typeface="Arial" panose="020B0604020202020204" pitchFamily="34" charset="0"/>
                    <a:cs typeface="Arial" panose="020B0604020202020204" pitchFamily="34" charset="0"/>
                  </a:rPr>
                  <a:t> Let the binary codeword assigned to the symbol </a:t>
                </a:r>
                <a:r>
                  <a:rPr lang="en-IN" dirty="0" err="1">
                    <a:latin typeface="Arial" panose="020B0604020202020204" pitchFamily="34" charset="0"/>
                    <a:cs typeface="Arial" panose="020B0604020202020204" pitchFamily="34" charset="0"/>
                  </a:rPr>
                  <a:t>s</a:t>
                </a:r>
                <a:r>
                  <a:rPr lang="en-IN" baseline="-25000"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by the encoder have a length </a:t>
                </a:r>
                <a:r>
                  <a:rPr lang="en-IN" dirty="0" err="1">
                    <a:latin typeface="Arial" panose="020B0604020202020204" pitchFamily="34" charset="0"/>
                    <a:cs typeface="Arial" panose="020B0604020202020204" pitchFamily="34" charset="0"/>
                  </a:rPr>
                  <a:t>n</a:t>
                </a:r>
                <a:r>
                  <a:rPr lang="en-IN" baseline="-25000"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a:t>
                </a:r>
                <a:endParaRPr lang="en-US" dirty="0"/>
              </a:p>
            </p:txBody>
          </p:sp>
        </mc:Choice>
        <mc:Fallback xmlns="">
          <p:sp>
            <p:nvSpPr>
              <p:cNvPr id="12" name="TextBox 11">
                <a:extLst>
                  <a:ext uri="{FF2B5EF4-FFF2-40B4-BE49-F238E27FC236}">
                    <a16:creationId xmlns:a16="http://schemas.microsoft.com/office/drawing/2014/main" id="{5F1CB407-1986-4505-9FE9-743F0EF34315}"/>
                  </a:ext>
                </a:extLst>
              </p:cNvPr>
              <p:cNvSpPr txBox="1">
                <a:spLocks noRot="1" noChangeAspect="1" noMove="1" noResize="1" noEditPoints="1" noAdjustHandles="1" noChangeArrowheads="1" noChangeShapeType="1" noTextEdit="1"/>
              </p:cNvSpPr>
              <p:nvPr/>
            </p:nvSpPr>
            <p:spPr>
              <a:xfrm>
                <a:off x="689546" y="4421250"/>
                <a:ext cx="10792919" cy="1200329"/>
              </a:xfrm>
              <a:prstGeom prst="rect">
                <a:avLst/>
              </a:prstGeom>
              <a:blipFill>
                <a:blip r:embed="rId4"/>
                <a:stretch>
                  <a:fillRect l="-452" t="-2538" b="-6599"/>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7C0461A3-6FE9-FFD7-B49C-B66F5776D221}"/>
              </a:ext>
            </a:extLst>
          </p:cNvPr>
          <p:cNvSpPr>
            <a:spLocks noGrp="1"/>
          </p:cNvSpPr>
          <p:nvPr>
            <p:ph type="ftr" sz="quarter" idx="11"/>
          </p:nvPr>
        </p:nvSpPr>
        <p:spPr/>
        <p:txBody>
          <a:bodyPr/>
          <a:lstStyle/>
          <a:p>
            <a:r>
              <a:rPr lang="en-IN"/>
              <a:t>Dr Saladi Saritha</a:t>
            </a:r>
          </a:p>
        </p:txBody>
      </p:sp>
      <p:sp>
        <p:nvSpPr>
          <p:cNvPr id="3" name="Slide Number Placeholder 2">
            <a:extLst>
              <a:ext uri="{FF2B5EF4-FFF2-40B4-BE49-F238E27FC236}">
                <a16:creationId xmlns:a16="http://schemas.microsoft.com/office/drawing/2014/main" id="{75C7A861-3E40-E071-1EA6-D0A4E6130F62}"/>
              </a:ext>
            </a:extLst>
          </p:cNvPr>
          <p:cNvSpPr>
            <a:spLocks noGrp="1"/>
          </p:cNvSpPr>
          <p:nvPr>
            <p:ph type="sldNum" sz="quarter" idx="12"/>
          </p:nvPr>
        </p:nvSpPr>
        <p:spPr/>
        <p:txBody>
          <a:bodyPr/>
          <a:lstStyle/>
          <a:p>
            <a:fld id="{BAEA75B2-F555-4190-9D20-7B0AA5D969FF}" type="slidenum">
              <a:rPr lang="en-IN" smtClean="0"/>
              <a:t>11</a:t>
            </a:fld>
            <a:endParaRPr lang="en-IN"/>
          </a:p>
        </p:txBody>
      </p:sp>
    </p:spTree>
    <p:extLst>
      <p:ext uri="{BB962C8B-B14F-4D97-AF65-F5344CB8AC3E}">
        <p14:creationId xmlns:p14="http://schemas.microsoft.com/office/powerpoint/2010/main" val="3080107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968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Linux Libertine"/>
              </a:rPr>
              <a:t>Examples</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639652" y="1115198"/>
            <a:ext cx="8537229" cy="923330"/>
          </a:xfrm>
          <a:prstGeom prst="rect">
            <a:avLst/>
          </a:prstGeom>
          <a:noFill/>
        </p:spPr>
        <p:txBody>
          <a:bodyPr wrap="square">
            <a:spAutoFit/>
          </a:bodyPr>
          <a:lstStyle/>
          <a:p>
            <a:r>
              <a:rPr lang="en-US" b="1" i="0" dirty="0">
                <a:effectLst/>
                <a:latin typeface="Arial" panose="020B0604020202020204" pitchFamily="34" charset="0"/>
              </a:rPr>
              <a:t>The table  gives four possible binary codes fo</a:t>
            </a:r>
            <a:r>
              <a:rPr lang="en-US" b="1" dirty="0">
                <a:latin typeface="Arial" panose="020B0604020202020204" pitchFamily="34" charset="0"/>
              </a:rPr>
              <a:t>r 4 symbol DMS. Show:</a:t>
            </a:r>
          </a:p>
          <a:p>
            <a:r>
              <a:rPr lang="en-US" b="1" dirty="0">
                <a:latin typeface="Arial" panose="020B0604020202020204" pitchFamily="34" charset="0"/>
              </a:rPr>
              <a:t>1) All codes except B satisfies the Kraft inequality.</a:t>
            </a:r>
          </a:p>
          <a:p>
            <a:r>
              <a:rPr lang="en-US" b="1" dirty="0">
                <a:latin typeface="Arial" panose="020B0604020202020204" pitchFamily="34" charset="0"/>
              </a:rPr>
              <a:t> 2) Show A and D are uniquely decodable code but B and C are not</a:t>
            </a:r>
            <a:endParaRPr lang="en-US" b="1" dirty="0"/>
          </a:p>
        </p:txBody>
      </p:sp>
      <p:graphicFrame>
        <p:nvGraphicFramePr>
          <p:cNvPr id="4" name="Table 4">
            <a:extLst>
              <a:ext uri="{FF2B5EF4-FFF2-40B4-BE49-F238E27FC236}">
                <a16:creationId xmlns:a16="http://schemas.microsoft.com/office/drawing/2014/main" id="{A9B5D6DE-255F-4F6E-A643-63720F375B03}"/>
              </a:ext>
            </a:extLst>
          </p:cNvPr>
          <p:cNvGraphicFramePr>
            <a:graphicFrameLocks noGrp="1"/>
          </p:cNvGraphicFramePr>
          <p:nvPr>
            <p:extLst>
              <p:ext uri="{D42A27DB-BD31-4B8C-83A1-F6EECF244321}">
                <p14:modId xmlns:p14="http://schemas.microsoft.com/office/powerpoint/2010/main" val="1624187979"/>
              </p:ext>
            </p:extLst>
          </p:nvPr>
        </p:nvGraphicFramePr>
        <p:xfrm>
          <a:off x="2094596" y="2794800"/>
          <a:ext cx="4533690" cy="1828800"/>
        </p:xfrm>
        <a:graphic>
          <a:graphicData uri="http://schemas.openxmlformats.org/drawingml/2006/table">
            <a:tbl>
              <a:tblPr firstRow="1" bandRow="1">
                <a:tableStyleId>{5940675A-B579-460E-94D1-54222C63F5DA}</a:tableStyleId>
              </a:tblPr>
              <a:tblGrid>
                <a:gridCol w="906738">
                  <a:extLst>
                    <a:ext uri="{9D8B030D-6E8A-4147-A177-3AD203B41FA5}">
                      <a16:colId xmlns:a16="http://schemas.microsoft.com/office/drawing/2014/main" val="1299096664"/>
                    </a:ext>
                  </a:extLst>
                </a:gridCol>
                <a:gridCol w="906738">
                  <a:extLst>
                    <a:ext uri="{9D8B030D-6E8A-4147-A177-3AD203B41FA5}">
                      <a16:colId xmlns:a16="http://schemas.microsoft.com/office/drawing/2014/main" val="2630558703"/>
                    </a:ext>
                  </a:extLst>
                </a:gridCol>
                <a:gridCol w="906738">
                  <a:extLst>
                    <a:ext uri="{9D8B030D-6E8A-4147-A177-3AD203B41FA5}">
                      <a16:colId xmlns:a16="http://schemas.microsoft.com/office/drawing/2014/main" val="2205756677"/>
                    </a:ext>
                  </a:extLst>
                </a:gridCol>
                <a:gridCol w="906738">
                  <a:extLst>
                    <a:ext uri="{9D8B030D-6E8A-4147-A177-3AD203B41FA5}">
                      <a16:colId xmlns:a16="http://schemas.microsoft.com/office/drawing/2014/main" val="3505657596"/>
                    </a:ext>
                  </a:extLst>
                </a:gridCol>
                <a:gridCol w="906738">
                  <a:extLst>
                    <a:ext uri="{9D8B030D-6E8A-4147-A177-3AD203B41FA5}">
                      <a16:colId xmlns:a16="http://schemas.microsoft.com/office/drawing/2014/main" val="1785756625"/>
                    </a:ext>
                  </a:extLst>
                </a:gridCol>
              </a:tblGrid>
              <a:tr h="286107">
                <a:tc>
                  <a:txBody>
                    <a:bodyPr/>
                    <a:lstStyle/>
                    <a:p>
                      <a:pPr algn="ctr"/>
                      <a:r>
                        <a:rPr lang="en-US" b="1" dirty="0"/>
                        <a:t>xi</a:t>
                      </a:r>
                    </a:p>
                  </a:txBody>
                  <a:tcPr/>
                </a:tc>
                <a:tc>
                  <a:txBody>
                    <a:bodyPr/>
                    <a:lstStyle/>
                    <a:p>
                      <a:pPr algn="ctr"/>
                      <a:r>
                        <a:rPr lang="en-US" b="1" dirty="0"/>
                        <a:t>Code A</a:t>
                      </a:r>
                    </a:p>
                  </a:txBody>
                  <a:tcPr/>
                </a:tc>
                <a:tc>
                  <a:txBody>
                    <a:bodyPr/>
                    <a:lstStyle/>
                    <a:p>
                      <a:pPr algn="ctr"/>
                      <a:r>
                        <a:rPr lang="en-US" b="1" dirty="0"/>
                        <a:t>Code B</a:t>
                      </a:r>
                    </a:p>
                  </a:txBody>
                  <a:tcPr/>
                </a:tc>
                <a:tc>
                  <a:txBody>
                    <a:bodyPr/>
                    <a:lstStyle/>
                    <a:p>
                      <a:pPr algn="ctr"/>
                      <a:r>
                        <a:rPr lang="en-US" b="1" dirty="0"/>
                        <a:t>Code C</a:t>
                      </a:r>
                    </a:p>
                  </a:txBody>
                  <a:tcPr/>
                </a:tc>
                <a:tc>
                  <a:txBody>
                    <a:bodyPr/>
                    <a:lstStyle/>
                    <a:p>
                      <a:pPr algn="ctr"/>
                      <a:r>
                        <a:rPr lang="en-US" b="1" dirty="0"/>
                        <a:t>Code D</a:t>
                      </a:r>
                    </a:p>
                  </a:txBody>
                  <a:tcPr/>
                </a:tc>
                <a:extLst>
                  <a:ext uri="{0D108BD9-81ED-4DB2-BD59-A6C34878D82A}">
                    <a16:rowId xmlns:a16="http://schemas.microsoft.com/office/drawing/2014/main" val="237690354"/>
                  </a:ext>
                </a:extLst>
              </a:tr>
              <a:tr h="286107">
                <a:tc>
                  <a:txBody>
                    <a:bodyPr/>
                    <a:lstStyle/>
                    <a:p>
                      <a:pPr algn="ctr"/>
                      <a:r>
                        <a:rPr lang="en-US" b="1" dirty="0"/>
                        <a:t>x1</a:t>
                      </a:r>
                    </a:p>
                  </a:txBody>
                  <a:tcPr/>
                </a:tc>
                <a:tc>
                  <a:txBody>
                    <a:bodyPr/>
                    <a:lstStyle/>
                    <a:p>
                      <a:pPr algn="ctr"/>
                      <a:r>
                        <a:rPr lang="en-US" dirty="0"/>
                        <a:t>00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763171233"/>
                  </a:ext>
                </a:extLst>
              </a:tr>
              <a:tr h="286107">
                <a:tc>
                  <a:txBody>
                    <a:bodyPr/>
                    <a:lstStyle/>
                    <a:p>
                      <a:pPr algn="ctr"/>
                      <a:r>
                        <a:rPr lang="en-US" b="1" dirty="0"/>
                        <a:t>x2</a:t>
                      </a:r>
                    </a:p>
                  </a:txBody>
                  <a:tcPr/>
                </a:tc>
                <a:tc>
                  <a:txBody>
                    <a:bodyPr/>
                    <a:lstStyle/>
                    <a:p>
                      <a:pPr algn="ctr"/>
                      <a:r>
                        <a:rPr lang="en-US" dirty="0"/>
                        <a:t>01</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100</a:t>
                      </a:r>
                    </a:p>
                  </a:txBody>
                  <a:tcPr/>
                </a:tc>
                <a:extLst>
                  <a:ext uri="{0D108BD9-81ED-4DB2-BD59-A6C34878D82A}">
                    <a16:rowId xmlns:a16="http://schemas.microsoft.com/office/drawing/2014/main" val="4034311425"/>
                  </a:ext>
                </a:extLst>
              </a:tr>
              <a:tr h="286107">
                <a:tc>
                  <a:txBody>
                    <a:bodyPr/>
                    <a:lstStyle/>
                    <a:p>
                      <a:pPr algn="ctr"/>
                      <a:r>
                        <a:rPr lang="en-US" b="1" dirty="0"/>
                        <a:t>x3</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100</a:t>
                      </a:r>
                    </a:p>
                  </a:txBody>
                  <a:tcPr/>
                </a:tc>
                <a:tc>
                  <a:txBody>
                    <a:bodyPr/>
                    <a:lstStyle/>
                    <a:p>
                      <a:pPr algn="ctr"/>
                      <a:r>
                        <a:rPr lang="en-US" dirty="0"/>
                        <a:t>110</a:t>
                      </a:r>
                    </a:p>
                  </a:txBody>
                  <a:tcPr/>
                </a:tc>
                <a:extLst>
                  <a:ext uri="{0D108BD9-81ED-4DB2-BD59-A6C34878D82A}">
                    <a16:rowId xmlns:a16="http://schemas.microsoft.com/office/drawing/2014/main" val="196539125"/>
                  </a:ext>
                </a:extLst>
              </a:tr>
              <a:tr h="0">
                <a:tc>
                  <a:txBody>
                    <a:bodyPr/>
                    <a:lstStyle/>
                    <a:p>
                      <a:pPr algn="ctr"/>
                      <a:r>
                        <a:rPr lang="en-US" b="1" dirty="0"/>
                        <a:t>x4</a:t>
                      </a:r>
                    </a:p>
                  </a:txBody>
                  <a:tcPr/>
                </a:tc>
                <a:tc>
                  <a:txBody>
                    <a:bodyPr/>
                    <a:lstStyle/>
                    <a:p>
                      <a:pPr algn="ctr"/>
                      <a:r>
                        <a:rPr lang="en-US" dirty="0"/>
                        <a:t>11</a:t>
                      </a:r>
                    </a:p>
                  </a:txBody>
                  <a:tcPr/>
                </a:tc>
                <a:tc>
                  <a:txBody>
                    <a:bodyPr/>
                    <a:lstStyle/>
                    <a:p>
                      <a:pPr algn="ctr"/>
                      <a:r>
                        <a:rPr lang="en-US" dirty="0"/>
                        <a:t>110</a:t>
                      </a:r>
                    </a:p>
                  </a:txBody>
                  <a:tcPr/>
                </a:tc>
                <a:tc>
                  <a:txBody>
                    <a:bodyPr/>
                    <a:lstStyle/>
                    <a:p>
                      <a:pPr algn="ctr"/>
                      <a:r>
                        <a:rPr lang="en-US" dirty="0"/>
                        <a:t>110</a:t>
                      </a:r>
                    </a:p>
                  </a:txBody>
                  <a:tcPr/>
                </a:tc>
                <a:tc>
                  <a:txBody>
                    <a:bodyPr/>
                    <a:lstStyle/>
                    <a:p>
                      <a:pPr algn="ctr"/>
                      <a:r>
                        <a:rPr lang="en-US" dirty="0"/>
                        <a:t>111</a:t>
                      </a:r>
                    </a:p>
                  </a:txBody>
                  <a:tcPr/>
                </a:tc>
                <a:extLst>
                  <a:ext uri="{0D108BD9-81ED-4DB2-BD59-A6C34878D82A}">
                    <a16:rowId xmlns:a16="http://schemas.microsoft.com/office/drawing/2014/main" val="791735971"/>
                  </a:ext>
                </a:extLst>
              </a:tr>
            </a:tbl>
          </a:graphicData>
        </a:graphic>
      </p:graphicFrame>
      <p:graphicFrame>
        <p:nvGraphicFramePr>
          <p:cNvPr id="3" name="Table 2">
            <a:extLst>
              <a:ext uri="{FF2B5EF4-FFF2-40B4-BE49-F238E27FC236}">
                <a16:creationId xmlns:a16="http://schemas.microsoft.com/office/drawing/2014/main" id="{6A57277D-BE25-6FBC-4A4D-965FFC0F7B70}"/>
              </a:ext>
            </a:extLst>
          </p:cNvPr>
          <p:cNvGraphicFramePr>
            <a:graphicFrameLocks noGrp="1"/>
          </p:cNvGraphicFramePr>
          <p:nvPr>
            <p:extLst>
              <p:ext uri="{D42A27DB-BD31-4B8C-83A1-F6EECF244321}">
                <p14:modId xmlns:p14="http://schemas.microsoft.com/office/powerpoint/2010/main" val="1894150166"/>
              </p:ext>
            </p:extLst>
          </p:nvPr>
        </p:nvGraphicFramePr>
        <p:xfrm>
          <a:off x="6801477" y="2990673"/>
          <a:ext cx="4533690" cy="1828800"/>
        </p:xfrm>
        <a:graphic>
          <a:graphicData uri="http://schemas.openxmlformats.org/drawingml/2006/table">
            <a:tbl>
              <a:tblPr firstRow="1" bandRow="1">
                <a:tableStyleId>{5940675A-B579-460E-94D1-54222C63F5DA}</a:tableStyleId>
              </a:tblPr>
              <a:tblGrid>
                <a:gridCol w="906738">
                  <a:extLst>
                    <a:ext uri="{9D8B030D-6E8A-4147-A177-3AD203B41FA5}">
                      <a16:colId xmlns:a16="http://schemas.microsoft.com/office/drawing/2014/main" val="628294944"/>
                    </a:ext>
                  </a:extLst>
                </a:gridCol>
                <a:gridCol w="906738">
                  <a:extLst>
                    <a:ext uri="{9D8B030D-6E8A-4147-A177-3AD203B41FA5}">
                      <a16:colId xmlns:a16="http://schemas.microsoft.com/office/drawing/2014/main" val="3746825863"/>
                    </a:ext>
                  </a:extLst>
                </a:gridCol>
                <a:gridCol w="906738">
                  <a:extLst>
                    <a:ext uri="{9D8B030D-6E8A-4147-A177-3AD203B41FA5}">
                      <a16:colId xmlns:a16="http://schemas.microsoft.com/office/drawing/2014/main" val="1835826500"/>
                    </a:ext>
                  </a:extLst>
                </a:gridCol>
                <a:gridCol w="906738">
                  <a:extLst>
                    <a:ext uri="{9D8B030D-6E8A-4147-A177-3AD203B41FA5}">
                      <a16:colId xmlns:a16="http://schemas.microsoft.com/office/drawing/2014/main" val="3627202015"/>
                    </a:ext>
                  </a:extLst>
                </a:gridCol>
                <a:gridCol w="906738">
                  <a:extLst>
                    <a:ext uri="{9D8B030D-6E8A-4147-A177-3AD203B41FA5}">
                      <a16:colId xmlns:a16="http://schemas.microsoft.com/office/drawing/2014/main" val="3400729881"/>
                    </a:ext>
                  </a:extLst>
                </a:gridCol>
              </a:tblGrid>
              <a:tr h="286107">
                <a:tc>
                  <a:txBody>
                    <a:bodyPr/>
                    <a:lstStyle/>
                    <a:p>
                      <a:pPr algn="ctr"/>
                      <a:r>
                        <a:rPr lang="en-US" b="1" dirty="0"/>
                        <a:t>xi</a:t>
                      </a:r>
                    </a:p>
                  </a:txBody>
                  <a:tcPr/>
                </a:tc>
                <a:tc>
                  <a:txBody>
                    <a:bodyPr/>
                    <a:lstStyle/>
                    <a:p>
                      <a:pPr algn="ctr"/>
                      <a:r>
                        <a:rPr lang="en-US" b="1" dirty="0"/>
                        <a:t>Code A</a:t>
                      </a:r>
                    </a:p>
                  </a:txBody>
                  <a:tcPr/>
                </a:tc>
                <a:tc>
                  <a:txBody>
                    <a:bodyPr/>
                    <a:lstStyle/>
                    <a:p>
                      <a:pPr algn="ctr"/>
                      <a:r>
                        <a:rPr lang="en-US" b="1" dirty="0"/>
                        <a:t>Code B</a:t>
                      </a:r>
                    </a:p>
                  </a:txBody>
                  <a:tcPr/>
                </a:tc>
                <a:tc>
                  <a:txBody>
                    <a:bodyPr/>
                    <a:lstStyle/>
                    <a:p>
                      <a:pPr algn="ctr"/>
                      <a:r>
                        <a:rPr lang="en-US" b="1" dirty="0"/>
                        <a:t>Code C</a:t>
                      </a:r>
                    </a:p>
                  </a:txBody>
                  <a:tcPr/>
                </a:tc>
                <a:tc>
                  <a:txBody>
                    <a:bodyPr/>
                    <a:lstStyle/>
                    <a:p>
                      <a:pPr algn="ctr"/>
                      <a:r>
                        <a:rPr lang="en-US" b="1" dirty="0"/>
                        <a:t>Code D</a:t>
                      </a:r>
                    </a:p>
                  </a:txBody>
                  <a:tcPr/>
                </a:tc>
                <a:extLst>
                  <a:ext uri="{0D108BD9-81ED-4DB2-BD59-A6C34878D82A}">
                    <a16:rowId xmlns:a16="http://schemas.microsoft.com/office/drawing/2014/main" val="2042055371"/>
                  </a:ext>
                </a:extLst>
              </a:tr>
              <a:tr h="286107">
                <a:tc>
                  <a:txBody>
                    <a:bodyPr/>
                    <a:lstStyle/>
                    <a:p>
                      <a:pPr algn="ctr"/>
                      <a:r>
                        <a:rPr lang="en-US" b="1" dirty="0"/>
                        <a:t>x1</a:t>
                      </a:r>
                    </a:p>
                  </a:txBody>
                  <a:tcPr/>
                </a:tc>
                <a:tc>
                  <a:txBody>
                    <a:bodyPr/>
                    <a:lstStyle/>
                    <a:p>
                      <a:pPr algn="ctr"/>
                      <a:r>
                        <a:rPr lang="en-US" dirty="0"/>
                        <a:t>01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64878642"/>
                  </a:ext>
                </a:extLst>
              </a:tr>
              <a:tr h="286107">
                <a:tc>
                  <a:txBody>
                    <a:bodyPr/>
                    <a:lstStyle/>
                    <a:p>
                      <a:pPr algn="ctr"/>
                      <a:r>
                        <a:rPr lang="en-US" b="1" dirty="0"/>
                        <a:t>x2</a:t>
                      </a:r>
                    </a:p>
                  </a:txBody>
                  <a:tcPr/>
                </a:tc>
                <a:tc>
                  <a:txBody>
                    <a:bodyPr/>
                    <a:lstStyle/>
                    <a:p>
                      <a:pPr algn="ctr"/>
                      <a:r>
                        <a:rPr lang="en-US" dirty="0"/>
                        <a:t>11</a:t>
                      </a:r>
                    </a:p>
                  </a:txBody>
                  <a:tcPr/>
                </a:tc>
                <a:tc>
                  <a:txBody>
                    <a:bodyPr/>
                    <a:lstStyle/>
                    <a:p>
                      <a:pPr algn="ctr"/>
                      <a:r>
                        <a:rPr lang="en-US" dirty="0"/>
                        <a:t>100</a:t>
                      </a:r>
                    </a:p>
                  </a:txBody>
                  <a:tcPr/>
                </a:tc>
                <a:tc>
                  <a:txBody>
                    <a:bodyPr/>
                    <a:lstStyle/>
                    <a:p>
                      <a:pPr algn="ctr"/>
                      <a:r>
                        <a:rPr lang="en-US" dirty="0"/>
                        <a:t>111</a:t>
                      </a:r>
                    </a:p>
                  </a:txBody>
                  <a:tcPr/>
                </a:tc>
                <a:tc>
                  <a:txBody>
                    <a:bodyPr/>
                    <a:lstStyle/>
                    <a:p>
                      <a:pPr algn="ctr"/>
                      <a:r>
                        <a:rPr lang="en-US" dirty="0"/>
                        <a:t>010</a:t>
                      </a:r>
                    </a:p>
                  </a:txBody>
                  <a:tcPr/>
                </a:tc>
                <a:extLst>
                  <a:ext uri="{0D108BD9-81ED-4DB2-BD59-A6C34878D82A}">
                    <a16:rowId xmlns:a16="http://schemas.microsoft.com/office/drawing/2014/main" val="3087258737"/>
                  </a:ext>
                </a:extLst>
              </a:tr>
              <a:tr h="286107">
                <a:tc>
                  <a:txBody>
                    <a:bodyPr/>
                    <a:lstStyle/>
                    <a:p>
                      <a:pPr algn="ctr"/>
                      <a:r>
                        <a:rPr lang="en-US" b="1" dirty="0"/>
                        <a:t>x3</a:t>
                      </a:r>
                    </a:p>
                  </a:txBody>
                  <a:tcPr/>
                </a:tc>
                <a:tc>
                  <a:txBody>
                    <a:bodyPr/>
                    <a:lstStyle/>
                    <a:p>
                      <a:pPr algn="ctr"/>
                      <a:r>
                        <a:rPr lang="en-US" dirty="0"/>
                        <a:t>00</a:t>
                      </a:r>
                    </a:p>
                  </a:txBody>
                  <a:tcPr/>
                </a:tc>
                <a:tc>
                  <a:txBody>
                    <a:bodyPr/>
                    <a:lstStyle/>
                    <a:p>
                      <a:pPr algn="ctr"/>
                      <a:r>
                        <a:rPr lang="en-US" dirty="0"/>
                        <a:t>10</a:t>
                      </a:r>
                    </a:p>
                  </a:txBody>
                  <a:tcPr/>
                </a:tc>
                <a:tc>
                  <a:txBody>
                    <a:bodyPr/>
                    <a:lstStyle/>
                    <a:p>
                      <a:pPr algn="ctr"/>
                      <a:r>
                        <a:rPr lang="en-US" dirty="0"/>
                        <a:t>00</a:t>
                      </a:r>
                    </a:p>
                  </a:txBody>
                  <a:tcPr/>
                </a:tc>
                <a:tc>
                  <a:txBody>
                    <a:bodyPr/>
                    <a:lstStyle/>
                    <a:p>
                      <a:pPr algn="ctr"/>
                      <a:r>
                        <a:rPr lang="en-US" dirty="0"/>
                        <a:t>100</a:t>
                      </a:r>
                    </a:p>
                  </a:txBody>
                  <a:tcPr/>
                </a:tc>
                <a:extLst>
                  <a:ext uri="{0D108BD9-81ED-4DB2-BD59-A6C34878D82A}">
                    <a16:rowId xmlns:a16="http://schemas.microsoft.com/office/drawing/2014/main" val="311994622"/>
                  </a:ext>
                </a:extLst>
              </a:tr>
              <a:tr h="0">
                <a:tc>
                  <a:txBody>
                    <a:bodyPr/>
                    <a:lstStyle/>
                    <a:p>
                      <a:pPr algn="ctr"/>
                      <a:r>
                        <a:rPr lang="en-US" b="1" dirty="0"/>
                        <a:t>x4</a:t>
                      </a:r>
                    </a:p>
                  </a:txBody>
                  <a:tcPr/>
                </a:tc>
                <a:tc>
                  <a:txBody>
                    <a:bodyPr/>
                    <a:lstStyle/>
                    <a:p>
                      <a:pPr algn="ctr"/>
                      <a:r>
                        <a:rPr lang="en-US" dirty="0"/>
                        <a:t>10</a:t>
                      </a:r>
                    </a:p>
                  </a:txBody>
                  <a:tcPr/>
                </a:tc>
                <a:tc>
                  <a:txBody>
                    <a:bodyPr/>
                    <a:lstStyle/>
                    <a:p>
                      <a:pPr algn="ctr"/>
                      <a:r>
                        <a:rPr lang="en-US" dirty="0"/>
                        <a:t>101</a:t>
                      </a:r>
                    </a:p>
                  </a:txBody>
                  <a:tcPr/>
                </a:tc>
                <a:tc>
                  <a:txBody>
                    <a:bodyPr/>
                    <a:lstStyle/>
                    <a:p>
                      <a:pPr algn="ctr"/>
                      <a:r>
                        <a:rPr lang="en-US" dirty="0"/>
                        <a:t>10</a:t>
                      </a:r>
                    </a:p>
                  </a:txBody>
                  <a:tcPr/>
                </a:tc>
                <a:tc>
                  <a:txBody>
                    <a:bodyPr/>
                    <a:lstStyle/>
                    <a:p>
                      <a:pPr algn="ctr"/>
                      <a:r>
                        <a:rPr lang="en-US" dirty="0"/>
                        <a:t>101</a:t>
                      </a:r>
                    </a:p>
                  </a:txBody>
                  <a:tcPr/>
                </a:tc>
                <a:extLst>
                  <a:ext uri="{0D108BD9-81ED-4DB2-BD59-A6C34878D82A}">
                    <a16:rowId xmlns:a16="http://schemas.microsoft.com/office/drawing/2014/main" val="2792122659"/>
                  </a:ext>
                </a:extLst>
              </a:tr>
            </a:tbl>
          </a:graphicData>
        </a:graphic>
      </p:graphicFrame>
      <p:sp>
        <p:nvSpPr>
          <p:cNvPr id="6" name="TextBox 5">
            <a:extLst>
              <a:ext uri="{FF2B5EF4-FFF2-40B4-BE49-F238E27FC236}">
                <a16:creationId xmlns:a16="http://schemas.microsoft.com/office/drawing/2014/main" id="{BABC36F8-D1C8-1C3D-9DB3-88ACC2F4374B}"/>
              </a:ext>
            </a:extLst>
          </p:cNvPr>
          <p:cNvSpPr txBox="1"/>
          <p:nvPr/>
        </p:nvSpPr>
        <p:spPr>
          <a:xfrm>
            <a:off x="1096181" y="5037733"/>
            <a:ext cx="8928663" cy="1200329"/>
          </a:xfrm>
          <a:prstGeom prst="rect">
            <a:avLst/>
          </a:prstGeom>
          <a:noFill/>
        </p:spPr>
        <p:txBody>
          <a:bodyPr wrap="square">
            <a:spAutoFit/>
          </a:bodyPr>
          <a:lstStyle/>
          <a:p>
            <a:r>
              <a:rPr lang="en-US" b="1" i="0" dirty="0">
                <a:effectLst/>
                <a:latin typeface="Arial" panose="020B0604020202020204" pitchFamily="34" charset="0"/>
              </a:rPr>
              <a:t>The table  gives four possible binary codes fo</a:t>
            </a:r>
            <a:r>
              <a:rPr lang="en-US" b="1" dirty="0">
                <a:latin typeface="Arial" panose="020B0604020202020204" pitchFamily="34" charset="0"/>
              </a:rPr>
              <a:t>r 4 symbol of a DMS. </a:t>
            </a:r>
          </a:p>
          <a:p>
            <a:r>
              <a:rPr lang="en-US" b="1" dirty="0">
                <a:latin typeface="Arial" panose="020B0604020202020204" pitchFamily="34" charset="0"/>
              </a:rPr>
              <a:t>a) Verify the Kraft inequality of all codes(A,B,C,D).</a:t>
            </a:r>
          </a:p>
          <a:p>
            <a:r>
              <a:rPr lang="en-US" b="1" dirty="0">
                <a:latin typeface="Arial" panose="020B0604020202020204" pitchFamily="34" charset="0"/>
              </a:rPr>
              <a:t>b) Show A and D are uniquely decodable code</a:t>
            </a:r>
          </a:p>
          <a:p>
            <a:endParaRPr lang="en-US" b="1" dirty="0"/>
          </a:p>
        </p:txBody>
      </p:sp>
      <p:sp>
        <p:nvSpPr>
          <p:cNvPr id="5" name="Footer Placeholder 4">
            <a:extLst>
              <a:ext uri="{FF2B5EF4-FFF2-40B4-BE49-F238E27FC236}">
                <a16:creationId xmlns:a16="http://schemas.microsoft.com/office/drawing/2014/main" id="{DEFDDC2C-900F-6A7F-21BF-158C8BD53F84}"/>
              </a:ext>
            </a:extLst>
          </p:cNvPr>
          <p:cNvSpPr>
            <a:spLocks noGrp="1"/>
          </p:cNvSpPr>
          <p:nvPr>
            <p:ph type="ftr" sz="quarter" idx="11"/>
          </p:nvPr>
        </p:nvSpPr>
        <p:spPr/>
        <p:txBody>
          <a:bodyPr/>
          <a:lstStyle/>
          <a:p>
            <a:r>
              <a:rPr lang="en-IN"/>
              <a:t>Dr Saladi Saritha</a:t>
            </a:r>
          </a:p>
        </p:txBody>
      </p:sp>
      <p:sp>
        <p:nvSpPr>
          <p:cNvPr id="7" name="Slide Number Placeholder 6">
            <a:extLst>
              <a:ext uri="{FF2B5EF4-FFF2-40B4-BE49-F238E27FC236}">
                <a16:creationId xmlns:a16="http://schemas.microsoft.com/office/drawing/2014/main" id="{577D5E02-BC7F-4BBE-30E3-C927DC6BAD30}"/>
              </a:ext>
            </a:extLst>
          </p:cNvPr>
          <p:cNvSpPr>
            <a:spLocks noGrp="1"/>
          </p:cNvSpPr>
          <p:nvPr>
            <p:ph type="sldNum" sz="quarter" idx="12"/>
          </p:nvPr>
        </p:nvSpPr>
        <p:spPr/>
        <p:txBody>
          <a:bodyPr/>
          <a:lstStyle/>
          <a:p>
            <a:fld id="{BAEA75B2-F555-4190-9D20-7B0AA5D969FF}" type="slidenum">
              <a:rPr lang="en-IN" smtClean="0"/>
              <a:t>12</a:t>
            </a:fld>
            <a:endParaRPr lang="en-IN"/>
          </a:p>
        </p:txBody>
      </p:sp>
    </p:spTree>
    <p:extLst>
      <p:ext uri="{BB962C8B-B14F-4D97-AF65-F5344CB8AC3E}">
        <p14:creationId xmlns:p14="http://schemas.microsoft.com/office/powerpoint/2010/main" val="1761384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968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Linux Libertine"/>
              </a:rPr>
              <a:t>Examples</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97767" y="1115198"/>
            <a:ext cx="12192000" cy="3170099"/>
          </a:xfrm>
          <a:prstGeom prst="rect">
            <a:avLst/>
          </a:prstGeom>
          <a:noFill/>
        </p:spPr>
        <p:txBody>
          <a:bodyPr wrap="square">
            <a:spAutoFit/>
          </a:bodyPr>
          <a:lstStyle/>
          <a:p>
            <a:r>
              <a:rPr lang="en-US" sz="2000" b="1" i="0" u="sng" dirty="0">
                <a:effectLst/>
                <a:latin typeface="Arial" panose="020B0604020202020204" pitchFamily="34" charset="0"/>
              </a:rPr>
              <a:t>Steps to find </a:t>
            </a:r>
            <a:r>
              <a:rPr lang="en-US" sz="2000" b="1" u="sng" dirty="0">
                <a:latin typeface="Arial" panose="020B0604020202020204" pitchFamily="34" charset="0"/>
              </a:rPr>
              <a:t>uniquely decodable code (</a:t>
            </a:r>
            <a:r>
              <a:rPr lang="en-US" sz="2000" b="1" i="0" u="sng" dirty="0">
                <a:effectLst/>
                <a:latin typeface="Arial" panose="020B0604020202020204" pitchFamily="34" charset="0"/>
              </a:rPr>
              <a:t>UDC):</a:t>
            </a:r>
          </a:p>
          <a:p>
            <a:pPr marL="457200" indent="-457200">
              <a:buAutoNum type="arabicParenR"/>
            </a:pPr>
            <a:r>
              <a:rPr lang="en-US" sz="2000" dirty="0">
                <a:latin typeface="Arial" panose="020B0604020202020204" pitchFamily="34" charset="0"/>
              </a:rPr>
              <a:t>Construct a list of all code words.</a:t>
            </a:r>
          </a:p>
          <a:p>
            <a:pPr marL="457200" indent="-457200">
              <a:buAutoNum type="arabicParenR"/>
            </a:pPr>
            <a:r>
              <a:rPr lang="en-US" sz="2000" i="0" dirty="0">
                <a:effectLst/>
                <a:latin typeface="Arial" panose="020B0604020202020204" pitchFamily="34" charset="0"/>
              </a:rPr>
              <a:t>Check Prefix, if No Prefix-----UDC</a:t>
            </a:r>
          </a:p>
          <a:p>
            <a:pPr marL="457200" indent="-457200">
              <a:buAutoNum type="arabicParenR"/>
            </a:pPr>
            <a:r>
              <a:rPr lang="en-US" sz="2000" dirty="0">
                <a:latin typeface="Arial" panose="020B0604020202020204" pitchFamily="34" charset="0"/>
              </a:rPr>
              <a:t>Prefix Code</a:t>
            </a:r>
          </a:p>
          <a:p>
            <a:pPr lvl="1"/>
            <a:r>
              <a:rPr lang="en-US" sz="2000" dirty="0">
                <a:latin typeface="Arial" panose="020B0604020202020204" pitchFamily="34" charset="0"/>
              </a:rPr>
              <a:t> Add dangling suffix (DS) to list</a:t>
            </a:r>
          </a:p>
          <a:p>
            <a:pPr marL="971550" lvl="1" indent="-514350">
              <a:buAutoNum type="romanLcParenR"/>
            </a:pPr>
            <a:r>
              <a:rPr lang="en-US" sz="2000" dirty="0">
                <a:latin typeface="Arial" panose="020B0604020202020204" pitchFamily="34" charset="0"/>
              </a:rPr>
              <a:t>DS = some code word----Not UDC</a:t>
            </a:r>
          </a:p>
          <a:p>
            <a:pPr lvl="1"/>
            <a:r>
              <a:rPr lang="en-US" sz="2000" dirty="0">
                <a:latin typeface="Arial" panose="020B0604020202020204" pitchFamily="34" charset="0"/>
              </a:rPr>
              <a:t>ii)    DS </a:t>
            </a:r>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rPr>
              <a:t>some code word----UDC</a:t>
            </a:r>
          </a:p>
          <a:p>
            <a:pPr lvl="1"/>
            <a:endParaRPr lang="en-US" sz="2000" b="1" i="0" u="sng" dirty="0">
              <a:effectLst/>
              <a:latin typeface="Arial" panose="020B0604020202020204" pitchFamily="34" charset="0"/>
            </a:endParaRPr>
          </a:p>
          <a:p>
            <a:endParaRPr lang="en-US" sz="2000" b="1" u="sng" dirty="0">
              <a:latin typeface="Arial" panose="020B0604020202020204" pitchFamily="34" charset="0"/>
            </a:endParaRPr>
          </a:p>
          <a:p>
            <a:endParaRPr lang="en-US" sz="2000" u="sng" dirty="0"/>
          </a:p>
        </p:txBody>
      </p:sp>
      <p:graphicFrame>
        <p:nvGraphicFramePr>
          <p:cNvPr id="3" name="Table 4">
            <a:extLst>
              <a:ext uri="{FF2B5EF4-FFF2-40B4-BE49-F238E27FC236}">
                <a16:creationId xmlns:a16="http://schemas.microsoft.com/office/drawing/2014/main" id="{BBAEF837-2470-43EF-9E16-F599E750788B}"/>
              </a:ext>
            </a:extLst>
          </p:cNvPr>
          <p:cNvGraphicFramePr>
            <a:graphicFrameLocks noGrp="1"/>
          </p:cNvGraphicFramePr>
          <p:nvPr>
            <p:extLst>
              <p:ext uri="{D42A27DB-BD31-4B8C-83A1-F6EECF244321}">
                <p14:modId xmlns:p14="http://schemas.microsoft.com/office/powerpoint/2010/main" val="1546402026"/>
              </p:ext>
            </p:extLst>
          </p:nvPr>
        </p:nvGraphicFramePr>
        <p:xfrm>
          <a:off x="2732905" y="3750243"/>
          <a:ext cx="4533690" cy="1828800"/>
        </p:xfrm>
        <a:graphic>
          <a:graphicData uri="http://schemas.openxmlformats.org/drawingml/2006/table">
            <a:tbl>
              <a:tblPr firstRow="1" bandRow="1">
                <a:tableStyleId>{5940675A-B579-460E-94D1-54222C63F5DA}</a:tableStyleId>
              </a:tblPr>
              <a:tblGrid>
                <a:gridCol w="906738">
                  <a:extLst>
                    <a:ext uri="{9D8B030D-6E8A-4147-A177-3AD203B41FA5}">
                      <a16:colId xmlns:a16="http://schemas.microsoft.com/office/drawing/2014/main" val="1299096664"/>
                    </a:ext>
                  </a:extLst>
                </a:gridCol>
                <a:gridCol w="906738">
                  <a:extLst>
                    <a:ext uri="{9D8B030D-6E8A-4147-A177-3AD203B41FA5}">
                      <a16:colId xmlns:a16="http://schemas.microsoft.com/office/drawing/2014/main" val="2630558703"/>
                    </a:ext>
                  </a:extLst>
                </a:gridCol>
                <a:gridCol w="906738">
                  <a:extLst>
                    <a:ext uri="{9D8B030D-6E8A-4147-A177-3AD203B41FA5}">
                      <a16:colId xmlns:a16="http://schemas.microsoft.com/office/drawing/2014/main" val="2205756677"/>
                    </a:ext>
                  </a:extLst>
                </a:gridCol>
                <a:gridCol w="906738">
                  <a:extLst>
                    <a:ext uri="{9D8B030D-6E8A-4147-A177-3AD203B41FA5}">
                      <a16:colId xmlns:a16="http://schemas.microsoft.com/office/drawing/2014/main" val="3505657596"/>
                    </a:ext>
                  </a:extLst>
                </a:gridCol>
                <a:gridCol w="906738">
                  <a:extLst>
                    <a:ext uri="{9D8B030D-6E8A-4147-A177-3AD203B41FA5}">
                      <a16:colId xmlns:a16="http://schemas.microsoft.com/office/drawing/2014/main" val="1785756625"/>
                    </a:ext>
                  </a:extLst>
                </a:gridCol>
              </a:tblGrid>
              <a:tr h="286107">
                <a:tc>
                  <a:txBody>
                    <a:bodyPr/>
                    <a:lstStyle/>
                    <a:p>
                      <a:pPr algn="ctr"/>
                      <a:r>
                        <a:rPr lang="en-US" b="1" dirty="0"/>
                        <a:t>xi</a:t>
                      </a:r>
                    </a:p>
                  </a:txBody>
                  <a:tcPr/>
                </a:tc>
                <a:tc>
                  <a:txBody>
                    <a:bodyPr/>
                    <a:lstStyle/>
                    <a:p>
                      <a:pPr algn="ctr"/>
                      <a:r>
                        <a:rPr lang="en-US" b="1" dirty="0"/>
                        <a:t>Code A</a:t>
                      </a:r>
                    </a:p>
                  </a:txBody>
                  <a:tcPr/>
                </a:tc>
                <a:tc>
                  <a:txBody>
                    <a:bodyPr/>
                    <a:lstStyle/>
                    <a:p>
                      <a:pPr algn="ctr"/>
                      <a:r>
                        <a:rPr lang="en-US" b="1" dirty="0"/>
                        <a:t>Code B</a:t>
                      </a:r>
                    </a:p>
                  </a:txBody>
                  <a:tcPr/>
                </a:tc>
                <a:tc>
                  <a:txBody>
                    <a:bodyPr/>
                    <a:lstStyle/>
                    <a:p>
                      <a:pPr algn="ctr"/>
                      <a:r>
                        <a:rPr lang="en-US" b="1" dirty="0"/>
                        <a:t>Code C</a:t>
                      </a:r>
                    </a:p>
                  </a:txBody>
                  <a:tcPr/>
                </a:tc>
                <a:tc>
                  <a:txBody>
                    <a:bodyPr/>
                    <a:lstStyle/>
                    <a:p>
                      <a:pPr algn="ctr"/>
                      <a:r>
                        <a:rPr lang="en-US" b="1" dirty="0"/>
                        <a:t>Code D</a:t>
                      </a:r>
                    </a:p>
                  </a:txBody>
                  <a:tcPr/>
                </a:tc>
                <a:extLst>
                  <a:ext uri="{0D108BD9-81ED-4DB2-BD59-A6C34878D82A}">
                    <a16:rowId xmlns:a16="http://schemas.microsoft.com/office/drawing/2014/main" val="237690354"/>
                  </a:ext>
                </a:extLst>
              </a:tr>
              <a:tr h="286107">
                <a:tc>
                  <a:txBody>
                    <a:bodyPr/>
                    <a:lstStyle/>
                    <a:p>
                      <a:pPr algn="ctr"/>
                      <a:r>
                        <a:rPr lang="en-US" b="1" dirty="0"/>
                        <a:t>x1</a:t>
                      </a:r>
                    </a:p>
                  </a:txBody>
                  <a:tcPr/>
                </a:tc>
                <a:tc>
                  <a:txBody>
                    <a:bodyPr/>
                    <a:lstStyle/>
                    <a:p>
                      <a:pPr algn="ctr"/>
                      <a:r>
                        <a:rPr lang="en-US" dirty="0"/>
                        <a:t>00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763171233"/>
                  </a:ext>
                </a:extLst>
              </a:tr>
              <a:tr h="286107">
                <a:tc>
                  <a:txBody>
                    <a:bodyPr/>
                    <a:lstStyle/>
                    <a:p>
                      <a:pPr algn="ctr"/>
                      <a:r>
                        <a:rPr lang="en-US" b="1" dirty="0"/>
                        <a:t>x2</a:t>
                      </a:r>
                    </a:p>
                  </a:txBody>
                  <a:tcPr/>
                </a:tc>
                <a:tc>
                  <a:txBody>
                    <a:bodyPr/>
                    <a:lstStyle/>
                    <a:p>
                      <a:pPr algn="ctr"/>
                      <a:r>
                        <a:rPr lang="en-US" dirty="0"/>
                        <a:t>01</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100</a:t>
                      </a:r>
                    </a:p>
                  </a:txBody>
                  <a:tcPr/>
                </a:tc>
                <a:extLst>
                  <a:ext uri="{0D108BD9-81ED-4DB2-BD59-A6C34878D82A}">
                    <a16:rowId xmlns:a16="http://schemas.microsoft.com/office/drawing/2014/main" val="4034311425"/>
                  </a:ext>
                </a:extLst>
              </a:tr>
              <a:tr h="286107">
                <a:tc>
                  <a:txBody>
                    <a:bodyPr/>
                    <a:lstStyle/>
                    <a:p>
                      <a:pPr algn="ctr"/>
                      <a:r>
                        <a:rPr lang="en-US" b="1" dirty="0"/>
                        <a:t>x3</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100</a:t>
                      </a:r>
                    </a:p>
                  </a:txBody>
                  <a:tcPr/>
                </a:tc>
                <a:tc>
                  <a:txBody>
                    <a:bodyPr/>
                    <a:lstStyle/>
                    <a:p>
                      <a:pPr algn="ctr"/>
                      <a:r>
                        <a:rPr lang="en-US" dirty="0"/>
                        <a:t>110</a:t>
                      </a:r>
                    </a:p>
                  </a:txBody>
                  <a:tcPr/>
                </a:tc>
                <a:extLst>
                  <a:ext uri="{0D108BD9-81ED-4DB2-BD59-A6C34878D82A}">
                    <a16:rowId xmlns:a16="http://schemas.microsoft.com/office/drawing/2014/main" val="196539125"/>
                  </a:ext>
                </a:extLst>
              </a:tr>
              <a:tr h="0">
                <a:tc>
                  <a:txBody>
                    <a:bodyPr/>
                    <a:lstStyle/>
                    <a:p>
                      <a:pPr algn="ctr"/>
                      <a:r>
                        <a:rPr lang="en-US" b="1" dirty="0"/>
                        <a:t>x4</a:t>
                      </a:r>
                    </a:p>
                  </a:txBody>
                  <a:tcPr/>
                </a:tc>
                <a:tc>
                  <a:txBody>
                    <a:bodyPr/>
                    <a:lstStyle/>
                    <a:p>
                      <a:pPr algn="ctr"/>
                      <a:r>
                        <a:rPr lang="en-US" dirty="0"/>
                        <a:t>11</a:t>
                      </a:r>
                    </a:p>
                  </a:txBody>
                  <a:tcPr/>
                </a:tc>
                <a:tc>
                  <a:txBody>
                    <a:bodyPr/>
                    <a:lstStyle/>
                    <a:p>
                      <a:pPr algn="ctr"/>
                      <a:r>
                        <a:rPr lang="en-US" dirty="0"/>
                        <a:t>110</a:t>
                      </a:r>
                    </a:p>
                  </a:txBody>
                  <a:tcPr/>
                </a:tc>
                <a:tc>
                  <a:txBody>
                    <a:bodyPr/>
                    <a:lstStyle/>
                    <a:p>
                      <a:pPr algn="ctr"/>
                      <a:r>
                        <a:rPr lang="en-US" dirty="0"/>
                        <a:t>110</a:t>
                      </a:r>
                    </a:p>
                  </a:txBody>
                  <a:tcPr/>
                </a:tc>
                <a:tc>
                  <a:txBody>
                    <a:bodyPr/>
                    <a:lstStyle/>
                    <a:p>
                      <a:pPr algn="ctr"/>
                      <a:r>
                        <a:rPr lang="en-US" dirty="0"/>
                        <a:t>111</a:t>
                      </a:r>
                    </a:p>
                  </a:txBody>
                  <a:tcPr/>
                </a:tc>
                <a:extLst>
                  <a:ext uri="{0D108BD9-81ED-4DB2-BD59-A6C34878D82A}">
                    <a16:rowId xmlns:a16="http://schemas.microsoft.com/office/drawing/2014/main" val="791735971"/>
                  </a:ext>
                </a:extLst>
              </a:tr>
            </a:tbl>
          </a:graphicData>
        </a:graphic>
      </p:graphicFrame>
      <p:sp>
        <p:nvSpPr>
          <p:cNvPr id="4" name="Footer Placeholder 3">
            <a:extLst>
              <a:ext uri="{FF2B5EF4-FFF2-40B4-BE49-F238E27FC236}">
                <a16:creationId xmlns:a16="http://schemas.microsoft.com/office/drawing/2014/main" id="{31662E9F-257B-5F47-EA4D-F93BEE47C625}"/>
              </a:ext>
            </a:extLst>
          </p:cNvPr>
          <p:cNvSpPr>
            <a:spLocks noGrp="1"/>
          </p:cNvSpPr>
          <p:nvPr>
            <p:ph type="ftr" sz="quarter" idx="11"/>
          </p:nvPr>
        </p:nvSpPr>
        <p:spPr/>
        <p:txBody>
          <a:bodyPr/>
          <a:lstStyle/>
          <a:p>
            <a:r>
              <a:rPr lang="en-IN"/>
              <a:t>Dr Saladi Saritha</a:t>
            </a:r>
          </a:p>
        </p:txBody>
      </p:sp>
      <p:sp>
        <p:nvSpPr>
          <p:cNvPr id="5" name="Slide Number Placeholder 4">
            <a:extLst>
              <a:ext uri="{FF2B5EF4-FFF2-40B4-BE49-F238E27FC236}">
                <a16:creationId xmlns:a16="http://schemas.microsoft.com/office/drawing/2014/main" id="{C6E08B58-8E3F-27A7-370C-0E04B22A2BFF}"/>
              </a:ext>
            </a:extLst>
          </p:cNvPr>
          <p:cNvSpPr>
            <a:spLocks noGrp="1"/>
          </p:cNvSpPr>
          <p:nvPr>
            <p:ph type="sldNum" sz="quarter" idx="12"/>
          </p:nvPr>
        </p:nvSpPr>
        <p:spPr/>
        <p:txBody>
          <a:bodyPr/>
          <a:lstStyle/>
          <a:p>
            <a:fld id="{BAEA75B2-F555-4190-9D20-7B0AA5D969FF}" type="slidenum">
              <a:rPr lang="en-IN" smtClean="0"/>
              <a:t>13</a:t>
            </a:fld>
            <a:endParaRPr lang="en-IN"/>
          </a:p>
        </p:txBody>
      </p:sp>
    </p:spTree>
    <p:extLst>
      <p:ext uri="{BB962C8B-B14F-4D97-AF65-F5344CB8AC3E}">
        <p14:creationId xmlns:p14="http://schemas.microsoft.com/office/powerpoint/2010/main" val="2479393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968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Linux Libertine"/>
              </a:rPr>
              <a:t>Examples</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97767" y="1115198"/>
            <a:ext cx="12192000" cy="3170099"/>
          </a:xfrm>
          <a:prstGeom prst="rect">
            <a:avLst/>
          </a:prstGeom>
          <a:noFill/>
        </p:spPr>
        <p:txBody>
          <a:bodyPr wrap="square">
            <a:spAutoFit/>
          </a:bodyPr>
          <a:lstStyle/>
          <a:p>
            <a:r>
              <a:rPr lang="en-US" sz="2000" b="1" i="0" u="sng" dirty="0">
                <a:effectLst/>
                <a:latin typeface="Arial" panose="020B0604020202020204" pitchFamily="34" charset="0"/>
              </a:rPr>
              <a:t>Steps to find </a:t>
            </a:r>
            <a:r>
              <a:rPr lang="en-US" sz="2000" b="1" u="sng" dirty="0">
                <a:latin typeface="Arial" panose="020B0604020202020204" pitchFamily="34" charset="0"/>
              </a:rPr>
              <a:t>uniquely decodable code (</a:t>
            </a:r>
            <a:r>
              <a:rPr lang="en-US" sz="2000" b="1" i="0" u="sng" dirty="0">
                <a:effectLst/>
                <a:latin typeface="Arial" panose="020B0604020202020204" pitchFamily="34" charset="0"/>
              </a:rPr>
              <a:t>UDC):</a:t>
            </a:r>
          </a:p>
          <a:p>
            <a:pPr marL="457200" indent="-457200">
              <a:buAutoNum type="arabicParenR"/>
            </a:pPr>
            <a:r>
              <a:rPr lang="en-US" sz="2000" dirty="0">
                <a:latin typeface="Arial" panose="020B0604020202020204" pitchFamily="34" charset="0"/>
              </a:rPr>
              <a:t>Construct a list of all code words.</a:t>
            </a:r>
          </a:p>
          <a:p>
            <a:pPr marL="457200" indent="-457200">
              <a:buAutoNum type="arabicParenR"/>
            </a:pPr>
            <a:r>
              <a:rPr lang="en-US" sz="2000" i="0" dirty="0">
                <a:effectLst/>
                <a:latin typeface="Arial" panose="020B0604020202020204" pitchFamily="34" charset="0"/>
              </a:rPr>
              <a:t>Check Prefix, if No Prefix-----UDC</a:t>
            </a:r>
          </a:p>
          <a:p>
            <a:pPr marL="457200" indent="-457200">
              <a:buAutoNum type="arabicParenR"/>
            </a:pPr>
            <a:r>
              <a:rPr lang="en-US" sz="2000" dirty="0">
                <a:latin typeface="Arial" panose="020B0604020202020204" pitchFamily="34" charset="0"/>
              </a:rPr>
              <a:t>Prefix Code</a:t>
            </a:r>
          </a:p>
          <a:p>
            <a:pPr lvl="1"/>
            <a:r>
              <a:rPr lang="en-US" sz="2000" dirty="0">
                <a:latin typeface="Arial" panose="020B0604020202020204" pitchFamily="34" charset="0"/>
              </a:rPr>
              <a:t> Add dangling suffix (DS) to list</a:t>
            </a:r>
          </a:p>
          <a:p>
            <a:pPr marL="971550" lvl="1" indent="-514350">
              <a:buAutoNum type="romanLcParenR"/>
            </a:pPr>
            <a:r>
              <a:rPr lang="en-US" sz="2000" dirty="0">
                <a:latin typeface="Arial" panose="020B0604020202020204" pitchFamily="34" charset="0"/>
              </a:rPr>
              <a:t>DS = some code word----Not UDC</a:t>
            </a:r>
          </a:p>
          <a:p>
            <a:pPr lvl="1"/>
            <a:r>
              <a:rPr lang="en-US" sz="2000" dirty="0">
                <a:latin typeface="Arial" panose="020B0604020202020204" pitchFamily="34" charset="0"/>
              </a:rPr>
              <a:t>ii)    DS </a:t>
            </a:r>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rPr>
              <a:t>some code word----UDC</a:t>
            </a:r>
          </a:p>
          <a:p>
            <a:pPr lvl="1"/>
            <a:endParaRPr lang="en-US" sz="2000" b="1" i="0" u="sng" dirty="0">
              <a:effectLst/>
              <a:latin typeface="Arial" panose="020B0604020202020204" pitchFamily="34" charset="0"/>
            </a:endParaRPr>
          </a:p>
          <a:p>
            <a:endParaRPr lang="en-US" sz="2000" b="1" u="sng" dirty="0">
              <a:latin typeface="Arial" panose="020B0604020202020204" pitchFamily="34" charset="0"/>
            </a:endParaRPr>
          </a:p>
          <a:p>
            <a:endParaRPr lang="en-US" sz="2000" u="sng" dirty="0"/>
          </a:p>
        </p:txBody>
      </p:sp>
      <p:graphicFrame>
        <p:nvGraphicFramePr>
          <p:cNvPr id="3" name="Table 4">
            <a:extLst>
              <a:ext uri="{FF2B5EF4-FFF2-40B4-BE49-F238E27FC236}">
                <a16:creationId xmlns:a16="http://schemas.microsoft.com/office/drawing/2014/main" id="{BBAEF837-2470-43EF-9E16-F599E750788B}"/>
              </a:ext>
            </a:extLst>
          </p:cNvPr>
          <p:cNvGraphicFramePr>
            <a:graphicFrameLocks noGrp="1"/>
          </p:cNvGraphicFramePr>
          <p:nvPr>
            <p:extLst>
              <p:ext uri="{D42A27DB-BD31-4B8C-83A1-F6EECF244321}">
                <p14:modId xmlns:p14="http://schemas.microsoft.com/office/powerpoint/2010/main" val="2900732459"/>
              </p:ext>
            </p:extLst>
          </p:nvPr>
        </p:nvGraphicFramePr>
        <p:xfrm>
          <a:off x="2241292" y="3809237"/>
          <a:ext cx="4533690" cy="1828800"/>
        </p:xfrm>
        <a:graphic>
          <a:graphicData uri="http://schemas.openxmlformats.org/drawingml/2006/table">
            <a:tbl>
              <a:tblPr firstRow="1" bandRow="1">
                <a:tableStyleId>{5940675A-B579-460E-94D1-54222C63F5DA}</a:tableStyleId>
              </a:tblPr>
              <a:tblGrid>
                <a:gridCol w="906738">
                  <a:extLst>
                    <a:ext uri="{9D8B030D-6E8A-4147-A177-3AD203B41FA5}">
                      <a16:colId xmlns:a16="http://schemas.microsoft.com/office/drawing/2014/main" val="1299096664"/>
                    </a:ext>
                  </a:extLst>
                </a:gridCol>
                <a:gridCol w="906738">
                  <a:extLst>
                    <a:ext uri="{9D8B030D-6E8A-4147-A177-3AD203B41FA5}">
                      <a16:colId xmlns:a16="http://schemas.microsoft.com/office/drawing/2014/main" val="2630558703"/>
                    </a:ext>
                  </a:extLst>
                </a:gridCol>
                <a:gridCol w="906738">
                  <a:extLst>
                    <a:ext uri="{9D8B030D-6E8A-4147-A177-3AD203B41FA5}">
                      <a16:colId xmlns:a16="http://schemas.microsoft.com/office/drawing/2014/main" val="2205756677"/>
                    </a:ext>
                  </a:extLst>
                </a:gridCol>
                <a:gridCol w="906738">
                  <a:extLst>
                    <a:ext uri="{9D8B030D-6E8A-4147-A177-3AD203B41FA5}">
                      <a16:colId xmlns:a16="http://schemas.microsoft.com/office/drawing/2014/main" val="3505657596"/>
                    </a:ext>
                  </a:extLst>
                </a:gridCol>
                <a:gridCol w="906738">
                  <a:extLst>
                    <a:ext uri="{9D8B030D-6E8A-4147-A177-3AD203B41FA5}">
                      <a16:colId xmlns:a16="http://schemas.microsoft.com/office/drawing/2014/main" val="1785756625"/>
                    </a:ext>
                  </a:extLst>
                </a:gridCol>
              </a:tblGrid>
              <a:tr h="286107">
                <a:tc>
                  <a:txBody>
                    <a:bodyPr/>
                    <a:lstStyle/>
                    <a:p>
                      <a:pPr algn="ctr"/>
                      <a:r>
                        <a:rPr lang="en-US" b="1" dirty="0"/>
                        <a:t>xi</a:t>
                      </a:r>
                    </a:p>
                  </a:txBody>
                  <a:tcPr/>
                </a:tc>
                <a:tc>
                  <a:txBody>
                    <a:bodyPr/>
                    <a:lstStyle/>
                    <a:p>
                      <a:pPr algn="ctr"/>
                      <a:r>
                        <a:rPr lang="en-US" b="1" dirty="0"/>
                        <a:t>Code A</a:t>
                      </a:r>
                    </a:p>
                  </a:txBody>
                  <a:tcPr/>
                </a:tc>
                <a:tc>
                  <a:txBody>
                    <a:bodyPr/>
                    <a:lstStyle/>
                    <a:p>
                      <a:pPr algn="ctr"/>
                      <a:r>
                        <a:rPr lang="en-US" b="1" dirty="0"/>
                        <a:t>Code B</a:t>
                      </a:r>
                    </a:p>
                  </a:txBody>
                  <a:tcPr/>
                </a:tc>
                <a:tc>
                  <a:txBody>
                    <a:bodyPr/>
                    <a:lstStyle/>
                    <a:p>
                      <a:pPr algn="ctr"/>
                      <a:r>
                        <a:rPr lang="en-US" b="1" dirty="0"/>
                        <a:t>Code C</a:t>
                      </a:r>
                    </a:p>
                  </a:txBody>
                  <a:tcPr/>
                </a:tc>
                <a:tc>
                  <a:txBody>
                    <a:bodyPr/>
                    <a:lstStyle/>
                    <a:p>
                      <a:pPr algn="ctr"/>
                      <a:r>
                        <a:rPr lang="en-US" b="1" dirty="0"/>
                        <a:t>Code D</a:t>
                      </a:r>
                    </a:p>
                  </a:txBody>
                  <a:tcPr/>
                </a:tc>
                <a:extLst>
                  <a:ext uri="{0D108BD9-81ED-4DB2-BD59-A6C34878D82A}">
                    <a16:rowId xmlns:a16="http://schemas.microsoft.com/office/drawing/2014/main" val="237690354"/>
                  </a:ext>
                </a:extLst>
              </a:tr>
              <a:tr h="286107">
                <a:tc>
                  <a:txBody>
                    <a:bodyPr/>
                    <a:lstStyle/>
                    <a:p>
                      <a:pPr algn="ctr"/>
                      <a:r>
                        <a:rPr lang="en-US" b="1" dirty="0"/>
                        <a:t>x1</a:t>
                      </a:r>
                    </a:p>
                  </a:txBody>
                  <a:tcPr/>
                </a:tc>
                <a:tc>
                  <a:txBody>
                    <a:bodyPr/>
                    <a:lstStyle/>
                    <a:p>
                      <a:pPr algn="ctr"/>
                      <a:r>
                        <a:rPr lang="en-US" dirty="0"/>
                        <a:t>00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763171233"/>
                  </a:ext>
                </a:extLst>
              </a:tr>
              <a:tr h="286107">
                <a:tc>
                  <a:txBody>
                    <a:bodyPr/>
                    <a:lstStyle/>
                    <a:p>
                      <a:pPr algn="ctr"/>
                      <a:r>
                        <a:rPr lang="en-US" b="1" dirty="0"/>
                        <a:t>x2</a:t>
                      </a:r>
                    </a:p>
                  </a:txBody>
                  <a:tcPr/>
                </a:tc>
                <a:tc>
                  <a:txBody>
                    <a:bodyPr/>
                    <a:lstStyle/>
                    <a:p>
                      <a:pPr algn="ctr"/>
                      <a:r>
                        <a:rPr lang="en-US" dirty="0"/>
                        <a:t>01</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100</a:t>
                      </a:r>
                    </a:p>
                  </a:txBody>
                  <a:tcPr/>
                </a:tc>
                <a:extLst>
                  <a:ext uri="{0D108BD9-81ED-4DB2-BD59-A6C34878D82A}">
                    <a16:rowId xmlns:a16="http://schemas.microsoft.com/office/drawing/2014/main" val="4034311425"/>
                  </a:ext>
                </a:extLst>
              </a:tr>
              <a:tr h="286107">
                <a:tc>
                  <a:txBody>
                    <a:bodyPr/>
                    <a:lstStyle/>
                    <a:p>
                      <a:pPr algn="ctr"/>
                      <a:r>
                        <a:rPr lang="en-US" b="1" dirty="0"/>
                        <a:t>x3</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100</a:t>
                      </a:r>
                    </a:p>
                  </a:txBody>
                  <a:tcPr/>
                </a:tc>
                <a:tc>
                  <a:txBody>
                    <a:bodyPr/>
                    <a:lstStyle/>
                    <a:p>
                      <a:pPr algn="ctr"/>
                      <a:r>
                        <a:rPr lang="en-US" dirty="0"/>
                        <a:t>110</a:t>
                      </a:r>
                    </a:p>
                  </a:txBody>
                  <a:tcPr/>
                </a:tc>
                <a:extLst>
                  <a:ext uri="{0D108BD9-81ED-4DB2-BD59-A6C34878D82A}">
                    <a16:rowId xmlns:a16="http://schemas.microsoft.com/office/drawing/2014/main" val="196539125"/>
                  </a:ext>
                </a:extLst>
              </a:tr>
              <a:tr h="0">
                <a:tc>
                  <a:txBody>
                    <a:bodyPr/>
                    <a:lstStyle/>
                    <a:p>
                      <a:pPr algn="ctr"/>
                      <a:r>
                        <a:rPr lang="en-US" b="1" dirty="0"/>
                        <a:t>x4</a:t>
                      </a:r>
                    </a:p>
                  </a:txBody>
                  <a:tcPr/>
                </a:tc>
                <a:tc>
                  <a:txBody>
                    <a:bodyPr/>
                    <a:lstStyle/>
                    <a:p>
                      <a:pPr algn="ctr"/>
                      <a:r>
                        <a:rPr lang="en-US" dirty="0"/>
                        <a:t>11</a:t>
                      </a:r>
                    </a:p>
                  </a:txBody>
                  <a:tcPr/>
                </a:tc>
                <a:tc>
                  <a:txBody>
                    <a:bodyPr/>
                    <a:lstStyle/>
                    <a:p>
                      <a:pPr algn="ctr"/>
                      <a:r>
                        <a:rPr lang="en-US" dirty="0"/>
                        <a:t>110</a:t>
                      </a:r>
                    </a:p>
                  </a:txBody>
                  <a:tcPr/>
                </a:tc>
                <a:tc>
                  <a:txBody>
                    <a:bodyPr/>
                    <a:lstStyle/>
                    <a:p>
                      <a:pPr algn="ctr"/>
                      <a:r>
                        <a:rPr lang="en-US" dirty="0"/>
                        <a:t>110</a:t>
                      </a:r>
                    </a:p>
                  </a:txBody>
                  <a:tcPr/>
                </a:tc>
                <a:tc>
                  <a:txBody>
                    <a:bodyPr/>
                    <a:lstStyle/>
                    <a:p>
                      <a:pPr algn="ctr"/>
                      <a:r>
                        <a:rPr lang="en-US" dirty="0"/>
                        <a:t>111</a:t>
                      </a:r>
                    </a:p>
                  </a:txBody>
                  <a:tcPr/>
                </a:tc>
                <a:extLst>
                  <a:ext uri="{0D108BD9-81ED-4DB2-BD59-A6C34878D82A}">
                    <a16:rowId xmlns:a16="http://schemas.microsoft.com/office/drawing/2014/main" val="791735971"/>
                  </a:ext>
                </a:extLst>
              </a:tr>
            </a:tbl>
          </a:graphicData>
        </a:graphic>
      </p:graphicFrame>
      <p:sp>
        <p:nvSpPr>
          <p:cNvPr id="4" name="Footer Placeholder 3">
            <a:extLst>
              <a:ext uri="{FF2B5EF4-FFF2-40B4-BE49-F238E27FC236}">
                <a16:creationId xmlns:a16="http://schemas.microsoft.com/office/drawing/2014/main" id="{C1BED7F9-2D87-0BCD-2E0B-93FDCA32DF96}"/>
              </a:ext>
            </a:extLst>
          </p:cNvPr>
          <p:cNvSpPr>
            <a:spLocks noGrp="1"/>
          </p:cNvSpPr>
          <p:nvPr>
            <p:ph type="ftr" sz="quarter" idx="11"/>
          </p:nvPr>
        </p:nvSpPr>
        <p:spPr/>
        <p:txBody>
          <a:bodyPr/>
          <a:lstStyle/>
          <a:p>
            <a:r>
              <a:rPr lang="en-IN"/>
              <a:t>Dr Saladi Saritha</a:t>
            </a:r>
          </a:p>
        </p:txBody>
      </p:sp>
      <p:sp>
        <p:nvSpPr>
          <p:cNvPr id="5" name="Slide Number Placeholder 4">
            <a:extLst>
              <a:ext uri="{FF2B5EF4-FFF2-40B4-BE49-F238E27FC236}">
                <a16:creationId xmlns:a16="http://schemas.microsoft.com/office/drawing/2014/main" id="{0B979801-F973-B5FA-9FBE-CB553D3B7F77}"/>
              </a:ext>
            </a:extLst>
          </p:cNvPr>
          <p:cNvSpPr>
            <a:spLocks noGrp="1"/>
          </p:cNvSpPr>
          <p:nvPr>
            <p:ph type="sldNum" sz="quarter" idx="12"/>
          </p:nvPr>
        </p:nvSpPr>
        <p:spPr/>
        <p:txBody>
          <a:bodyPr/>
          <a:lstStyle/>
          <a:p>
            <a:fld id="{BAEA75B2-F555-4190-9D20-7B0AA5D969FF}" type="slidenum">
              <a:rPr lang="en-IN" smtClean="0"/>
              <a:t>14</a:t>
            </a:fld>
            <a:endParaRPr lang="en-IN"/>
          </a:p>
        </p:txBody>
      </p:sp>
    </p:spTree>
    <p:extLst>
      <p:ext uri="{BB962C8B-B14F-4D97-AF65-F5344CB8AC3E}">
        <p14:creationId xmlns:p14="http://schemas.microsoft.com/office/powerpoint/2010/main" val="1176851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44678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Shannon Fano coding</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97767" y="1115198"/>
            <a:ext cx="11924344" cy="2554545"/>
          </a:xfrm>
          <a:prstGeom prst="rect">
            <a:avLst/>
          </a:prstGeom>
          <a:noFill/>
        </p:spPr>
        <p:txBody>
          <a:bodyPr wrap="square">
            <a:spAutoFit/>
          </a:bodyPr>
          <a:lstStyle/>
          <a:p>
            <a:pPr lvl="1"/>
            <a:r>
              <a:rPr lang="en-US" sz="2000" i="0" dirty="0">
                <a:effectLst/>
                <a:latin typeface="Arial" panose="020B0604020202020204" pitchFamily="34" charset="0"/>
              </a:rPr>
              <a:t>It is a variable length, source coding technique.</a:t>
            </a:r>
          </a:p>
          <a:p>
            <a:pPr lvl="1"/>
            <a:r>
              <a:rPr lang="en-US" sz="2000" dirty="0">
                <a:latin typeface="Arial" panose="020B0604020202020204" pitchFamily="34" charset="0"/>
              </a:rPr>
              <a:t>Designing a variable length code such that its average codeword length approaches the entropy of DMS is also called Entropy Coding: Ex:  Shannon-Fano Coding, Huffman Coding.</a:t>
            </a:r>
          </a:p>
          <a:p>
            <a:pPr lvl="1"/>
            <a:r>
              <a:rPr lang="en-US" sz="2000" b="1" u="sng" dirty="0">
                <a:latin typeface="Arial" panose="020B0604020202020204" pitchFamily="34" charset="0"/>
              </a:rPr>
              <a:t>Steps of Shannon-Fano coding</a:t>
            </a:r>
          </a:p>
          <a:p>
            <a:pPr lvl="1"/>
            <a:r>
              <a:rPr lang="en-US" sz="2000" dirty="0">
                <a:latin typeface="Arial" panose="020B0604020202020204" pitchFamily="34" charset="0"/>
              </a:rPr>
              <a:t>Step1: List the source symbols in order of decreasing/ non-increasing probabilities.</a:t>
            </a:r>
          </a:p>
          <a:p>
            <a:pPr lvl="1"/>
            <a:r>
              <a:rPr lang="en-US" sz="2000" dirty="0">
                <a:latin typeface="Arial" panose="020B0604020202020204" pitchFamily="34" charset="0"/>
              </a:rPr>
              <a:t>Step2: Partition the set into two sets that are as close to equiprobable as possible, assign 0 to upper set and 1 to lower set.</a:t>
            </a:r>
          </a:p>
          <a:p>
            <a:pPr lvl="1"/>
            <a:r>
              <a:rPr lang="en-US" sz="2000" dirty="0">
                <a:latin typeface="Arial" panose="020B0604020202020204" pitchFamily="34" charset="0"/>
              </a:rPr>
              <a:t>Step3: Continue step2 until further partition is not possible</a:t>
            </a:r>
          </a:p>
        </p:txBody>
      </p:sp>
      <p:sp>
        <p:nvSpPr>
          <p:cNvPr id="3" name="Footer Placeholder 2">
            <a:extLst>
              <a:ext uri="{FF2B5EF4-FFF2-40B4-BE49-F238E27FC236}">
                <a16:creationId xmlns:a16="http://schemas.microsoft.com/office/drawing/2014/main" id="{FCD02495-54E1-EE26-5270-05CBD9A9A1AA}"/>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86C1EF70-3351-947B-BFA6-38F711D1926D}"/>
              </a:ext>
            </a:extLst>
          </p:cNvPr>
          <p:cNvSpPr>
            <a:spLocks noGrp="1"/>
          </p:cNvSpPr>
          <p:nvPr>
            <p:ph type="sldNum" sz="quarter" idx="12"/>
          </p:nvPr>
        </p:nvSpPr>
        <p:spPr/>
        <p:txBody>
          <a:bodyPr/>
          <a:lstStyle/>
          <a:p>
            <a:fld id="{BAEA75B2-F555-4190-9D20-7B0AA5D969FF}" type="slidenum">
              <a:rPr lang="en-IN" smtClean="0"/>
              <a:t>15</a:t>
            </a:fld>
            <a:endParaRPr lang="en-IN"/>
          </a:p>
        </p:txBody>
      </p:sp>
    </p:spTree>
    <p:extLst>
      <p:ext uri="{BB962C8B-B14F-4D97-AF65-F5344CB8AC3E}">
        <p14:creationId xmlns:p14="http://schemas.microsoft.com/office/powerpoint/2010/main" val="1227094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63273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Shannon Fano coding 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0" y="1053642"/>
            <a:ext cx="6580682" cy="923330"/>
          </a:xfrm>
          <a:prstGeom prst="rect">
            <a:avLst/>
          </a:prstGeom>
          <a:noFill/>
        </p:spPr>
        <p:txBody>
          <a:bodyPr wrap="square">
            <a:spAutoFit/>
          </a:bodyPr>
          <a:lstStyle/>
          <a:p>
            <a:pPr marL="60325" lvl="1"/>
            <a:r>
              <a:rPr lang="en-US" b="1" i="0" dirty="0">
                <a:effectLst/>
                <a:latin typeface="Arial" panose="020B0604020202020204" pitchFamily="34" charset="0"/>
              </a:rPr>
              <a:t>Q: A DMS has four symbols x1, x2,  x3, x4 with p(x1)=1/2, p(x2)=1/4,  p(x3)=p(x4)=1/8.  Construct a </a:t>
            </a:r>
            <a:r>
              <a:rPr lang="en-US" b="1" dirty="0">
                <a:latin typeface="Arial" panose="020B0604020202020204" pitchFamily="34" charset="0"/>
              </a:rPr>
              <a:t>S</a:t>
            </a:r>
            <a:r>
              <a:rPr lang="en-US" b="1" i="0" dirty="0">
                <a:effectLst/>
                <a:latin typeface="Arial" panose="020B0604020202020204" pitchFamily="34" charset="0"/>
              </a:rPr>
              <a:t>hannon </a:t>
            </a:r>
            <a:r>
              <a:rPr lang="en-US" b="1" dirty="0">
                <a:latin typeface="Arial" panose="020B0604020202020204" pitchFamily="34" charset="0"/>
              </a:rPr>
              <a:t>Fano code and show that its coding efficiency is 100 %.</a:t>
            </a:r>
          </a:p>
        </p:txBody>
      </p:sp>
      <p:sp>
        <p:nvSpPr>
          <p:cNvPr id="8" name="TextBox 7">
            <a:extLst>
              <a:ext uri="{FF2B5EF4-FFF2-40B4-BE49-F238E27FC236}">
                <a16:creationId xmlns:a16="http://schemas.microsoft.com/office/drawing/2014/main" id="{D423732C-425B-4A59-A07C-C8C359EB3487}"/>
              </a:ext>
            </a:extLst>
          </p:cNvPr>
          <p:cNvSpPr txBox="1"/>
          <p:nvPr/>
        </p:nvSpPr>
        <p:spPr>
          <a:xfrm>
            <a:off x="1706381" y="2820922"/>
            <a:ext cx="4874301" cy="1107996"/>
          </a:xfrm>
          <a:prstGeom prst="rect">
            <a:avLst/>
          </a:prstGeom>
          <a:noFill/>
        </p:spPr>
        <p:txBody>
          <a:bodyPr wrap="square">
            <a:spAutoFit/>
          </a:bodyPr>
          <a:lstStyle/>
          <a:p>
            <a:pPr marL="120650" lvl="1"/>
            <a:r>
              <a:rPr lang="en-US" sz="1100" b="1" u="sng" dirty="0">
                <a:latin typeface="Arial" panose="020B0604020202020204" pitchFamily="34" charset="0"/>
              </a:rPr>
              <a:t>Steps of Shannon-Fano coding</a:t>
            </a:r>
          </a:p>
          <a:p>
            <a:pPr marL="120650" lvl="1"/>
            <a:r>
              <a:rPr lang="en-US" sz="1100" dirty="0">
                <a:solidFill>
                  <a:srgbClr val="FF0000"/>
                </a:solidFill>
                <a:latin typeface="Arial" panose="020B0604020202020204" pitchFamily="34" charset="0"/>
              </a:rPr>
              <a:t>Step1: </a:t>
            </a:r>
            <a:r>
              <a:rPr lang="en-US" sz="1100" dirty="0">
                <a:latin typeface="Arial" panose="020B0604020202020204" pitchFamily="34" charset="0"/>
              </a:rPr>
              <a:t>List the source symbols in order of decreasing/ non-increasing probabilities.</a:t>
            </a:r>
          </a:p>
          <a:p>
            <a:pPr marL="120650" lvl="1"/>
            <a:r>
              <a:rPr lang="en-US" sz="1100" dirty="0">
                <a:solidFill>
                  <a:srgbClr val="FF0000"/>
                </a:solidFill>
                <a:latin typeface="Arial" panose="020B0604020202020204" pitchFamily="34" charset="0"/>
              </a:rPr>
              <a:t>Step2: </a:t>
            </a:r>
            <a:r>
              <a:rPr lang="en-US" sz="1100" dirty="0">
                <a:latin typeface="Arial" panose="020B0604020202020204" pitchFamily="34" charset="0"/>
              </a:rPr>
              <a:t>Partition the set into two sets that are as close to equiprobable as possible, assign 0 to upper set and 1 to lower set.</a:t>
            </a:r>
          </a:p>
          <a:p>
            <a:pPr marL="120650" lvl="1"/>
            <a:r>
              <a:rPr lang="en-US" sz="1100" dirty="0">
                <a:solidFill>
                  <a:srgbClr val="FF0000"/>
                </a:solidFill>
                <a:latin typeface="Arial" panose="020B0604020202020204" pitchFamily="34" charset="0"/>
              </a:rPr>
              <a:t>Step3: </a:t>
            </a:r>
            <a:r>
              <a:rPr lang="en-US" sz="1100" dirty="0">
                <a:latin typeface="Arial" panose="020B0604020202020204" pitchFamily="34" charset="0"/>
              </a:rPr>
              <a:t>Continue step2 until further partition is not possible</a:t>
            </a:r>
          </a:p>
        </p:txBody>
      </p:sp>
      <p:sp>
        <p:nvSpPr>
          <p:cNvPr id="3" name="Footer Placeholder 2">
            <a:extLst>
              <a:ext uri="{FF2B5EF4-FFF2-40B4-BE49-F238E27FC236}">
                <a16:creationId xmlns:a16="http://schemas.microsoft.com/office/drawing/2014/main" id="{4A3480E0-B398-AD1F-263C-77E8E57DB6A7}"/>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6EE0A61A-F3D7-1F7E-94F2-11F985E04008}"/>
              </a:ext>
            </a:extLst>
          </p:cNvPr>
          <p:cNvSpPr>
            <a:spLocks noGrp="1"/>
          </p:cNvSpPr>
          <p:nvPr>
            <p:ph type="sldNum" sz="quarter" idx="12"/>
          </p:nvPr>
        </p:nvSpPr>
        <p:spPr/>
        <p:txBody>
          <a:bodyPr/>
          <a:lstStyle/>
          <a:p>
            <a:fld id="{BAEA75B2-F555-4190-9D20-7B0AA5D969FF}" type="slidenum">
              <a:rPr lang="en-IN" smtClean="0"/>
              <a:t>16</a:t>
            </a:fld>
            <a:endParaRPr lang="en-IN"/>
          </a:p>
        </p:txBody>
      </p:sp>
    </p:spTree>
    <p:extLst>
      <p:ext uri="{BB962C8B-B14F-4D97-AF65-F5344CB8AC3E}">
        <p14:creationId xmlns:p14="http://schemas.microsoft.com/office/powerpoint/2010/main" val="2057864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63273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Shannon Fano coding 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0" y="1053642"/>
            <a:ext cx="6580682" cy="1200329"/>
          </a:xfrm>
          <a:prstGeom prst="rect">
            <a:avLst/>
          </a:prstGeom>
          <a:noFill/>
        </p:spPr>
        <p:txBody>
          <a:bodyPr wrap="square">
            <a:spAutoFit/>
          </a:bodyPr>
          <a:lstStyle/>
          <a:p>
            <a:pPr marL="60325" lvl="1"/>
            <a:r>
              <a:rPr lang="en-US" b="1" i="0" dirty="0">
                <a:effectLst/>
                <a:latin typeface="Arial" panose="020B0604020202020204" pitchFamily="34" charset="0"/>
              </a:rPr>
              <a:t>Q: A DMS has 8 symbols x1, x2,  x3, x4, x5, x6,x7, x8 has probability ¼, ¼, 1/8, 1/8, 1/16, 1/16, 1/16, 1/16, respectively.  Construct a </a:t>
            </a:r>
            <a:r>
              <a:rPr lang="en-US" b="1" dirty="0">
                <a:latin typeface="Arial" panose="020B0604020202020204" pitchFamily="34" charset="0"/>
              </a:rPr>
              <a:t>S</a:t>
            </a:r>
            <a:r>
              <a:rPr lang="en-US" b="1" i="0" dirty="0">
                <a:effectLst/>
                <a:latin typeface="Arial" panose="020B0604020202020204" pitchFamily="34" charset="0"/>
              </a:rPr>
              <a:t>hannon </a:t>
            </a:r>
            <a:r>
              <a:rPr lang="en-US" b="1" dirty="0">
                <a:latin typeface="Arial" panose="020B0604020202020204" pitchFamily="34" charset="0"/>
              </a:rPr>
              <a:t>Fano code and find efficiency and redundancy.</a:t>
            </a:r>
          </a:p>
        </p:txBody>
      </p:sp>
      <p:sp>
        <p:nvSpPr>
          <p:cNvPr id="8" name="TextBox 7">
            <a:extLst>
              <a:ext uri="{FF2B5EF4-FFF2-40B4-BE49-F238E27FC236}">
                <a16:creationId xmlns:a16="http://schemas.microsoft.com/office/drawing/2014/main" id="{D423732C-425B-4A59-A07C-C8C359EB3487}"/>
              </a:ext>
            </a:extLst>
          </p:cNvPr>
          <p:cNvSpPr txBox="1"/>
          <p:nvPr/>
        </p:nvSpPr>
        <p:spPr>
          <a:xfrm>
            <a:off x="1706381" y="2738855"/>
            <a:ext cx="4874301" cy="1107996"/>
          </a:xfrm>
          <a:prstGeom prst="rect">
            <a:avLst/>
          </a:prstGeom>
          <a:noFill/>
        </p:spPr>
        <p:txBody>
          <a:bodyPr wrap="square">
            <a:spAutoFit/>
          </a:bodyPr>
          <a:lstStyle/>
          <a:p>
            <a:pPr marL="120650" lvl="1"/>
            <a:r>
              <a:rPr lang="en-US" sz="1100" b="1" u="sng" dirty="0">
                <a:latin typeface="Arial" panose="020B0604020202020204" pitchFamily="34" charset="0"/>
              </a:rPr>
              <a:t>Steps of Shannon-Fano coding</a:t>
            </a:r>
          </a:p>
          <a:p>
            <a:pPr marL="120650" lvl="1"/>
            <a:r>
              <a:rPr lang="en-US" sz="1100" dirty="0">
                <a:solidFill>
                  <a:srgbClr val="FF0000"/>
                </a:solidFill>
                <a:latin typeface="Arial" panose="020B0604020202020204" pitchFamily="34" charset="0"/>
              </a:rPr>
              <a:t>Step1: </a:t>
            </a:r>
            <a:r>
              <a:rPr lang="en-US" sz="1100" dirty="0">
                <a:latin typeface="Arial" panose="020B0604020202020204" pitchFamily="34" charset="0"/>
              </a:rPr>
              <a:t>List the source symbols in order of decreasing/ non-increasing probabilities.</a:t>
            </a:r>
          </a:p>
          <a:p>
            <a:pPr marL="120650" lvl="1"/>
            <a:r>
              <a:rPr lang="en-US" sz="1100" dirty="0">
                <a:solidFill>
                  <a:srgbClr val="FF0000"/>
                </a:solidFill>
                <a:latin typeface="Arial" panose="020B0604020202020204" pitchFamily="34" charset="0"/>
              </a:rPr>
              <a:t>Step2: </a:t>
            </a:r>
            <a:r>
              <a:rPr lang="en-US" sz="1100" dirty="0">
                <a:latin typeface="Arial" panose="020B0604020202020204" pitchFamily="34" charset="0"/>
              </a:rPr>
              <a:t>Partition the set into two sets that are as close to equiprobable as possible, assign 0 to upper set and 1 to lower set.</a:t>
            </a:r>
          </a:p>
          <a:p>
            <a:pPr marL="120650" lvl="1"/>
            <a:r>
              <a:rPr lang="en-US" sz="1100" dirty="0">
                <a:solidFill>
                  <a:srgbClr val="FF0000"/>
                </a:solidFill>
                <a:latin typeface="Arial" panose="020B0604020202020204" pitchFamily="34" charset="0"/>
              </a:rPr>
              <a:t>Step3: </a:t>
            </a:r>
            <a:r>
              <a:rPr lang="en-US" sz="1100" dirty="0">
                <a:latin typeface="Arial" panose="020B0604020202020204" pitchFamily="34" charset="0"/>
              </a:rPr>
              <a:t>Continue step2 until further partition is not possible</a:t>
            </a:r>
          </a:p>
        </p:txBody>
      </p:sp>
      <p:sp>
        <p:nvSpPr>
          <p:cNvPr id="3" name="Footer Placeholder 2">
            <a:extLst>
              <a:ext uri="{FF2B5EF4-FFF2-40B4-BE49-F238E27FC236}">
                <a16:creationId xmlns:a16="http://schemas.microsoft.com/office/drawing/2014/main" id="{8BC33275-45D7-1E62-4013-A316AB2A6A77}"/>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0BFF2CDA-1077-1F55-9A93-24E13CA1A59C}"/>
              </a:ext>
            </a:extLst>
          </p:cNvPr>
          <p:cNvSpPr>
            <a:spLocks noGrp="1"/>
          </p:cNvSpPr>
          <p:nvPr>
            <p:ph type="sldNum" sz="quarter" idx="12"/>
          </p:nvPr>
        </p:nvSpPr>
        <p:spPr/>
        <p:txBody>
          <a:bodyPr/>
          <a:lstStyle/>
          <a:p>
            <a:fld id="{BAEA75B2-F555-4190-9D20-7B0AA5D969FF}" type="slidenum">
              <a:rPr lang="en-IN" smtClean="0"/>
              <a:t>17</a:t>
            </a:fld>
            <a:endParaRPr lang="en-IN"/>
          </a:p>
        </p:txBody>
      </p:sp>
    </p:spTree>
    <p:extLst>
      <p:ext uri="{BB962C8B-B14F-4D97-AF65-F5344CB8AC3E}">
        <p14:creationId xmlns:p14="http://schemas.microsoft.com/office/powerpoint/2010/main" val="2854287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63273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Shannon Fano coding 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0D9CDDE9-93E7-48ED-B9A1-588467C360D2}"/>
              </a:ext>
            </a:extLst>
          </p:cNvPr>
          <p:cNvSpPr txBox="1"/>
          <p:nvPr/>
        </p:nvSpPr>
        <p:spPr>
          <a:xfrm>
            <a:off x="0" y="1053642"/>
            <a:ext cx="6580682" cy="923330"/>
          </a:xfrm>
          <a:prstGeom prst="rect">
            <a:avLst/>
          </a:prstGeom>
          <a:noFill/>
        </p:spPr>
        <p:txBody>
          <a:bodyPr wrap="square">
            <a:spAutoFit/>
          </a:bodyPr>
          <a:lstStyle/>
          <a:p>
            <a:pPr marL="60325" lvl="1"/>
            <a:r>
              <a:rPr lang="en-US" b="1" i="0" dirty="0">
                <a:effectLst/>
                <a:latin typeface="Arial" panose="020B0604020202020204" pitchFamily="34" charset="0"/>
              </a:rPr>
              <a:t>Q: A DMS has five equally likely symbols </a:t>
            </a:r>
          </a:p>
          <a:p>
            <a:pPr marL="460375" lvl="1" indent="-400050">
              <a:buAutoNum type="romanLcParenR"/>
            </a:pPr>
            <a:r>
              <a:rPr lang="en-US" b="1" dirty="0">
                <a:latin typeface="Arial" panose="020B0604020202020204" pitchFamily="34" charset="0"/>
              </a:rPr>
              <a:t>Contract a S-F  Code and calculate efficiency.</a:t>
            </a:r>
          </a:p>
          <a:p>
            <a:pPr marL="460375" lvl="1" indent="-400050">
              <a:buAutoNum type="romanLcParenR"/>
            </a:pPr>
            <a:r>
              <a:rPr lang="en-US" b="1" dirty="0">
                <a:latin typeface="Arial" panose="020B0604020202020204" pitchFamily="34" charset="0"/>
              </a:rPr>
              <a:t>Contract another S-F code and compare the results.</a:t>
            </a:r>
          </a:p>
        </p:txBody>
      </p:sp>
      <p:sp>
        <p:nvSpPr>
          <p:cNvPr id="8" name="TextBox 7">
            <a:extLst>
              <a:ext uri="{FF2B5EF4-FFF2-40B4-BE49-F238E27FC236}">
                <a16:creationId xmlns:a16="http://schemas.microsoft.com/office/drawing/2014/main" id="{D423732C-425B-4A59-A07C-C8C359EB3487}"/>
              </a:ext>
            </a:extLst>
          </p:cNvPr>
          <p:cNvSpPr txBox="1"/>
          <p:nvPr/>
        </p:nvSpPr>
        <p:spPr>
          <a:xfrm>
            <a:off x="1345246" y="2875002"/>
            <a:ext cx="4874301" cy="1107996"/>
          </a:xfrm>
          <a:prstGeom prst="rect">
            <a:avLst/>
          </a:prstGeom>
          <a:noFill/>
        </p:spPr>
        <p:txBody>
          <a:bodyPr wrap="square">
            <a:spAutoFit/>
          </a:bodyPr>
          <a:lstStyle/>
          <a:p>
            <a:pPr marL="120650" lvl="1"/>
            <a:r>
              <a:rPr lang="en-US" sz="1100" b="1" u="sng" dirty="0">
                <a:latin typeface="Arial" panose="020B0604020202020204" pitchFamily="34" charset="0"/>
              </a:rPr>
              <a:t>Steps of Shannon-Fano coding</a:t>
            </a:r>
          </a:p>
          <a:p>
            <a:pPr marL="120650" lvl="1"/>
            <a:r>
              <a:rPr lang="en-US" sz="1100" dirty="0">
                <a:solidFill>
                  <a:srgbClr val="FF0000"/>
                </a:solidFill>
                <a:latin typeface="Arial" panose="020B0604020202020204" pitchFamily="34" charset="0"/>
              </a:rPr>
              <a:t>Step1: </a:t>
            </a:r>
            <a:r>
              <a:rPr lang="en-US" sz="1100" dirty="0">
                <a:latin typeface="Arial" panose="020B0604020202020204" pitchFamily="34" charset="0"/>
              </a:rPr>
              <a:t>List the source symbols in order of decreasing/ non-increasing probabilities.</a:t>
            </a:r>
          </a:p>
          <a:p>
            <a:pPr marL="120650" lvl="1"/>
            <a:r>
              <a:rPr lang="en-US" sz="1100" dirty="0">
                <a:solidFill>
                  <a:srgbClr val="FF0000"/>
                </a:solidFill>
                <a:latin typeface="Arial" panose="020B0604020202020204" pitchFamily="34" charset="0"/>
              </a:rPr>
              <a:t>Step2: </a:t>
            </a:r>
            <a:r>
              <a:rPr lang="en-US" sz="1100" dirty="0">
                <a:latin typeface="Arial" panose="020B0604020202020204" pitchFamily="34" charset="0"/>
              </a:rPr>
              <a:t>Partition the set into two sets that are as close to equiprobable as possible, assign 0 to upper set and 1 to lower set.</a:t>
            </a:r>
          </a:p>
          <a:p>
            <a:pPr marL="120650" lvl="1"/>
            <a:r>
              <a:rPr lang="en-US" sz="1100" dirty="0">
                <a:solidFill>
                  <a:srgbClr val="FF0000"/>
                </a:solidFill>
                <a:latin typeface="Arial" panose="020B0604020202020204" pitchFamily="34" charset="0"/>
              </a:rPr>
              <a:t>Step3: </a:t>
            </a:r>
            <a:r>
              <a:rPr lang="en-US" sz="1100" dirty="0">
                <a:latin typeface="Arial" panose="020B0604020202020204" pitchFamily="34" charset="0"/>
              </a:rPr>
              <a:t>Continue step2 until further partition is not possible</a:t>
            </a:r>
          </a:p>
        </p:txBody>
      </p:sp>
      <p:sp>
        <p:nvSpPr>
          <p:cNvPr id="3" name="Footer Placeholder 2">
            <a:extLst>
              <a:ext uri="{FF2B5EF4-FFF2-40B4-BE49-F238E27FC236}">
                <a16:creationId xmlns:a16="http://schemas.microsoft.com/office/drawing/2014/main" id="{A49B9539-D64C-2BC8-FEAA-E0809F3B3919}"/>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E807AB3D-8268-F04F-133A-89CFFA20DE07}"/>
              </a:ext>
            </a:extLst>
          </p:cNvPr>
          <p:cNvSpPr>
            <a:spLocks noGrp="1"/>
          </p:cNvSpPr>
          <p:nvPr>
            <p:ph type="sldNum" sz="quarter" idx="12"/>
          </p:nvPr>
        </p:nvSpPr>
        <p:spPr/>
        <p:txBody>
          <a:bodyPr/>
          <a:lstStyle/>
          <a:p>
            <a:fld id="{BAEA75B2-F555-4190-9D20-7B0AA5D969FF}" type="slidenum">
              <a:rPr lang="en-IN" smtClean="0"/>
              <a:t>18</a:t>
            </a:fld>
            <a:endParaRPr lang="en-IN"/>
          </a:p>
        </p:txBody>
      </p:sp>
    </p:spTree>
    <p:extLst>
      <p:ext uri="{BB962C8B-B14F-4D97-AF65-F5344CB8AC3E}">
        <p14:creationId xmlns:p14="http://schemas.microsoft.com/office/powerpoint/2010/main" val="3093174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5579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Shannon Fano Elias coding</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 name="Picture 2">
            <a:extLst>
              <a:ext uri="{FF2B5EF4-FFF2-40B4-BE49-F238E27FC236}">
                <a16:creationId xmlns:a16="http://schemas.microsoft.com/office/drawing/2014/main" id="{08813233-2C0F-4B11-8243-BA3B88CA3957}"/>
              </a:ext>
            </a:extLst>
          </p:cNvPr>
          <p:cNvPicPr>
            <a:picLocks noChangeAspect="1"/>
          </p:cNvPicPr>
          <p:nvPr/>
        </p:nvPicPr>
        <p:blipFill>
          <a:blip r:embed="rId3"/>
          <a:stretch>
            <a:fillRect/>
          </a:stretch>
        </p:blipFill>
        <p:spPr>
          <a:xfrm>
            <a:off x="2876733" y="3600319"/>
            <a:ext cx="8400747" cy="2490606"/>
          </a:xfrm>
          <a:prstGeom prst="rect">
            <a:avLst/>
          </a:prstGeom>
        </p:spPr>
      </p:pic>
      <p:pic>
        <p:nvPicPr>
          <p:cNvPr id="4" name="Picture 3">
            <a:extLst>
              <a:ext uri="{FF2B5EF4-FFF2-40B4-BE49-F238E27FC236}">
                <a16:creationId xmlns:a16="http://schemas.microsoft.com/office/drawing/2014/main" id="{F302F35F-AF54-4CE9-99BE-0062068DEC8C}"/>
              </a:ext>
            </a:extLst>
          </p:cNvPr>
          <p:cNvPicPr>
            <a:picLocks noChangeAspect="1"/>
          </p:cNvPicPr>
          <p:nvPr/>
        </p:nvPicPr>
        <p:blipFill>
          <a:blip r:embed="rId4"/>
          <a:stretch>
            <a:fillRect/>
          </a:stretch>
        </p:blipFill>
        <p:spPr>
          <a:xfrm>
            <a:off x="269335" y="1195688"/>
            <a:ext cx="2607398" cy="389299"/>
          </a:xfrm>
          <a:prstGeom prst="rect">
            <a:avLst/>
          </a:prstGeom>
        </p:spPr>
      </p:pic>
      <p:pic>
        <p:nvPicPr>
          <p:cNvPr id="5" name="Picture 4">
            <a:extLst>
              <a:ext uri="{FF2B5EF4-FFF2-40B4-BE49-F238E27FC236}">
                <a16:creationId xmlns:a16="http://schemas.microsoft.com/office/drawing/2014/main" id="{40FBB11E-7D27-4B5F-A604-8D0CE4D0E40A}"/>
              </a:ext>
            </a:extLst>
          </p:cNvPr>
          <p:cNvPicPr>
            <a:picLocks noChangeAspect="1"/>
          </p:cNvPicPr>
          <p:nvPr/>
        </p:nvPicPr>
        <p:blipFill>
          <a:blip r:embed="rId5"/>
          <a:stretch>
            <a:fillRect/>
          </a:stretch>
        </p:blipFill>
        <p:spPr>
          <a:xfrm>
            <a:off x="269335" y="1790075"/>
            <a:ext cx="1919335" cy="362139"/>
          </a:xfrm>
          <a:prstGeom prst="rect">
            <a:avLst/>
          </a:prstGeom>
        </p:spPr>
      </p:pic>
      <p:pic>
        <p:nvPicPr>
          <p:cNvPr id="6" name="Picture 5">
            <a:extLst>
              <a:ext uri="{FF2B5EF4-FFF2-40B4-BE49-F238E27FC236}">
                <a16:creationId xmlns:a16="http://schemas.microsoft.com/office/drawing/2014/main" id="{684A65C8-9445-48AA-8033-8D2D1334968C}"/>
              </a:ext>
            </a:extLst>
          </p:cNvPr>
          <p:cNvPicPr>
            <a:picLocks noChangeAspect="1"/>
          </p:cNvPicPr>
          <p:nvPr/>
        </p:nvPicPr>
        <p:blipFill>
          <a:blip r:embed="rId6"/>
          <a:stretch>
            <a:fillRect/>
          </a:stretch>
        </p:blipFill>
        <p:spPr>
          <a:xfrm>
            <a:off x="712805" y="2632993"/>
            <a:ext cx="5214796" cy="624689"/>
          </a:xfrm>
          <a:prstGeom prst="rect">
            <a:avLst/>
          </a:prstGeom>
        </p:spPr>
      </p:pic>
      <p:sp>
        <p:nvSpPr>
          <p:cNvPr id="7" name="TextBox 6">
            <a:extLst>
              <a:ext uri="{FF2B5EF4-FFF2-40B4-BE49-F238E27FC236}">
                <a16:creationId xmlns:a16="http://schemas.microsoft.com/office/drawing/2014/main" id="{50C79433-4507-4D3C-ADA0-7E65282EB0C4}"/>
              </a:ext>
            </a:extLst>
          </p:cNvPr>
          <p:cNvSpPr txBox="1"/>
          <p:nvPr/>
        </p:nvSpPr>
        <p:spPr>
          <a:xfrm>
            <a:off x="97767" y="2310722"/>
            <a:ext cx="6580682" cy="369332"/>
          </a:xfrm>
          <a:prstGeom prst="rect">
            <a:avLst/>
          </a:prstGeom>
          <a:noFill/>
        </p:spPr>
        <p:txBody>
          <a:bodyPr wrap="square">
            <a:spAutoFit/>
          </a:bodyPr>
          <a:lstStyle/>
          <a:p>
            <a:pPr marL="60325" lvl="1"/>
            <a:r>
              <a:rPr lang="en-US" b="1" i="0" dirty="0">
                <a:effectLst/>
                <a:latin typeface="Arial" panose="020B0604020202020204" pitchFamily="34" charset="0"/>
              </a:rPr>
              <a:t>Expected code length</a:t>
            </a:r>
            <a:r>
              <a:rPr lang="en-US" b="1" dirty="0">
                <a:latin typeface="Arial" panose="020B0604020202020204" pitchFamily="34" charset="0"/>
              </a:rPr>
              <a:t>.</a:t>
            </a:r>
          </a:p>
        </p:txBody>
      </p:sp>
      <p:sp>
        <p:nvSpPr>
          <p:cNvPr id="2" name="Footer Placeholder 1">
            <a:extLst>
              <a:ext uri="{FF2B5EF4-FFF2-40B4-BE49-F238E27FC236}">
                <a16:creationId xmlns:a16="http://schemas.microsoft.com/office/drawing/2014/main" id="{359696A5-B07C-CB2D-8544-B9F086ED05B4}"/>
              </a:ext>
            </a:extLst>
          </p:cNvPr>
          <p:cNvSpPr>
            <a:spLocks noGrp="1"/>
          </p:cNvSpPr>
          <p:nvPr>
            <p:ph type="ftr" sz="quarter" idx="11"/>
          </p:nvPr>
        </p:nvSpPr>
        <p:spPr/>
        <p:txBody>
          <a:bodyPr/>
          <a:lstStyle/>
          <a:p>
            <a:r>
              <a:rPr lang="en-IN"/>
              <a:t>Dr Saladi Saritha</a:t>
            </a:r>
          </a:p>
        </p:txBody>
      </p:sp>
      <p:sp>
        <p:nvSpPr>
          <p:cNvPr id="8" name="Slide Number Placeholder 7">
            <a:extLst>
              <a:ext uri="{FF2B5EF4-FFF2-40B4-BE49-F238E27FC236}">
                <a16:creationId xmlns:a16="http://schemas.microsoft.com/office/drawing/2014/main" id="{B9B135B6-D516-4AEC-6EC0-C51F6C9FDE5D}"/>
              </a:ext>
            </a:extLst>
          </p:cNvPr>
          <p:cNvSpPr>
            <a:spLocks noGrp="1"/>
          </p:cNvSpPr>
          <p:nvPr>
            <p:ph type="sldNum" sz="quarter" idx="12"/>
          </p:nvPr>
        </p:nvSpPr>
        <p:spPr/>
        <p:txBody>
          <a:bodyPr/>
          <a:lstStyle/>
          <a:p>
            <a:fld id="{BAEA75B2-F555-4190-9D20-7B0AA5D969FF}" type="slidenum">
              <a:rPr lang="en-IN" smtClean="0"/>
              <a:t>19</a:t>
            </a:fld>
            <a:endParaRPr lang="en-IN"/>
          </a:p>
        </p:txBody>
      </p:sp>
    </p:spTree>
    <p:extLst>
      <p:ext uri="{BB962C8B-B14F-4D97-AF65-F5344CB8AC3E}">
        <p14:creationId xmlns:p14="http://schemas.microsoft.com/office/powerpoint/2010/main" val="1568698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5579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Shannon Fano Elias coding</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 name="Picture 2">
            <a:extLst>
              <a:ext uri="{FF2B5EF4-FFF2-40B4-BE49-F238E27FC236}">
                <a16:creationId xmlns:a16="http://schemas.microsoft.com/office/drawing/2014/main" id="{08813233-2C0F-4B11-8243-BA3B88CA3957}"/>
              </a:ext>
            </a:extLst>
          </p:cNvPr>
          <p:cNvPicPr>
            <a:picLocks noChangeAspect="1"/>
          </p:cNvPicPr>
          <p:nvPr/>
        </p:nvPicPr>
        <p:blipFill>
          <a:blip r:embed="rId3"/>
          <a:stretch>
            <a:fillRect/>
          </a:stretch>
        </p:blipFill>
        <p:spPr>
          <a:xfrm>
            <a:off x="1757654" y="3417172"/>
            <a:ext cx="5504520" cy="1631949"/>
          </a:xfrm>
          <a:prstGeom prst="rect">
            <a:avLst/>
          </a:prstGeom>
        </p:spPr>
      </p:pic>
      <p:pic>
        <p:nvPicPr>
          <p:cNvPr id="4" name="Picture 3">
            <a:extLst>
              <a:ext uri="{FF2B5EF4-FFF2-40B4-BE49-F238E27FC236}">
                <a16:creationId xmlns:a16="http://schemas.microsoft.com/office/drawing/2014/main" id="{F302F35F-AF54-4CE9-99BE-0062068DEC8C}"/>
              </a:ext>
            </a:extLst>
          </p:cNvPr>
          <p:cNvPicPr>
            <a:picLocks noChangeAspect="1"/>
          </p:cNvPicPr>
          <p:nvPr/>
        </p:nvPicPr>
        <p:blipFill>
          <a:blip r:embed="rId4"/>
          <a:stretch>
            <a:fillRect/>
          </a:stretch>
        </p:blipFill>
        <p:spPr>
          <a:xfrm>
            <a:off x="7488481" y="1678907"/>
            <a:ext cx="3336835" cy="498208"/>
          </a:xfrm>
          <a:prstGeom prst="rect">
            <a:avLst/>
          </a:prstGeom>
        </p:spPr>
      </p:pic>
      <p:pic>
        <p:nvPicPr>
          <p:cNvPr id="5" name="Picture 4">
            <a:extLst>
              <a:ext uri="{FF2B5EF4-FFF2-40B4-BE49-F238E27FC236}">
                <a16:creationId xmlns:a16="http://schemas.microsoft.com/office/drawing/2014/main" id="{40FBB11E-7D27-4B5F-A604-8D0CE4D0E40A}"/>
              </a:ext>
            </a:extLst>
          </p:cNvPr>
          <p:cNvPicPr>
            <a:picLocks noChangeAspect="1"/>
          </p:cNvPicPr>
          <p:nvPr/>
        </p:nvPicPr>
        <p:blipFill>
          <a:blip r:embed="rId5"/>
          <a:stretch>
            <a:fillRect/>
          </a:stretch>
        </p:blipFill>
        <p:spPr>
          <a:xfrm>
            <a:off x="7488481" y="2616318"/>
            <a:ext cx="2640500" cy="498208"/>
          </a:xfrm>
          <a:prstGeom prst="rect">
            <a:avLst/>
          </a:prstGeom>
        </p:spPr>
      </p:pic>
      <p:sp>
        <p:nvSpPr>
          <p:cNvPr id="11" name="TextBox 10">
            <a:extLst>
              <a:ext uri="{FF2B5EF4-FFF2-40B4-BE49-F238E27FC236}">
                <a16:creationId xmlns:a16="http://schemas.microsoft.com/office/drawing/2014/main" id="{9BE10237-367E-62F3-6E9A-72CBC845405A}"/>
              </a:ext>
            </a:extLst>
          </p:cNvPr>
          <p:cNvSpPr txBox="1"/>
          <p:nvPr/>
        </p:nvSpPr>
        <p:spPr>
          <a:xfrm>
            <a:off x="-52810" y="1169033"/>
            <a:ext cx="6148810" cy="1200329"/>
          </a:xfrm>
          <a:prstGeom prst="rect">
            <a:avLst/>
          </a:prstGeom>
          <a:noFill/>
        </p:spPr>
        <p:txBody>
          <a:bodyPr wrap="square">
            <a:spAutoFit/>
          </a:bodyPr>
          <a:lstStyle/>
          <a:p>
            <a:pPr marL="60325" lvl="1" algn="just"/>
            <a:r>
              <a:rPr lang="en-US" b="1" i="0" dirty="0">
                <a:effectLst/>
                <a:latin typeface="Arial" panose="020B0604020202020204" pitchFamily="34" charset="0"/>
              </a:rPr>
              <a:t>Q: A DMS has 4 symbols x1, x2,  x3, x4 has probability 0.25, 0.5, 0.125, 0.125 respectively. </a:t>
            </a:r>
            <a:r>
              <a:rPr lang="en-US" b="1" dirty="0">
                <a:latin typeface="Arial" panose="020B0604020202020204" pitchFamily="34" charset="0"/>
              </a:rPr>
              <a:t>Fined the code using Shannon-</a:t>
            </a:r>
            <a:r>
              <a:rPr lang="en-US" b="1" dirty="0" err="1">
                <a:latin typeface="Arial" panose="020B0604020202020204" pitchFamily="34" charset="0"/>
              </a:rPr>
              <a:t>fano</a:t>
            </a:r>
            <a:r>
              <a:rPr lang="en-US" b="1" dirty="0">
                <a:latin typeface="Arial" panose="020B0604020202020204" pitchFamily="34" charset="0"/>
              </a:rPr>
              <a:t> </a:t>
            </a:r>
            <a:r>
              <a:rPr lang="en-US" b="1" dirty="0" err="1">
                <a:latin typeface="Arial" panose="020B0604020202020204" pitchFamily="34" charset="0"/>
              </a:rPr>
              <a:t>elias</a:t>
            </a:r>
            <a:r>
              <a:rPr lang="en-US" b="1" dirty="0">
                <a:latin typeface="Arial" panose="020B0604020202020204" pitchFamily="34" charset="0"/>
              </a:rPr>
              <a:t> coding and find the average codeword length and entropy.</a:t>
            </a:r>
            <a:r>
              <a:rPr lang="en-US" b="1" i="0" dirty="0">
                <a:effectLst/>
                <a:latin typeface="Arial" panose="020B0604020202020204" pitchFamily="34" charset="0"/>
              </a:rPr>
              <a:t> </a:t>
            </a:r>
            <a:endParaRPr lang="en-US" b="1" dirty="0">
              <a:latin typeface="Arial" panose="020B0604020202020204" pitchFamily="34" charset="0"/>
            </a:endParaRPr>
          </a:p>
        </p:txBody>
      </p:sp>
      <p:sp>
        <p:nvSpPr>
          <p:cNvPr id="2" name="Footer Placeholder 1">
            <a:extLst>
              <a:ext uri="{FF2B5EF4-FFF2-40B4-BE49-F238E27FC236}">
                <a16:creationId xmlns:a16="http://schemas.microsoft.com/office/drawing/2014/main" id="{13DC35BA-F761-5A18-8F7D-C3D9932415C2}"/>
              </a:ext>
            </a:extLst>
          </p:cNvPr>
          <p:cNvSpPr>
            <a:spLocks noGrp="1"/>
          </p:cNvSpPr>
          <p:nvPr>
            <p:ph type="ftr" sz="quarter" idx="11"/>
          </p:nvPr>
        </p:nvSpPr>
        <p:spPr/>
        <p:txBody>
          <a:bodyPr/>
          <a:lstStyle/>
          <a:p>
            <a:r>
              <a:rPr lang="en-IN"/>
              <a:t>Dr Saladi Saritha</a:t>
            </a:r>
          </a:p>
        </p:txBody>
      </p:sp>
      <p:sp>
        <p:nvSpPr>
          <p:cNvPr id="6" name="Slide Number Placeholder 5">
            <a:extLst>
              <a:ext uri="{FF2B5EF4-FFF2-40B4-BE49-F238E27FC236}">
                <a16:creationId xmlns:a16="http://schemas.microsoft.com/office/drawing/2014/main" id="{AF43BC6B-9581-E911-E392-B13D7E6BDCCA}"/>
              </a:ext>
            </a:extLst>
          </p:cNvPr>
          <p:cNvSpPr>
            <a:spLocks noGrp="1"/>
          </p:cNvSpPr>
          <p:nvPr>
            <p:ph type="sldNum" sz="quarter" idx="12"/>
          </p:nvPr>
        </p:nvSpPr>
        <p:spPr/>
        <p:txBody>
          <a:bodyPr/>
          <a:lstStyle/>
          <a:p>
            <a:fld id="{BAEA75B2-F555-4190-9D20-7B0AA5D969FF}" type="slidenum">
              <a:rPr lang="en-IN" smtClean="0"/>
              <a:t>20</a:t>
            </a:fld>
            <a:endParaRPr lang="en-IN"/>
          </a:p>
        </p:txBody>
      </p:sp>
    </p:spTree>
    <p:extLst>
      <p:ext uri="{BB962C8B-B14F-4D97-AF65-F5344CB8AC3E}">
        <p14:creationId xmlns:p14="http://schemas.microsoft.com/office/powerpoint/2010/main" val="3691441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5579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Shannon Fano Elias coding</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 name="Picture 3">
            <a:extLst>
              <a:ext uri="{FF2B5EF4-FFF2-40B4-BE49-F238E27FC236}">
                <a16:creationId xmlns:a16="http://schemas.microsoft.com/office/drawing/2014/main" id="{F302F35F-AF54-4CE9-99BE-0062068DEC8C}"/>
              </a:ext>
            </a:extLst>
          </p:cNvPr>
          <p:cNvPicPr>
            <a:picLocks noChangeAspect="1"/>
          </p:cNvPicPr>
          <p:nvPr/>
        </p:nvPicPr>
        <p:blipFill>
          <a:blip r:embed="rId3"/>
          <a:stretch>
            <a:fillRect/>
          </a:stretch>
        </p:blipFill>
        <p:spPr>
          <a:xfrm>
            <a:off x="269335" y="1195688"/>
            <a:ext cx="2607398" cy="389299"/>
          </a:xfrm>
          <a:prstGeom prst="rect">
            <a:avLst/>
          </a:prstGeom>
        </p:spPr>
      </p:pic>
      <p:pic>
        <p:nvPicPr>
          <p:cNvPr id="5" name="Picture 4">
            <a:extLst>
              <a:ext uri="{FF2B5EF4-FFF2-40B4-BE49-F238E27FC236}">
                <a16:creationId xmlns:a16="http://schemas.microsoft.com/office/drawing/2014/main" id="{40FBB11E-7D27-4B5F-A604-8D0CE4D0E40A}"/>
              </a:ext>
            </a:extLst>
          </p:cNvPr>
          <p:cNvPicPr>
            <a:picLocks noChangeAspect="1"/>
          </p:cNvPicPr>
          <p:nvPr/>
        </p:nvPicPr>
        <p:blipFill>
          <a:blip r:embed="rId4"/>
          <a:stretch>
            <a:fillRect/>
          </a:stretch>
        </p:blipFill>
        <p:spPr>
          <a:xfrm>
            <a:off x="269335" y="1790075"/>
            <a:ext cx="1919335" cy="362139"/>
          </a:xfrm>
          <a:prstGeom prst="rect">
            <a:avLst/>
          </a:prstGeom>
        </p:spPr>
      </p:pic>
      <p:pic>
        <p:nvPicPr>
          <p:cNvPr id="2" name="Picture 1">
            <a:extLst>
              <a:ext uri="{FF2B5EF4-FFF2-40B4-BE49-F238E27FC236}">
                <a16:creationId xmlns:a16="http://schemas.microsoft.com/office/drawing/2014/main" id="{748DB199-BAD9-46D5-972A-15E2259D24E7}"/>
              </a:ext>
            </a:extLst>
          </p:cNvPr>
          <p:cNvPicPr>
            <a:picLocks noChangeAspect="1"/>
          </p:cNvPicPr>
          <p:nvPr/>
        </p:nvPicPr>
        <p:blipFill>
          <a:blip r:embed="rId5"/>
          <a:stretch>
            <a:fillRect/>
          </a:stretch>
        </p:blipFill>
        <p:spPr>
          <a:xfrm>
            <a:off x="1007271" y="2882452"/>
            <a:ext cx="6337426" cy="1656784"/>
          </a:xfrm>
          <a:prstGeom prst="rect">
            <a:avLst/>
          </a:prstGeom>
        </p:spPr>
      </p:pic>
      <p:sp>
        <p:nvSpPr>
          <p:cNvPr id="3" name="Footer Placeholder 2">
            <a:extLst>
              <a:ext uri="{FF2B5EF4-FFF2-40B4-BE49-F238E27FC236}">
                <a16:creationId xmlns:a16="http://schemas.microsoft.com/office/drawing/2014/main" id="{7D9F322F-30C7-0AA2-6CB0-A15A3D888A2A}"/>
              </a:ext>
            </a:extLst>
          </p:cNvPr>
          <p:cNvSpPr>
            <a:spLocks noGrp="1"/>
          </p:cNvSpPr>
          <p:nvPr>
            <p:ph type="ftr" sz="quarter" idx="11"/>
          </p:nvPr>
        </p:nvSpPr>
        <p:spPr/>
        <p:txBody>
          <a:bodyPr/>
          <a:lstStyle/>
          <a:p>
            <a:r>
              <a:rPr lang="en-IN"/>
              <a:t>Dr Saladi Saritha</a:t>
            </a:r>
          </a:p>
        </p:txBody>
      </p:sp>
      <p:sp>
        <p:nvSpPr>
          <p:cNvPr id="6" name="Slide Number Placeholder 5">
            <a:extLst>
              <a:ext uri="{FF2B5EF4-FFF2-40B4-BE49-F238E27FC236}">
                <a16:creationId xmlns:a16="http://schemas.microsoft.com/office/drawing/2014/main" id="{1419E0E8-AEEE-BB08-93C2-B53FF2F0124D}"/>
              </a:ext>
            </a:extLst>
          </p:cNvPr>
          <p:cNvSpPr>
            <a:spLocks noGrp="1"/>
          </p:cNvSpPr>
          <p:nvPr>
            <p:ph type="sldNum" sz="quarter" idx="12"/>
          </p:nvPr>
        </p:nvSpPr>
        <p:spPr/>
        <p:txBody>
          <a:bodyPr/>
          <a:lstStyle/>
          <a:p>
            <a:fld id="{BAEA75B2-F555-4190-9D20-7B0AA5D969FF}" type="slidenum">
              <a:rPr lang="en-IN" smtClean="0"/>
              <a:t>21</a:t>
            </a:fld>
            <a:endParaRPr lang="en-IN"/>
          </a:p>
        </p:txBody>
      </p:sp>
    </p:spTree>
    <p:extLst>
      <p:ext uri="{BB962C8B-B14F-4D97-AF65-F5344CB8AC3E}">
        <p14:creationId xmlns:p14="http://schemas.microsoft.com/office/powerpoint/2010/main" val="2108209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34740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latin typeface="Times New Roman" panose="02020603050405020304" pitchFamily="18" charset="0"/>
              </a:rPr>
              <a:t>Huffman</a:t>
            </a:r>
            <a:r>
              <a:rPr lang="en-US" sz="1800" dirty="0">
                <a:effectLst/>
                <a:latin typeface="Times New Roman" panose="02020603050405020304" pitchFamily="18" charset="0"/>
                <a:ea typeface="Calibri" panose="020F0502020204030204" pitchFamily="34" charset="0"/>
              </a:rPr>
              <a:t> </a:t>
            </a:r>
            <a:r>
              <a:rPr lang="en-US" sz="3600" dirty="0">
                <a:latin typeface="Times New Roman" panose="02020603050405020304" pitchFamily="18" charset="0"/>
                <a:ea typeface="Calibri" panose="020F0502020204030204" pitchFamily="34" charset="0"/>
              </a:rPr>
              <a:t>C</a:t>
            </a:r>
            <a:r>
              <a:rPr lang="en-US" sz="3600" dirty="0">
                <a:effectLst/>
                <a:latin typeface="Times New Roman" panose="02020603050405020304" pitchFamily="18" charset="0"/>
                <a:ea typeface="Calibri" panose="020F0502020204030204" pitchFamily="34" charset="0"/>
              </a:rPr>
              <a:t>oding</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TextBox 2">
            <a:extLst>
              <a:ext uri="{FF2B5EF4-FFF2-40B4-BE49-F238E27FC236}">
                <a16:creationId xmlns:a16="http://schemas.microsoft.com/office/drawing/2014/main" id="{10172BD0-6DA6-4CB2-8132-24AECBBDD4BF}"/>
              </a:ext>
            </a:extLst>
          </p:cNvPr>
          <p:cNvSpPr txBox="1"/>
          <p:nvPr/>
        </p:nvSpPr>
        <p:spPr>
          <a:xfrm>
            <a:off x="97767" y="1115198"/>
            <a:ext cx="11924344" cy="4093428"/>
          </a:xfrm>
          <a:prstGeom prst="rect">
            <a:avLst/>
          </a:prstGeom>
          <a:noFill/>
        </p:spPr>
        <p:txBody>
          <a:bodyPr wrap="square">
            <a:spAutoFit/>
          </a:bodyPr>
          <a:lstStyle/>
          <a:p>
            <a:pPr lvl="1"/>
            <a:r>
              <a:rPr lang="en-US" sz="2000" i="0" dirty="0">
                <a:effectLst/>
                <a:latin typeface="Arial" panose="020B0604020202020204" pitchFamily="34" charset="0"/>
              </a:rPr>
              <a:t>It </a:t>
            </a:r>
            <a:r>
              <a:rPr lang="en-US" sz="2000" dirty="0">
                <a:latin typeface="Arial" panose="020B0604020202020204" pitchFamily="34" charset="0"/>
              </a:rPr>
              <a:t>result in optimal code. Thus, it has highest efficiency.</a:t>
            </a:r>
          </a:p>
          <a:p>
            <a:pPr lvl="1"/>
            <a:r>
              <a:rPr lang="en-US" sz="2000" b="1" dirty="0">
                <a:latin typeface="Arial" panose="020B0604020202020204" pitchFamily="34" charset="0"/>
              </a:rPr>
              <a:t>STEPS:</a:t>
            </a:r>
          </a:p>
          <a:p>
            <a:pPr lvl="1"/>
            <a:endParaRPr lang="en-US" sz="2000" b="1" dirty="0">
              <a:latin typeface="Arial" panose="020B0604020202020204" pitchFamily="34" charset="0"/>
            </a:endParaRPr>
          </a:p>
          <a:p>
            <a:pPr marL="914400" lvl="1" indent="-457200">
              <a:buAutoNum type="arabicPeriod"/>
            </a:pPr>
            <a:r>
              <a:rPr lang="en-US" sz="2000" dirty="0">
                <a:latin typeface="Arial" panose="020B0604020202020204" pitchFamily="34" charset="0"/>
              </a:rPr>
              <a:t>List the source symbols in order of decreasing probability.</a:t>
            </a:r>
          </a:p>
          <a:p>
            <a:pPr marL="914400" lvl="1" indent="-457200">
              <a:buAutoNum type="arabicPeriod"/>
            </a:pPr>
            <a:r>
              <a:rPr lang="en-US" sz="2000" dirty="0">
                <a:latin typeface="Arial" panose="020B0604020202020204" pitchFamily="34" charset="0"/>
              </a:rPr>
              <a:t>Combine the probability of the two symbols having  the lowest probabilities, and record the resultant probabilities, this step is reduction 1. The same procedure is repeated until there are two ordered probabilities remaining. </a:t>
            </a:r>
          </a:p>
          <a:p>
            <a:pPr marL="914400" lvl="1" indent="-457200">
              <a:buAutoNum type="arabicPeriod"/>
            </a:pPr>
            <a:r>
              <a:rPr lang="en-US" sz="2000" dirty="0">
                <a:latin typeface="Arial" panose="020B0604020202020204" pitchFamily="34" charset="0"/>
              </a:rPr>
              <a:t>Start encoding with the last reduction, which consist of exactly two ordered probabilities. Assign 0 as the first digit in the codewords for all the source symbols associated with first probability; assign 1 to the second probability.</a:t>
            </a:r>
          </a:p>
          <a:p>
            <a:pPr marL="914400" lvl="1" indent="-457200">
              <a:buAutoNum type="arabicPeriod"/>
            </a:pPr>
            <a:r>
              <a:rPr lang="en-US" sz="2000" dirty="0">
                <a:latin typeface="Arial" panose="020B0604020202020204" pitchFamily="34" charset="0"/>
              </a:rPr>
              <a:t>Now go back and assign 0  and 1 to the second digit for the two probabilities that were combined in the previous reduction step, retaining all assignments made in step3.</a:t>
            </a:r>
          </a:p>
          <a:p>
            <a:pPr marL="914400" lvl="1" indent="-457200">
              <a:buAutoNum type="arabicPeriod"/>
            </a:pPr>
            <a:r>
              <a:rPr lang="en-US" sz="2000" dirty="0">
                <a:latin typeface="Arial" panose="020B0604020202020204" pitchFamily="34" charset="0"/>
              </a:rPr>
              <a:t>Keep regressing this way until the first column is reached.</a:t>
            </a:r>
          </a:p>
        </p:txBody>
      </p:sp>
      <p:sp>
        <p:nvSpPr>
          <p:cNvPr id="2" name="Footer Placeholder 1">
            <a:extLst>
              <a:ext uri="{FF2B5EF4-FFF2-40B4-BE49-F238E27FC236}">
                <a16:creationId xmlns:a16="http://schemas.microsoft.com/office/drawing/2014/main" id="{2C07C3CC-136A-8521-9A20-DD439C58F89C}"/>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D0253B9D-C631-C3E7-C991-3FF0D78385DF}"/>
              </a:ext>
            </a:extLst>
          </p:cNvPr>
          <p:cNvSpPr>
            <a:spLocks noGrp="1"/>
          </p:cNvSpPr>
          <p:nvPr>
            <p:ph type="sldNum" sz="quarter" idx="12"/>
          </p:nvPr>
        </p:nvSpPr>
        <p:spPr/>
        <p:txBody>
          <a:bodyPr/>
          <a:lstStyle/>
          <a:p>
            <a:fld id="{BAEA75B2-F555-4190-9D20-7B0AA5D969FF}" type="slidenum">
              <a:rPr lang="en-IN" smtClean="0"/>
              <a:t>22</a:t>
            </a:fld>
            <a:endParaRPr lang="en-IN"/>
          </a:p>
        </p:txBody>
      </p:sp>
    </p:spTree>
    <p:extLst>
      <p:ext uri="{BB962C8B-B14F-4D97-AF65-F5344CB8AC3E}">
        <p14:creationId xmlns:p14="http://schemas.microsoft.com/office/powerpoint/2010/main" val="339024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56156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latin typeface="Times New Roman" panose="02020603050405020304" pitchFamily="18" charset="0"/>
              </a:rPr>
              <a:t>Huffman</a:t>
            </a:r>
            <a:r>
              <a:rPr lang="en-US" sz="1800" dirty="0">
                <a:effectLst/>
                <a:latin typeface="Times New Roman" panose="02020603050405020304" pitchFamily="18" charset="0"/>
                <a:ea typeface="Calibri" panose="020F0502020204030204" pitchFamily="34" charset="0"/>
              </a:rPr>
              <a:t> </a:t>
            </a:r>
            <a:r>
              <a:rPr lang="en-US" sz="3600" dirty="0">
                <a:latin typeface="Times New Roman" panose="02020603050405020304" pitchFamily="18" charset="0"/>
                <a:ea typeface="Calibri" panose="020F0502020204030204" pitchFamily="34" charset="0"/>
              </a:rPr>
              <a:t>C</a:t>
            </a:r>
            <a:r>
              <a:rPr lang="en-US" sz="3600" dirty="0">
                <a:effectLst/>
                <a:latin typeface="Times New Roman" panose="02020603050405020304" pitchFamily="18" charset="0"/>
                <a:ea typeface="Calibri" panose="020F0502020204030204" pitchFamily="34" charset="0"/>
              </a:rPr>
              <a:t>oding: 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 name="Picture 2">
            <a:extLst>
              <a:ext uri="{FF2B5EF4-FFF2-40B4-BE49-F238E27FC236}">
                <a16:creationId xmlns:a16="http://schemas.microsoft.com/office/drawing/2014/main" id="{C2EFB4B9-05E4-CFCA-95AD-C4137D856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320" y="990600"/>
            <a:ext cx="8350131" cy="2710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6D77D97D-1E03-3DC8-A3DF-56F2402C88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9987" y="3732106"/>
            <a:ext cx="8295773" cy="271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132DB145-319A-953C-DB58-7B9B98A59FE3}"/>
              </a:ext>
            </a:extLst>
          </p:cNvPr>
          <p:cNvSpPr>
            <a:spLocks noGrp="1"/>
          </p:cNvSpPr>
          <p:nvPr>
            <p:ph type="ftr" sz="quarter" idx="11"/>
          </p:nvPr>
        </p:nvSpPr>
        <p:spPr/>
        <p:txBody>
          <a:bodyPr/>
          <a:lstStyle/>
          <a:p>
            <a:r>
              <a:rPr lang="en-IN"/>
              <a:t>Dr Saladi Saritha</a:t>
            </a:r>
          </a:p>
        </p:txBody>
      </p:sp>
      <p:sp>
        <p:nvSpPr>
          <p:cNvPr id="3" name="Slide Number Placeholder 2">
            <a:extLst>
              <a:ext uri="{FF2B5EF4-FFF2-40B4-BE49-F238E27FC236}">
                <a16:creationId xmlns:a16="http://schemas.microsoft.com/office/drawing/2014/main" id="{5D745F48-12E4-FCBF-28B1-54B2D15625B6}"/>
              </a:ext>
            </a:extLst>
          </p:cNvPr>
          <p:cNvSpPr>
            <a:spLocks noGrp="1"/>
          </p:cNvSpPr>
          <p:nvPr>
            <p:ph type="sldNum" sz="quarter" idx="12"/>
          </p:nvPr>
        </p:nvSpPr>
        <p:spPr/>
        <p:txBody>
          <a:bodyPr/>
          <a:lstStyle/>
          <a:p>
            <a:fld id="{BAEA75B2-F555-4190-9D20-7B0AA5D969FF}" type="slidenum">
              <a:rPr lang="en-IN" smtClean="0"/>
              <a:t>23</a:t>
            </a:fld>
            <a:endParaRPr lang="en-IN"/>
          </a:p>
        </p:txBody>
      </p:sp>
    </p:spTree>
    <p:extLst>
      <p:ext uri="{BB962C8B-B14F-4D97-AF65-F5344CB8AC3E}">
        <p14:creationId xmlns:p14="http://schemas.microsoft.com/office/powerpoint/2010/main" val="2608565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287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TextBox 2">
            <a:extLst>
              <a:ext uri="{FF2B5EF4-FFF2-40B4-BE49-F238E27FC236}">
                <a16:creationId xmlns:a16="http://schemas.microsoft.com/office/drawing/2014/main" id="{10172BD0-6DA6-4CB2-8132-24AECBBDD4BF}"/>
              </a:ext>
            </a:extLst>
          </p:cNvPr>
          <p:cNvSpPr txBox="1"/>
          <p:nvPr/>
        </p:nvSpPr>
        <p:spPr>
          <a:xfrm>
            <a:off x="97767" y="1115198"/>
            <a:ext cx="11924344" cy="1200329"/>
          </a:xfrm>
          <a:prstGeom prst="rect">
            <a:avLst/>
          </a:prstGeom>
          <a:noFill/>
        </p:spPr>
        <p:txBody>
          <a:bodyPr wrap="square">
            <a:spAutoFit/>
          </a:bodyPr>
          <a:lstStyle/>
          <a:p>
            <a:pPr lvl="1"/>
            <a:r>
              <a:rPr lang="en-US" b="1" dirty="0">
                <a:latin typeface="Arial" panose="020B0604020202020204" pitchFamily="34" charset="0"/>
              </a:rPr>
              <a:t>Q: A DMS has five symbols x1, x2, x3, x4, x5 with p(x1)=0.4, p(x2)=0.19, p(x3)=0.16, p(x4)= 0.15, p(x5)=0.1.</a:t>
            </a:r>
          </a:p>
          <a:p>
            <a:pPr marL="800100" lvl="1" indent="-342900">
              <a:buAutoNum type="arabicParenR"/>
            </a:pPr>
            <a:r>
              <a:rPr lang="en-US" b="1" dirty="0">
                <a:latin typeface="Arial" panose="020B0604020202020204" pitchFamily="34" charset="0"/>
              </a:rPr>
              <a:t>Construct a Shannon-Fano code and calculate average codeword length.</a:t>
            </a:r>
          </a:p>
          <a:p>
            <a:pPr marL="800100" lvl="1" indent="-342900">
              <a:buAutoNum type="arabicParenR"/>
            </a:pPr>
            <a:r>
              <a:rPr lang="en-US" b="1" dirty="0">
                <a:latin typeface="Arial" panose="020B0604020202020204" pitchFamily="34" charset="0"/>
              </a:rPr>
              <a:t>Repeat for the Huffman code and compare the results.</a:t>
            </a:r>
          </a:p>
        </p:txBody>
      </p:sp>
      <p:sp>
        <p:nvSpPr>
          <p:cNvPr id="2" name="Footer Placeholder 1">
            <a:extLst>
              <a:ext uri="{FF2B5EF4-FFF2-40B4-BE49-F238E27FC236}">
                <a16:creationId xmlns:a16="http://schemas.microsoft.com/office/drawing/2014/main" id="{308B6BC8-1A66-264A-2B29-572A6E9C6B8D}"/>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C8182E87-2156-DD0E-8D0D-5D252FE1DA3B}"/>
              </a:ext>
            </a:extLst>
          </p:cNvPr>
          <p:cNvSpPr>
            <a:spLocks noGrp="1"/>
          </p:cNvSpPr>
          <p:nvPr>
            <p:ph type="sldNum" sz="quarter" idx="12"/>
          </p:nvPr>
        </p:nvSpPr>
        <p:spPr/>
        <p:txBody>
          <a:bodyPr/>
          <a:lstStyle/>
          <a:p>
            <a:fld id="{BAEA75B2-F555-4190-9D20-7B0AA5D969FF}" type="slidenum">
              <a:rPr lang="en-IN" smtClean="0"/>
              <a:t>24</a:t>
            </a:fld>
            <a:endParaRPr lang="en-IN"/>
          </a:p>
        </p:txBody>
      </p:sp>
    </p:spTree>
    <p:extLst>
      <p:ext uri="{BB962C8B-B14F-4D97-AF65-F5344CB8AC3E}">
        <p14:creationId xmlns:p14="http://schemas.microsoft.com/office/powerpoint/2010/main" val="2455153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287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TextBox 2">
            <a:extLst>
              <a:ext uri="{FF2B5EF4-FFF2-40B4-BE49-F238E27FC236}">
                <a16:creationId xmlns:a16="http://schemas.microsoft.com/office/drawing/2014/main" id="{10172BD0-6DA6-4CB2-8132-24AECBBDD4BF}"/>
              </a:ext>
            </a:extLst>
          </p:cNvPr>
          <p:cNvSpPr txBox="1"/>
          <p:nvPr/>
        </p:nvSpPr>
        <p:spPr>
          <a:xfrm>
            <a:off x="97767" y="1115198"/>
            <a:ext cx="11924344" cy="923330"/>
          </a:xfrm>
          <a:prstGeom prst="rect">
            <a:avLst/>
          </a:prstGeom>
          <a:noFill/>
        </p:spPr>
        <p:txBody>
          <a:bodyPr wrap="square">
            <a:spAutoFit/>
          </a:bodyPr>
          <a:lstStyle/>
          <a:p>
            <a:pPr lvl="1"/>
            <a:r>
              <a:rPr lang="en-US" b="1" dirty="0">
                <a:latin typeface="Arial" panose="020B0604020202020204" pitchFamily="34" charset="0"/>
              </a:rPr>
              <a:t>Q: A DMS has six symbols m1, m2, m3, m4, m5, m6 with p(m1)=0.30, p(m2)=0.25, p(m3)=0.15, p(m4)= 0.12, p(m5)=0.08, p(m6)=0.10.  Construct the Huffman code and calculate efficiency and redundancy.</a:t>
            </a:r>
          </a:p>
          <a:p>
            <a:pPr lvl="1"/>
            <a:r>
              <a:rPr lang="en-US" b="1" dirty="0">
                <a:latin typeface="Arial" panose="020B0604020202020204" pitchFamily="34" charset="0"/>
              </a:rPr>
              <a:t>Repeat the same using Shannon Fano coding.</a:t>
            </a:r>
          </a:p>
        </p:txBody>
      </p:sp>
      <p:sp>
        <p:nvSpPr>
          <p:cNvPr id="2" name="Footer Placeholder 1">
            <a:extLst>
              <a:ext uri="{FF2B5EF4-FFF2-40B4-BE49-F238E27FC236}">
                <a16:creationId xmlns:a16="http://schemas.microsoft.com/office/drawing/2014/main" id="{3B2DFFB1-F05A-615D-B1AB-7BFAE34D1982}"/>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D6CC78A0-A357-CC8A-CC87-0BFE03E4849F}"/>
              </a:ext>
            </a:extLst>
          </p:cNvPr>
          <p:cNvSpPr>
            <a:spLocks noGrp="1"/>
          </p:cNvSpPr>
          <p:nvPr>
            <p:ph type="sldNum" sz="quarter" idx="12"/>
          </p:nvPr>
        </p:nvSpPr>
        <p:spPr/>
        <p:txBody>
          <a:bodyPr/>
          <a:lstStyle/>
          <a:p>
            <a:fld id="{BAEA75B2-F555-4190-9D20-7B0AA5D969FF}" type="slidenum">
              <a:rPr lang="en-IN" smtClean="0"/>
              <a:t>25</a:t>
            </a:fld>
            <a:endParaRPr lang="en-IN"/>
          </a:p>
        </p:txBody>
      </p:sp>
    </p:spTree>
    <p:extLst>
      <p:ext uri="{BB962C8B-B14F-4D97-AF65-F5344CB8AC3E}">
        <p14:creationId xmlns:p14="http://schemas.microsoft.com/office/powerpoint/2010/main" val="3857107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287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TextBox 2">
            <a:extLst>
              <a:ext uri="{FF2B5EF4-FFF2-40B4-BE49-F238E27FC236}">
                <a16:creationId xmlns:a16="http://schemas.microsoft.com/office/drawing/2014/main" id="{10172BD0-6DA6-4CB2-8132-24AECBBDD4BF}"/>
              </a:ext>
            </a:extLst>
          </p:cNvPr>
          <p:cNvSpPr txBox="1"/>
          <p:nvPr/>
        </p:nvSpPr>
        <p:spPr>
          <a:xfrm>
            <a:off x="-273407" y="1091158"/>
            <a:ext cx="11924344" cy="923330"/>
          </a:xfrm>
          <a:prstGeom prst="rect">
            <a:avLst/>
          </a:prstGeom>
          <a:noFill/>
        </p:spPr>
        <p:txBody>
          <a:bodyPr wrap="square">
            <a:spAutoFit/>
          </a:bodyPr>
          <a:lstStyle/>
          <a:p>
            <a:pPr lvl="1"/>
            <a:r>
              <a:rPr lang="en-US" b="1" dirty="0">
                <a:latin typeface="Arial" panose="020B0604020202020204" pitchFamily="34" charset="0"/>
              </a:rPr>
              <a:t>Q: A DMS has five symbols m1, m2, m3, m4, m5 with p(m1)=1/2, p(m2)=1/4, p(m3)=1/8, p(m4)= 1/16, p(m5)=1/16.  Construct the Huffman code and calculate efficiency and redundancy.</a:t>
            </a:r>
          </a:p>
          <a:p>
            <a:pPr lvl="1"/>
            <a:r>
              <a:rPr lang="en-US" b="1" dirty="0">
                <a:latin typeface="Arial" panose="020B0604020202020204" pitchFamily="34" charset="0"/>
              </a:rPr>
              <a:t>Repeat the same using Shannon Fano coding.</a:t>
            </a:r>
          </a:p>
        </p:txBody>
      </p:sp>
      <p:graphicFrame>
        <p:nvGraphicFramePr>
          <p:cNvPr id="2" name="Table 3">
            <a:extLst>
              <a:ext uri="{FF2B5EF4-FFF2-40B4-BE49-F238E27FC236}">
                <a16:creationId xmlns:a16="http://schemas.microsoft.com/office/drawing/2014/main" id="{5C61C6A4-A41B-475B-AA9B-915419917987}"/>
              </a:ext>
            </a:extLst>
          </p:cNvPr>
          <p:cNvGraphicFramePr>
            <a:graphicFrameLocks noGrp="1"/>
          </p:cNvGraphicFramePr>
          <p:nvPr>
            <p:extLst>
              <p:ext uri="{D42A27DB-BD31-4B8C-83A1-F6EECF244321}">
                <p14:modId xmlns:p14="http://schemas.microsoft.com/office/powerpoint/2010/main" val="958200456"/>
              </p:ext>
            </p:extLst>
          </p:nvPr>
        </p:nvGraphicFramePr>
        <p:xfrm>
          <a:off x="209862" y="3476011"/>
          <a:ext cx="10957806" cy="741680"/>
        </p:xfrm>
        <a:graphic>
          <a:graphicData uri="http://schemas.openxmlformats.org/drawingml/2006/table">
            <a:tbl>
              <a:tblPr firstRow="1" bandRow="1">
                <a:tableStyleId>{5C22544A-7EE6-4342-B048-85BDC9FD1C3A}</a:tableStyleId>
              </a:tblPr>
              <a:tblGrid>
                <a:gridCol w="1217534">
                  <a:extLst>
                    <a:ext uri="{9D8B030D-6E8A-4147-A177-3AD203B41FA5}">
                      <a16:colId xmlns:a16="http://schemas.microsoft.com/office/drawing/2014/main" val="2807236937"/>
                    </a:ext>
                  </a:extLst>
                </a:gridCol>
                <a:gridCol w="1217534">
                  <a:extLst>
                    <a:ext uri="{9D8B030D-6E8A-4147-A177-3AD203B41FA5}">
                      <a16:colId xmlns:a16="http://schemas.microsoft.com/office/drawing/2014/main" val="3700013063"/>
                    </a:ext>
                  </a:extLst>
                </a:gridCol>
                <a:gridCol w="1217534">
                  <a:extLst>
                    <a:ext uri="{9D8B030D-6E8A-4147-A177-3AD203B41FA5}">
                      <a16:colId xmlns:a16="http://schemas.microsoft.com/office/drawing/2014/main" val="1416550151"/>
                    </a:ext>
                  </a:extLst>
                </a:gridCol>
                <a:gridCol w="1217534">
                  <a:extLst>
                    <a:ext uri="{9D8B030D-6E8A-4147-A177-3AD203B41FA5}">
                      <a16:colId xmlns:a16="http://schemas.microsoft.com/office/drawing/2014/main" val="2848557598"/>
                    </a:ext>
                  </a:extLst>
                </a:gridCol>
                <a:gridCol w="1217534">
                  <a:extLst>
                    <a:ext uri="{9D8B030D-6E8A-4147-A177-3AD203B41FA5}">
                      <a16:colId xmlns:a16="http://schemas.microsoft.com/office/drawing/2014/main" val="1008695050"/>
                    </a:ext>
                  </a:extLst>
                </a:gridCol>
                <a:gridCol w="1217534">
                  <a:extLst>
                    <a:ext uri="{9D8B030D-6E8A-4147-A177-3AD203B41FA5}">
                      <a16:colId xmlns:a16="http://schemas.microsoft.com/office/drawing/2014/main" val="3312340413"/>
                    </a:ext>
                  </a:extLst>
                </a:gridCol>
                <a:gridCol w="1217534">
                  <a:extLst>
                    <a:ext uri="{9D8B030D-6E8A-4147-A177-3AD203B41FA5}">
                      <a16:colId xmlns:a16="http://schemas.microsoft.com/office/drawing/2014/main" val="3988970987"/>
                    </a:ext>
                  </a:extLst>
                </a:gridCol>
                <a:gridCol w="1217534">
                  <a:extLst>
                    <a:ext uri="{9D8B030D-6E8A-4147-A177-3AD203B41FA5}">
                      <a16:colId xmlns:a16="http://schemas.microsoft.com/office/drawing/2014/main" val="2564734616"/>
                    </a:ext>
                  </a:extLst>
                </a:gridCol>
                <a:gridCol w="1217534">
                  <a:extLst>
                    <a:ext uri="{9D8B030D-6E8A-4147-A177-3AD203B41FA5}">
                      <a16:colId xmlns:a16="http://schemas.microsoft.com/office/drawing/2014/main" val="2707667986"/>
                    </a:ext>
                  </a:extLst>
                </a:gridCol>
              </a:tblGrid>
              <a:tr h="370840">
                <a:tc>
                  <a:txBody>
                    <a:bodyPr/>
                    <a:lstStyle/>
                    <a:p>
                      <a:r>
                        <a:rPr lang="en-US" dirty="0"/>
                        <a:t>Symbol</a:t>
                      </a:r>
                    </a:p>
                  </a:txBody>
                  <a:tcPr/>
                </a:tc>
                <a:tc>
                  <a:txBody>
                    <a:bodyPr/>
                    <a:lstStyle/>
                    <a:p>
                      <a:r>
                        <a:rPr lang="en-US" dirty="0"/>
                        <a:t>A</a:t>
                      </a:r>
                    </a:p>
                  </a:txBody>
                  <a:tcPr/>
                </a:tc>
                <a:tc>
                  <a:txBody>
                    <a:bodyPr/>
                    <a:lstStyle/>
                    <a:p>
                      <a:r>
                        <a:rPr lang="en-US" dirty="0"/>
                        <a:t>B</a:t>
                      </a:r>
                    </a:p>
                  </a:txBody>
                  <a:tcPr/>
                </a:tc>
                <a:tc>
                  <a:txBody>
                    <a:bodyPr/>
                    <a:lstStyle/>
                    <a:p>
                      <a:r>
                        <a:rPr lang="en-US" dirty="0"/>
                        <a:t>C</a:t>
                      </a:r>
                    </a:p>
                  </a:txBody>
                  <a:tcPr/>
                </a:tc>
                <a:tc>
                  <a:txBody>
                    <a:bodyPr/>
                    <a:lstStyle/>
                    <a:p>
                      <a:r>
                        <a:rPr lang="en-US" dirty="0"/>
                        <a:t>D</a:t>
                      </a:r>
                    </a:p>
                  </a:txBody>
                  <a:tcPr/>
                </a:tc>
                <a:tc>
                  <a:txBody>
                    <a:bodyPr/>
                    <a:lstStyle/>
                    <a:p>
                      <a:r>
                        <a:rPr lang="en-US" dirty="0"/>
                        <a:t>E</a:t>
                      </a:r>
                    </a:p>
                  </a:txBody>
                  <a:tcPr/>
                </a:tc>
                <a:tc>
                  <a:txBody>
                    <a:bodyPr/>
                    <a:lstStyle/>
                    <a:p>
                      <a:r>
                        <a:rPr lang="en-US" dirty="0"/>
                        <a:t>F</a:t>
                      </a:r>
                    </a:p>
                  </a:txBody>
                  <a:tcPr/>
                </a:tc>
                <a:tc>
                  <a:txBody>
                    <a:bodyPr/>
                    <a:lstStyle/>
                    <a:p>
                      <a:r>
                        <a:rPr lang="en-US" dirty="0"/>
                        <a:t>G</a:t>
                      </a:r>
                    </a:p>
                  </a:txBody>
                  <a:tcPr/>
                </a:tc>
                <a:tc>
                  <a:txBody>
                    <a:bodyPr/>
                    <a:lstStyle/>
                    <a:p>
                      <a:r>
                        <a:rPr lang="en-US" dirty="0"/>
                        <a:t>H</a:t>
                      </a:r>
                    </a:p>
                  </a:txBody>
                  <a:tcPr/>
                </a:tc>
                <a:extLst>
                  <a:ext uri="{0D108BD9-81ED-4DB2-BD59-A6C34878D82A}">
                    <a16:rowId xmlns:a16="http://schemas.microsoft.com/office/drawing/2014/main" val="3275650355"/>
                  </a:ext>
                </a:extLst>
              </a:tr>
              <a:tr h="370840">
                <a:tc>
                  <a:txBody>
                    <a:bodyPr/>
                    <a:lstStyle/>
                    <a:p>
                      <a:r>
                        <a:rPr lang="en-US" dirty="0"/>
                        <a:t>Probability</a:t>
                      </a:r>
                    </a:p>
                  </a:txBody>
                  <a:tcPr/>
                </a:tc>
                <a:tc>
                  <a:txBody>
                    <a:bodyPr/>
                    <a:lstStyle/>
                    <a:p>
                      <a:r>
                        <a:rPr lang="en-US" dirty="0"/>
                        <a:t>0.30</a:t>
                      </a:r>
                    </a:p>
                  </a:txBody>
                  <a:tcPr/>
                </a:tc>
                <a:tc>
                  <a:txBody>
                    <a:bodyPr/>
                    <a:lstStyle/>
                    <a:p>
                      <a:r>
                        <a:rPr lang="en-US" dirty="0"/>
                        <a:t>0.20</a:t>
                      </a:r>
                    </a:p>
                  </a:txBody>
                  <a:tcPr/>
                </a:tc>
                <a:tc>
                  <a:txBody>
                    <a:bodyPr/>
                    <a:lstStyle/>
                    <a:p>
                      <a:r>
                        <a:rPr lang="en-US" dirty="0"/>
                        <a:t>0.15</a:t>
                      </a:r>
                    </a:p>
                  </a:txBody>
                  <a:tcPr/>
                </a:tc>
                <a:tc>
                  <a:txBody>
                    <a:bodyPr/>
                    <a:lstStyle/>
                    <a:p>
                      <a:r>
                        <a:rPr lang="en-US" dirty="0"/>
                        <a:t>0.12</a:t>
                      </a:r>
                    </a:p>
                  </a:txBody>
                  <a:tcPr/>
                </a:tc>
                <a:tc>
                  <a:txBody>
                    <a:bodyPr/>
                    <a:lstStyle/>
                    <a:p>
                      <a:r>
                        <a:rPr lang="en-US" dirty="0"/>
                        <a:t>0.10</a:t>
                      </a:r>
                    </a:p>
                  </a:txBody>
                  <a:tcPr/>
                </a:tc>
                <a:tc>
                  <a:txBody>
                    <a:bodyPr/>
                    <a:lstStyle/>
                    <a:p>
                      <a:r>
                        <a:rPr lang="en-US" dirty="0"/>
                        <a:t>0.07</a:t>
                      </a:r>
                    </a:p>
                  </a:txBody>
                  <a:tcPr/>
                </a:tc>
                <a:tc>
                  <a:txBody>
                    <a:bodyPr/>
                    <a:lstStyle/>
                    <a:p>
                      <a:r>
                        <a:rPr lang="en-US" dirty="0"/>
                        <a:t>0.04</a:t>
                      </a:r>
                    </a:p>
                  </a:txBody>
                  <a:tcPr/>
                </a:tc>
                <a:tc>
                  <a:txBody>
                    <a:bodyPr/>
                    <a:lstStyle/>
                    <a:p>
                      <a:r>
                        <a:rPr lang="en-US" dirty="0"/>
                        <a:t>0.02</a:t>
                      </a:r>
                    </a:p>
                  </a:txBody>
                  <a:tcPr/>
                </a:tc>
                <a:extLst>
                  <a:ext uri="{0D108BD9-81ED-4DB2-BD59-A6C34878D82A}">
                    <a16:rowId xmlns:a16="http://schemas.microsoft.com/office/drawing/2014/main" val="807081672"/>
                  </a:ext>
                </a:extLst>
              </a:tr>
            </a:tbl>
          </a:graphicData>
        </a:graphic>
      </p:graphicFrame>
      <p:sp>
        <p:nvSpPr>
          <p:cNvPr id="4" name="TextBox 3">
            <a:extLst>
              <a:ext uri="{FF2B5EF4-FFF2-40B4-BE49-F238E27FC236}">
                <a16:creationId xmlns:a16="http://schemas.microsoft.com/office/drawing/2014/main" id="{5C1C97BE-86BA-4879-98F5-DB2B25C8485C}"/>
              </a:ext>
            </a:extLst>
          </p:cNvPr>
          <p:cNvSpPr txBox="1"/>
          <p:nvPr/>
        </p:nvSpPr>
        <p:spPr>
          <a:xfrm>
            <a:off x="-273407" y="2911901"/>
            <a:ext cx="11924344" cy="369332"/>
          </a:xfrm>
          <a:prstGeom prst="rect">
            <a:avLst/>
          </a:prstGeom>
          <a:noFill/>
        </p:spPr>
        <p:txBody>
          <a:bodyPr wrap="square">
            <a:spAutoFit/>
          </a:bodyPr>
          <a:lstStyle/>
          <a:p>
            <a:pPr lvl="1"/>
            <a:r>
              <a:rPr lang="en-US" b="1" dirty="0">
                <a:latin typeface="Arial" panose="020B0604020202020204" pitchFamily="34" charset="0"/>
              </a:rPr>
              <a:t>Q: Generate the binary code using Shannon Fano coding for the given alphabets.</a:t>
            </a:r>
          </a:p>
        </p:txBody>
      </p:sp>
      <p:sp>
        <p:nvSpPr>
          <p:cNvPr id="5" name="TextBox 4">
            <a:extLst>
              <a:ext uri="{FF2B5EF4-FFF2-40B4-BE49-F238E27FC236}">
                <a16:creationId xmlns:a16="http://schemas.microsoft.com/office/drawing/2014/main" id="{5559D454-AA4C-4A63-9599-49BD8E1F9598}"/>
              </a:ext>
            </a:extLst>
          </p:cNvPr>
          <p:cNvSpPr txBox="1"/>
          <p:nvPr/>
        </p:nvSpPr>
        <p:spPr>
          <a:xfrm>
            <a:off x="-273407" y="4910395"/>
            <a:ext cx="11924344" cy="923330"/>
          </a:xfrm>
          <a:prstGeom prst="rect">
            <a:avLst/>
          </a:prstGeom>
          <a:noFill/>
        </p:spPr>
        <p:txBody>
          <a:bodyPr wrap="square">
            <a:spAutoFit/>
          </a:bodyPr>
          <a:lstStyle/>
          <a:p>
            <a:pPr lvl="1"/>
            <a:r>
              <a:rPr lang="en-US" b="1" dirty="0">
                <a:latin typeface="Arial" panose="020B0604020202020204" pitchFamily="34" charset="0"/>
              </a:rPr>
              <a:t>Q: A channel  has a bandwidth of 8KHz, what is the channel capacity if signal to noise ratio being 31. For the same channel capacity if signal to noise ratio is increased to 61. what is new channel bandwidth?</a:t>
            </a:r>
          </a:p>
        </p:txBody>
      </p:sp>
      <p:sp>
        <p:nvSpPr>
          <p:cNvPr id="6" name="Footer Placeholder 5">
            <a:extLst>
              <a:ext uri="{FF2B5EF4-FFF2-40B4-BE49-F238E27FC236}">
                <a16:creationId xmlns:a16="http://schemas.microsoft.com/office/drawing/2014/main" id="{FFE939EC-CAF0-C7B4-2CAA-48205FB2BBAC}"/>
              </a:ext>
            </a:extLst>
          </p:cNvPr>
          <p:cNvSpPr>
            <a:spLocks noGrp="1"/>
          </p:cNvSpPr>
          <p:nvPr>
            <p:ph type="ftr" sz="quarter" idx="11"/>
          </p:nvPr>
        </p:nvSpPr>
        <p:spPr/>
        <p:txBody>
          <a:bodyPr/>
          <a:lstStyle/>
          <a:p>
            <a:r>
              <a:rPr lang="en-IN"/>
              <a:t>Dr Saladi Saritha</a:t>
            </a:r>
          </a:p>
        </p:txBody>
      </p:sp>
      <p:sp>
        <p:nvSpPr>
          <p:cNvPr id="7" name="Slide Number Placeholder 6">
            <a:extLst>
              <a:ext uri="{FF2B5EF4-FFF2-40B4-BE49-F238E27FC236}">
                <a16:creationId xmlns:a16="http://schemas.microsoft.com/office/drawing/2014/main" id="{D80DE3F9-D883-F87A-0115-42ADEEC62845}"/>
              </a:ext>
            </a:extLst>
          </p:cNvPr>
          <p:cNvSpPr>
            <a:spLocks noGrp="1"/>
          </p:cNvSpPr>
          <p:nvPr>
            <p:ph type="sldNum" sz="quarter" idx="12"/>
          </p:nvPr>
        </p:nvSpPr>
        <p:spPr/>
        <p:txBody>
          <a:bodyPr/>
          <a:lstStyle/>
          <a:p>
            <a:fld id="{BAEA75B2-F555-4190-9D20-7B0AA5D969FF}" type="slidenum">
              <a:rPr lang="en-IN" smtClean="0"/>
              <a:t>26</a:t>
            </a:fld>
            <a:endParaRPr lang="en-IN"/>
          </a:p>
        </p:txBody>
      </p:sp>
    </p:spTree>
    <p:extLst>
      <p:ext uri="{BB962C8B-B14F-4D97-AF65-F5344CB8AC3E}">
        <p14:creationId xmlns:p14="http://schemas.microsoft.com/office/powerpoint/2010/main" val="3954265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97767" y="250049"/>
            <a:ext cx="19287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sz="3600" dirty="0">
                <a:effectLst/>
                <a:latin typeface="Times New Roman" panose="02020603050405020304" pitchFamily="18" charset="0"/>
                <a:ea typeface="Calibri" panose="020F0502020204030204" pitchFamily="34" charset="0"/>
              </a:rPr>
              <a:t>Example</a:t>
            </a:r>
            <a:endParaRPr lang="en-US" sz="5400" i="0" dirty="0">
              <a:solidFill>
                <a:srgbClr val="000000"/>
              </a:solidFill>
              <a:effectLst/>
              <a:latin typeface="Linux Libertine"/>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TextBox 2">
            <a:extLst>
              <a:ext uri="{FF2B5EF4-FFF2-40B4-BE49-F238E27FC236}">
                <a16:creationId xmlns:a16="http://schemas.microsoft.com/office/drawing/2014/main" id="{10172BD0-6DA6-4CB2-8132-24AECBBDD4BF}"/>
              </a:ext>
            </a:extLst>
          </p:cNvPr>
          <p:cNvSpPr txBox="1"/>
          <p:nvPr/>
        </p:nvSpPr>
        <p:spPr>
          <a:xfrm>
            <a:off x="-273407" y="1091158"/>
            <a:ext cx="11924344" cy="400110"/>
          </a:xfrm>
          <a:prstGeom prst="rect">
            <a:avLst/>
          </a:prstGeom>
          <a:noFill/>
        </p:spPr>
        <p:txBody>
          <a:bodyPr wrap="square">
            <a:spAutoFit/>
          </a:bodyPr>
          <a:lstStyle/>
          <a:p>
            <a:pPr lvl="1"/>
            <a:r>
              <a:rPr lang="en-US" sz="2000" dirty="0">
                <a:latin typeface="Arial" panose="020B0604020202020204" pitchFamily="34" charset="0"/>
              </a:rPr>
              <a:t>Q: Encode the sequence: ‘a b  c a d’ using arithmetic coding. P(a)=0.2, P(b)=0.3, P(c)=0.1, P(d)=0.4</a:t>
            </a:r>
          </a:p>
        </p:txBody>
      </p:sp>
      <p:sp>
        <p:nvSpPr>
          <p:cNvPr id="7" name="TextBox 6">
            <a:extLst>
              <a:ext uri="{FF2B5EF4-FFF2-40B4-BE49-F238E27FC236}">
                <a16:creationId xmlns:a16="http://schemas.microsoft.com/office/drawing/2014/main" id="{667E92EC-E166-3FAB-D243-EFC2522C2929}"/>
              </a:ext>
            </a:extLst>
          </p:cNvPr>
          <p:cNvSpPr txBox="1"/>
          <p:nvPr/>
        </p:nvSpPr>
        <p:spPr>
          <a:xfrm>
            <a:off x="191813" y="3262810"/>
            <a:ext cx="11808373" cy="1200329"/>
          </a:xfrm>
          <a:prstGeom prst="rect">
            <a:avLst/>
          </a:prstGeom>
          <a:noFill/>
        </p:spPr>
        <p:txBody>
          <a:bodyPr wrap="square">
            <a:spAutoFit/>
          </a:bodyPr>
          <a:lstStyle/>
          <a:p>
            <a:r>
              <a:rPr lang="en-IN" sz="2400" dirty="0">
                <a:latin typeface="Arial" panose="020B0604020202020204" pitchFamily="34" charset="0"/>
                <a:ea typeface="Calibri" panose="020F0502020204030204" pitchFamily="34" charset="0"/>
                <a:cs typeface="Arial" panose="020B0604020202020204" pitchFamily="34" charset="0"/>
              </a:rPr>
              <a:t>Q:</a:t>
            </a:r>
            <a:r>
              <a:rPr lang="en-IN" sz="2400" dirty="0">
                <a:effectLst/>
                <a:latin typeface="Arial" panose="020B0604020202020204" pitchFamily="34" charset="0"/>
                <a:ea typeface="Calibri" panose="020F0502020204030204" pitchFamily="34" charset="0"/>
                <a:cs typeface="Arial" panose="020B0604020202020204" pitchFamily="34" charset="0"/>
              </a:rPr>
              <a:t>A source can generate 3 symbols {a, b, c} with probability P(</a:t>
            </a:r>
            <a:r>
              <a:rPr lang="en-IN" sz="2400" dirty="0">
                <a:latin typeface="Arial" panose="020B0604020202020204" pitchFamily="34" charset="0"/>
                <a:ea typeface="Calibri" panose="020F0502020204030204" pitchFamily="34" charset="0"/>
                <a:cs typeface="Arial" panose="020B0604020202020204" pitchFamily="34" charset="0"/>
              </a:rPr>
              <a:t>a</a:t>
            </a:r>
            <a:r>
              <a:rPr lang="en-IN" sz="2400" dirty="0">
                <a:effectLst/>
                <a:latin typeface="Arial" panose="020B0604020202020204" pitchFamily="34" charset="0"/>
                <a:ea typeface="Calibri" panose="020F0502020204030204" pitchFamily="34" charset="0"/>
                <a:cs typeface="Arial" panose="020B0604020202020204" pitchFamily="34" charset="0"/>
              </a:rPr>
              <a:t>)= 0.8, P(</a:t>
            </a:r>
            <a:r>
              <a:rPr lang="en-IN" sz="2400" dirty="0">
                <a:latin typeface="Arial" panose="020B0604020202020204" pitchFamily="34" charset="0"/>
                <a:ea typeface="Calibri" panose="020F0502020204030204" pitchFamily="34" charset="0"/>
                <a:cs typeface="Arial" panose="020B0604020202020204" pitchFamily="34" charset="0"/>
              </a:rPr>
              <a:t>b</a:t>
            </a:r>
            <a:r>
              <a:rPr lang="en-IN" sz="2400" dirty="0">
                <a:effectLst/>
                <a:latin typeface="Arial" panose="020B0604020202020204" pitchFamily="34" charset="0"/>
                <a:ea typeface="Calibri" panose="020F0502020204030204" pitchFamily="34" charset="0"/>
                <a:cs typeface="Arial" panose="020B0604020202020204" pitchFamily="34" charset="0"/>
              </a:rPr>
              <a:t>)= 0.02, P(</a:t>
            </a:r>
            <a:r>
              <a:rPr lang="en-IN" sz="2400" dirty="0">
                <a:latin typeface="Arial" panose="020B0604020202020204" pitchFamily="34" charset="0"/>
                <a:ea typeface="Calibri" panose="020F0502020204030204" pitchFamily="34" charset="0"/>
                <a:cs typeface="Arial" panose="020B0604020202020204" pitchFamily="34" charset="0"/>
              </a:rPr>
              <a:t>c</a:t>
            </a:r>
            <a:r>
              <a:rPr lang="en-IN" sz="2400" dirty="0">
                <a:effectLst/>
                <a:latin typeface="Arial" panose="020B0604020202020204" pitchFamily="34" charset="0"/>
                <a:ea typeface="Calibri" panose="020F0502020204030204" pitchFamily="34" charset="0"/>
                <a:cs typeface="Arial" panose="020B0604020202020204" pitchFamily="34" charset="0"/>
              </a:rPr>
              <a:t>)= 0.18. The received TAG is ‘0.9663328’, decode the message using arithmetic coding without scaling</a:t>
            </a:r>
            <a:endParaRPr lang="en-IN" sz="2400" dirty="0">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116F5CE2-1D70-0E6A-CFB4-C1E6A92BDE73}"/>
              </a:ext>
            </a:extLst>
          </p:cNvPr>
          <p:cNvSpPr>
            <a:spLocks noGrp="1"/>
          </p:cNvSpPr>
          <p:nvPr>
            <p:ph type="ftr" sz="quarter" idx="11"/>
          </p:nvPr>
        </p:nvSpPr>
        <p:spPr/>
        <p:txBody>
          <a:bodyPr/>
          <a:lstStyle/>
          <a:p>
            <a:r>
              <a:rPr lang="en-IN"/>
              <a:t>Dr Saladi Saritha</a:t>
            </a:r>
          </a:p>
        </p:txBody>
      </p:sp>
      <p:sp>
        <p:nvSpPr>
          <p:cNvPr id="4" name="Slide Number Placeholder 3">
            <a:extLst>
              <a:ext uri="{FF2B5EF4-FFF2-40B4-BE49-F238E27FC236}">
                <a16:creationId xmlns:a16="http://schemas.microsoft.com/office/drawing/2014/main" id="{F83D08CC-FD60-419A-881F-8063D5E65E1F}"/>
              </a:ext>
            </a:extLst>
          </p:cNvPr>
          <p:cNvSpPr>
            <a:spLocks noGrp="1"/>
          </p:cNvSpPr>
          <p:nvPr>
            <p:ph type="sldNum" sz="quarter" idx="12"/>
          </p:nvPr>
        </p:nvSpPr>
        <p:spPr/>
        <p:txBody>
          <a:bodyPr/>
          <a:lstStyle/>
          <a:p>
            <a:fld id="{BAEA75B2-F555-4190-9D20-7B0AA5D969FF}" type="slidenum">
              <a:rPr lang="en-IN" smtClean="0"/>
              <a:t>27</a:t>
            </a:fld>
            <a:endParaRPr lang="en-IN"/>
          </a:p>
        </p:txBody>
      </p:sp>
    </p:spTree>
    <p:extLst>
      <p:ext uri="{BB962C8B-B14F-4D97-AF65-F5344CB8AC3E}">
        <p14:creationId xmlns:p14="http://schemas.microsoft.com/office/powerpoint/2010/main" val="374368384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4458</TotalTime>
  <Words>2363</Words>
  <Application>Microsoft Office PowerPoint</Application>
  <PresentationFormat>Widescreen</PresentationFormat>
  <Paragraphs>381</Paragraphs>
  <Slides>27</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Light</vt:lpstr>
      <vt:lpstr>Cambria Math</vt:lpstr>
      <vt:lpstr>Linux Libertine</vt:lpstr>
      <vt:lpstr>Times New Roman</vt:lpstr>
      <vt:lpstr>Times-Roman</vt:lpstr>
      <vt:lpstr>Retrospect</vt:lpstr>
      <vt:lpstr>Information Theory and Coding  Module 3: Lossless Compression Techniques</vt:lpstr>
      <vt:lpstr>TOPICS TO BE COVERED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Theory</dc:title>
  <dc:creator>sameeulla.khan23@gmail.com</dc:creator>
  <cp:lastModifiedBy>Saladi Saritha</cp:lastModifiedBy>
  <cp:revision>241</cp:revision>
  <dcterms:created xsi:type="dcterms:W3CDTF">2019-07-05T05:58:21Z</dcterms:created>
  <dcterms:modified xsi:type="dcterms:W3CDTF">2026-01-23T12:15:28Z</dcterms:modified>
</cp:coreProperties>
</file>