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769" r:id="rId3"/>
    <p:sldId id="749" r:id="rId4"/>
    <p:sldId id="750" r:id="rId5"/>
    <p:sldId id="751" r:id="rId6"/>
    <p:sldId id="752" r:id="rId7"/>
    <p:sldId id="753" r:id="rId8"/>
    <p:sldId id="754" r:id="rId9"/>
    <p:sldId id="755" r:id="rId10"/>
    <p:sldId id="756" r:id="rId11"/>
    <p:sldId id="757" r:id="rId12"/>
    <p:sldId id="758" r:id="rId13"/>
    <p:sldId id="760" r:id="rId14"/>
    <p:sldId id="761" r:id="rId15"/>
    <p:sldId id="763" r:id="rId16"/>
    <p:sldId id="778" r:id="rId17"/>
    <p:sldId id="764" r:id="rId18"/>
    <p:sldId id="777" r:id="rId19"/>
    <p:sldId id="765" r:id="rId20"/>
    <p:sldId id="766" r:id="rId21"/>
    <p:sldId id="780" r:id="rId22"/>
    <p:sldId id="779" r:id="rId23"/>
    <p:sldId id="767" r:id="rId24"/>
    <p:sldId id="768" r:id="rId25"/>
    <p:sldId id="267" r:id="rId26"/>
    <p:sldId id="770" r:id="rId27"/>
    <p:sldId id="771" r:id="rId28"/>
    <p:sldId id="772" r:id="rId29"/>
    <p:sldId id="773" r:id="rId30"/>
    <p:sldId id="774" r:id="rId31"/>
    <p:sldId id="775" r:id="rId32"/>
    <p:sldId id="781" r:id="rId33"/>
    <p:sldId id="782"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7" d="100"/>
          <a:sy n="97" d="100"/>
        </p:scale>
        <p:origin x="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B4F893-DF5F-4A3B-AF46-4FFD08C68E9A}" type="datetimeFigureOut">
              <a:rPr lang="en-US" smtClean="0"/>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18D4-E752-40F5-AC7A-051EE8BE05E9}" type="slidenum">
              <a:rPr lang="en-US" smtClean="0"/>
              <a:t>‹#›</a:t>
            </a:fld>
            <a:endParaRPr lang="en-US"/>
          </a:p>
        </p:txBody>
      </p:sp>
    </p:spTree>
    <p:extLst>
      <p:ext uri="{BB962C8B-B14F-4D97-AF65-F5344CB8AC3E}">
        <p14:creationId xmlns:p14="http://schemas.microsoft.com/office/powerpoint/2010/main" val="3083136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109562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204768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677111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dirty="0"/>
          </a:p>
        </p:txBody>
      </p:sp>
    </p:spTree>
    <p:extLst>
      <p:ext uri="{BB962C8B-B14F-4D97-AF65-F5344CB8AC3E}">
        <p14:creationId xmlns:p14="http://schemas.microsoft.com/office/powerpoint/2010/main" val="2028679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870991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336617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571991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498130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0153932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496582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1298103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926364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351898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dirty="0"/>
          </a:p>
        </p:txBody>
      </p:sp>
    </p:spTree>
    <p:extLst>
      <p:ext uri="{BB962C8B-B14F-4D97-AF65-F5344CB8AC3E}">
        <p14:creationId xmlns:p14="http://schemas.microsoft.com/office/powerpoint/2010/main" val="483562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dirty="0"/>
          </a:p>
        </p:txBody>
      </p:sp>
    </p:spTree>
    <p:extLst>
      <p:ext uri="{BB962C8B-B14F-4D97-AF65-F5344CB8AC3E}">
        <p14:creationId xmlns:p14="http://schemas.microsoft.com/office/powerpoint/2010/main" val="2094406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dirty="0"/>
          </a:p>
        </p:txBody>
      </p:sp>
    </p:spTree>
    <p:extLst>
      <p:ext uri="{BB962C8B-B14F-4D97-AF65-F5344CB8AC3E}">
        <p14:creationId xmlns:p14="http://schemas.microsoft.com/office/powerpoint/2010/main" val="1220926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8F076AA0-D7E3-47CB-94C1-D226F8894D84}"/>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b="0">
                <a:latin typeface="Times New Roman" panose="02020603050405020304" pitchFamily="18" charset="0"/>
              </a:rPr>
              <a:t>1.#</a:t>
            </a:r>
          </a:p>
        </p:txBody>
      </p:sp>
      <p:sp>
        <p:nvSpPr>
          <p:cNvPr id="10243" name="Rectangle 2">
            <a:extLst>
              <a:ext uri="{FF2B5EF4-FFF2-40B4-BE49-F238E27FC236}">
                <a16:creationId xmlns:a16="http://schemas.microsoft.com/office/drawing/2014/main" id="{49DBDD4A-EE08-42FC-A21F-17804FAA3FD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F27B0CE-C315-4311-873E-D1BDB958CC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dirty="0"/>
          </a:p>
        </p:txBody>
      </p:sp>
    </p:spTree>
    <p:extLst>
      <p:ext uri="{BB962C8B-B14F-4D97-AF65-F5344CB8AC3E}">
        <p14:creationId xmlns:p14="http://schemas.microsoft.com/office/powerpoint/2010/main" val="285037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5B18D4-E752-40F5-AC7A-051EE8BE05E9}" type="slidenum">
              <a:rPr lang="en-US" smtClean="0"/>
              <a:t>28</a:t>
            </a:fld>
            <a:endParaRPr lang="en-US"/>
          </a:p>
        </p:txBody>
      </p:sp>
    </p:spTree>
    <p:extLst>
      <p:ext uri="{BB962C8B-B14F-4D97-AF65-F5344CB8AC3E}">
        <p14:creationId xmlns:p14="http://schemas.microsoft.com/office/powerpoint/2010/main" val="711189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2329123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330452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830195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354941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6A5A51-7622-4CA2-995F-779F87ED2362}" type="datetimeFigureOut">
              <a:rPr lang="en-IN" smtClean="0"/>
              <a:t>23-01-2026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917778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6A5A51-7622-4CA2-995F-779F87ED2362}" type="datetimeFigureOut">
              <a:rPr lang="en-IN" smtClean="0"/>
              <a:t>23-01-2026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900684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A5A51-7622-4CA2-995F-779F87ED2362}" type="datetimeFigureOut">
              <a:rPr lang="en-IN" smtClean="0"/>
              <a:t>23-01-2026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832996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90215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787434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4154324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EA75B2-F555-4190-9D20-7B0AA5D969F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91699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23807638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EA75B2-F555-4190-9D20-7B0AA5D969F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25860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C6A5A51-7622-4CA2-995F-779F87ED2362}"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1663263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24824961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A5A51-7622-4CA2-995F-779F87ED2362}"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EA75B2-F555-4190-9D20-7B0AA5D969FF}" type="slidenum">
              <a:rPr lang="en-IN" smtClean="0"/>
              <a:t>‹#›</a:t>
            </a:fld>
            <a:endParaRPr lang="en-IN"/>
          </a:p>
        </p:txBody>
      </p:sp>
    </p:spTree>
    <p:extLst>
      <p:ext uri="{BB962C8B-B14F-4D97-AF65-F5344CB8AC3E}">
        <p14:creationId xmlns:p14="http://schemas.microsoft.com/office/powerpoint/2010/main" val="3641936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C6A5A51-7622-4CA2-995F-779F87ED2362}" type="datetimeFigureOut">
              <a:rPr lang="en-IN" smtClean="0"/>
              <a:t>23-01-2026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AEA75B2-F555-4190-9D20-7B0AA5D969FF}" type="slidenum">
              <a:rPr lang="en-IN" smtClean="0"/>
              <a:t>‹#›</a:t>
            </a:fld>
            <a:endParaRPr lang="en-IN"/>
          </a:p>
        </p:txBody>
      </p:sp>
    </p:spTree>
    <p:extLst>
      <p:ext uri="{BB962C8B-B14F-4D97-AF65-F5344CB8AC3E}">
        <p14:creationId xmlns:p14="http://schemas.microsoft.com/office/powerpoint/2010/main" val="16053657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emf"/><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5.emf"/><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7.emf"/></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9.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B9CDB-30C5-4DF0-81D5-2147421AFE19}"/>
              </a:ext>
            </a:extLst>
          </p:cNvPr>
          <p:cNvSpPr>
            <a:spLocks noGrp="1"/>
          </p:cNvSpPr>
          <p:nvPr>
            <p:ph type="ctrTitle"/>
          </p:nvPr>
        </p:nvSpPr>
        <p:spPr>
          <a:xfrm>
            <a:off x="1359108" y="1057457"/>
            <a:ext cx="9144000" cy="1655762"/>
          </a:xfrm>
        </p:spPr>
        <p:txBody>
          <a:bodyPr>
            <a:normAutofit fontScale="90000"/>
          </a:bodyPr>
          <a:lstStyle/>
          <a:p>
            <a:r>
              <a:rPr lang="en-US" sz="4800" b="1" dirty="0">
                <a:solidFill>
                  <a:srgbClr val="000000"/>
                </a:solidFill>
                <a:effectLst/>
                <a:latin typeface="Times New Roman" panose="02020603050405020304" pitchFamily="18" charset="0"/>
                <a:ea typeface="Calibri" panose="020F0502020204030204" pitchFamily="34" charset="0"/>
              </a:rPr>
              <a:t>Information Theory and Coding</a:t>
            </a:r>
            <a:br>
              <a:rPr lang="en-US" sz="4800" b="1" dirty="0">
                <a:solidFill>
                  <a:srgbClr val="000000"/>
                </a:solidFill>
                <a:effectLst/>
                <a:latin typeface="Times New Roman" panose="02020603050405020304" pitchFamily="18" charset="0"/>
                <a:ea typeface="Calibri" panose="020F0502020204030204" pitchFamily="34" charset="0"/>
              </a:rPr>
            </a:br>
            <a:br>
              <a:rPr lang="en-US" sz="4800" b="1" dirty="0">
                <a:solidFill>
                  <a:srgbClr val="000000"/>
                </a:solidFill>
                <a:effectLst/>
                <a:latin typeface="Times New Roman" panose="02020603050405020304" pitchFamily="18" charset="0"/>
                <a:ea typeface="Calibri" panose="020F0502020204030204" pitchFamily="34" charset="0"/>
              </a:rPr>
            </a:br>
            <a:r>
              <a:rPr lang="en-US" sz="2800" b="1" dirty="0">
                <a:solidFill>
                  <a:srgbClr val="000000"/>
                </a:solidFill>
                <a:effectLst/>
                <a:latin typeface="Times New Roman" panose="02020603050405020304" pitchFamily="18" charset="0"/>
                <a:ea typeface="Calibri" panose="020F0502020204030204" pitchFamily="34" charset="0"/>
              </a:rPr>
              <a:t>Module 2</a:t>
            </a:r>
            <a:endParaRPr lang="en-IN" sz="16600" dirty="0"/>
          </a:p>
        </p:txBody>
      </p:sp>
      <p:sp>
        <p:nvSpPr>
          <p:cNvPr id="3" name="Subtitle 2">
            <a:extLst>
              <a:ext uri="{FF2B5EF4-FFF2-40B4-BE49-F238E27FC236}">
                <a16:creationId xmlns:a16="http://schemas.microsoft.com/office/drawing/2014/main" id="{BEAE7386-E157-48D3-92C8-DF7E29AA86B4}"/>
              </a:ext>
            </a:extLst>
          </p:cNvPr>
          <p:cNvSpPr>
            <a:spLocks noGrp="1"/>
          </p:cNvSpPr>
          <p:nvPr>
            <p:ph type="subTitle" idx="1"/>
          </p:nvPr>
        </p:nvSpPr>
        <p:spPr>
          <a:xfrm>
            <a:off x="2123768" y="3562709"/>
            <a:ext cx="9144000" cy="2588900"/>
          </a:xfrm>
        </p:spPr>
        <p:txBody>
          <a:bodyPr>
            <a:normAutofit/>
          </a:bodyPr>
          <a:lstStyle/>
          <a:p>
            <a:endParaRPr lang="en-IN" dirty="0"/>
          </a:p>
          <a:p>
            <a:r>
              <a:rPr lang="en-IN" b="1" dirty="0"/>
              <a:t>Presented By:</a:t>
            </a:r>
          </a:p>
          <a:p>
            <a:r>
              <a:rPr lang="en-IN" b="1" dirty="0" err="1"/>
              <a:t>Dr.</a:t>
            </a:r>
            <a:r>
              <a:rPr lang="en-IN" b="1" dirty="0"/>
              <a:t> Saladi Saritha</a:t>
            </a:r>
          </a:p>
          <a:p>
            <a:r>
              <a:rPr lang="en-IN" b="1" dirty="0"/>
              <a:t>Associate Professor Grade 1</a:t>
            </a:r>
          </a:p>
          <a:p>
            <a:r>
              <a:rPr lang="en-IN" b="1" dirty="0"/>
              <a:t>School of Electronics  Engineering </a:t>
            </a:r>
          </a:p>
          <a:p>
            <a:r>
              <a:rPr lang="en-IN" b="1" dirty="0"/>
              <a:t>VIT-AP University</a:t>
            </a:r>
          </a:p>
        </p:txBody>
      </p:sp>
    </p:spTree>
    <p:extLst>
      <p:ext uri="{BB962C8B-B14F-4D97-AF65-F5344CB8AC3E}">
        <p14:creationId xmlns:p14="http://schemas.microsoft.com/office/powerpoint/2010/main" val="3356835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E278-34D0-A1ED-0EBB-D3ADDB5285DC}"/>
              </a:ext>
            </a:extLst>
          </p:cNvPr>
          <p:cNvSpPr>
            <a:spLocks noGrp="1"/>
          </p:cNvSpPr>
          <p:nvPr>
            <p:ph type="title"/>
          </p:nvPr>
        </p:nvSpPr>
        <p:spPr/>
        <p:txBody>
          <a:bodyPr/>
          <a:lstStyle/>
          <a:p>
            <a:r>
              <a:rPr lang="en-IN" dirty="0"/>
              <a:t>Topics </a:t>
            </a:r>
          </a:p>
        </p:txBody>
      </p:sp>
      <p:graphicFrame>
        <p:nvGraphicFramePr>
          <p:cNvPr id="4" name="Table 3">
            <a:extLst>
              <a:ext uri="{FF2B5EF4-FFF2-40B4-BE49-F238E27FC236}">
                <a16:creationId xmlns:a16="http://schemas.microsoft.com/office/drawing/2014/main" id="{FD211324-8AE3-2FC1-C1FA-F4A3997BB876}"/>
              </a:ext>
            </a:extLst>
          </p:cNvPr>
          <p:cNvGraphicFramePr>
            <a:graphicFrameLocks noGrp="1"/>
          </p:cNvGraphicFramePr>
          <p:nvPr>
            <p:extLst>
              <p:ext uri="{D42A27DB-BD31-4B8C-83A1-F6EECF244321}">
                <p14:modId xmlns:p14="http://schemas.microsoft.com/office/powerpoint/2010/main" val="2771917365"/>
              </p:ext>
            </p:extLst>
          </p:nvPr>
        </p:nvGraphicFramePr>
        <p:xfrm>
          <a:off x="1111045" y="1543664"/>
          <a:ext cx="9655278" cy="4690225"/>
        </p:xfrm>
        <a:graphic>
          <a:graphicData uri="http://schemas.openxmlformats.org/drawingml/2006/table">
            <a:tbl>
              <a:tblPr firstRow="1" firstCol="1" bandRow="1">
                <a:tableStyleId>{5C22544A-7EE6-4342-B048-85BDC9FD1C3A}</a:tableStyleId>
              </a:tblPr>
              <a:tblGrid>
                <a:gridCol w="9655278">
                  <a:extLst>
                    <a:ext uri="{9D8B030D-6E8A-4147-A177-3AD203B41FA5}">
                      <a16:colId xmlns:a16="http://schemas.microsoft.com/office/drawing/2014/main" val="2399792098"/>
                    </a:ext>
                  </a:extLst>
                </a:gridCol>
              </a:tblGrid>
              <a:tr h="4690225">
                <a:tc>
                  <a:txBody>
                    <a:bodyPr/>
                    <a:lstStyle/>
                    <a:p>
                      <a:pPr marL="171450" indent="-171450" algn="just">
                        <a:lnSpc>
                          <a:spcPct val="115000"/>
                        </a:lnSpc>
                        <a:spcAft>
                          <a:spcPts val="1000"/>
                        </a:spcAft>
                        <a:buFont typeface="Wingdings" panose="05000000000000000000" pitchFamily="2" charset="2"/>
                        <a:buChar char="q"/>
                      </a:pPr>
                      <a:r>
                        <a:rPr lang="en-US" sz="2000" dirty="0">
                          <a:solidFill>
                            <a:schemeClr val="tx1"/>
                          </a:solidFill>
                          <a:effectLst/>
                        </a:rPr>
                        <a:t>Joint entropy, </a:t>
                      </a:r>
                    </a:p>
                    <a:p>
                      <a:pPr marL="171450" indent="-171450" algn="just">
                        <a:lnSpc>
                          <a:spcPct val="115000"/>
                        </a:lnSpc>
                        <a:spcAft>
                          <a:spcPts val="1000"/>
                        </a:spcAft>
                        <a:buFont typeface="Wingdings" panose="05000000000000000000" pitchFamily="2" charset="2"/>
                        <a:buChar char="q"/>
                      </a:pPr>
                      <a:r>
                        <a:rPr lang="en-US" sz="2000" dirty="0">
                          <a:solidFill>
                            <a:schemeClr val="tx1"/>
                          </a:solidFill>
                          <a:effectLst/>
                        </a:rPr>
                        <a:t>Conditional entropy, </a:t>
                      </a:r>
                    </a:p>
                    <a:p>
                      <a:pPr marL="171450" indent="-171450" algn="just">
                        <a:lnSpc>
                          <a:spcPct val="115000"/>
                        </a:lnSpc>
                        <a:spcAft>
                          <a:spcPts val="1000"/>
                        </a:spcAft>
                        <a:buFont typeface="Wingdings" panose="05000000000000000000" pitchFamily="2" charset="2"/>
                        <a:buChar char="q"/>
                      </a:pPr>
                      <a:r>
                        <a:rPr lang="en-US" sz="2000" dirty="0">
                          <a:solidFill>
                            <a:schemeClr val="tx1"/>
                          </a:solidFill>
                          <a:effectLst/>
                        </a:rPr>
                        <a:t>Mutual information, </a:t>
                      </a:r>
                    </a:p>
                    <a:p>
                      <a:pPr marL="171450" indent="-171450" algn="just">
                        <a:lnSpc>
                          <a:spcPct val="115000"/>
                        </a:lnSpc>
                        <a:spcAft>
                          <a:spcPts val="1000"/>
                        </a:spcAft>
                        <a:buFont typeface="Wingdings" panose="05000000000000000000" pitchFamily="2" charset="2"/>
                        <a:buChar char="q"/>
                      </a:pPr>
                      <a:r>
                        <a:rPr lang="en-US" sz="2000" dirty="0">
                          <a:solidFill>
                            <a:schemeClr val="tx1"/>
                          </a:solidFill>
                          <a:effectLst/>
                        </a:rPr>
                        <a:t>Discrete memoryless channels - BSC, BEC, noise-free channel, Channel with independent I/O, </a:t>
                      </a:r>
                    </a:p>
                    <a:p>
                      <a:pPr marL="171450" indent="-171450" algn="just">
                        <a:lnSpc>
                          <a:spcPct val="115000"/>
                        </a:lnSpc>
                        <a:spcAft>
                          <a:spcPts val="1000"/>
                        </a:spcAft>
                        <a:buFont typeface="Wingdings" panose="05000000000000000000" pitchFamily="2" charset="2"/>
                        <a:buChar char="q"/>
                      </a:pPr>
                      <a:r>
                        <a:rPr lang="en-US" sz="2000" dirty="0">
                          <a:solidFill>
                            <a:schemeClr val="tx1"/>
                          </a:solidFill>
                          <a:effectLst/>
                        </a:rPr>
                        <a:t>Cascaded channels. Channel Capacity.</a:t>
                      </a:r>
                      <a:endParaRPr lang="en-IN" sz="2000" dirty="0">
                        <a:solidFill>
                          <a:schemeClr val="tx1"/>
                        </a:solidFill>
                        <a:effectLst/>
                      </a:endParaRPr>
                    </a:p>
                    <a:p>
                      <a:pPr marL="171450" indent="-171450" algn="just">
                        <a:lnSpc>
                          <a:spcPct val="115000"/>
                        </a:lnSpc>
                        <a:spcAft>
                          <a:spcPts val="1000"/>
                        </a:spcAft>
                        <a:buFont typeface="Wingdings" panose="05000000000000000000" pitchFamily="2" charset="2"/>
                        <a:buChar char="q"/>
                      </a:pPr>
                      <a:r>
                        <a:rPr lang="en-US" sz="2000" dirty="0">
                          <a:solidFill>
                            <a:schemeClr val="tx1"/>
                          </a:solidFill>
                          <a:effectLst/>
                        </a:rPr>
                        <a:t> </a:t>
                      </a:r>
                      <a:r>
                        <a:rPr lang="en-US" sz="2000" dirty="0" err="1">
                          <a:solidFill>
                            <a:schemeClr val="tx1"/>
                          </a:solidFill>
                          <a:effectLst/>
                        </a:rPr>
                        <a:t>Kullback</a:t>
                      </a:r>
                      <a:r>
                        <a:rPr lang="en-US" sz="2000" dirty="0">
                          <a:solidFill>
                            <a:schemeClr val="tx1"/>
                          </a:solidFill>
                          <a:effectLst/>
                        </a:rPr>
                        <a:t>–</a:t>
                      </a:r>
                      <a:r>
                        <a:rPr lang="en-US" sz="2000" dirty="0" err="1">
                          <a:solidFill>
                            <a:schemeClr val="tx1"/>
                          </a:solidFill>
                          <a:effectLst/>
                        </a:rPr>
                        <a:t>Leibler</a:t>
                      </a:r>
                      <a:r>
                        <a:rPr lang="en-US" sz="2000" dirty="0">
                          <a:solidFill>
                            <a:schemeClr val="tx1"/>
                          </a:solidFill>
                          <a:effectLst/>
                        </a:rPr>
                        <a:t> divergence (Relative Entropy),</a:t>
                      </a:r>
                    </a:p>
                    <a:p>
                      <a:pPr marL="171450" indent="-171450" algn="just">
                        <a:lnSpc>
                          <a:spcPct val="115000"/>
                        </a:lnSpc>
                        <a:spcAft>
                          <a:spcPts val="1000"/>
                        </a:spcAft>
                        <a:buFont typeface="Wingdings" panose="05000000000000000000" pitchFamily="2" charset="2"/>
                        <a:buChar char="q"/>
                      </a:pPr>
                      <a:r>
                        <a:rPr lang="en-US" sz="2000" dirty="0">
                          <a:solidFill>
                            <a:schemeClr val="tx1"/>
                          </a:solidFill>
                          <a:effectLst/>
                        </a:rPr>
                        <a:t> Cross-Entropy, </a:t>
                      </a:r>
                    </a:p>
                    <a:p>
                      <a:pPr marL="171450" indent="-171450" algn="just">
                        <a:lnSpc>
                          <a:spcPct val="115000"/>
                        </a:lnSpc>
                        <a:spcAft>
                          <a:spcPts val="1000"/>
                        </a:spcAft>
                        <a:buFont typeface="Wingdings" panose="05000000000000000000" pitchFamily="2" charset="2"/>
                        <a:buChar char="q"/>
                      </a:pPr>
                      <a:r>
                        <a:rPr lang="en-US" sz="2000" dirty="0">
                          <a:solidFill>
                            <a:schemeClr val="tx1"/>
                          </a:solidFill>
                          <a:effectLst/>
                        </a:rPr>
                        <a:t>Jensen–Shannon divergence</a:t>
                      </a:r>
                      <a:endPar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3076571873"/>
                  </a:ext>
                </a:extLst>
              </a:tr>
            </a:tbl>
          </a:graphicData>
        </a:graphic>
      </p:graphicFrame>
    </p:spTree>
    <p:extLst>
      <p:ext uri="{BB962C8B-B14F-4D97-AF65-F5344CB8AC3E}">
        <p14:creationId xmlns:p14="http://schemas.microsoft.com/office/powerpoint/2010/main" val="3421941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253524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Times New Roman" panose="02020603050405020304" pitchFamily="18" charset="0"/>
                <a:cs typeface="Times New Roman" panose="02020603050405020304" pitchFamily="18" charset="0"/>
              </a:rPr>
              <a:t>Joint entropy</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a:extLst>
              <a:ext uri="{FF2B5EF4-FFF2-40B4-BE49-F238E27FC236}">
                <a16:creationId xmlns:a16="http://schemas.microsoft.com/office/drawing/2014/main" id="{0083D19A-9286-42E1-86BC-089823FFD167}"/>
              </a:ext>
            </a:extLst>
          </p:cNvPr>
          <p:cNvSpPr txBox="1"/>
          <p:nvPr/>
        </p:nvSpPr>
        <p:spPr>
          <a:xfrm>
            <a:off x="149903" y="1117312"/>
            <a:ext cx="12192000" cy="1477328"/>
          </a:xfrm>
          <a:prstGeom prst="rect">
            <a:avLst/>
          </a:prstGeom>
          <a:noFill/>
        </p:spPr>
        <p:txBody>
          <a:bodyPr wrap="square">
            <a:spAutoFit/>
          </a:bodyPr>
          <a:lstStyle/>
          <a:p>
            <a:r>
              <a:rPr lang="en-US" b="0" i="0" dirty="0">
                <a:solidFill>
                  <a:srgbClr val="202122"/>
                </a:solidFill>
                <a:effectLst/>
                <a:latin typeface="Arial" panose="020B0604020202020204" pitchFamily="34" charset="0"/>
              </a:rPr>
              <a:t>J</a:t>
            </a:r>
            <a:r>
              <a:rPr lang="en-US" dirty="0">
                <a:solidFill>
                  <a:srgbClr val="202122"/>
                </a:solidFill>
                <a:latin typeface="Arial" panose="020B0604020202020204" pitchFamily="34" charset="0"/>
              </a:rPr>
              <a:t>oint Entropy is a measure of the uncertainty associated with a set of variables.</a:t>
            </a:r>
          </a:p>
          <a:p>
            <a:endParaRPr lang="en-US" dirty="0">
              <a:solidFill>
                <a:srgbClr val="202122"/>
              </a:solidFill>
              <a:latin typeface="Arial" panose="020B0604020202020204" pitchFamily="34" charset="0"/>
            </a:endParaRPr>
          </a:p>
          <a:p>
            <a:r>
              <a:rPr lang="en-US" dirty="0">
                <a:solidFill>
                  <a:srgbClr val="202122"/>
                </a:solidFill>
                <a:latin typeface="Arial" panose="020B0604020202020204" pitchFamily="34" charset="0"/>
              </a:rPr>
              <a:t>Joint Entropy of two discrete random variables X and Y  with a joint distribution p(x, y) may be defined as:</a:t>
            </a:r>
          </a:p>
          <a:p>
            <a:endParaRPr lang="en-US" dirty="0">
              <a:solidFill>
                <a:srgbClr val="202122"/>
              </a:solidFill>
              <a:latin typeface="Arial" panose="020B0604020202020204" pitchFamily="34" charset="0"/>
            </a:endParaRPr>
          </a:p>
          <a:p>
            <a:endParaRPr lang="en-US" dirty="0">
              <a:solidFill>
                <a:srgbClr val="202122"/>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CC62F16-5459-44D3-9B62-B571D6BDB4D6}"/>
                  </a:ext>
                </a:extLst>
              </p:cNvPr>
              <p:cNvSpPr txBox="1"/>
              <p:nvPr/>
            </p:nvSpPr>
            <p:spPr>
              <a:xfrm>
                <a:off x="3192904" y="2243069"/>
                <a:ext cx="5950025" cy="78521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𝑯</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𝑿</m:t>
                          </m:r>
                          <m:r>
                            <a:rPr lang="en-US" sz="2000" b="1" i="1" smtClean="0">
                              <a:latin typeface="Cambria Math" panose="02040503050406030204" pitchFamily="18" charset="0"/>
                            </a:rPr>
                            <m:t>,</m:t>
                          </m:r>
                          <m:r>
                            <a:rPr lang="en-US" sz="2000" b="1" i="1" smtClean="0">
                              <a:latin typeface="Cambria Math" panose="02040503050406030204" pitchFamily="18" charset="0"/>
                            </a:rPr>
                            <m:t>𝒀</m:t>
                          </m:r>
                        </m:e>
                      </m:d>
                      <m:r>
                        <a:rPr lang="en-US" sz="2000" b="1" i="1" smtClean="0">
                          <a:latin typeface="Cambria Math" panose="02040503050406030204" pitchFamily="18" charset="0"/>
                        </a:rPr>
                        <m:t>=−</m:t>
                      </m:r>
                      <m:nary>
                        <m:naryPr>
                          <m:chr m:val="∑"/>
                          <m:supHide m:val="on"/>
                          <m:ctrlPr>
                            <a:rPr lang="en-US" sz="2000" b="1" i="1" smtClean="0">
                              <a:latin typeface="Cambria Math" panose="02040503050406030204" pitchFamily="18" charset="0"/>
                            </a:rPr>
                          </m:ctrlPr>
                        </m:naryPr>
                        <m:sub>
                          <m:r>
                            <m:rPr>
                              <m:brk m:alnAt="7"/>
                            </m:rPr>
                            <a:rPr lang="en-US" sz="2000" b="1" i="1" smtClean="0">
                              <a:latin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𝑿</m:t>
                          </m:r>
                        </m:sub>
                        <m:sup/>
                        <m:e>
                          <m:nary>
                            <m:naryPr>
                              <m:chr m:val="∑"/>
                              <m:supHide m:val="on"/>
                              <m:ctrlPr>
                                <a:rPr lang="en-US" sz="2000" b="1" i="1" smtClean="0">
                                  <a:latin typeface="Cambria Math" panose="02040503050406030204" pitchFamily="18" charset="0"/>
                                </a:rPr>
                              </m:ctrlPr>
                            </m:naryPr>
                            <m:sub>
                              <m:r>
                                <m:rPr>
                                  <m:brk m:alnAt="7"/>
                                </m:rPr>
                                <a:rPr lang="en-US" sz="2000" b="1" i="1" smtClean="0">
                                  <a:latin typeface="Cambria Math" panose="02040503050406030204" pitchFamily="18" charset="0"/>
                                </a:rPr>
                                <m:t>𝒚</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𝒀</m:t>
                              </m:r>
                            </m:sub>
                            <m:sup/>
                            <m:e>
                              <m:r>
                                <a:rPr lang="en-US" sz="2000" b="1" i="1" smtClean="0">
                                  <a:latin typeface="Cambria Math" panose="02040503050406030204" pitchFamily="18" charset="0"/>
                                </a:rPr>
                                <m:t>𝒑</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e>
                              </m:d>
                              <m:r>
                                <a:rPr lang="en-US" sz="2000" b="1" i="0" smtClean="0">
                                  <a:latin typeface="Cambria Math" panose="02040503050406030204" pitchFamily="18" charset="0"/>
                                </a:rPr>
                                <m:t>𝐥𝐨𝐠</m:t>
                              </m:r>
                              <m:r>
                                <a:rPr lang="en-US" sz="2000" b="1" i="1" smtClean="0">
                                  <a:latin typeface="Cambria Math" panose="02040503050406030204" pitchFamily="18" charset="0"/>
                                </a:rPr>
                                <m:t>⁡</m:t>
                              </m:r>
                              <m:r>
                                <a:rPr lang="en-US" sz="2000" b="1" i="1" smtClean="0">
                                  <a:latin typeface="Cambria Math" panose="02040503050406030204" pitchFamily="18" charset="0"/>
                                </a:rPr>
                                <m:t>𝒑</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r>
                                <a:rPr lang="en-US" sz="2000" b="1" i="1" smtClean="0">
                                  <a:latin typeface="Cambria Math" panose="02040503050406030204" pitchFamily="18" charset="0"/>
                                </a:rPr>
                                <m:t>)</m:t>
                              </m:r>
                            </m:e>
                          </m:nary>
                        </m:e>
                      </m:nary>
                    </m:oMath>
                  </m:oMathPara>
                </a14:m>
                <a:endParaRPr lang="en-US" sz="2000" b="1" dirty="0"/>
              </a:p>
            </p:txBody>
          </p:sp>
        </mc:Choice>
        <mc:Fallback xmlns="">
          <p:sp>
            <p:nvSpPr>
              <p:cNvPr id="10" name="TextBox 9">
                <a:extLst>
                  <a:ext uri="{FF2B5EF4-FFF2-40B4-BE49-F238E27FC236}">
                    <a16:creationId xmlns:a16="http://schemas.microsoft.com/office/drawing/2014/main" id="{5CC62F16-5459-44D3-9B62-B571D6BDB4D6}"/>
                  </a:ext>
                </a:extLst>
              </p:cNvPr>
              <p:cNvSpPr txBox="1">
                <a:spLocks noRot="1" noChangeAspect="1" noMove="1" noResize="1" noEditPoints="1" noAdjustHandles="1" noChangeArrowheads="1" noChangeShapeType="1" noTextEdit="1"/>
              </p:cNvSpPr>
              <p:nvPr/>
            </p:nvSpPr>
            <p:spPr>
              <a:xfrm>
                <a:off x="3192904" y="2243069"/>
                <a:ext cx="5950025" cy="785215"/>
              </a:xfrm>
              <a:prstGeom prst="rect">
                <a:avLst/>
              </a:prstGeom>
              <a:blipFill>
                <a:blip r:embed="rId3"/>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46332703-ED58-4B9A-81F9-58EF765868E0}"/>
              </a:ext>
            </a:extLst>
          </p:cNvPr>
          <p:cNvSpPr txBox="1"/>
          <p:nvPr/>
        </p:nvSpPr>
        <p:spPr>
          <a:xfrm>
            <a:off x="262327" y="2946210"/>
            <a:ext cx="11729804" cy="3262432"/>
          </a:xfrm>
          <a:prstGeom prst="rect">
            <a:avLst/>
          </a:prstGeom>
          <a:noFill/>
        </p:spPr>
        <p:txBody>
          <a:bodyPr wrap="square">
            <a:spAutoFit/>
          </a:bodyPr>
          <a:lstStyle/>
          <a:p>
            <a:pPr algn="l"/>
            <a:r>
              <a:rPr lang="en-US" sz="2000" b="1" i="0" dirty="0">
                <a:solidFill>
                  <a:srgbClr val="000000"/>
                </a:solidFill>
                <a:effectLst/>
                <a:latin typeface="Linux Libertine"/>
              </a:rPr>
              <a:t>Properties</a:t>
            </a:r>
            <a:r>
              <a:rPr lang="en-US" sz="2400" b="1" i="0" dirty="0">
                <a:solidFill>
                  <a:srgbClr val="000000"/>
                </a:solidFill>
                <a:effectLst/>
                <a:latin typeface="Linux Libertine"/>
              </a:rPr>
              <a:t>:</a:t>
            </a:r>
          </a:p>
          <a:p>
            <a:r>
              <a:rPr lang="en-US" dirty="0">
                <a:solidFill>
                  <a:srgbClr val="000000"/>
                </a:solidFill>
                <a:latin typeface="Linux Libertine"/>
              </a:rPr>
              <a:t>1) </a:t>
            </a:r>
            <a:r>
              <a:rPr kumimoji="0" lang="en-US" altLang="en-US" sz="18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The joint entropy of a set of random variables is a nonnegative number. </a:t>
            </a:r>
            <a:r>
              <a:rPr lang="en-US" altLang="en-US" dirty="0" err="1">
                <a:solidFill>
                  <a:srgbClr val="202122"/>
                </a:solidFill>
                <a:latin typeface="Arial" panose="020B0604020202020204" pitchFamily="34" charset="0"/>
                <a:cs typeface="Arial" panose="020B0604020202020204" pitchFamily="34" charset="0"/>
              </a:rPr>
              <a:t>i.e</a:t>
            </a:r>
            <a:r>
              <a:rPr lang="en-US" altLang="en-US" dirty="0">
                <a:solidFill>
                  <a:srgbClr val="202122"/>
                </a:solidFill>
                <a:latin typeface="Arial" panose="020B0604020202020204" pitchFamily="34" charset="0"/>
                <a:cs typeface="Arial" panose="020B0604020202020204" pitchFamily="34" charset="0"/>
              </a:rPr>
              <a:t>: </a:t>
            </a:r>
            <a:r>
              <a:rPr lang="en-US" altLang="en-US" b="1" dirty="0">
                <a:solidFill>
                  <a:srgbClr val="202122"/>
                </a:solidFill>
                <a:latin typeface="Arial" panose="020B0604020202020204" pitchFamily="34" charset="0"/>
                <a:cs typeface="Arial" panose="020B0604020202020204" pitchFamily="34" charset="0"/>
              </a:rPr>
              <a:t>H(X,Y) ≥ 0.</a:t>
            </a:r>
          </a:p>
          <a:p>
            <a:r>
              <a:rPr lang="en-US" altLang="en-US" dirty="0">
                <a:solidFill>
                  <a:srgbClr val="202122"/>
                </a:solidFill>
                <a:latin typeface="Arial" panose="020B0604020202020204" pitchFamily="34" charset="0"/>
                <a:cs typeface="Arial" panose="020B0604020202020204" pitchFamily="34" charset="0"/>
              </a:rPr>
              <a:t>2) </a:t>
            </a:r>
            <a:r>
              <a:rPr lang="en-US" dirty="0">
                <a:solidFill>
                  <a:srgbClr val="202122"/>
                </a:solidFill>
                <a:latin typeface="Arial" panose="020B0604020202020204" pitchFamily="34" charset="0"/>
                <a:cs typeface="Arial" panose="020B0604020202020204" pitchFamily="34" charset="0"/>
              </a:rPr>
              <a:t>The joint entropy of a set of variables is greater than or equal to the maximum of all of the individual entropies of the variables in the set. </a:t>
            </a:r>
            <a:r>
              <a:rPr lang="en-US" dirty="0" err="1">
                <a:solidFill>
                  <a:srgbClr val="202122"/>
                </a:solidFill>
                <a:latin typeface="Arial" panose="020B0604020202020204" pitchFamily="34" charset="0"/>
                <a:cs typeface="Arial" panose="020B0604020202020204" pitchFamily="34" charset="0"/>
              </a:rPr>
              <a:t>i.e</a:t>
            </a:r>
            <a:r>
              <a:rPr lang="en-US" dirty="0">
                <a:solidFill>
                  <a:srgbClr val="202122"/>
                </a:solidFill>
                <a:latin typeface="Arial" panose="020B0604020202020204" pitchFamily="34" charset="0"/>
                <a:cs typeface="Arial" panose="020B0604020202020204" pitchFamily="34" charset="0"/>
              </a:rPr>
              <a:t>: </a:t>
            </a:r>
            <a:r>
              <a:rPr lang="en-US" altLang="en-US" b="1" dirty="0">
                <a:solidFill>
                  <a:srgbClr val="202122"/>
                </a:solidFill>
                <a:latin typeface="Arial" panose="020B0604020202020204" pitchFamily="34" charset="0"/>
                <a:cs typeface="Arial" panose="020B0604020202020204" pitchFamily="34" charset="0"/>
              </a:rPr>
              <a:t>H(X,Y) ≥ max [H(X), H(Y)]</a:t>
            </a:r>
          </a:p>
          <a:p>
            <a:r>
              <a:rPr lang="en-US" altLang="en-US" dirty="0">
                <a:solidFill>
                  <a:srgbClr val="202122"/>
                </a:solidFill>
                <a:latin typeface="Arial" panose="020B0604020202020204" pitchFamily="34" charset="0"/>
                <a:cs typeface="Arial" panose="020B0604020202020204" pitchFamily="34" charset="0"/>
              </a:rPr>
              <a:t>3) </a:t>
            </a:r>
            <a:r>
              <a:rPr lang="en-US" b="0" i="0" dirty="0">
                <a:solidFill>
                  <a:srgbClr val="202122"/>
                </a:solidFill>
                <a:effectLst/>
                <a:latin typeface="Arial" panose="020B0604020202020204" pitchFamily="34" charset="0"/>
              </a:rPr>
              <a:t>The joint entropy of a set of variables is less than or equal to the sum of the individual entropies of the variables in the set. </a:t>
            </a:r>
            <a:r>
              <a:rPr lang="en-US" b="0" i="0" dirty="0" err="1">
                <a:solidFill>
                  <a:srgbClr val="202122"/>
                </a:solidFill>
                <a:effectLst/>
                <a:latin typeface="Arial" panose="020B0604020202020204" pitchFamily="34" charset="0"/>
              </a:rPr>
              <a:t>i.e</a:t>
            </a:r>
            <a:r>
              <a:rPr lang="en-US" b="0" i="0" dirty="0">
                <a:solidFill>
                  <a:srgbClr val="202122"/>
                </a:solidFill>
                <a:effectLst/>
                <a:latin typeface="Arial" panose="020B0604020202020204" pitchFamily="34" charset="0"/>
              </a:rPr>
              <a:t>: </a:t>
            </a:r>
            <a:r>
              <a:rPr lang="en-US" altLang="en-US" b="1" dirty="0">
                <a:solidFill>
                  <a:srgbClr val="202122"/>
                </a:solidFill>
                <a:latin typeface="Arial" panose="020B0604020202020204" pitchFamily="34" charset="0"/>
                <a:cs typeface="Arial" panose="020B0604020202020204" pitchFamily="34" charset="0"/>
              </a:rPr>
              <a:t>H(X,Y) ≤ H(X) + H(Y)</a:t>
            </a:r>
          </a:p>
          <a:p>
            <a:endParaRPr lang="en-US" altLang="en-US" dirty="0">
              <a:solidFill>
                <a:srgbClr val="202122"/>
              </a:solidFill>
              <a:latin typeface="Arial" panose="020B0604020202020204" pitchFamily="34" charset="0"/>
              <a:cs typeface="Arial" panose="020B0604020202020204" pitchFamily="34" charset="0"/>
            </a:endParaRPr>
          </a:p>
          <a:p>
            <a:r>
              <a:rPr lang="en-US" sz="2000" b="1" dirty="0">
                <a:solidFill>
                  <a:srgbClr val="000000"/>
                </a:solidFill>
                <a:latin typeface="Linux Libertine"/>
              </a:rPr>
              <a:t>Relations to other entropy measures:</a:t>
            </a:r>
          </a:p>
          <a:p>
            <a:pPr marL="342900" indent="-342900">
              <a:buFont typeface="Arial" panose="020B0604020202020204" pitchFamily="34" charset="0"/>
              <a:buChar char="•"/>
            </a:pPr>
            <a:r>
              <a:rPr lang="en-US" dirty="0">
                <a:solidFill>
                  <a:srgbClr val="202122"/>
                </a:solidFill>
                <a:latin typeface="Arial" panose="020B0604020202020204" pitchFamily="34" charset="0"/>
                <a:cs typeface="Arial" panose="020B0604020202020204" pitchFamily="34" charset="0"/>
              </a:rPr>
              <a:t>Joint entropy is used in the definition of conditional entropy. </a:t>
            </a:r>
            <a:r>
              <a:rPr lang="en-US" b="1" dirty="0">
                <a:solidFill>
                  <a:srgbClr val="202122"/>
                </a:solidFill>
                <a:latin typeface="Arial" panose="020B0604020202020204" pitchFamily="34" charset="0"/>
                <a:cs typeface="Arial" panose="020B0604020202020204" pitchFamily="34" charset="0"/>
              </a:rPr>
              <a:t>H(X|Y) = H(X,Y) – H(Y)</a:t>
            </a:r>
          </a:p>
          <a:p>
            <a:pPr marL="342900" indent="-342900">
              <a:buFont typeface="Arial" panose="020B0604020202020204" pitchFamily="34" charset="0"/>
              <a:buChar char="•"/>
            </a:pPr>
            <a:r>
              <a:rPr lang="en-US" dirty="0">
                <a:solidFill>
                  <a:srgbClr val="202122"/>
                </a:solidFill>
                <a:latin typeface="Arial" panose="020B0604020202020204" pitchFamily="34" charset="0"/>
                <a:cs typeface="Arial" panose="020B0604020202020204" pitchFamily="34" charset="0"/>
              </a:rPr>
              <a:t>t is also used in the definition of mutual information. </a:t>
            </a:r>
            <a:r>
              <a:rPr lang="en-US" b="1" dirty="0">
                <a:solidFill>
                  <a:srgbClr val="202122"/>
                </a:solidFill>
                <a:latin typeface="Arial" panose="020B0604020202020204" pitchFamily="34" charset="0"/>
                <a:cs typeface="Arial" panose="020B0604020202020204" pitchFamily="34" charset="0"/>
              </a:rPr>
              <a:t>I(X;Y) = H(X) + H(Y) – H(X,Y)</a:t>
            </a:r>
          </a:p>
          <a:p>
            <a:pPr algn="l"/>
            <a:endParaRPr lang="en-US" b="0" i="0" dirty="0">
              <a:solidFill>
                <a:srgbClr val="000000"/>
              </a:solidFill>
              <a:effectLst/>
              <a:latin typeface="Linux Libertin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71986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Times New Roman" panose="02020603050405020304" pitchFamily="18" charset="0"/>
                <a:cs typeface="Times New Roman" panose="02020603050405020304" pitchFamily="18" charset="0"/>
              </a:rPr>
              <a:t>Conditional entropy</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CC62F16-5459-44D3-9B62-B571D6BDB4D6}"/>
                  </a:ext>
                </a:extLst>
              </p:cNvPr>
              <p:cNvSpPr txBox="1"/>
              <p:nvPr/>
            </p:nvSpPr>
            <p:spPr>
              <a:xfrm>
                <a:off x="145974" y="2051846"/>
                <a:ext cx="5950025" cy="78521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𝑯</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𝒀</m:t>
                          </m:r>
                          <m:r>
                            <a:rPr lang="en-US" sz="2000" b="1" i="1" smtClean="0">
                              <a:latin typeface="Cambria Math" panose="02040503050406030204" pitchFamily="18" charset="0"/>
                            </a:rPr>
                            <m:t>|</m:t>
                          </m:r>
                          <m:r>
                            <a:rPr lang="en-US" sz="2000" b="1" i="1" smtClean="0">
                              <a:latin typeface="Cambria Math" panose="02040503050406030204" pitchFamily="18" charset="0"/>
                            </a:rPr>
                            <m:t>𝑿</m:t>
                          </m:r>
                        </m:e>
                      </m:d>
                      <m:r>
                        <a:rPr lang="en-US" sz="2000" b="1" i="1" smtClean="0">
                          <a:latin typeface="Cambria Math" panose="02040503050406030204" pitchFamily="18" charset="0"/>
                        </a:rPr>
                        <m:t>=−</m:t>
                      </m:r>
                      <m:nary>
                        <m:naryPr>
                          <m:chr m:val="∑"/>
                          <m:supHide m:val="on"/>
                          <m:ctrlPr>
                            <a:rPr lang="en-US" sz="2000" b="1" i="1" smtClean="0">
                              <a:latin typeface="Cambria Math" panose="02040503050406030204" pitchFamily="18" charset="0"/>
                            </a:rPr>
                          </m:ctrlPr>
                        </m:naryPr>
                        <m:sub>
                          <m:r>
                            <m:rPr>
                              <m:brk m:alnAt="7"/>
                            </m:rPr>
                            <a:rPr lang="en-US" sz="2000" b="1" i="1" smtClean="0">
                              <a:latin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sub>
                        <m:sup/>
                        <m:e>
                          <m:nary>
                            <m:naryPr>
                              <m:chr m:val="∑"/>
                              <m:supHide m:val="on"/>
                              <m:ctrlPr>
                                <a:rPr lang="en-US" sz="2000" b="1" i="1" smtClean="0">
                                  <a:latin typeface="Cambria Math" panose="02040503050406030204" pitchFamily="18" charset="0"/>
                                </a:rPr>
                              </m:ctrlPr>
                            </m:naryPr>
                            <m:sub>
                              <m:r>
                                <m:rPr>
                                  <m:brk m:alnAt="7"/>
                                </m:rPr>
                                <a:rPr lang="en-US" sz="2000" b="1" i="1" smtClean="0">
                                  <a:latin typeface="Cambria Math" panose="02040503050406030204" pitchFamily="18" charset="0"/>
                                </a:rPr>
                                <m:t>𝒚</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𝒀</m:t>
                              </m:r>
                            </m:sub>
                            <m:sup/>
                            <m:e>
                              <m:r>
                                <a:rPr lang="en-US" sz="2000" b="1" i="1" smtClean="0">
                                  <a:latin typeface="Cambria Math" panose="02040503050406030204" pitchFamily="18" charset="0"/>
                                </a:rPr>
                                <m:t>𝒑</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e>
                              </m:d>
                              <m:r>
                                <a:rPr lang="en-US" sz="2000" b="1" i="0" smtClean="0">
                                  <a:latin typeface="Cambria Math" panose="02040503050406030204" pitchFamily="18" charset="0"/>
                                </a:rPr>
                                <m:t>𝐥𝐨𝐠</m:t>
                              </m:r>
                              <m:r>
                                <a:rPr lang="en-US" sz="2000" b="1" i="1" smtClean="0">
                                  <a:latin typeface="Cambria Math" panose="02040503050406030204" pitchFamily="18" charset="0"/>
                                </a:rPr>
                                <m:t>⁡</m:t>
                              </m:r>
                              <m:r>
                                <a:rPr lang="en-US" sz="2000" b="1" i="1" smtClean="0">
                                  <a:latin typeface="Cambria Math" panose="02040503050406030204" pitchFamily="18" charset="0"/>
                                </a:rPr>
                                <m:t>𝒑</m:t>
                              </m:r>
                              <m:r>
                                <a:rPr lang="en-US" sz="2000" b="1" i="1" smtClean="0">
                                  <a:latin typeface="Cambria Math" panose="02040503050406030204" pitchFamily="18" charset="0"/>
                                </a:rPr>
                                <m:t>(</m:t>
                              </m:r>
                              <m:r>
                                <a:rPr lang="en-US" sz="2000" b="1" i="1" smtClean="0">
                                  <a:latin typeface="Cambria Math" panose="02040503050406030204" pitchFamily="18" charset="0"/>
                                </a:rPr>
                                <m:t>𝒚</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e>
                          </m:nary>
                        </m:e>
                      </m:nary>
                    </m:oMath>
                  </m:oMathPara>
                </a14:m>
                <a:endParaRPr lang="en-US" sz="2000" b="1" dirty="0"/>
              </a:p>
            </p:txBody>
          </p:sp>
        </mc:Choice>
        <mc:Fallback xmlns="">
          <p:sp>
            <p:nvSpPr>
              <p:cNvPr id="10" name="TextBox 9">
                <a:extLst>
                  <a:ext uri="{FF2B5EF4-FFF2-40B4-BE49-F238E27FC236}">
                    <a16:creationId xmlns:a16="http://schemas.microsoft.com/office/drawing/2014/main" id="{5CC62F16-5459-44D3-9B62-B571D6BDB4D6}"/>
                  </a:ext>
                </a:extLst>
              </p:cNvPr>
              <p:cNvSpPr txBox="1">
                <a:spLocks noRot="1" noChangeAspect="1" noMove="1" noResize="1" noEditPoints="1" noAdjustHandles="1" noChangeArrowheads="1" noChangeShapeType="1" noTextEdit="1"/>
              </p:cNvSpPr>
              <p:nvPr/>
            </p:nvSpPr>
            <p:spPr>
              <a:xfrm>
                <a:off x="145974" y="2051846"/>
                <a:ext cx="5950025" cy="785215"/>
              </a:xfrm>
              <a:prstGeom prst="rect">
                <a:avLst/>
              </a:prstGeom>
              <a:blipFill>
                <a:blip r:embed="rId3"/>
                <a:stretch>
                  <a:fillRect/>
                </a:stretch>
              </a:blipFill>
            </p:spPr>
            <p:txBody>
              <a:bodyPr/>
              <a:lstStyle/>
              <a:p>
                <a:r>
                  <a:rPr lang="en-US">
                    <a:noFill/>
                  </a:rPr>
                  <a:t> </a:t>
                </a:r>
              </a:p>
            </p:txBody>
          </p:sp>
        </mc:Fallback>
      </mc:AlternateContent>
      <p:sp>
        <p:nvSpPr>
          <p:cNvPr id="2" name="Rectangle 2">
            <a:extLst>
              <a:ext uri="{FF2B5EF4-FFF2-40B4-BE49-F238E27FC236}">
                <a16:creationId xmlns:a16="http://schemas.microsoft.com/office/drawing/2014/main" id="{50FF41C7-D250-43CA-AE74-865552A66665}"/>
              </a:ext>
            </a:extLst>
          </p:cNvPr>
          <p:cNvSpPr>
            <a:spLocks noChangeArrowheads="1"/>
          </p:cNvSpPr>
          <p:nvPr/>
        </p:nvSpPr>
        <p:spPr bwMode="auto">
          <a:xfrm>
            <a:off x="145973" y="1134320"/>
            <a:ext cx="1191819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202122"/>
                </a:solidFill>
              </a:rPr>
              <a:t>Conditional entropy quantifies the amount of information needed to describe the outcome of a random variable Y given that the value of another random variable X is known</a:t>
            </a:r>
            <a:r>
              <a:rPr lang="en-US" altLang="en-US" sz="1000" dirty="0">
                <a:solidFill>
                  <a:srgbClr val="202122"/>
                </a:solidFill>
                <a:cs typeface="Arial" panose="020B060402020202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000" dirty="0">
              <a:solidFill>
                <a:srgbClr val="202122"/>
              </a:solidFill>
              <a:effectLst>
                <a:outerShdw blurRad="38100" dist="38100" dir="2700000" algn="tl">
                  <a:srgbClr val="000000">
                    <a:alpha val="43137"/>
                  </a:srgbClr>
                </a:outerShdw>
              </a:effectLst>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202122"/>
                </a:solidFill>
              </a:rPr>
              <a:t>Entropy of Y given X is written as </a:t>
            </a:r>
            <a:r>
              <a:rPr lang="en-US" altLang="en-US" b="1" dirty="0">
                <a:solidFill>
                  <a:srgbClr val="202122"/>
                </a:solidFill>
              </a:rPr>
              <a:t>H(Y|X).</a:t>
            </a:r>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BD61155-7E42-4BBC-B958-8A1DB374EB16}"/>
                  </a:ext>
                </a:extLst>
              </p:cNvPr>
              <p:cNvSpPr txBox="1"/>
              <p:nvPr/>
            </p:nvSpPr>
            <p:spPr>
              <a:xfrm>
                <a:off x="5165725" y="2044243"/>
                <a:ext cx="5950025" cy="79797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𝑯</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𝒀</m:t>
                          </m:r>
                          <m:r>
                            <a:rPr lang="en-US" sz="2000" b="1" i="1" smtClean="0">
                              <a:latin typeface="Cambria Math" panose="02040503050406030204" pitchFamily="18" charset="0"/>
                            </a:rPr>
                            <m:t>|</m:t>
                          </m:r>
                          <m:r>
                            <a:rPr lang="en-US" sz="2000" b="1" i="1" smtClean="0">
                              <a:latin typeface="Cambria Math" panose="02040503050406030204" pitchFamily="18" charset="0"/>
                            </a:rPr>
                            <m:t>𝑿</m:t>
                          </m:r>
                        </m:e>
                      </m:d>
                      <m:r>
                        <a:rPr lang="en-US" sz="2000" b="1" i="1" smtClean="0">
                          <a:latin typeface="Cambria Math" panose="02040503050406030204" pitchFamily="18" charset="0"/>
                        </a:rPr>
                        <m:t>=−</m:t>
                      </m:r>
                      <m:nary>
                        <m:naryPr>
                          <m:chr m:val="∑"/>
                          <m:supHide m:val="on"/>
                          <m:ctrlPr>
                            <a:rPr lang="en-US" sz="2000" b="1" i="1" smtClean="0">
                              <a:latin typeface="Cambria Math" panose="02040503050406030204" pitchFamily="18" charset="0"/>
                            </a:rPr>
                          </m:ctrlPr>
                        </m:naryPr>
                        <m:sub>
                          <m:r>
                            <m:rPr>
                              <m:brk m:alnAt="7"/>
                            </m:rPr>
                            <a:rPr lang="en-US" sz="2000" b="1" i="1" smtClean="0">
                              <a:latin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sub>
                        <m:sup/>
                        <m:e>
                          <m:nary>
                            <m:naryPr>
                              <m:chr m:val="∑"/>
                              <m:supHide m:val="on"/>
                              <m:ctrlPr>
                                <a:rPr lang="en-US" sz="2000" b="1" i="1" smtClean="0">
                                  <a:latin typeface="Cambria Math" panose="02040503050406030204" pitchFamily="18" charset="0"/>
                                </a:rPr>
                              </m:ctrlPr>
                            </m:naryPr>
                            <m:sub>
                              <m:r>
                                <m:rPr>
                                  <m:brk m:alnAt="7"/>
                                </m:rPr>
                                <a:rPr lang="en-US" sz="2000" b="1" i="1" smtClean="0">
                                  <a:latin typeface="Cambria Math" panose="02040503050406030204" pitchFamily="18" charset="0"/>
                                </a:rPr>
                                <m:t>𝒚</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𝒀</m:t>
                              </m:r>
                            </m:sub>
                            <m:sup/>
                            <m:e>
                              <m:r>
                                <a:rPr lang="en-US" sz="2000" b="1" i="1" smtClean="0">
                                  <a:latin typeface="Cambria Math" panose="02040503050406030204" pitchFamily="18" charset="0"/>
                                </a:rPr>
                                <m:t>𝒑</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e>
                              </m:d>
                              <m:r>
                                <a:rPr lang="en-US" sz="2000" b="1" i="0" smtClean="0">
                                  <a:latin typeface="Cambria Math" panose="02040503050406030204" pitchFamily="18" charset="0"/>
                                </a:rPr>
                                <m:t>𝐥𝐨𝐠</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𝒑</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r>
                                    <a:rPr lang="en-US" sz="2000" b="1" i="1" smtClean="0">
                                      <a:latin typeface="Cambria Math" panose="02040503050406030204" pitchFamily="18" charset="0"/>
                                    </a:rPr>
                                    <m:t>)</m:t>
                                  </m:r>
                                </m:num>
                                <m:den>
                                  <m:r>
                                    <a:rPr lang="en-US" sz="2000" b="1" i="1" smtClean="0">
                                      <a:latin typeface="Cambria Math" panose="02040503050406030204" pitchFamily="18" charset="0"/>
                                    </a:rPr>
                                    <m:t>𝒑</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den>
                              </m:f>
                            </m:e>
                          </m:nary>
                        </m:e>
                      </m:nary>
                    </m:oMath>
                  </m:oMathPara>
                </a14:m>
                <a:endParaRPr lang="en-US" sz="2000" b="1" dirty="0"/>
              </a:p>
            </p:txBody>
          </p:sp>
        </mc:Choice>
        <mc:Fallback xmlns="">
          <p:sp>
            <p:nvSpPr>
              <p:cNvPr id="12" name="TextBox 11">
                <a:extLst>
                  <a:ext uri="{FF2B5EF4-FFF2-40B4-BE49-F238E27FC236}">
                    <a16:creationId xmlns:a16="http://schemas.microsoft.com/office/drawing/2014/main" id="{9BD61155-7E42-4BBC-B958-8A1DB374EB16}"/>
                  </a:ext>
                </a:extLst>
              </p:cNvPr>
              <p:cNvSpPr txBox="1">
                <a:spLocks noRot="1" noChangeAspect="1" noMove="1" noResize="1" noEditPoints="1" noAdjustHandles="1" noChangeArrowheads="1" noChangeShapeType="1" noTextEdit="1"/>
              </p:cNvSpPr>
              <p:nvPr/>
            </p:nvSpPr>
            <p:spPr>
              <a:xfrm>
                <a:off x="5165725" y="2044243"/>
                <a:ext cx="5950025" cy="797975"/>
              </a:xfrm>
              <a:prstGeom prst="rect">
                <a:avLst/>
              </a:prstGeom>
              <a:blipFill>
                <a:blip r:embed="rId4"/>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B58B0356-772C-48D9-80AF-7EF43E812A97}"/>
              </a:ext>
            </a:extLst>
          </p:cNvPr>
          <p:cNvSpPr txBox="1"/>
          <p:nvPr/>
        </p:nvSpPr>
        <p:spPr>
          <a:xfrm>
            <a:off x="145974" y="3244334"/>
            <a:ext cx="6199322" cy="369332"/>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202122"/>
                </a:solidFill>
                <a:latin typeface="Arial" panose="020B0604020202020204" pitchFamily="34" charset="0"/>
              </a:rPr>
              <a:t>Entropy of X given Y is  written as</a:t>
            </a:r>
            <a:r>
              <a:rPr lang="en-US" altLang="en-US" dirty="0">
                <a:solidFill>
                  <a:srgbClr val="202122"/>
                </a:solidFill>
                <a:latin typeface="Arial" panose="020B0604020202020204" pitchFamily="34" charset="0"/>
                <a:cs typeface="Arial" panose="020B0604020202020204" pitchFamily="34" charset="0"/>
              </a:rPr>
              <a:t> </a:t>
            </a:r>
            <a:r>
              <a:rPr lang="en-US" altLang="en-US" b="1" dirty="0">
                <a:solidFill>
                  <a:srgbClr val="202122"/>
                </a:solidFill>
                <a:latin typeface="Arial" panose="020B0604020202020204" pitchFamily="34" charset="0"/>
                <a:cs typeface="Arial" panose="020B0604020202020204" pitchFamily="34" charset="0"/>
              </a:rPr>
              <a:t>H(X|Y).</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DED047A-3E31-44D1-8F52-15427F610128}"/>
                  </a:ext>
                </a:extLst>
              </p:cNvPr>
              <p:cNvSpPr txBox="1"/>
              <p:nvPr/>
            </p:nvSpPr>
            <p:spPr>
              <a:xfrm>
                <a:off x="145973" y="4080036"/>
                <a:ext cx="5950025" cy="78521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𝑯</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𝑿</m:t>
                          </m:r>
                          <m:r>
                            <a:rPr lang="en-US" sz="2000" b="1" i="1" smtClean="0">
                              <a:latin typeface="Cambria Math" panose="02040503050406030204" pitchFamily="18" charset="0"/>
                            </a:rPr>
                            <m:t>|</m:t>
                          </m:r>
                          <m:r>
                            <a:rPr lang="en-US" sz="2000" b="1" i="1" smtClean="0">
                              <a:latin typeface="Cambria Math" panose="02040503050406030204" pitchFamily="18" charset="0"/>
                            </a:rPr>
                            <m:t>𝒀</m:t>
                          </m:r>
                        </m:e>
                      </m:d>
                      <m:r>
                        <a:rPr lang="en-US" sz="2000" b="1" i="1" smtClean="0">
                          <a:latin typeface="Cambria Math" panose="02040503050406030204" pitchFamily="18" charset="0"/>
                        </a:rPr>
                        <m:t>=−</m:t>
                      </m:r>
                      <m:nary>
                        <m:naryPr>
                          <m:chr m:val="∑"/>
                          <m:supHide m:val="on"/>
                          <m:ctrlPr>
                            <a:rPr lang="en-US" sz="2000" b="1" i="1" smtClean="0">
                              <a:latin typeface="Cambria Math" panose="02040503050406030204" pitchFamily="18" charset="0"/>
                            </a:rPr>
                          </m:ctrlPr>
                        </m:naryPr>
                        <m:sub>
                          <m:r>
                            <m:rPr>
                              <m:brk m:alnAt="7"/>
                            </m:rPr>
                            <a:rPr lang="en-US" sz="2000" b="1" i="1" smtClean="0">
                              <a:latin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sub>
                        <m:sup/>
                        <m:e>
                          <m:nary>
                            <m:naryPr>
                              <m:chr m:val="∑"/>
                              <m:supHide m:val="on"/>
                              <m:ctrlPr>
                                <a:rPr lang="en-US" sz="2000" b="1" i="1" smtClean="0">
                                  <a:latin typeface="Cambria Math" panose="02040503050406030204" pitchFamily="18" charset="0"/>
                                </a:rPr>
                              </m:ctrlPr>
                            </m:naryPr>
                            <m:sub>
                              <m:r>
                                <m:rPr>
                                  <m:brk m:alnAt="7"/>
                                </m:rPr>
                                <a:rPr lang="en-US" sz="2000" b="1" i="1" smtClean="0">
                                  <a:latin typeface="Cambria Math" panose="02040503050406030204" pitchFamily="18" charset="0"/>
                                </a:rPr>
                                <m:t>𝒚</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𝒀</m:t>
                              </m:r>
                            </m:sub>
                            <m:sup/>
                            <m:e>
                              <m:r>
                                <a:rPr lang="en-US" sz="2000" b="1" i="1" smtClean="0">
                                  <a:latin typeface="Cambria Math" panose="02040503050406030204" pitchFamily="18" charset="0"/>
                                </a:rPr>
                                <m:t>𝒑</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e>
                              </m:d>
                              <m:r>
                                <a:rPr lang="en-US" sz="2000" b="1" i="0" smtClean="0">
                                  <a:latin typeface="Cambria Math" panose="02040503050406030204" pitchFamily="18" charset="0"/>
                                </a:rPr>
                                <m:t>𝐥𝐨𝐠</m:t>
                              </m:r>
                              <m:r>
                                <a:rPr lang="en-US" sz="2000" b="1" i="1" smtClean="0">
                                  <a:latin typeface="Cambria Math" panose="02040503050406030204" pitchFamily="18" charset="0"/>
                                </a:rPr>
                                <m:t>⁡</m:t>
                              </m:r>
                              <m:r>
                                <a:rPr lang="en-US" sz="2000" b="1" i="1" smtClean="0">
                                  <a:latin typeface="Cambria Math" panose="02040503050406030204" pitchFamily="18" charset="0"/>
                                </a:rPr>
                                <m:t>𝒑</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r>
                                <a:rPr lang="en-US" sz="2000" b="1" i="1" smtClean="0">
                                  <a:latin typeface="Cambria Math" panose="02040503050406030204" pitchFamily="18" charset="0"/>
                                </a:rPr>
                                <m:t>)</m:t>
                              </m:r>
                            </m:e>
                          </m:nary>
                        </m:e>
                      </m:nary>
                    </m:oMath>
                  </m:oMathPara>
                </a14:m>
                <a:endParaRPr lang="en-US" sz="2000" b="1" dirty="0"/>
              </a:p>
            </p:txBody>
          </p:sp>
        </mc:Choice>
        <mc:Fallback xmlns="">
          <p:sp>
            <p:nvSpPr>
              <p:cNvPr id="15" name="TextBox 14">
                <a:extLst>
                  <a:ext uri="{FF2B5EF4-FFF2-40B4-BE49-F238E27FC236}">
                    <a16:creationId xmlns:a16="http://schemas.microsoft.com/office/drawing/2014/main" id="{FDED047A-3E31-44D1-8F52-15427F610128}"/>
                  </a:ext>
                </a:extLst>
              </p:cNvPr>
              <p:cNvSpPr txBox="1">
                <a:spLocks noRot="1" noChangeAspect="1" noMove="1" noResize="1" noEditPoints="1" noAdjustHandles="1" noChangeArrowheads="1" noChangeShapeType="1" noTextEdit="1"/>
              </p:cNvSpPr>
              <p:nvPr/>
            </p:nvSpPr>
            <p:spPr>
              <a:xfrm>
                <a:off x="145973" y="4080036"/>
                <a:ext cx="5950025" cy="78521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6CFDFF5-0E73-404E-B6F9-E6CD32B2E4D4}"/>
                  </a:ext>
                </a:extLst>
              </p:cNvPr>
              <p:cNvSpPr txBox="1"/>
              <p:nvPr/>
            </p:nvSpPr>
            <p:spPr>
              <a:xfrm>
                <a:off x="5165724" y="4015782"/>
                <a:ext cx="5950025" cy="79797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𝑯</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𝑿</m:t>
                          </m:r>
                          <m:r>
                            <a:rPr lang="en-US" sz="2000" b="1" i="1" smtClean="0">
                              <a:latin typeface="Cambria Math" panose="02040503050406030204" pitchFamily="18" charset="0"/>
                            </a:rPr>
                            <m:t>|</m:t>
                          </m:r>
                          <m:r>
                            <a:rPr lang="en-US" sz="2000" b="1" i="1" smtClean="0">
                              <a:latin typeface="Cambria Math" panose="02040503050406030204" pitchFamily="18" charset="0"/>
                            </a:rPr>
                            <m:t>𝒀</m:t>
                          </m:r>
                        </m:e>
                      </m:d>
                      <m:r>
                        <a:rPr lang="en-US" sz="2000" b="1" i="1" smtClean="0">
                          <a:latin typeface="Cambria Math" panose="02040503050406030204" pitchFamily="18" charset="0"/>
                        </a:rPr>
                        <m:t>=−</m:t>
                      </m:r>
                      <m:nary>
                        <m:naryPr>
                          <m:chr m:val="∑"/>
                          <m:supHide m:val="on"/>
                          <m:ctrlPr>
                            <a:rPr lang="en-US" sz="2000" b="1" i="1" smtClean="0">
                              <a:latin typeface="Cambria Math" panose="02040503050406030204" pitchFamily="18" charset="0"/>
                            </a:rPr>
                          </m:ctrlPr>
                        </m:naryPr>
                        <m:sub>
                          <m:r>
                            <m:rPr>
                              <m:brk m:alnAt="7"/>
                            </m:rPr>
                            <a:rPr lang="en-US" sz="2000" b="1" i="1" smtClean="0">
                              <a:latin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sub>
                        <m:sup/>
                        <m:e>
                          <m:nary>
                            <m:naryPr>
                              <m:chr m:val="∑"/>
                              <m:supHide m:val="on"/>
                              <m:ctrlPr>
                                <a:rPr lang="en-US" sz="2000" b="1" i="1" smtClean="0">
                                  <a:latin typeface="Cambria Math" panose="02040503050406030204" pitchFamily="18" charset="0"/>
                                </a:rPr>
                              </m:ctrlPr>
                            </m:naryPr>
                            <m:sub>
                              <m:r>
                                <m:rPr>
                                  <m:brk m:alnAt="7"/>
                                </m:rPr>
                                <a:rPr lang="en-US" sz="2000" b="1" i="1" smtClean="0">
                                  <a:latin typeface="Cambria Math" panose="02040503050406030204" pitchFamily="18" charset="0"/>
                                </a:rPr>
                                <m:t>𝒚</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𝒀</m:t>
                              </m:r>
                            </m:sub>
                            <m:sup/>
                            <m:e>
                              <m:r>
                                <a:rPr lang="en-US" sz="2000" b="1" i="1" smtClean="0">
                                  <a:latin typeface="Cambria Math" panose="02040503050406030204" pitchFamily="18" charset="0"/>
                                </a:rPr>
                                <m:t>𝒑</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e>
                              </m:d>
                              <m:r>
                                <a:rPr lang="en-US" sz="2000" b="1" i="0" smtClean="0">
                                  <a:latin typeface="Cambria Math" panose="02040503050406030204" pitchFamily="18" charset="0"/>
                                </a:rPr>
                                <m:t>𝐥𝐨𝐠</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𝒑</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r>
                                    <a:rPr lang="en-US" sz="2000" b="1" i="1" smtClean="0">
                                      <a:latin typeface="Cambria Math" panose="02040503050406030204" pitchFamily="18" charset="0"/>
                                    </a:rPr>
                                    <m:t>)</m:t>
                                  </m:r>
                                </m:num>
                                <m:den>
                                  <m:r>
                                    <a:rPr lang="en-US" sz="2000" b="1" i="1" smtClean="0">
                                      <a:latin typeface="Cambria Math" panose="02040503050406030204" pitchFamily="18" charset="0"/>
                                    </a:rPr>
                                    <m:t>𝒑</m:t>
                                  </m:r>
                                  <m:r>
                                    <a:rPr lang="en-US" sz="2000" b="1" i="1" smtClean="0">
                                      <a:latin typeface="Cambria Math" panose="02040503050406030204" pitchFamily="18" charset="0"/>
                                    </a:rPr>
                                    <m:t>(</m:t>
                                  </m:r>
                                  <m:r>
                                    <a:rPr lang="en-US" sz="2000" b="1" i="1" smtClean="0">
                                      <a:latin typeface="Cambria Math" panose="02040503050406030204" pitchFamily="18" charset="0"/>
                                    </a:rPr>
                                    <m:t>𝒚</m:t>
                                  </m:r>
                                  <m:r>
                                    <a:rPr lang="en-US" sz="2000" b="1" i="1" smtClean="0">
                                      <a:latin typeface="Cambria Math" panose="02040503050406030204" pitchFamily="18" charset="0"/>
                                    </a:rPr>
                                    <m:t>)</m:t>
                                  </m:r>
                                </m:den>
                              </m:f>
                            </m:e>
                          </m:nary>
                        </m:e>
                      </m:nary>
                    </m:oMath>
                  </m:oMathPara>
                </a14:m>
                <a:endParaRPr lang="en-US" sz="2000" b="1" dirty="0"/>
              </a:p>
            </p:txBody>
          </p:sp>
        </mc:Choice>
        <mc:Fallback xmlns="">
          <p:sp>
            <p:nvSpPr>
              <p:cNvPr id="16" name="TextBox 15">
                <a:extLst>
                  <a:ext uri="{FF2B5EF4-FFF2-40B4-BE49-F238E27FC236}">
                    <a16:creationId xmlns:a16="http://schemas.microsoft.com/office/drawing/2014/main" id="{16CFDFF5-0E73-404E-B6F9-E6CD32B2E4D4}"/>
                  </a:ext>
                </a:extLst>
              </p:cNvPr>
              <p:cNvSpPr txBox="1">
                <a:spLocks noRot="1" noChangeAspect="1" noMove="1" noResize="1" noEditPoints="1" noAdjustHandles="1" noChangeArrowheads="1" noChangeShapeType="1" noTextEdit="1"/>
              </p:cNvSpPr>
              <p:nvPr/>
            </p:nvSpPr>
            <p:spPr>
              <a:xfrm>
                <a:off x="5165724" y="4015782"/>
                <a:ext cx="5950025" cy="79797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4A11FAB-AD58-484E-880E-FF45FC0F40A6}"/>
                  </a:ext>
                </a:extLst>
              </p:cNvPr>
              <p:cNvSpPr txBox="1"/>
              <p:nvPr/>
            </p:nvSpPr>
            <p:spPr>
              <a:xfrm>
                <a:off x="-479500" y="5630288"/>
                <a:ext cx="595002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𝒑</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e>
                      </m:d>
                      <m:r>
                        <a:rPr lang="en-US" sz="2000" b="1" i="1" smtClean="0">
                          <a:latin typeface="Cambria Math" panose="02040503050406030204" pitchFamily="18" charset="0"/>
                        </a:rPr>
                        <m:t>=</m:t>
                      </m:r>
                      <m:r>
                        <a:rPr lang="en-US" sz="2000" b="1" i="1" smtClean="0">
                          <a:latin typeface="Cambria Math" panose="02040503050406030204" pitchFamily="18" charset="0"/>
                        </a:rPr>
                        <m:t>𝒑</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e>
                        <m:e>
                          <m:r>
                            <a:rPr lang="en-US" sz="2000" b="1" i="1" smtClean="0">
                              <a:latin typeface="Cambria Math" panose="02040503050406030204" pitchFamily="18" charset="0"/>
                            </a:rPr>
                            <m:t>𝒚</m:t>
                          </m:r>
                        </m:e>
                      </m:d>
                      <m:r>
                        <a:rPr lang="en-US" sz="2000" b="1" i="1" smtClean="0">
                          <a:latin typeface="Cambria Math" panose="02040503050406030204" pitchFamily="18" charset="0"/>
                        </a:rPr>
                        <m:t>.</m:t>
                      </m:r>
                      <m:r>
                        <a:rPr lang="en-US" sz="2000" b="1" i="1" smtClean="0">
                          <a:latin typeface="Cambria Math" panose="02040503050406030204" pitchFamily="18" charset="0"/>
                        </a:rPr>
                        <m:t>𝒑</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𝒚</m:t>
                          </m:r>
                        </m:e>
                      </m:d>
                      <m:r>
                        <a:rPr lang="en-US" sz="2000" b="1" i="1" smtClean="0">
                          <a:latin typeface="Cambria Math" panose="02040503050406030204" pitchFamily="18" charset="0"/>
                        </a:rPr>
                        <m:t>=</m:t>
                      </m:r>
                      <m:r>
                        <a:rPr lang="en-US" sz="2000" b="1" i="1" smtClean="0">
                          <a:latin typeface="Cambria Math" panose="02040503050406030204" pitchFamily="18" charset="0"/>
                        </a:rPr>
                        <m:t>𝒑</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𝒚</m:t>
                          </m:r>
                        </m:e>
                        <m:e>
                          <m:r>
                            <a:rPr lang="en-US" sz="2000" b="1" i="1" smtClean="0">
                              <a:latin typeface="Cambria Math" panose="02040503050406030204" pitchFamily="18" charset="0"/>
                            </a:rPr>
                            <m:t>𝒙</m:t>
                          </m:r>
                        </m:e>
                      </m:d>
                      <m:r>
                        <a:rPr lang="en-US" sz="2000" b="1" i="1" smtClean="0">
                          <a:latin typeface="Cambria Math" panose="02040503050406030204" pitchFamily="18" charset="0"/>
                        </a:rPr>
                        <m:t>.</m:t>
                      </m:r>
                      <m:r>
                        <a:rPr lang="en-US" sz="2000" b="1" i="1" smtClean="0">
                          <a:latin typeface="Cambria Math" panose="02040503050406030204" pitchFamily="18" charset="0"/>
                        </a:rPr>
                        <m:t>𝒑</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oMath>
                  </m:oMathPara>
                </a14:m>
                <a:endParaRPr lang="en-US" sz="2000" b="1" dirty="0"/>
              </a:p>
            </p:txBody>
          </p:sp>
        </mc:Choice>
        <mc:Fallback xmlns="">
          <p:sp>
            <p:nvSpPr>
              <p:cNvPr id="17" name="TextBox 16">
                <a:extLst>
                  <a:ext uri="{FF2B5EF4-FFF2-40B4-BE49-F238E27FC236}">
                    <a16:creationId xmlns:a16="http://schemas.microsoft.com/office/drawing/2014/main" id="{24A11FAB-AD58-484E-880E-FF45FC0F40A6}"/>
                  </a:ext>
                </a:extLst>
              </p:cNvPr>
              <p:cNvSpPr txBox="1">
                <a:spLocks noRot="1" noChangeAspect="1" noMove="1" noResize="1" noEditPoints="1" noAdjustHandles="1" noChangeArrowheads="1" noChangeShapeType="1" noTextEdit="1"/>
              </p:cNvSpPr>
              <p:nvPr/>
            </p:nvSpPr>
            <p:spPr>
              <a:xfrm>
                <a:off x="-479500" y="5630288"/>
                <a:ext cx="5950025" cy="307777"/>
              </a:xfrm>
              <a:prstGeom prst="rect">
                <a:avLst/>
              </a:prstGeom>
              <a:blipFill>
                <a:blip r:embed="rId7"/>
                <a:stretch>
                  <a:fillRect t="-4000" b="-36000"/>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9FFB1EBB-3DB9-4E95-BFCB-76706DAA4E8B}"/>
              </a:ext>
            </a:extLst>
          </p:cNvPr>
          <p:cNvSpPr txBox="1"/>
          <p:nvPr/>
        </p:nvSpPr>
        <p:spPr>
          <a:xfrm>
            <a:off x="145973" y="5022900"/>
            <a:ext cx="6199322" cy="369332"/>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b="1" dirty="0">
                <a:solidFill>
                  <a:srgbClr val="FF0000"/>
                </a:solidFill>
                <a:latin typeface="Arial" panose="020B0604020202020204" pitchFamily="34" charset="0"/>
                <a:cs typeface="Arial" panose="020B0604020202020204" pitchFamily="34" charset="0"/>
              </a:rPr>
              <a:t>NOTE (</a:t>
            </a:r>
            <a:r>
              <a:rPr lang="en-US" sz="1800" b="0" i="1" u="none" strike="noStrike" baseline="0" dirty="0">
                <a:solidFill>
                  <a:srgbClr val="231F20"/>
                </a:solidFill>
                <a:latin typeface="Times-Italic"/>
              </a:rPr>
              <a:t>Bayes’ Theorem</a:t>
            </a:r>
            <a:r>
              <a:rPr lang="en-US" sz="1800" b="0" i="0" u="none" strike="noStrike" baseline="0" dirty="0">
                <a:solidFill>
                  <a:srgbClr val="231F20"/>
                </a:solidFill>
                <a:latin typeface="Times-Roman"/>
              </a:rPr>
              <a:t>:</a:t>
            </a:r>
            <a:r>
              <a:rPr lang="en-US" altLang="en-US" b="1" dirty="0">
                <a:solidFill>
                  <a:srgbClr val="FF0000"/>
                </a:solidFill>
                <a:latin typeface="Arial" panose="020B0604020202020204" pitchFamily="34" charset="0"/>
                <a:cs typeface="Arial" panose="020B0604020202020204" pitchFamily="34" charset="0"/>
              </a:rPr>
              <a:t>)</a:t>
            </a:r>
            <a:r>
              <a:rPr lang="en-US" altLang="en-US" b="1" dirty="0">
                <a:solidFill>
                  <a:srgbClr val="20212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92661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71986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Times New Roman" panose="02020603050405020304" pitchFamily="18" charset="0"/>
                <a:cs typeface="Times New Roman" panose="02020603050405020304" pitchFamily="18" charset="0"/>
              </a:rPr>
              <a:t>Conditional entropy</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Rectangle 2">
            <a:extLst>
              <a:ext uri="{FF2B5EF4-FFF2-40B4-BE49-F238E27FC236}">
                <a16:creationId xmlns:a16="http://schemas.microsoft.com/office/drawing/2014/main" id="{50FF41C7-D250-43CA-AE74-865552A66665}"/>
              </a:ext>
            </a:extLst>
          </p:cNvPr>
          <p:cNvSpPr>
            <a:spLocks noChangeArrowheads="1"/>
          </p:cNvSpPr>
          <p:nvPr/>
        </p:nvSpPr>
        <p:spPr bwMode="auto">
          <a:xfrm>
            <a:off x="273803" y="1117312"/>
            <a:ext cx="1191819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tabLst/>
            </a:pPr>
            <a:r>
              <a:rPr lang="en-US" altLang="en-US" b="1" dirty="0">
                <a:solidFill>
                  <a:srgbClr val="202122"/>
                </a:solidFill>
              </a:rPr>
              <a:t>Property:</a:t>
            </a:r>
          </a:p>
          <a:p>
            <a:pPr marL="342900" marR="0" lvl="0" indent="-342900" algn="l" defTabSz="914400" rtl="0" eaLnBrk="0" fontAlgn="base" latinLnBrk="0" hangingPunct="0">
              <a:lnSpc>
                <a:spcPct val="100000"/>
              </a:lnSpc>
              <a:spcBef>
                <a:spcPct val="0"/>
              </a:spcBef>
              <a:spcAft>
                <a:spcPct val="0"/>
              </a:spcAft>
              <a:buClrTx/>
              <a:buSzTx/>
              <a:buAutoNum type="arabicParenR"/>
              <a:tabLst/>
            </a:pPr>
            <a:r>
              <a:rPr lang="en-US" altLang="en-US" b="1" dirty="0">
                <a:solidFill>
                  <a:srgbClr val="202122"/>
                </a:solidFill>
              </a:rPr>
              <a:t>H(Y|X) = 0  </a:t>
            </a:r>
            <a:r>
              <a:rPr lang="en-US" altLang="en-US" dirty="0" err="1">
                <a:solidFill>
                  <a:srgbClr val="202122"/>
                </a:solidFill>
              </a:rPr>
              <a:t>iff</a:t>
            </a:r>
            <a:r>
              <a:rPr lang="en-US" altLang="en-US" dirty="0">
                <a:solidFill>
                  <a:srgbClr val="202122"/>
                </a:solidFill>
              </a:rPr>
              <a:t> value of Y is completely determined by value of X.</a:t>
            </a:r>
          </a:p>
          <a:p>
            <a:pPr marL="342900" marR="0" lvl="0" indent="-342900" algn="l" defTabSz="914400" rtl="0" eaLnBrk="0" fontAlgn="base" latinLnBrk="0" hangingPunct="0">
              <a:lnSpc>
                <a:spcPct val="100000"/>
              </a:lnSpc>
              <a:spcBef>
                <a:spcPct val="0"/>
              </a:spcBef>
              <a:spcAft>
                <a:spcPct val="0"/>
              </a:spcAft>
              <a:buClrTx/>
              <a:buSzTx/>
              <a:buAutoNum type="arabicParenR"/>
              <a:tabLst/>
            </a:pPr>
            <a:r>
              <a:rPr lang="en-US" altLang="en-US" b="1" dirty="0">
                <a:solidFill>
                  <a:srgbClr val="202122"/>
                </a:solidFill>
              </a:rPr>
              <a:t>H(Y|X) = H(Y) </a:t>
            </a:r>
            <a:r>
              <a:rPr lang="en-US" altLang="en-US" dirty="0">
                <a:solidFill>
                  <a:srgbClr val="202122"/>
                </a:solidFill>
              </a:rPr>
              <a:t>and</a:t>
            </a:r>
            <a:r>
              <a:rPr lang="en-US" altLang="en-US" b="1" dirty="0">
                <a:solidFill>
                  <a:srgbClr val="202122"/>
                </a:solidFill>
              </a:rPr>
              <a:t> H(X|Y)  = H(X) </a:t>
            </a:r>
            <a:r>
              <a:rPr lang="en-US" altLang="en-US" dirty="0" err="1">
                <a:solidFill>
                  <a:srgbClr val="202122"/>
                </a:solidFill>
              </a:rPr>
              <a:t>iff</a:t>
            </a:r>
            <a:r>
              <a:rPr lang="en-US" altLang="en-US" dirty="0">
                <a:solidFill>
                  <a:srgbClr val="202122"/>
                </a:solidFill>
              </a:rPr>
              <a:t> Y and X are independent random variables.</a:t>
            </a:r>
          </a:p>
          <a:p>
            <a:pPr marL="342900" marR="0" lvl="0" indent="-342900" algn="l" defTabSz="914400" rtl="0" eaLnBrk="0" fontAlgn="base" latinLnBrk="0" hangingPunct="0">
              <a:lnSpc>
                <a:spcPct val="100000"/>
              </a:lnSpc>
              <a:spcBef>
                <a:spcPct val="0"/>
              </a:spcBef>
              <a:spcAft>
                <a:spcPct val="0"/>
              </a:spcAft>
              <a:buClrTx/>
              <a:buSzTx/>
              <a:buAutoNum type="arabicParenR"/>
              <a:tabLst/>
            </a:pPr>
            <a:r>
              <a:rPr lang="en-US" b="0" i="1" dirty="0">
                <a:solidFill>
                  <a:srgbClr val="202122"/>
                </a:solidFill>
                <a:effectLst/>
                <a:latin typeface="Arial" panose="020B0604020202020204" pitchFamily="34" charset="0"/>
              </a:rPr>
              <a:t>chain rule</a:t>
            </a:r>
            <a:r>
              <a:rPr lang="en-US" b="0" i="0" dirty="0">
                <a:solidFill>
                  <a:srgbClr val="202122"/>
                </a:solidFill>
                <a:effectLst/>
                <a:latin typeface="Arial" panose="020B0604020202020204" pitchFamily="34" charset="0"/>
              </a:rPr>
              <a:t> of conditional entropy: </a:t>
            </a:r>
            <a:r>
              <a:rPr lang="en-US" altLang="en-US" b="1" dirty="0">
                <a:solidFill>
                  <a:srgbClr val="202122"/>
                </a:solidFill>
              </a:rPr>
              <a:t>H(Y|X) = H(X,Y) - H(X).		H(X|Y) = H(X,Y) - H(Y)</a:t>
            </a:r>
          </a:p>
          <a:p>
            <a:pPr marL="342900" marR="0" lvl="0" indent="-342900" algn="l" defTabSz="914400" rtl="0" eaLnBrk="0" fontAlgn="base" latinLnBrk="0" hangingPunct="0">
              <a:lnSpc>
                <a:spcPct val="100000"/>
              </a:lnSpc>
              <a:spcBef>
                <a:spcPct val="0"/>
              </a:spcBef>
              <a:spcAft>
                <a:spcPct val="0"/>
              </a:spcAft>
              <a:buClrTx/>
              <a:buSzTx/>
              <a:buAutoNum type="arabicParenR"/>
              <a:tabLst/>
            </a:pPr>
            <a:r>
              <a:rPr lang="en-US" altLang="en-US" b="1" dirty="0">
                <a:solidFill>
                  <a:srgbClr val="202122"/>
                </a:solidFill>
              </a:rPr>
              <a:t>H(Y|X)</a:t>
            </a:r>
            <a:r>
              <a:rPr lang="en-US" altLang="en-US" b="1" dirty="0">
                <a:solidFill>
                  <a:srgbClr val="202122"/>
                </a:solidFill>
                <a:latin typeface="Arial" panose="020B0604020202020204" pitchFamily="34" charset="0"/>
                <a:cs typeface="Arial" panose="020B0604020202020204" pitchFamily="34" charset="0"/>
              </a:rPr>
              <a:t> ≤ H(Y)</a:t>
            </a:r>
            <a:r>
              <a:rPr lang="en-US" altLang="en-US" b="1" dirty="0">
                <a:solidFill>
                  <a:srgbClr val="202122"/>
                </a:solidFill>
              </a:rPr>
              <a:t>	</a:t>
            </a:r>
          </a:p>
          <a:p>
            <a:pPr marL="342900" marR="0" lvl="0" indent="-342900" algn="l" defTabSz="914400" rtl="0" eaLnBrk="0" fontAlgn="base" latinLnBrk="0" hangingPunct="0">
              <a:lnSpc>
                <a:spcPct val="100000"/>
              </a:lnSpc>
              <a:spcBef>
                <a:spcPct val="0"/>
              </a:spcBef>
              <a:spcAft>
                <a:spcPct val="0"/>
              </a:spcAft>
              <a:buClrTx/>
              <a:buSzTx/>
              <a:buAutoNum type="arabicParenR"/>
              <a:tabLst/>
            </a:pPr>
            <a:r>
              <a:rPr lang="en-US" altLang="en-US" b="1" dirty="0">
                <a:solidFill>
                  <a:srgbClr val="202122"/>
                </a:solidFill>
              </a:rPr>
              <a:t>H(X,Y) = H(Y|X) + H (X|Y) + I(X;Y)</a:t>
            </a:r>
          </a:p>
          <a:p>
            <a:pPr marL="342900" indent="-342900">
              <a:buFontTx/>
              <a:buAutoNum type="arabicParenR"/>
            </a:pPr>
            <a:r>
              <a:rPr lang="en-US" altLang="en-US" b="1" dirty="0">
                <a:solidFill>
                  <a:srgbClr val="202122"/>
                </a:solidFill>
              </a:rPr>
              <a:t>H(X,Y) = H(X) + H (Y) - I(X;Y)</a:t>
            </a:r>
          </a:p>
          <a:p>
            <a:pPr marR="0" lvl="0" algn="l" defTabSz="914400" rtl="0" eaLnBrk="0" fontAlgn="base" latinLnBrk="0" hangingPunct="0">
              <a:lnSpc>
                <a:spcPct val="100000"/>
              </a:lnSpc>
              <a:spcBef>
                <a:spcPct val="0"/>
              </a:spcBef>
              <a:spcAft>
                <a:spcPct val="0"/>
              </a:spcAft>
              <a:buClrTx/>
              <a:buSzTx/>
              <a:tabLst/>
            </a:pPr>
            <a:endParaRPr lang="en-US" altLang="en-US" b="1" dirty="0">
              <a:solidFill>
                <a:srgbClr val="202122"/>
              </a:solidFill>
            </a:endParaRPr>
          </a:p>
          <a:p>
            <a:pPr marL="342900" marR="0" lvl="0" indent="-342900" algn="l" defTabSz="914400" rtl="0" eaLnBrk="0" fontAlgn="base" latinLnBrk="0" hangingPunct="0">
              <a:lnSpc>
                <a:spcPct val="100000"/>
              </a:lnSpc>
              <a:spcBef>
                <a:spcPct val="0"/>
              </a:spcBef>
              <a:spcAft>
                <a:spcPct val="0"/>
              </a:spcAft>
              <a:buClrTx/>
              <a:buSzTx/>
              <a:buAutoNum type="arabicParenR"/>
              <a:tabLst/>
            </a:pPr>
            <a:endParaRPr lang="en-US" altLang="en-US" b="1" dirty="0">
              <a:solidFill>
                <a:srgbClr val="202122"/>
              </a:solidFill>
            </a:endParaRPr>
          </a:p>
          <a:p>
            <a:pPr marL="342900" marR="0" lvl="0" indent="-342900" algn="l" defTabSz="914400" rtl="0" eaLnBrk="0" fontAlgn="base" latinLnBrk="0" hangingPunct="0">
              <a:lnSpc>
                <a:spcPct val="100000"/>
              </a:lnSpc>
              <a:spcBef>
                <a:spcPct val="0"/>
              </a:spcBef>
              <a:spcAft>
                <a:spcPct val="0"/>
              </a:spcAft>
              <a:buClrTx/>
              <a:buSzTx/>
              <a:buAutoNum type="arabicParenR"/>
              <a:tabLst/>
            </a:pPr>
            <a:endParaRPr lang="en-US" b="0" i="0" dirty="0">
              <a:solidFill>
                <a:srgbClr val="202122"/>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lang="en-US" altLang="en-US" dirty="0">
              <a:solidFill>
                <a:srgbClr val="202122"/>
              </a:solidFill>
            </a:endParaRPr>
          </a:p>
          <a:p>
            <a:pPr marL="342900" marR="0" lvl="0" indent="-342900" algn="l" defTabSz="914400" rtl="0" eaLnBrk="0" fontAlgn="base" latinLnBrk="0" hangingPunct="0">
              <a:lnSpc>
                <a:spcPct val="100000"/>
              </a:lnSpc>
              <a:spcBef>
                <a:spcPct val="0"/>
              </a:spcBef>
              <a:spcAft>
                <a:spcPct val="0"/>
              </a:spcAft>
              <a:buClrTx/>
              <a:buSzTx/>
              <a:buAutoNum type="arabicParenR"/>
              <a:tabLst/>
            </a:pPr>
            <a:endParaRPr lang="en-US" altLang="en-US" dirty="0">
              <a:solidFill>
                <a:srgbClr val="202122"/>
              </a:solidFill>
            </a:endParaRPr>
          </a:p>
          <a:p>
            <a:pPr marL="342900" marR="0" lvl="0" indent="-342900" algn="l" defTabSz="914400" rtl="0" eaLnBrk="0" fontAlgn="base" latinLnBrk="0" hangingPunct="0">
              <a:lnSpc>
                <a:spcPct val="100000"/>
              </a:lnSpc>
              <a:spcBef>
                <a:spcPct val="0"/>
              </a:spcBef>
              <a:spcAft>
                <a:spcPct val="0"/>
              </a:spcAft>
              <a:buClrTx/>
              <a:buSzTx/>
              <a:buAutoNum type="arabicParenR"/>
              <a:tabLst/>
            </a:pPr>
            <a:endParaRPr lang="en-US" altLang="en-US" dirty="0">
              <a:solidFill>
                <a:srgbClr val="202122"/>
              </a:solidFill>
            </a:endParaRPr>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3" name="Picture 3">
            <a:extLst>
              <a:ext uri="{FF2B5EF4-FFF2-40B4-BE49-F238E27FC236}">
                <a16:creationId xmlns:a16="http://schemas.microsoft.com/office/drawing/2014/main" id="{4B258973-67E5-415A-B8C6-C6B5F3D03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1930" y="2348446"/>
            <a:ext cx="7153840" cy="43702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close up of a tree&#10;&#10;Description automatically generated">
            <a:extLst>
              <a:ext uri="{FF2B5EF4-FFF2-40B4-BE49-F238E27FC236}">
                <a16:creationId xmlns:a16="http://schemas.microsoft.com/office/drawing/2014/main" id="{84D52F0F-0FE1-4927-BF63-95C08A9744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506" y="3593000"/>
            <a:ext cx="3960801" cy="2688685"/>
          </a:xfrm>
          <a:prstGeom prst="rect">
            <a:avLst/>
          </a:prstGeom>
        </p:spPr>
      </p:pic>
    </p:spTree>
    <p:extLst>
      <p:ext uri="{BB962C8B-B14F-4D97-AF65-F5344CB8AC3E}">
        <p14:creationId xmlns:p14="http://schemas.microsoft.com/office/powerpoint/2010/main" val="2611372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72730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Times New Roman" panose="02020603050405020304" pitchFamily="18" charset="0"/>
                <a:cs typeface="Times New Roman" panose="02020603050405020304" pitchFamily="18" charset="0"/>
              </a:rPr>
              <a:t>Mutual Information</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Rectangle 2">
            <a:extLst>
              <a:ext uri="{FF2B5EF4-FFF2-40B4-BE49-F238E27FC236}">
                <a16:creationId xmlns:a16="http://schemas.microsoft.com/office/drawing/2014/main" id="{50FF41C7-D250-43CA-AE74-865552A66665}"/>
              </a:ext>
            </a:extLst>
          </p:cNvPr>
          <p:cNvSpPr>
            <a:spLocks noChangeArrowheads="1"/>
          </p:cNvSpPr>
          <p:nvPr/>
        </p:nvSpPr>
        <p:spPr bwMode="auto">
          <a:xfrm>
            <a:off x="132836" y="1239405"/>
            <a:ext cx="1191819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tabLst/>
            </a:pPr>
            <a:r>
              <a:rPr lang="en-US" b="0" i="0" dirty="0">
                <a:effectLst/>
                <a:latin typeface="Arial" panose="020B0604020202020204" pitchFamily="34" charset="0"/>
              </a:rPr>
              <a:t>It is a measure of the mutual </a:t>
            </a:r>
            <a:r>
              <a:rPr lang="en-US" b="0" i="0" u="none" strike="noStrike" dirty="0">
                <a:effectLst/>
                <a:latin typeface="Arial" panose="020B0604020202020204" pitchFamily="34" charset="0"/>
              </a:rPr>
              <a:t>dependence</a:t>
            </a:r>
            <a:r>
              <a:rPr lang="en-US" b="0" i="0" dirty="0">
                <a:effectLst/>
                <a:latin typeface="Arial" panose="020B0604020202020204" pitchFamily="34" charset="0"/>
              </a:rPr>
              <a:t> between the two variables. More specifically, it quantifies the "amount of information" </a:t>
            </a:r>
            <a:r>
              <a:rPr lang="en-US" b="0" i="0" dirty="0">
                <a:effectLst/>
              </a:rPr>
              <a:t>obtained about one random variable through observing the other random variable.</a:t>
            </a:r>
          </a:p>
          <a:p>
            <a:pPr marR="0" lvl="0" algn="l" defTabSz="914400" rtl="0" eaLnBrk="0" fontAlgn="base" latinLnBrk="0" hangingPunct="0">
              <a:lnSpc>
                <a:spcPct val="100000"/>
              </a:lnSpc>
              <a:spcBef>
                <a:spcPct val="0"/>
              </a:spcBef>
              <a:spcAft>
                <a:spcPct val="0"/>
              </a:spcAft>
              <a:buClrTx/>
              <a:buSzTx/>
              <a:tabLst/>
            </a:pPr>
            <a:endParaRPr lang="en-US" b="0" i="0" dirty="0">
              <a:effectLst/>
            </a:endParaRPr>
          </a:p>
          <a:p>
            <a:pPr marR="0" lvl="0" algn="l" defTabSz="914400" rtl="0" eaLnBrk="0" fontAlgn="base" latinLnBrk="0" hangingPunct="0">
              <a:lnSpc>
                <a:spcPct val="100000"/>
              </a:lnSpc>
              <a:spcBef>
                <a:spcPct val="0"/>
              </a:spcBef>
              <a:spcAft>
                <a:spcPct val="0"/>
              </a:spcAft>
              <a:buClrTx/>
              <a:buSzTx/>
              <a:tabLst/>
            </a:pPr>
            <a:r>
              <a:rPr lang="en-US" altLang="en-US" b="1" dirty="0"/>
              <a:t>I(X;Y) = H(X) – H(X|Y) = H(Y) – H(Y|X)	</a:t>
            </a:r>
            <a:r>
              <a:rPr lang="en-US" altLang="en-US" dirty="0"/>
              <a:t>b/symbol</a:t>
            </a:r>
          </a:p>
          <a:p>
            <a:pPr marR="0" lvl="0" algn="l" defTabSz="914400" rtl="0" eaLnBrk="0" fontAlgn="base" latinLnBrk="0" hangingPunct="0">
              <a:lnSpc>
                <a:spcPct val="100000"/>
              </a:lnSpc>
              <a:spcBef>
                <a:spcPct val="0"/>
              </a:spcBef>
              <a:spcAft>
                <a:spcPct val="0"/>
              </a:spcAft>
              <a:buClrTx/>
              <a:buSzTx/>
              <a:tabLst/>
            </a:pPr>
            <a:endParaRPr lang="en-US" altLang="en-US" b="1" dirty="0"/>
          </a:p>
          <a:p>
            <a:pPr marR="0" lvl="0" algn="l" defTabSz="914400" rtl="0" eaLnBrk="0" fontAlgn="base" latinLnBrk="0" hangingPunct="0">
              <a:lnSpc>
                <a:spcPct val="100000"/>
              </a:lnSpc>
              <a:spcBef>
                <a:spcPct val="0"/>
              </a:spcBef>
              <a:spcAft>
                <a:spcPct val="0"/>
              </a:spcAft>
              <a:buClrTx/>
              <a:buSzTx/>
              <a:tabLst/>
            </a:pPr>
            <a:r>
              <a:rPr lang="en-US" altLang="en-US" b="1" dirty="0"/>
              <a:t>Properties:</a:t>
            </a:r>
          </a:p>
          <a:p>
            <a:pPr marL="342900" marR="0" lvl="0" indent="-342900" algn="l" defTabSz="914400" rtl="0" eaLnBrk="0" fontAlgn="base" latinLnBrk="0" hangingPunct="0">
              <a:lnSpc>
                <a:spcPct val="100000"/>
              </a:lnSpc>
              <a:spcBef>
                <a:spcPct val="0"/>
              </a:spcBef>
              <a:spcAft>
                <a:spcPct val="0"/>
              </a:spcAft>
              <a:buClrTx/>
              <a:buSzTx/>
              <a:buAutoNum type="arabicParenR"/>
              <a:tabLst/>
            </a:pPr>
            <a:r>
              <a:rPr lang="en-US" altLang="en-US" b="1" dirty="0"/>
              <a:t>I(X;Y) = I(Y;X)</a:t>
            </a:r>
          </a:p>
          <a:p>
            <a:pPr marL="342900" marR="0" lvl="0" indent="-342900" algn="l" defTabSz="914400" rtl="0" eaLnBrk="0" fontAlgn="base" latinLnBrk="0" hangingPunct="0">
              <a:lnSpc>
                <a:spcPct val="100000"/>
              </a:lnSpc>
              <a:spcBef>
                <a:spcPct val="0"/>
              </a:spcBef>
              <a:spcAft>
                <a:spcPct val="0"/>
              </a:spcAft>
              <a:buClrTx/>
              <a:buSzTx/>
              <a:buAutoNum type="arabicParenR"/>
              <a:tabLst/>
            </a:pPr>
            <a:r>
              <a:rPr lang="en-US" altLang="en-US" b="1" dirty="0"/>
              <a:t>I(X;Y) ≥ 0</a:t>
            </a:r>
          </a:p>
          <a:p>
            <a:pPr marL="342900" marR="0" lvl="0" indent="-342900" algn="l" defTabSz="914400" rtl="0" eaLnBrk="0" fontAlgn="base" latinLnBrk="0" hangingPunct="0">
              <a:lnSpc>
                <a:spcPct val="100000"/>
              </a:lnSpc>
              <a:spcBef>
                <a:spcPct val="0"/>
              </a:spcBef>
              <a:spcAft>
                <a:spcPct val="0"/>
              </a:spcAft>
              <a:buClrTx/>
              <a:buSzTx/>
              <a:buAutoNum type="arabicParenR"/>
              <a:tabLst/>
            </a:pPr>
            <a:r>
              <a:rPr lang="en-US" altLang="en-US" b="1" dirty="0"/>
              <a:t>I(X;Y) = H(X) + H(Y) – H(X,Y) </a:t>
            </a:r>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descr="A close up of a tree&#10;&#10;Description automatically generated">
            <a:extLst>
              <a:ext uri="{FF2B5EF4-FFF2-40B4-BE49-F238E27FC236}">
                <a16:creationId xmlns:a16="http://schemas.microsoft.com/office/drawing/2014/main" id="{84D52F0F-0FE1-4927-BF63-95C08A9744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6288" y="2579946"/>
            <a:ext cx="4476345" cy="3038649"/>
          </a:xfrm>
          <a:prstGeom prst="rect">
            <a:avLst/>
          </a:prstGeom>
        </p:spPr>
      </p:pic>
      <p:sp>
        <p:nvSpPr>
          <p:cNvPr id="10" name="Rectangle 2">
            <a:extLst>
              <a:ext uri="{FF2B5EF4-FFF2-40B4-BE49-F238E27FC236}">
                <a16:creationId xmlns:a16="http://schemas.microsoft.com/office/drawing/2014/main" id="{998F2ABA-1666-A1AF-74A1-EC5639358999}"/>
              </a:ext>
            </a:extLst>
          </p:cNvPr>
          <p:cNvSpPr>
            <a:spLocks noChangeArrowheads="1"/>
          </p:cNvSpPr>
          <p:nvPr/>
        </p:nvSpPr>
        <p:spPr bwMode="auto">
          <a:xfrm>
            <a:off x="1209367" y="5156930"/>
            <a:ext cx="1191819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tabLst/>
            </a:pPr>
            <a:r>
              <a:rPr lang="en-US" altLang="en-US" b="1" dirty="0"/>
              <a:t>Prove:</a:t>
            </a:r>
          </a:p>
          <a:p>
            <a:pPr marL="342900" marR="0" lvl="0" indent="-342900" algn="l" defTabSz="914400" rtl="0" eaLnBrk="0" fontAlgn="base" latinLnBrk="0" hangingPunct="0">
              <a:lnSpc>
                <a:spcPct val="100000"/>
              </a:lnSpc>
              <a:spcBef>
                <a:spcPct val="0"/>
              </a:spcBef>
              <a:spcAft>
                <a:spcPct val="0"/>
              </a:spcAft>
              <a:buClrTx/>
              <a:buSzTx/>
              <a:buAutoNum type="arabicParenR"/>
              <a:tabLst/>
            </a:pPr>
            <a:r>
              <a:rPr lang="en-US" altLang="en-US" b="1" dirty="0"/>
              <a:t>I(X;Y) = I(Y;X)</a:t>
            </a:r>
          </a:p>
          <a:p>
            <a:pPr marL="342900" marR="0" lvl="0" indent="-342900" algn="l" defTabSz="914400" rtl="0" eaLnBrk="0" fontAlgn="base" latinLnBrk="0" hangingPunct="0">
              <a:lnSpc>
                <a:spcPct val="100000"/>
              </a:lnSpc>
              <a:spcBef>
                <a:spcPct val="0"/>
              </a:spcBef>
              <a:spcAft>
                <a:spcPct val="0"/>
              </a:spcAft>
              <a:buClrTx/>
              <a:buSzTx/>
              <a:buAutoNum type="arabicParenR"/>
              <a:tabLst/>
            </a:pPr>
            <a:r>
              <a:rPr lang="en-US" altLang="en-US" b="1" dirty="0"/>
              <a:t>I(X;Y) ≥ 0</a:t>
            </a:r>
          </a:p>
        </p:txBody>
      </p:sp>
    </p:spTree>
    <p:extLst>
      <p:ext uri="{BB962C8B-B14F-4D97-AF65-F5344CB8AC3E}">
        <p14:creationId xmlns:p14="http://schemas.microsoft.com/office/powerpoint/2010/main" val="2374272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677999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Times New Roman" panose="02020603050405020304" pitchFamily="18" charset="0"/>
                <a:cs typeface="Times New Roman" panose="02020603050405020304" pitchFamily="18" charset="0"/>
              </a:rPr>
              <a:t>Discrete Memoryless Channel (DMC)</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Rectangle 2">
            <a:extLst>
              <a:ext uri="{FF2B5EF4-FFF2-40B4-BE49-F238E27FC236}">
                <a16:creationId xmlns:a16="http://schemas.microsoft.com/office/drawing/2014/main" id="{50FF41C7-D250-43CA-AE74-865552A66665}"/>
              </a:ext>
            </a:extLst>
          </p:cNvPr>
          <p:cNvSpPr>
            <a:spLocks noChangeArrowheads="1"/>
          </p:cNvSpPr>
          <p:nvPr/>
        </p:nvSpPr>
        <p:spPr bwMode="auto">
          <a:xfrm>
            <a:off x="329315" y="1117312"/>
            <a:ext cx="728323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202122"/>
                </a:solidFill>
              </a:rPr>
              <a:t>DMC  is a statistical model with an input A and an output B.</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202122"/>
                </a:solidFill>
              </a:rPr>
              <a:t>Channel accept an input symbol A and respond as an output B.</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202122"/>
                </a:solidFill>
              </a:rPr>
              <a:t>Channel  is  ‘discrete’ in   the sense: Number of symbols in A and  B are finite.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202122"/>
                </a:solidFill>
              </a:rPr>
              <a:t>Memoryless: Current output only depends on current input not on previous inputs.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b="1" dirty="0">
                <a:solidFill>
                  <a:srgbClr val="202122"/>
                </a:solidFill>
              </a:rPr>
              <a:t>P(a</a:t>
            </a:r>
            <a:r>
              <a:rPr lang="en-US" altLang="en-US" sz="2000" b="1" baseline="-25000" dirty="0">
                <a:solidFill>
                  <a:srgbClr val="202122"/>
                </a:solidFill>
              </a:rPr>
              <a:t>i</a:t>
            </a:r>
            <a:r>
              <a:rPr lang="en-US" altLang="en-US" sz="2000" b="1" dirty="0">
                <a:solidFill>
                  <a:srgbClr val="202122"/>
                </a:solidFill>
              </a:rPr>
              <a:t>): </a:t>
            </a:r>
            <a:r>
              <a:rPr lang="en-US" altLang="en-US" dirty="0">
                <a:solidFill>
                  <a:srgbClr val="202122"/>
                </a:solidFill>
              </a:rPr>
              <a:t>is assumed to be known.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rgbClr val="202122"/>
                </a:solidFill>
              </a:rPr>
              <a:t>Each possible input output path can be represented by a conditional  probability.: </a:t>
            </a:r>
            <a:r>
              <a:rPr lang="en-US" altLang="en-US" sz="2000" b="1" dirty="0">
                <a:solidFill>
                  <a:srgbClr val="202122"/>
                </a:solidFill>
              </a:rPr>
              <a:t>P(</a:t>
            </a:r>
            <a:r>
              <a:rPr lang="en-US" altLang="en-US" sz="2000" b="1" dirty="0" err="1">
                <a:solidFill>
                  <a:srgbClr val="202122"/>
                </a:solidFill>
              </a:rPr>
              <a:t>b</a:t>
            </a:r>
            <a:r>
              <a:rPr lang="en-US" altLang="en-US" sz="2000" b="1" baseline="-25000" dirty="0" err="1">
                <a:solidFill>
                  <a:srgbClr val="202122"/>
                </a:solidFill>
              </a:rPr>
              <a:t>j</a:t>
            </a:r>
            <a:r>
              <a:rPr lang="en-US" altLang="en-US" sz="2000" b="1" baseline="-25000" dirty="0">
                <a:solidFill>
                  <a:srgbClr val="202122"/>
                </a:solidFill>
              </a:rPr>
              <a:t> </a:t>
            </a:r>
            <a:r>
              <a:rPr lang="en-US" altLang="en-US" sz="2000" b="1">
                <a:solidFill>
                  <a:srgbClr val="202122"/>
                </a:solidFill>
              </a:rPr>
              <a:t>| a</a:t>
            </a:r>
            <a:r>
              <a:rPr lang="en-US" altLang="en-US" sz="2000" b="1" baseline="-25000">
                <a:solidFill>
                  <a:srgbClr val="202122"/>
                </a:solidFill>
              </a:rPr>
              <a:t>i</a:t>
            </a:r>
            <a:r>
              <a:rPr lang="en-US" altLang="en-US" dirty="0">
                <a:solidFill>
                  <a:srgbClr val="202122"/>
                </a:solidFill>
              </a:rPr>
              <a:t>)-----Channel Transmission Probability.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solidFill>
                  <a:srgbClr val="202122"/>
                </a:solidFill>
              </a:rPr>
              <a:t>The conditional probabilities that describe an information channel can be represented conveniently using a matrix representation:</a:t>
            </a:r>
            <a:endParaRPr lang="en-US" altLang="en-US" dirty="0">
              <a:solidFill>
                <a:srgbClr val="202122"/>
              </a:solidFill>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202122"/>
              </a:solidFill>
            </a:endParaRPr>
          </a:p>
          <a:p>
            <a:pPr marR="0" lvl="0" algn="l" defTabSz="914400" rtl="0" eaLnBrk="0" fontAlgn="base" latinLnBrk="0" hangingPunct="0">
              <a:lnSpc>
                <a:spcPct val="100000"/>
              </a:lnSpc>
              <a:spcBef>
                <a:spcPct val="0"/>
              </a:spcBef>
              <a:spcAft>
                <a:spcPct val="0"/>
              </a:spcAft>
              <a:buClrTx/>
              <a:buSzTx/>
              <a:tabLst/>
            </a:pPr>
            <a:endParaRPr lang="en-US" altLang="en-US" dirty="0">
              <a:solidFill>
                <a:srgbClr val="202122"/>
              </a:solidFill>
            </a:endParaRPr>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BDD28F39-E580-4454-B3E1-1B3B4C6FF059}"/>
              </a:ext>
            </a:extLst>
          </p:cNvPr>
          <p:cNvPicPr>
            <a:picLocks noChangeAspect="1"/>
          </p:cNvPicPr>
          <p:nvPr/>
        </p:nvPicPr>
        <p:blipFill>
          <a:blip r:embed="rId3"/>
          <a:stretch>
            <a:fillRect/>
          </a:stretch>
        </p:blipFill>
        <p:spPr>
          <a:xfrm>
            <a:off x="7480808" y="1348095"/>
            <a:ext cx="4381877" cy="2498756"/>
          </a:xfrm>
          <a:prstGeom prst="rect">
            <a:avLst/>
          </a:prstGeom>
        </p:spPr>
      </p:pic>
      <p:pic>
        <p:nvPicPr>
          <p:cNvPr id="9" name="Picture 8">
            <a:extLst>
              <a:ext uri="{FF2B5EF4-FFF2-40B4-BE49-F238E27FC236}">
                <a16:creationId xmlns:a16="http://schemas.microsoft.com/office/drawing/2014/main" id="{7437F7EB-EF6B-41C5-83BE-D94C116629E2}"/>
              </a:ext>
            </a:extLst>
          </p:cNvPr>
          <p:cNvPicPr>
            <a:picLocks noChangeAspect="1"/>
          </p:cNvPicPr>
          <p:nvPr/>
        </p:nvPicPr>
        <p:blipFill>
          <a:blip r:embed="rId4"/>
          <a:stretch>
            <a:fillRect/>
          </a:stretch>
        </p:blipFill>
        <p:spPr>
          <a:xfrm>
            <a:off x="4141612" y="4706027"/>
            <a:ext cx="4689808" cy="1745650"/>
          </a:xfrm>
          <a:prstGeom prst="rect">
            <a:avLst/>
          </a:prstGeom>
        </p:spPr>
      </p:pic>
    </p:spTree>
    <p:extLst>
      <p:ext uri="{BB962C8B-B14F-4D97-AF65-F5344CB8AC3E}">
        <p14:creationId xmlns:p14="http://schemas.microsoft.com/office/powerpoint/2010/main" val="2957949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677999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Times New Roman" panose="02020603050405020304" pitchFamily="18" charset="0"/>
                <a:cs typeface="Times New Roman" panose="02020603050405020304" pitchFamily="18" charset="0"/>
              </a:rPr>
              <a:t>Discrete Memoryless Channel (DMC)</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Rectangle 2">
            <a:extLst>
              <a:ext uri="{FF2B5EF4-FFF2-40B4-BE49-F238E27FC236}">
                <a16:creationId xmlns:a16="http://schemas.microsoft.com/office/drawing/2014/main" id="{50FF41C7-D250-43CA-AE74-865552A66665}"/>
              </a:ext>
            </a:extLst>
          </p:cNvPr>
          <p:cNvSpPr>
            <a:spLocks noChangeArrowheads="1"/>
          </p:cNvSpPr>
          <p:nvPr/>
        </p:nvSpPr>
        <p:spPr bwMode="auto">
          <a:xfrm>
            <a:off x="279582" y="1114865"/>
            <a:ext cx="113030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l"/>
            <a:r>
              <a:rPr lang="en-US" sz="1800" b="1" i="0" u="none" strike="noStrike" baseline="0" dirty="0">
                <a:solidFill>
                  <a:srgbClr val="231F20"/>
                </a:solidFill>
                <a:latin typeface="Times-Roman"/>
              </a:rPr>
              <a:t>P </a:t>
            </a:r>
            <a:r>
              <a:rPr lang="en-US" sz="1800" b="0" i="0" u="none" strike="noStrike" baseline="0" dirty="0">
                <a:solidFill>
                  <a:srgbClr val="231F20"/>
                </a:solidFill>
                <a:latin typeface="Times-Roman"/>
              </a:rPr>
              <a:t>is the </a:t>
            </a:r>
            <a:r>
              <a:rPr lang="en-US" sz="1800" b="0" i="1" u="none" strike="noStrike" baseline="0" dirty="0">
                <a:solidFill>
                  <a:srgbClr val="231F20"/>
                </a:solidFill>
                <a:latin typeface="Times-Italic"/>
              </a:rPr>
              <a:t>channel matrix </a:t>
            </a:r>
            <a:r>
              <a:rPr lang="en-US" sz="1800" b="0" i="0" u="none" strike="noStrike" baseline="0" dirty="0">
                <a:solidFill>
                  <a:srgbClr val="231F20"/>
                </a:solidFill>
                <a:latin typeface="Times-Roman"/>
              </a:rPr>
              <a:t>and for notational convenience we may sometimes rewrite this as</a:t>
            </a:r>
            <a:endParaRPr lang="en-US" altLang="en-US" dirty="0">
              <a:solidFill>
                <a:srgbClr val="202122"/>
              </a:solidFill>
            </a:endParaRPr>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8AD6EF88-AA9C-45AC-9E71-856BD1E17209}"/>
              </a:ext>
            </a:extLst>
          </p:cNvPr>
          <p:cNvPicPr>
            <a:picLocks noChangeAspect="1"/>
          </p:cNvPicPr>
          <p:nvPr/>
        </p:nvPicPr>
        <p:blipFill>
          <a:blip r:embed="rId3"/>
          <a:stretch>
            <a:fillRect/>
          </a:stretch>
        </p:blipFill>
        <p:spPr>
          <a:xfrm>
            <a:off x="1861654" y="1837128"/>
            <a:ext cx="3056690" cy="1639498"/>
          </a:xfrm>
          <a:prstGeom prst="rect">
            <a:avLst/>
          </a:prstGeom>
        </p:spPr>
      </p:pic>
      <p:pic>
        <p:nvPicPr>
          <p:cNvPr id="12" name="Picture 11">
            <a:extLst>
              <a:ext uri="{FF2B5EF4-FFF2-40B4-BE49-F238E27FC236}">
                <a16:creationId xmlns:a16="http://schemas.microsoft.com/office/drawing/2014/main" id="{946070A9-48F2-4CFA-B657-B30DA1448D0C}"/>
              </a:ext>
            </a:extLst>
          </p:cNvPr>
          <p:cNvPicPr>
            <a:picLocks noChangeAspect="1"/>
          </p:cNvPicPr>
          <p:nvPr/>
        </p:nvPicPr>
        <p:blipFill>
          <a:blip r:embed="rId4"/>
          <a:stretch>
            <a:fillRect/>
          </a:stretch>
        </p:blipFill>
        <p:spPr>
          <a:xfrm>
            <a:off x="7713267" y="1502279"/>
            <a:ext cx="4440729" cy="2532316"/>
          </a:xfrm>
          <a:prstGeom prst="rect">
            <a:avLst/>
          </a:prstGeom>
        </p:spPr>
      </p:pic>
      <p:sp>
        <p:nvSpPr>
          <p:cNvPr id="13" name="Rectangle 2">
            <a:extLst>
              <a:ext uri="{FF2B5EF4-FFF2-40B4-BE49-F238E27FC236}">
                <a16:creationId xmlns:a16="http://schemas.microsoft.com/office/drawing/2014/main" id="{C76F797F-5BBE-443A-9ECC-E1A05E809014}"/>
              </a:ext>
            </a:extLst>
          </p:cNvPr>
          <p:cNvSpPr>
            <a:spLocks noChangeArrowheads="1"/>
          </p:cNvSpPr>
          <p:nvPr/>
        </p:nvSpPr>
        <p:spPr bwMode="auto">
          <a:xfrm>
            <a:off x="602721" y="3540998"/>
            <a:ext cx="1130305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l"/>
            <a:r>
              <a:rPr lang="en-US" sz="2000" b="1" i="0" u="none" strike="noStrike" baseline="0" dirty="0" err="1">
                <a:solidFill>
                  <a:srgbClr val="231F20"/>
                </a:solidFill>
                <a:latin typeface="Times-Roman"/>
              </a:rPr>
              <a:t>P</a:t>
            </a:r>
            <a:r>
              <a:rPr lang="en-US" sz="2000" b="1" i="0" u="none" strike="noStrike" baseline="-25000" dirty="0" err="1">
                <a:solidFill>
                  <a:srgbClr val="231F20"/>
                </a:solidFill>
                <a:latin typeface="Times-Roman"/>
              </a:rPr>
              <a:t>ij</a:t>
            </a:r>
            <a:r>
              <a:rPr lang="en-US" sz="2000" b="1" i="0" u="none" strike="noStrike" baseline="0" dirty="0">
                <a:solidFill>
                  <a:srgbClr val="231F20"/>
                </a:solidFill>
                <a:latin typeface="Times-Roman"/>
              </a:rPr>
              <a:t> = P(</a:t>
            </a:r>
            <a:r>
              <a:rPr lang="en-US" sz="2000" b="1" i="0" u="none" strike="noStrike" baseline="0" dirty="0" err="1">
                <a:solidFill>
                  <a:srgbClr val="231F20"/>
                </a:solidFill>
                <a:latin typeface="Times-Roman"/>
              </a:rPr>
              <a:t>b</a:t>
            </a:r>
            <a:r>
              <a:rPr lang="en-US" sz="2000" b="1" i="0" u="none" strike="noStrike" baseline="-25000" dirty="0" err="1">
                <a:solidFill>
                  <a:srgbClr val="231F20"/>
                </a:solidFill>
                <a:latin typeface="Times-Roman"/>
              </a:rPr>
              <a:t>j</a:t>
            </a:r>
            <a:r>
              <a:rPr lang="en-US" sz="2000" b="1" i="0" u="none" strike="noStrike" baseline="0" dirty="0">
                <a:solidFill>
                  <a:srgbClr val="231F20"/>
                </a:solidFill>
                <a:latin typeface="Times-Roman"/>
              </a:rPr>
              <a:t>/a</a:t>
            </a:r>
            <a:r>
              <a:rPr lang="en-US" sz="2000" b="1" i="0" u="none" strike="noStrike" baseline="-25000" dirty="0">
                <a:solidFill>
                  <a:srgbClr val="231F20"/>
                </a:solidFill>
                <a:latin typeface="Times-Roman"/>
              </a:rPr>
              <a:t>i</a:t>
            </a:r>
            <a:r>
              <a:rPr lang="en-US" sz="2000" b="1" i="0" u="none" strike="noStrike" baseline="0" dirty="0">
                <a:solidFill>
                  <a:srgbClr val="231F20"/>
                </a:solidFill>
                <a:latin typeface="Times-Roman"/>
              </a:rPr>
              <a:t>)</a:t>
            </a:r>
          </a:p>
          <a:p>
            <a:pPr algn="l"/>
            <a:endParaRPr lang="en-US" sz="2000" b="1" i="0" u="none" strike="noStrike" baseline="0" dirty="0">
              <a:solidFill>
                <a:srgbClr val="231F20"/>
              </a:solidFill>
              <a:latin typeface="Times-Roman"/>
            </a:endParaRPr>
          </a:p>
          <a:p>
            <a:pPr algn="l"/>
            <a:r>
              <a:rPr lang="en-US" sz="2000" b="0" i="0" u="none" strike="noStrike" baseline="0" dirty="0">
                <a:solidFill>
                  <a:srgbClr val="231F20"/>
                </a:solidFill>
                <a:latin typeface="Times-Roman"/>
              </a:rPr>
              <a:t>The channel matrix exhibits the following properties and structure:</a:t>
            </a:r>
          </a:p>
          <a:p>
            <a:pPr marL="285750" indent="-285750" algn="l">
              <a:buFont typeface="Arial" panose="020B0604020202020204" pitchFamily="34" charset="0"/>
              <a:buChar char="•"/>
            </a:pPr>
            <a:r>
              <a:rPr lang="en-US" sz="2000" b="0" i="0" u="none" strike="noStrike" baseline="0" dirty="0">
                <a:solidFill>
                  <a:srgbClr val="231F20"/>
                </a:solidFill>
                <a:latin typeface="Times-Roman"/>
              </a:rPr>
              <a:t>Each row of</a:t>
            </a:r>
            <a:r>
              <a:rPr lang="en-US" sz="2000" dirty="0">
                <a:solidFill>
                  <a:srgbClr val="231F20"/>
                </a:solidFill>
                <a:latin typeface="Times-Roman"/>
              </a:rPr>
              <a:t> </a:t>
            </a:r>
            <a:r>
              <a:rPr lang="en-US" sz="2000" b="1" dirty="0">
                <a:solidFill>
                  <a:srgbClr val="231F20"/>
                </a:solidFill>
                <a:latin typeface="Times-Roman"/>
              </a:rPr>
              <a:t>P</a:t>
            </a:r>
            <a:r>
              <a:rPr lang="en-US" sz="2000" dirty="0">
                <a:solidFill>
                  <a:srgbClr val="231F20"/>
                </a:solidFill>
                <a:latin typeface="Times-Roman"/>
              </a:rPr>
              <a:t> </a:t>
            </a:r>
            <a:r>
              <a:rPr lang="en-US" sz="2000" b="0" i="0" u="none" strike="noStrike" baseline="0" dirty="0">
                <a:solidFill>
                  <a:srgbClr val="231F20"/>
                </a:solidFill>
                <a:latin typeface="Times-Roman"/>
              </a:rPr>
              <a:t>contains the probabilities of all possible outputs from the same input to the channel.</a:t>
            </a:r>
          </a:p>
          <a:p>
            <a:pPr marL="285750" indent="-285750" algn="l">
              <a:buFont typeface="Arial" panose="020B0604020202020204" pitchFamily="34" charset="0"/>
              <a:buChar char="•"/>
            </a:pPr>
            <a:r>
              <a:rPr lang="en-US" sz="2000" b="0" i="0" u="none" strike="noStrike" baseline="0" dirty="0">
                <a:solidFill>
                  <a:srgbClr val="231F20"/>
                </a:solidFill>
                <a:latin typeface="Times-Roman"/>
              </a:rPr>
              <a:t>Each column of</a:t>
            </a:r>
            <a:r>
              <a:rPr lang="en-US" sz="2000" dirty="0">
                <a:solidFill>
                  <a:srgbClr val="231F20"/>
                </a:solidFill>
                <a:latin typeface="Times-Roman"/>
              </a:rPr>
              <a:t> </a:t>
            </a:r>
            <a:r>
              <a:rPr lang="en-US" sz="2000" b="1" dirty="0">
                <a:solidFill>
                  <a:srgbClr val="231F20"/>
                </a:solidFill>
                <a:latin typeface="Times-Roman"/>
              </a:rPr>
              <a:t>P</a:t>
            </a:r>
            <a:r>
              <a:rPr lang="en-US" sz="2000" dirty="0">
                <a:solidFill>
                  <a:srgbClr val="231F20"/>
                </a:solidFill>
                <a:latin typeface="Times-Roman"/>
              </a:rPr>
              <a:t> </a:t>
            </a:r>
            <a:r>
              <a:rPr lang="en-US" sz="2000" b="0" i="0" u="none" strike="noStrike" baseline="0" dirty="0">
                <a:solidFill>
                  <a:srgbClr val="231F20"/>
                </a:solidFill>
                <a:latin typeface="Times-Roman"/>
              </a:rPr>
              <a:t>contains the probabilities of all possible inputs to a particular output from the channel.</a:t>
            </a:r>
          </a:p>
          <a:p>
            <a:pPr marL="285750" indent="-285750" algn="l">
              <a:buFont typeface="Arial" panose="020B0604020202020204" pitchFamily="34" charset="0"/>
              <a:buChar char="•"/>
            </a:pPr>
            <a:r>
              <a:rPr lang="en-US" sz="2000" b="0" i="0" u="none" strike="noStrike" baseline="0" dirty="0">
                <a:solidFill>
                  <a:srgbClr val="231F20"/>
                </a:solidFill>
                <a:latin typeface="Times-Roman"/>
              </a:rPr>
              <a:t>If we transmit the symbol</a:t>
            </a:r>
            <a:r>
              <a:rPr lang="en-US" sz="2000" dirty="0">
                <a:solidFill>
                  <a:srgbClr val="231F20"/>
                </a:solidFill>
                <a:latin typeface="Times-Roman"/>
              </a:rPr>
              <a:t> </a:t>
            </a:r>
            <a:r>
              <a:rPr lang="en-US" sz="2000" b="1" dirty="0">
                <a:solidFill>
                  <a:srgbClr val="231F20"/>
                </a:solidFill>
                <a:latin typeface="Times-Roman"/>
              </a:rPr>
              <a:t>a</a:t>
            </a:r>
            <a:r>
              <a:rPr lang="en-US" sz="2000" b="1" baseline="-25000" dirty="0">
                <a:solidFill>
                  <a:srgbClr val="231F20"/>
                </a:solidFill>
                <a:latin typeface="Times-Roman"/>
              </a:rPr>
              <a:t>i </a:t>
            </a:r>
            <a:r>
              <a:rPr lang="en-US" sz="2000" b="0" i="0" u="none" strike="noStrike" baseline="0" dirty="0">
                <a:solidFill>
                  <a:srgbClr val="231F20"/>
                </a:solidFill>
                <a:latin typeface="Times-Roman"/>
              </a:rPr>
              <a:t>we must receive an output symbol with probability 1, that is:</a:t>
            </a:r>
            <a:endParaRPr lang="en-US" sz="2000" b="1" i="0" u="none" baseline="-25000" dirty="0">
              <a:solidFill>
                <a:srgbClr val="231F20"/>
              </a:solidFill>
              <a:latin typeface="Times-Roman"/>
            </a:endParaRPr>
          </a:p>
          <a:p>
            <a:pPr algn="l"/>
            <a:endParaRPr lang="en-US" altLang="en-US" sz="2000" dirty="0">
              <a:solidFill>
                <a:srgbClr val="202122"/>
              </a:solidFill>
            </a:endParaRPr>
          </a:p>
        </p:txBody>
      </p:sp>
      <p:pic>
        <p:nvPicPr>
          <p:cNvPr id="6" name="Picture 5">
            <a:extLst>
              <a:ext uri="{FF2B5EF4-FFF2-40B4-BE49-F238E27FC236}">
                <a16:creationId xmlns:a16="http://schemas.microsoft.com/office/drawing/2014/main" id="{82BE0B08-6207-489A-9D4F-C0589D93E437}"/>
              </a:ext>
            </a:extLst>
          </p:cNvPr>
          <p:cNvPicPr>
            <a:picLocks noChangeAspect="1"/>
          </p:cNvPicPr>
          <p:nvPr/>
        </p:nvPicPr>
        <p:blipFill>
          <a:blip r:embed="rId5"/>
          <a:stretch>
            <a:fillRect/>
          </a:stretch>
        </p:blipFill>
        <p:spPr>
          <a:xfrm>
            <a:off x="4293321" y="5533426"/>
            <a:ext cx="3327058" cy="641361"/>
          </a:xfrm>
          <a:prstGeom prst="rect">
            <a:avLst/>
          </a:prstGeom>
        </p:spPr>
      </p:pic>
      <p:sp>
        <p:nvSpPr>
          <p:cNvPr id="16" name="TextBox 15">
            <a:extLst>
              <a:ext uri="{FF2B5EF4-FFF2-40B4-BE49-F238E27FC236}">
                <a16:creationId xmlns:a16="http://schemas.microsoft.com/office/drawing/2014/main" id="{1C61C53E-F959-4444-92EC-72AAE88D94ED}"/>
              </a:ext>
            </a:extLst>
          </p:cNvPr>
          <p:cNvSpPr txBox="1"/>
          <p:nvPr/>
        </p:nvSpPr>
        <p:spPr>
          <a:xfrm>
            <a:off x="775741" y="6174788"/>
            <a:ext cx="6198432" cy="369332"/>
          </a:xfrm>
          <a:prstGeom prst="rect">
            <a:avLst/>
          </a:prstGeom>
          <a:noFill/>
        </p:spPr>
        <p:txBody>
          <a:bodyPr wrap="square">
            <a:spAutoFit/>
          </a:bodyPr>
          <a:lstStyle/>
          <a:p>
            <a:r>
              <a:rPr lang="en-US" sz="1800" b="0" i="0" u="none" strike="noStrike" baseline="0" dirty="0">
                <a:solidFill>
                  <a:srgbClr val="231F20"/>
                </a:solidFill>
                <a:latin typeface="Times-Roman"/>
              </a:rPr>
              <a:t>that is, the probability terms in each row must sum to 1.</a:t>
            </a:r>
            <a:endParaRPr lang="en-US" dirty="0"/>
          </a:p>
        </p:txBody>
      </p:sp>
    </p:spTree>
    <p:extLst>
      <p:ext uri="{BB962C8B-B14F-4D97-AF65-F5344CB8AC3E}">
        <p14:creationId xmlns:p14="http://schemas.microsoft.com/office/powerpoint/2010/main" val="2092975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677999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i="0" dirty="0">
                <a:solidFill>
                  <a:srgbClr val="000000"/>
                </a:solidFill>
                <a:effectLst/>
                <a:latin typeface="Times New Roman" panose="02020603050405020304" pitchFamily="18" charset="0"/>
                <a:cs typeface="Times New Roman" panose="02020603050405020304" pitchFamily="18" charset="0"/>
              </a:rPr>
              <a:t>Discrete Memoryless Channel (DMC)</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Rectangle 2">
            <a:extLst>
              <a:ext uri="{FF2B5EF4-FFF2-40B4-BE49-F238E27FC236}">
                <a16:creationId xmlns:a16="http://schemas.microsoft.com/office/drawing/2014/main" id="{50FF41C7-D250-43CA-AE74-865552A66665}"/>
              </a:ext>
            </a:extLst>
          </p:cNvPr>
          <p:cNvSpPr>
            <a:spLocks noChangeArrowheads="1"/>
          </p:cNvSpPr>
          <p:nvPr/>
        </p:nvSpPr>
        <p:spPr bwMode="auto">
          <a:xfrm>
            <a:off x="394634" y="1298287"/>
            <a:ext cx="1130305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l"/>
            <a:r>
              <a:rPr lang="en-US" sz="2000" b="1" i="0" u="none" strike="noStrike" baseline="0" dirty="0">
                <a:solidFill>
                  <a:srgbClr val="231F20"/>
                </a:solidFill>
                <a:latin typeface="Times-Bold"/>
              </a:rPr>
              <a:t>Noiseless: </a:t>
            </a:r>
            <a:r>
              <a:rPr lang="en-US" sz="2000" b="0" i="0" u="none" strike="noStrike" baseline="0" dirty="0">
                <a:solidFill>
                  <a:srgbClr val="231F20"/>
                </a:solidFill>
                <a:latin typeface="Times-Roman"/>
              </a:rPr>
              <a:t>If the channel is noiseless there will be no error in transmission, the channel matrix is given by</a:t>
            </a:r>
          </a:p>
          <a:p>
            <a:pPr algn="l"/>
            <a:endParaRPr lang="en-US" altLang="en-US" sz="2000" dirty="0">
              <a:solidFill>
                <a:srgbClr val="231F20"/>
              </a:solidFill>
              <a:latin typeface="Times-Roman"/>
            </a:endParaRPr>
          </a:p>
          <a:p>
            <a:pPr algn="l"/>
            <a:r>
              <a:rPr lang="en-US" altLang="en-US" sz="2000" dirty="0">
                <a:solidFill>
                  <a:srgbClr val="231F20"/>
                </a:solidFill>
                <a:latin typeface="Times-Roman"/>
              </a:rPr>
              <a:t>			P =[1 0; 0 1]</a:t>
            </a:r>
            <a:endParaRPr lang="en-US" altLang="en-US" sz="2000" dirty="0">
              <a:solidFill>
                <a:srgbClr val="202122"/>
              </a:solidFill>
            </a:endParaRPr>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5B7C7244-DD14-4B78-AFD0-9FEBE9DB7C28}"/>
              </a:ext>
            </a:extLst>
          </p:cNvPr>
          <p:cNvPicPr>
            <a:picLocks noChangeAspect="1"/>
          </p:cNvPicPr>
          <p:nvPr/>
        </p:nvPicPr>
        <p:blipFill>
          <a:blip r:embed="rId3"/>
          <a:stretch>
            <a:fillRect/>
          </a:stretch>
        </p:blipFill>
        <p:spPr>
          <a:xfrm>
            <a:off x="8583294" y="1789684"/>
            <a:ext cx="3114392" cy="1312752"/>
          </a:xfrm>
          <a:prstGeom prst="rect">
            <a:avLst/>
          </a:prstGeom>
        </p:spPr>
      </p:pic>
      <p:sp>
        <p:nvSpPr>
          <p:cNvPr id="17" name="TextBox 16">
            <a:extLst>
              <a:ext uri="{FF2B5EF4-FFF2-40B4-BE49-F238E27FC236}">
                <a16:creationId xmlns:a16="http://schemas.microsoft.com/office/drawing/2014/main" id="{BE1E6AE6-4CA5-47C2-A9A7-79B3810CBE27}"/>
              </a:ext>
            </a:extLst>
          </p:cNvPr>
          <p:cNvSpPr txBox="1"/>
          <p:nvPr/>
        </p:nvSpPr>
        <p:spPr>
          <a:xfrm>
            <a:off x="290782" y="3667936"/>
            <a:ext cx="11303051" cy="369332"/>
          </a:xfrm>
          <a:prstGeom prst="rect">
            <a:avLst/>
          </a:prstGeom>
          <a:noFill/>
        </p:spPr>
        <p:txBody>
          <a:bodyPr wrap="square">
            <a:spAutoFit/>
          </a:bodyPr>
          <a:lstStyle/>
          <a:p>
            <a:pPr algn="l"/>
            <a:r>
              <a:rPr lang="en-US" sz="1800" b="1" i="0" u="none" strike="noStrike" baseline="0" dirty="0">
                <a:solidFill>
                  <a:srgbClr val="231F20"/>
                </a:solidFill>
                <a:latin typeface="Times-Bold"/>
              </a:rPr>
              <a:t>Noisy: </a:t>
            </a:r>
            <a:r>
              <a:rPr lang="en-US" sz="1800" b="0" i="0" u="none" strike="noStrike" baseline="0" dirty="0">
                <a:solidFill>
                  <a:srgbClr val="231F20"/>
                </a:solidFill>
                <a:latin typeface="Times-Roman"/>
              </a:rPr>
              <a:t>Say the channel is noisy and introduces a bit inversion 1% of the time, then the channel matrix is given by</a:t>
            </a:r>
            <a:endParaRPr lang="en-US" dirty="0"/>
          </a:p>
        </p:txBody>
      </p:sp>
      <p:pic>
        <p:nvPicPr>
          <p:cNvPr id="9" name="Picture 8">
            <a:extLst>
              <a:ext uri="{FF2B5EF4-FFF2-40B4-BE49-F238E27FC236}">
                <a16:creationId xmlns:a16="http://schemas.microsoft.com/office/drawing/2014/main" id="{4FD4D8B3-125A-44A0-BAEA-0DDDA2DEF122}"/>
              </a:ext>
            </a:extLst>
          </p:cNvPr>
          <p:cNvPicPr>
            <a:picLocks noChangeAspect="1"/>
          </p:cNvPicPr>
          <p:nvPr/>
        </p:nvPicPr>
        <p:blipFill>
          <a:blip r:embed="rId4"/>
          <a:stretch>
            <a:fillRect/>
          </a:stretch>
        </p:blipFill>
        <p:spPr>
          <a:xfrm>
            <a:off x="8578850" y="4456422"/>
            <a:ext cx="3186820" cy="1656784"/>
          </a:xfrm>
          <a:prstGeom prst="rect">
            <a:avLst/>
          </a:prstGeom>
        </p:spPr>
      </p:pic>
      <p:pic>
        <p:nvPicPr>
          <p:cNvPr id="10" name="Picture 9">
            <a:extLst>
              <a:ext uri="{FF2B5EF4-FFF2-40B4-BE49-F238E27FC236}">
                <a16:creationId xmlns:a16="http://schemas.microsoft.com/office/drawing/2014/main" id="{DACCA6D2-5E37-4101-9A4D-6CDCF4845F71}"/>
              </a:ext>
            </a:extLst>
          </p:cNvPr>
          <p:cNvPicPr>
            <a:picLocks noChangeAspect="1"/>
          </p:cNvPicPr>
          <p:nvPr/>
        </p:nvPicPr>
        <p:blipFill>
          <a:blip r:embed="rId5"/>
          <a:stretch>
            <a:fillRect/>
          </a:stretch>
        </p:blipFill>
        <p:spPr>
          <a:xfrm>
            <a:off x="3279333" y="4777819"/>
            <a:ext cx="2122282" cy="781893"/>
          </a:xfrm>
          <a:prstGeom prst="rect">
            <a:avLst/>
          </a:prstGeom>
        </p:spPr>
      </p:pic>
    </p:spTree>
    <p:extLst>
      <p:ext uri="{BB962C8B-B14F-4D97-AF65-F5344CB8AC3E}">
        <p14:creationId xmlns:p14="http://schemas.microsoft.com/office/powerpoint/2010/main" val="2053080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598593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Binary symmetric channel </a:t>
            </a:r>
            <a:r>
              <a:rPr lang="en-US" i="0" dirty="0">
                <a:solidFill>
                  <a:srgbClr val="000000"/>
                </a:solidFill>
                <a:effectLst/>
                <a:latin typeface="Times New Roman" panose="02020603050405020304" pitchFamily="18" charset="0"/>
                <a:cs typeface="Times New Roman" panose="02020603050405020304" pitchFamily="18" charset="0"/>
              </a:rPr>
              <a:t>(BSC)</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02BC9884-AF04-4D54-95C3-1F1026FDF890}"/>
              </a:ext>
            </a:extLst>
          </p:cNvPr>
          <p:cNvPicPr>
            <a:picLocks noChangeAspect="1"/>
          </p:cNvPicPr>
          <p:nvPr/>
        </p:nvPicPr>
        <p:blipFill>
          <a:blip r:embed="rId3"/>
          <a:stretch>
            <a:fillRect/>
          </a:stretch>
        </p:blipFill>
        <p:spPr>
          <a:xfrm>
            <a:off x="8454452" y="1117313"/>
            <a:ext cx="3560881" cy="1639680"/>
          </a:xfrm>
          <a:prstGeom prst="rect">
            <a:avLst/>
          </a:prstGeom>
        </p:spPr>
      </p:pic>
      <p:sp>
        <p:nvSpPr>
          <p:cNvPr id="15" name="TextBox 14">
            <a:extLst>
              <a:ext uri="{FF2B5EF4-FFF2-40B4-BE49-F238E27FC236}">
                <a16:creationId xmlns:a16="http://schemas.microsoft.com/office/drawing/2014/main" id="{E208F255-1695-436B-9EB7-9C485D7F871B}"/>
              </a:ext>
            </a:extLst>
          </p:cNvPr>
          <p:cNvSpPr txBox="1"/>
          <p:nvPr/>
        </p:nvSpPr>
        <p:spPr>
          <a:xfrm>
            <a:off x="501444" y="1242749"/>
            <a:ext cx="8077405" cy="5139869"/>
          </a:xfrm>
          <a:prstGeom prst="rect">
            <a:avLst/>
          </a:prstGeom>
          <a:noFill/>
        </p:spPr>
        <p:txBody>
          <a:bodyPr wrap="square">
            <a:spAutoFit/>
          </a:bodyPr>
          <a:lstStyle/>
          <a:p>
            <a:pPr marL="285750" indent="-285750">
              <a:buFont typeface="Arial" panose="020B0604020202020204" pitchFamily="34" charset="0"/>
              <a:buChar char="•"/>
            </a:pPr>
            <a:r>
              <a:rPr lang="en-US" sz="2000" b="0" i="0" u="none" strike="noStrike" baseline="0" dirty="0">
                <a:solidFill>
                  <a:srgbClr val="231F20"/>
                </a:solidFill>
                <a:latin typeface="Times-Roman"/>
              </a:rPr>
              <a:t>In BSC the input to the channel will be the binary digits {0, 1}.</a:t>
            </a:r>
          </a:p>
          <a:p>
            <a:pPr marL="285750" indent="-285750">
              <a:buFont typeface="Arial" panose="020B0604020202020204" pitchFamily="34" charset="0"/>
              <a:buChar char="•"/>
            </a:pPr>
            <a:endParaRPr lang="en-US" sz="2000" b="0" i="0" u="none" strike="noStrike" baseline="0" dirty="0">
              <a:solidFill>
                <a:srgbClr val="231F20"/>
              </a:solidFill>
              <a:latin typeface="Times-Roman"/>
            </a:endParaRPr>
          </a:p>
          <a:p>
            <a:pPr marL="285750" indent="-285750">
              <a:buFont typeface="Arial" panose="020B0604020202020204" pitchFamily="34" charset="0"/>
              <a:buChar char="•"/>
            </a:pPr>
            <a:r>
              <a:rPr lang="en-US" sz="2000" b="0" i="0" u="none" strike="noStrike" baseline="0" dirty="0">
                <a:solidFill>
                  <a:srgbClr val="231F20"/>
                </a:solidFill>
                <a:latin typeface="Times-Roman"/>
              </a:rPr>
              <a:t>channel is assumed </a:t>
            </a:r>
            <a:r>
              <a:rPr lang="en-US" sz="2000" b="0" i="1" u="none" strike="noStrike" baseline="0" dirty="0">
                <a:solidFill>
                  <a:srgbClr val="231F20"/>
                </a:solidFill>
                <a:latin typeface="Times-Italic"/>
              </a:rPr>
              <a:t>memoryless</a:t>
            </a:r>
            <a:r>
              <a:rPr lang="en-US" sz="2000" dirty="0">
                <a:solidFill>
                  <a:srgbClr val="231F20"/>
                </a:solidFill>
                <a:latin typeface="Times-Roman"/>
              </a:rPr>
              <a:t>.</a:t>
            </a:r>
          </a:p>
          <a:p>
            <a:pPr marL="285750" indent="-285750">
              <a:buFont typeface="Arial" panose="020B0604020202020204" pitchFamily="34" charset="0"/>
              <a:buChar char="•"/>
            </a:pPr>
            <a:endParaRPr lang="en-US" sz="2000" dirty="0">
              <a:solidFill>
                <a:srgbClr val="231F20"/>
              </a:solidFill>
              <a:latin typeface="Times-Roman"/>
            </a:endParaRPr>
          </a:p>
          <a:p>
            <a:pPr marL="285750" indent="-285750" algn="l">
              <a:buFont typeface="Arial" panose="020B0604020202020204" pitchFamily="34" charset="0"/>
              <a:buChar char="•"/>
            </a:pPr>
            <a:r>
              <a:rPr lang="en-US" sz="2000" b="0" i="0" u="none" strike="noStrike" baseline="0" dirty="0">
                <a:solidFill>
                  <a:srgbClr val="231F20"/>
                </a:solidFill>
                <a:latin typeface="Times-Roman"/>
              </a:rPr>
              <a:t>Ideally if there is no noise a transmitted 0 is detected by the receiver as a 0, and a transmitted 1 is detected by the receiver as a 1.</a:t>
            </a:r>
          </a:p>
          <a:p>
            <a:pPr marL="285750" indent="-285750" algn="l">
              <a:buFont typeface="Arial" panose="020B0604020202020204" pitchFamily="34" charset="0"/>
              <a:buChar char="•"/>
            </a:pPr>
            <a:endParaRPr lang="en-US" sz="2000" b="0" i="0" u="none" strike="noStrike" baseline="0" dirty="0">
              <a:solidFill>
                <a:srgbClr val="231F20"/>
              </a:solidFill>
              <a:latin typeface="Times-Roman"/>
            </a:endParaRPr>
          </a:p>
          <a:p>
            <a:pPr marL="285750" indent="-285750" algn="l">
              <a:buFont typeface="Arial" panose="020B0604020202020204" pitchFamily="34" charset="0"/>
              <a:buChar char="•"/>
            </a:pPr>
            <a:r>
              <a:rPr lang="en-US" sz="2000" b="0" i="0" u="none" strike="noStrike" baseline="0" dirty="0">
                <a:solidFill>
                  <a:srgbClr val="231F20"/>
                </a:solidFill>
                <a:latin typeface="Times-Roman"/>
              </a:rPr>
              <a:t>The most common effect of noise is to force the detector to detect the wrong bit (bit inversion), that is, a 0 is detected as a 1, and a 1 is detected as a 0.</a:t>
            </a:r>
          </a:p>
          <a:p>
            <a:pPr algn="l"/>
            <a:r>
              <a:rPr lang="en-US" sz="2000" dirty="0">
                <a:solidFill>
                  <a:srgbClr val="231F20"/>
                </a:solidFill>
                <a:latin typeface="Times-Roman"/>
              </a:rPr>
              <a:t>    q = </a:t>
            </a:r>
            <a:r>
              <a:rPr lang="en-US" sz="2000" b="0" i="0" u="none" strike="noStrike" baseline="0" dirty="0">
                <a:solidFill>
                  <a:srgbClr val="231F20"/>
                </a:solidFill>
                <a:latin typeface="Times-Roman"/>
              </a:rPr>
              <a:t>is the probability of error (also called </a:t>
            </a:r>
            <a:r>
              <a:rPr lang="en-US" sz="2400" b="1" i="0" u="none" strike="noStrike" baseline="0" dirty="0">
                <a:solidFill>
                  <a:srgbClr val="231F20"/>
                </a:solidFill>
                <a:latin typeface="Times-Roman"/>
              </a:rPr>
              <a:t>bit error probability, </a:t>
            </a:r>
            <a:r>
              <a:rPr lang="en-US" sz="2400" b="1" i="1" u="none" strike="noStrike" baseline="0" dirty="0">
                <a:solidFill>
                  <a:srgbClr val="231F20"/>
                </a:solidFill>
                <a:latin typeface="Times-Italic"/>
              </a:rPr>
              <a:t>bit error rate (BER</a:t>
            </a:r>
            <a:r>
              <a:rPr lang="en-US" sz="2000" b="0" i="1" u="none" strike="noStrike" baseline="0" dirty="0">
                <a:solidFill>
                  <a:srgbClr val="231F20"/>
                </a:solidFill>
                <a:latin typeface="Times-Italic"/>
              </a:rPr>
              <a:t>)</a:t>
            </a:r>
            <a:r>
              <a:rPr lang="en-US" sz="2000" b="0" i="0" u="none" strike="noStrike" baseline="0" dirty="0">
                <a:solidFill>
                  <a:srgbClr val="231F20"/>
                </a:solidFill>
                <a:latin typeface="Times-Roman"/>
              </a:rPr>
              <a:t>, or “</a:t>
            </a:r>
            <a:r>
              <a:rPr lang="en-US" sz="2000" b="1" i="0" u="none" strike="noStrike" baseline="0" dirty="0">
                <a:solidFill>
                  <a:srgbClr val="231F20"/>
                </a:solidFill>
                <a:latin typeface="Times-Roman"/>
              </a:rPr>
              <a:t>crossover” probability</a:t>
            </a:r>
            <a:r>
              <a:rPr lang="en-US" sz="2000" b="0" i="0" u="none" strike="noStrike" baseline="0" dirty="0">
                <a:solidFill>
                  <a:srgbClr val="231F20"/>
                </a:solidFill>
                <a:latin typeface="Times-Roman"/>
              </a:rPr>
              <a:t>)</a:t>
            </a:r>
          </a:p>
          <a:p>
            <a:pPr algn="l"/>
            <a:endParaRPr lang="en-US" sz="2000" b="0" i="0" u="none" strike="noStrike" baseline="0" dirty="0">
              <a:solidFill>
                <a:srgbClr val="231F20"/>
              </a:solidFill>
              <a:latin typeface="Times-Roman"/>
            </a:endParaRPr>
          </a:p>
          <a:p>
            <a:pPr marL="285750" indent="-285750" algn="l">
              <a:buFont typeface="Arial" panose="020B0604020202020204" pitchFamily="34" charset="0"/>
              <a:buChar char="•"/>
            </a:pPr>
            <a:r>
              <a:rPr lang="en-US" sz="2000" dirty="0">
                <a:solidFill>
                  <a:srgbClr val="231F20"/>
                </a:solidFill>
                <a:latin typeface="Times-Roman"/>
              </a:rPr>
              <a:t>The BSC is an important channel for digital communication systems as noise present in physical transmission media (</a:t>
            </a:r>
            <a:r>
              <a:rPr lang="en-US" sz="2000" dirty="0" err="1">
                <a:solidFill>
                  <a:srgbClr val="231F20"/>
                </a:solidFill>
                <a:latin typeface="Times-Roman"/>
              </a:rPr>
              <a:t>fibre</a:t>
            </a:r>
            <a:r>
              <a:rPr lang="en-US" sz="2000" dirty="0">
                <a:solidFill>
                  <a:srgbClr val="231F20"/>
                </a:solidFill>
                <a:latin typeface="Times-Roman"/>
              </a:rPr>
              <a:t> optic cable, copper wire, etc.) typically causes bit inversion errors in the receiver</a:t>
            </a:r>
            <a:r>
              <a:rPr lang="en-US" sz="1800" b="0" i="0" u="none" strike="noStrike" baseline="0" dirty="0">
                <a:solidFill>
                  <a:srgbClr val="231F20"/>
                </a:solidFill>
                <a:latin typeface="Times-Roman"/>
              </a:rPr>
              <a:t>.</a:t>
            </a:r>
            <a:endParaRPr lang="en-US" sz="2000" dirty="0"/>
          </a:p>
        </p:txBody>
      </p:sp>
      <p:pic>
        <p:nvPicPr>
          <p:cNvPr id="8" name="Picture 7">
            <a:extLst>
              <a:ext uri="{FF2B5EF4-FFF2-40B4-BE49-F238E27FC236}">
                <a16:creationId xmlns:a16="http://schemas.microsoft.com/office/drawing/2014/main" id="{78FC4992-838F-4E67-BE31-49871CFDE523}"/>
              </a:ext>
            </a:extLst>
          </p:cNvPr>
          <p:cNvPicPr>
            <a:picLocks noChangeAspect="1"/>
          </p:cNvPicPr>
          <p:nvPr/>
        </p:nvPicPr>
        <p:blipFill>
          <a:blip r:embed="rId4"/>
          <a:stretch>
            <a:fillRect/>
          </a:stretch>
        </p:blipFill>
        <p:spPr>
          <a:xfrm>
            <a:off x="9519546" y="3385254"/>
            <a:ext cx="1409250" cy="861209"/>
          </a:xfrm>
          <a:prstGeom prst="rect">
            <a:avLst/>
          </a:prstGeom>
        </p:spPr>
      </p:pic>
      <p:sp>
        <p:nvSpPr>
          <p:cNvPr id="11" name="TextBox 10">
            <a:extLst>
              <a:ext uri="{FF2B5EF4-FFF2-40B4-BE49-F238E27FC236}">
                <a16:creationId xmlns:a16="http://schemas.microsoft.com/office/drawing/2014/main" id="{61F75FF5-E279-49B9-841E-1175FE847FA0}"/>
              </a:ext>
            </a:extLst>
          </p:cNvPr>
          <p:cNvSpPr txBox="1"/>
          <p:nvPr/>
        </p:nvSpPr>
        <p:spPr>
          <a:xfrm>
            <a:off x="9519546" y="4474614"/>
            <a:ext cx="1335267" cy="400110"/>
          </a:xfrm>
          <a:prstGeom prst="rect">
            <a:avLst/>
          </a:prstGeom>
          <a:noFill/>
        </p:spPr>
        <p:txBody>
          <a:bodyPr wrap="square" rtlCol="0">
            <a:spAutoFit/>
          </a:bodyPr>
          <a:lstStyle/>
          <a:p>
            <a:r>
              <a:rPr lang="en-US" sz="2000" dirty="0"/>
              <a:t>p = 1-q</a:t>
            </a:r>
          </a:p>
        </p:txBody>
      </p:sp>
    </p:spTree>
    <p:extLst>
      <p:ext uri="{BB962C8B-B14F-4D97-AF65-F5344CB8AC3E}">
        <p14:creationId xmlns:p14="http://schemas.microsoft.com/office/powerpoint/2010/main" val="1429316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54559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Binary erasure channel </a:t>
            </a:r>
            <a:r>
              <a:rPr lang="en-US" i="0" dirty="0">
                <a:solidFill>
                  <a:srgbClr val="000000"/>
                </a:solidFill>
                <a:effectLst/>
                <a:latin typeface="Times New Roman" panose="02020603050405020304" pitchFamily="18" charset="0"/>
                <a:cs typeface="Times New Roman" panose="02020603050405020304" pitchFamily="18" charset="0"/>
              </a:rPr>
              <a:t>(BEC)</a:t>
            </a: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92A2319D-685E-4157-AD63-43B0D7121E76}"/>
              </a:ext>
            </a:extLst>
          </p:cNvPr>
          <p:cNvPicPr>
            <a:picLocks noChangeAspect="1"/>
          </p:cNvPicPr>
          <p:nvPr/>
        </p:nvPicPr>
        <p:blipFill>
          <a:blip r:embed="rId3"/>
          <a:stretch>
            <a:fillRect/>
          </a:stretch>
        </p:blipFill>
        <p:spPr>
          <a:xfrm>
            <a:off x="7859955" y="1117312"/>
            <a:ext cx="4332046" cy="2249332"/>
          </a:xfrm>
          <a:prstGeom prst="rect">
            <a:avLst/>
          </a:prstGeom>
        </p:spPr>
      </p:pic>
      <p:sp>
        <p:nvSpPr>
          <p:cNvPr id="14" name="TextBox 13">
            <a:extLst>
              <a:ext uri="{FF2B5EF4-FFF2-40B4-BE49-F238E27FC236}">
                <a16:creationId xmlns:a16="http://schemas.microsoft.com/office/drawing/2014/main" id="{E4093916-505C-4785-9994-E0CD318ECC65}"/>
              </a:ext>
            </a:extLst>
          </p:cNvPr>
          <p:cNvSpPr txBox="1"/>
          <p:nvPr/>
        </p:nvSpPr>
        <p:spPr>
          <a:xfrm>
            <a:off x="251085" y="1209244"/>
            <a:ext cx="7608869" cy="5016758"/>
          </a:xfrm>
          <a:prstGeom prst="rect">
            <a:avLst/>
          </a:prstGeom>
          <a:noFill/>
        </p:spPr>
        <p:txBody>
          <a:bodyPr wrap="square">
            <a:spAutoFit/>
          </a:bodyPr>
          <a:lstStyle/>
          <a:p>
            <a:pPr marL="285750" indent="-285750" algn="l">
              <a:buFont typeface="Arial" panose="020B0604020202020204" pitchFamily="34" charset="0"/>
              <a:buChar char="•"/>
            </a:pPr>
            <a:r>
              <a:rPr lang="en-US" sz="2000" b="0" i="0" u="none" strike="noStrike" baseline="0" dirty="0">
                <a:solidFill>
                  <a:srgbClr val="231F20"/>
                </a:solidFill>
                <a:latin typeface="Times-Roman"/>
              </a:rPr>
              <a:t>Another effect that noise (or more usually, loss of signal) may have is to prevent the receiver from deciding whether the symbol was a 0 or a 1.</a:t>
            </a:r>
          </a:p>
          <a:p>
            <a:pPr marL="285750" indent="-285750" algn="l">
              <a:buFont typeface="Arial" panose="020B0604020202020204" pitchFamily="34" charset="0"/>
              <a:buChar char="•"/>
            </a:pPr>
            <a:endParaRPr lang="en-US" sz="2000" b="0" i="0" u="none" strike="noStrike" baseline="0" dirty="0">
              <a:solidFill>
                <a:srgbClr val="231F20"/>
              </a:solidFill>
              <a:latin typeface="Times-Roman"/>
            </a:endParaRPr>
          </a:p>
          <a:p>
            <a:pPr marL="285750" indent="-285750" algn="l">
              <a:buFont typeface="Arial" panose="020B0604020202020204" pitchFamily="34" charset="0"/>
              <a:buChar char="•"/>
            </a:pPr>
            <a:r>
              <a:rPr lang="en-US" sz="2000" b="0" i="0" u="none" strike="noStrike" baseline="0" dirty="0">
                <a:solidFill>
                  <a:srgbClr val="231F20"/>
                </a:solidFill>
                <a:latin typeface="Times-Roman"/>
              </a:rPr>
              <a:t>In this case the output alphabet includes an additional symbol, ? called the “erasure” symbol that denotes a bit that was not able to be detected.</a:t>
            </a:r>
          </a:p>
          <a:p>
            <a:pPr marL="285750" indent="-285750" algn="l">
              <a:buFont typeface="Arial" panose="020B0604020202020204" pitchFamily="34" charset="0"/>
              <a:buChar char="•"/>
            </a:pPr>
            <a:endParaRPr lang="en-US" sz="2000" b="0" i="0" u="none" strike="noStrike" baseline="0" dirty="0">
              <a:solidFill>
                <a:srgbClr val="231F20"/>
              </a:solidFill>
              <a:latin typeface="Times-Roman"/>
            </a:endParaRPr>
          </a:p>
          <a:p>
            <a:pPr marL="285750" indent="-285750" algn="l">
              <a:buFont typeface="Arial" panose="020B0604020202020204" pitchFamily="34" charset="0"/>
              <a:buChar char="•"/>
            </a:pPr>
            <a:r>
              <a:rPr lang="en-US" sz="2000" b="0" i="0" u="none" strike="noStrike" baseline="0" dirty="0">
                <a:solidFill>
                  <a:srgbClr val="231F20"/>
                </a:solidFill>
                <a:latin typeface="Times-Roman"/>
              </a:rPr>
              <a:t>Strictly speaking a BEC does not model the effect of bit inversion; thus a transmitted bit is either received correctly (probability = p)</a:t>
            </a:r>
            <a:r>
              <a:rPr lang="en-US" sz="2000" dirty="0">
                <a:solidFill>
                  <a:srgbClr val="231F20"/>
                </a:solidFill>
                <a:latin typeface="Times-Roman"/>
              </a:rPr>
              <a:t>  </a:t>
            </a:r>
            <a:r>
              <a:rPr lang="en-US" sz="2000" b="0" i="0" u="none" strike="noStrike" baseline="0" dirty="0">
                <a:solidFill>
                  <a:srgbClr val="231F20"/>
                </a:solidFill>
                <a:latin typeface="Times-Roman"/>
              </a:rPr>
              <a:t>or is received as an “erasure” (probability = q = 1-p ).</a:t>
            </a:r>
          </a:p>
          <a:p>
            <a:pPr marL="285750" indent="-285750" algn="l">
              <a:buFont typeface="Arial" panose="020B0604020202020204" pitchFamily="34" charset="0"/>
              <a:buChar char="•"/>
            </a:pPr>
            <a:endParaRPr lang="en-US" sz="2000" b="0" i="0" u="none" strike="noStrike" baseline="0" dirty="0">
              <a:solidFill>
                <a:srgbClr val="231F20"/>
              </a:solidFill>
              <a:latin typeface="Times-Roman"/>
            </a:endParaRPr>
          </a:p>
          <a:p>
            <a:pPr marL="285750" indent="-285750" algn="l">
              <a:buFont typeface="Arial" panose="020B0604020202020204" pitchFamily="34" charset="0"/>
              <a:buChar char="•"/>
            </a:pPr>
            <a:r>
              <a:rPr lang="en-US" sz="2000" b="0" i="0" u="none" strike="noStrike" baseline="0" dirty="0">
                <a:solidFill>
                  <a:srgbClr val="231F20"/>
                </a:solidFill>
                <a:latin typeface="Times-Roman"/>
              </a:rPr>
              <a:t>A BEC is becoming an increasingly important model for wireless mobile and satellite communication channels, which suffer mainly from dropouts and loss of signal leading to the receiver failing to detect any signal.</a:t>
            </a:r>
            <a:endParaRPr lang="en-US" sz="2000" dirty="0"/>
          </a:p>
        </p:txBody>
      </p:sp>
      <p:pic>
        <p:nvPicPr>
          <p:cNvPr id="7" name="Picture 6">
            <a:extLst>
              <a:ext uri="{FF2B5EF4-FFF2-40B4-BE49-F238E27FC236}">
                <a16:creationId xmlns:a16="http://schemas.microsoft.com/office/drawing/2014/main" id="{C88CD5E3-502F-4A9D-B8D4-0B3745506394}"/>
              </a:ext>
            </a:extLst>
          </p:cNvPr>
          <p:cNvPicPr>
            <a:picLocks noChangeAspect="1"/>
          </p:cNvPicPr>
          <p:nvPr/>
        </p:nvPicPr>
        <p:blipFill>
          <a:blip r:embed="rId4"/>
          <a:stretch>
            <a:fillRect/>
          </a:stretch>
        </p:blipFill>
        <p:spPr>
          <a:xfrm>
            <a:off x="9105460" y="3706406"/>
            <a:ext cx="1536983" cy="896574"/>
          </a:xfrm>
          <a:prstGeom prst="rect">
            <a:avLst/>
          </a:prstGeom>
        </p:spPr>
      </p:pic>
    </p:spTree>
    <p:extLst>
      <p:ext uri="{BB962C8B-B14F-4D97-AF65-F5344CB8AC3E}">
        <p14:creationId xmlns:p14="http://schemas.microsoft.com/office/powerpoint/2010/main" val="3709209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0684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BSC: Numerical</a:t>
            </a:r>
            <a:endParaRPr lang="en-US"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F150B50-0750-4686-B478-A4D05C34D5AC}"/>
              </a:ext>
            </a:extLst>
          </p:cNvPr>
          <p:cNvSpPr txBox="1"/>
          <p:nvPr/>
        </p:nvSpPr>
        <p:spPr>
          <a:xfrm>
            <a:off x="154914" y="1143353"/>
            <a:ext cx="6730304" cy="1200329"/>
          </a:xfrm>
          <a:prstGeom prst="rect">
            <a:avLst/>
          </a:prstGeom>
          <a:noFill/>
        </p:spPr>
        <p:txBody>
          <a:bodyPr wrap="none" rtlCol="0">
            <a:spAutoFit/>
          </a:bodyPr>
          <a:lstStyle/>
          <a:p>
            <a:r>
              <a:rPr lang="en-US" dirty="0"/>
              <a:t>For the given binary channel:</a:t>
            </a:r>
          </a:p>
          <a:p>
            <a:pPr marL="342900" indent="-342900">
              <a:buAutoNum type="alphaLcParenR"/>
            </a:pPr>
            <a:r>
              <a:rPr lang="en-US" dirty="0"/>
              <a:t>Find the channel matrix.</a:t>
            </a:r>
          </a:p>
          <a:p>
            <a:pPr marL="342900" indent="-342900">
              <a:buAutoNum type="alphaLcParenR"/>
            </a:pPr>
            <a:r>
              <a:rPr lang="en-US" dirty="0"/>
              <a:t>Find P(y1) and P(y2) if P(x1)=P(x2)=0.5</a:t>
            </a:r>
          </a:p>
          <a:p>
            <a:pPr marL="342900" indent="-342900">
              <a:buAutoNum type="alphaLcParenR"/>
            </a:pPr>
            <a:r>
              <a:rPr lang="en-US" dirty="0"/>
              <a:t>Find the joint probability P(x1, y2), P(x2,y1)  when P(x1)=P(x2)=0.5</a:t>
            </a:r>
          </a:p>
        </p:txBody>
      </p:sp>
      <p:cxnSp>
        <p:nvCxnSpPr>
          <p:cNvPr id="8" name="Straight Arrow Connector 7">
            <a:extLst>
              <a:ext uri="{FF2B5EF4-FFF2-40B4-BE49-F238E27FC236}">
                <a16:creationId xmlns:a16="http://schemas.microsoft.com/office/drawing/2014/main" id="{EEA89890-6380-4D4B-A25A-139CADB959F7}"/>
              </a:ext>
            </a:extLst>
          </p:cNvPr>
          <p:cNvCxnSpPr/>
          <p:nvPr/>
        </p:nvCxnSpPr>
        <p:spPr>
          <a:xfrm>
            <a:off x="8046720" y="1558977"/>
            <a:ext cx="33832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74952CF-9115-4F4B-8DD8-14E5DA2339F7}"/>
              </a:ext>
            </a:extLst>
          </p:cNvPr>
          <p:cNvCxnSpPr/>
          <p:nvPr/>
        </p:nvCxnSpPr>
        <p:spPr>
          <a:xfrm>
            <a:off x="8046720" y="2835639"/>
            <a:ext cx="33832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4CED080-AFAB-4630-A456-E11FA7238D55}"/>
              </a:ext>
            </a:extLst>
          </p:cNvPr>
          <p:cNvCxnSpPr>
            <a:cxnSpLocks/>
          </p:cNvCxnSpPr>
          <p:nvPr/>
        </p:nvCxnSpPr>
        <p:spPr>
          <a:xfrm flipV="1">
            <a:off x="8046720" y="1558977"/>
            <a:ext cx="3255864" cy="1276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D723737-60B6-47FE-A942-0282EE122FAD}"/>
              </a:ext>
            </a:extLst>
          </p:cNvPr>
          <p:cNvCxnSpPr>
            <a:cxnSpLocks/>
          </p:cNvCxnSpPr>
          <p:nvPr/>
        </p:nvCxnSpPr>
        <p:spPr>
          <a:xfrm>
            <a:off x="8046720" y="1558976"/>
            <a:ext cx="3383280" cy="1276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591B92E-8733-45E1-A21B-6AC124A3859C}"/>
              </a:ext>
            </a:extLst>
          </p:cNvPr>
          <p:cNvSpPr txBox="1"/>
          <p:nvPr/>
        </p:nvSpPr>
        <p:spPr>
          <a:xfrm>
            <a:off x="7437845" y="1319139"/>
            <a:ext cx="599720" cy="461665"/>
          </a:xfrm>
          <a:prstGeom prst="rect">
            <a:avLst/>
          </a:prstGeom>
          <a:noFill/>
        </p:spPr>
        <p:txBody>
          <a:bodyPr wrap="square" rtlCol="0">
            <a:spAutoFit/>
          </a:bodyPr>
          <a:lstStyle/>
          <a:p>
            <a:r>
              <a:rPr lang="en-US" sz="2400" b="1" dirty="0"/>
              <a:t>x</a:t>
            </a:r>
            <a:r>
              <a:rPr lang="en-US" sz="2400" b="1" baseline="-25000" dirty="0"/>
              <a:t>1</a:t>
            </a:r>
          </a:p>
        </p:txBody>
      </p:sp>
      <p:sp>
        <p:nvSpPr>
          <p:cNvPr id="23" name="TextBox 22">
            <a:extLst>
              <a:ext uri="{FF2B5EF4-FFF2-40B4-BE49-F238E27FC236}">
                <a16:creationId xmlns:a16="http://schemas.microsoft.com/office/drawing/2014/main" id="{B1D9E82C-888A-44AE-835D-B35C2A80365A}"/>
              </a:ext>
            </a:extLst>
          </p:cNvPr>
          <p:cNvSpPr txBox="1"/>
          <p:nvPr/>
        </p:nvSpPr>
        <p:spPr>
          <a:xfrm>
            <a:off x="7517293" y="2466307"/>
            <a:ext cx="599720" cy="461665"/>
          </a:xfrm>
          <a:prstGeom prst="rect">
            <a:avLst/>
          </a:prstGeom>
          <a:noFill/>
        </p:spPr>
        <p:txBody>
          <a:bodyPr wrap="square" rtlCol="0">
            <a:spAutoFit/>
          </a:bodyPr>
          <a:lstStyle/>
          <a:p>
            <a:r>
              <a:rPr lang="en-US" sz="2400" b="1" dirty="0"/>
              <a:t>x</a:t>
            </a:r>
            <a:r>
              <a:rPr lang="en-US" sz="2400" b="1" baseline="-25000" dirty="0"/>
              <a:t>2</a:t>
            </a:r>
          </a:p>
        </p:txBody>
      </p:sp>
      <p:sp>
        <p:nvSpPr>
          <p:cNvPr id="24" name="TextBox 23">
            <a:extLst>
              <a:ext uri="{FF2B5EF4-FFF2-40B4-BE49-F238E27FC236}">
                <a16:creationId xmlns:a16="http://schemas.microsoft.com/office/drawing/2014/main" id="{2F610942-0F49-4A19-896D-1302734CE4CE}"/>
              </a:ext>
            </a:extLst>
          </p:cNvPr>
          <p:cNvSpPr txBox="1"/>
          <p:nvPr/>
        </p:nvSpPr>
        <p:spPr>
          <a:xfrm>
            <a:off x="11436158" y="1319139"/>
            <a:ext cx="452541" cy="338554"/>
          </a:xfrm>
          <a:prstGeom prst="rect">
            <a:avLst/>
          </a:prstGeom>
          <a:noFill/>
        </p:spPr>
        <p:txBody>
          <a:bodyPr wrap="square" rtlCol="0">
            <a:spAutoFit/>
          </a:bodyPr>
          <a:lstStyle/>
          <a:p>
            <a:r>
              <a:rPr lang="en-US" sz="2400" b="1" baseline="-25000" dirty="0"/>
              <a:t>y1</a:t>
            </a:r>
          </a:p>
        </p:txBody>
      </p:sp>
      <p:sp>
        <p:nvSpPr>
          <p:cNvPr id="25" name="TextBox 24">
            <a:extLst>
              <a:ext uri="{FF2B5EF4-FFF2-40B4-BE49-F238E27FC236}">
                <a16:creationId xmlns:a16="http://schemas.microsoft.com/office/drawing/2014/main" id="{358C046E-1782-404C-8B4D-ACBA198A3E1F}"/>
              </a:ext>
            </a:extLst>
          </p:cNvPr>
          <p:cNvSpPr txBox="1"/>
          <p:nvPr/>
        </p:nvSpPr>
        <p:spPr>
          <a:xfrm>
            <a:off x="11458562" y="2532457"/>
            <a:ext cx="452541" cy="338554"/>
          </a:xfrm>
          <a:prstGeom prst="rect">
            <a:avLst/>
          </a:prstGeom>
          <a:noFill/>
        </p:spPr>
        <p:txBody>
          <a:bodyPr wrap="square" rtlCol="0">
            <a:spAutoFit/>
          </a:bodyPr>
          <a:lstStyle/>
          <a:p>
            <a:r>
              <a:rPr lang="en-US" sz="2400" b="1" baseline="-25000" dirty="0"/>
              <a:t>y2</a:t>
            </a:r>
          </a:p>
        </p:txBody>
      </p:sp>
      <p:sp>
        <p:nvSpPr>
          <p:cNvPr id="26" name="TextBox 25">
            <a:extLst>
              <a:ext uri="{FF2B5EF4-FFF2-40B4-BE49-F238E27FC236}">
                <a16:creationId xmlns:a16="http://schemas.microsoft.com/office/drawing/2014/main" id="{45204297-8AB4-47D0-974B-99405CDA8079}"/>
              </a:ext>
            </a:extLst>
          </p:cNvPr>
          <p:cNvSpPr txBox="1"/>
          <p:nvPr/>
        </p:nvSpPr>
        <p:spPr>
          <a:xfrm>
            <a:off x="9451657" y="1096619"/>
            <a:ext cx="599720" cy="338554"/>
          </a:xfrm>
          <a:prstGeom prst="rect">
            <a:avLst/>
          </a:prstGeom>
          <a:noFill/>
        </p:spPr>
        <p:txBody>
          <a:bodyPr wrap="square" rtlCol="0">
            <a:spAutoFit/>
          </a:bodyPr>
          <a:lstStyle/>
          <a:p>
            <a:r>
              <a:rPr lang="en-US" sz="2400" b="1" baseline="-25000" dirty="0"/>
              <a:t>0. 9</a:t>
            </a:r>
          </a:p>
        </p:txBody>
      </p:sp>
      <p:sp>
        <p:nvSpPr>
          <p:cNvPr id="27" name="TextBox 26">
            <a:extLst>
              <a:ext uri="{FF2B5EF4-FFF2-40B4-BE49-F238E27FC236}">
                <a16:creationId xmlns:a16="http://schemas.microsoft.com/office/drawing/2014/main" id="{7CA6CE83-4F44-4D33-A03A-248D8B483E58}"/>
              </a:ext>
            </a:extLst>
          </p:cNvPr>
          <p:cNvSpPr txBox="1"/>
          <p:nvPr/>
        </p:nvSpPr>
        <p:spPr>
          <a:xfrm>
            <a:off x="9753650" y="2781471"/>
            <a:ext cx="599720" cy="338554"/>
          </a:xfrm>
          <a:prstGeom prst="rect">
            <a:avLst/>
          </a:prstGeom>
          <a:noFill/>
        </p:spPr>
        <p:txBody>
          <a:bodyPr wrap="square" rtlCol="0">
            <a:spAutoFit/>
          </a:bodyPr>
          <a:lstStyle/>
          <a:p>
            <a:r>
              <a:rPr lang="en-US" sz="2400" b="1" baseline="-25000" dirty="0"/>
              <a:t>0. 8</a:t>
            </a:r>
          </a:p>
        </p:txBody>
      </p:sp>
    </p:spTree>
    <p:extLst>
      <p:ext uri="{BB962C8B-B14F-4D97-AF65-F5344CB8AC3E}">
        <p14:creationId xmlns:p14="http://schemas.microsoft.com/office/powerpoint/2010/main" val="4227964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509471" y="242004"/>
            <a:ext cx="311495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BEC: Numerical</a:t>
            </a:r>
            <a:endParaRPr lang="en-US"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F150B50-0750-4686-B478-A4D05C34D5AC}"/>
              </a:ext>
            </a:extLst>
          </p:cNvPr>
          <p:cNvSpPr txBox="1"/>
          <p:nvPr/>
        </p:nvSpPr>
        <p:spPr>
          <a:xfrm>
            <a:off x="509471" y="1284560"/>
            <a:ext cx="7430109" cy="369332"/>
          </a:xfrm>
          <a:prstGeom prst="rect">
            <a:avLst/>
          </a:prstGeom>
          <a:noFill/>
        </p:spPr>
        <p:txBody>
          <a:bodyPr wrap="square" rtlCol="0">
            <a:spAutoFit/>
          </a:bodyPr>
          <a:lstStyle/>
          <a:p>
            <a:r>
              <a:rPr lang="en-US" dirty="0"/>
              <a:t>A Channel has following channel matrix</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426626C-055C-4C84-BBC0-6D3722C72747}"/>
                  </a:ext>
                </a:extLst>
              </p:cNvPr>
              <p:cNvSpPr txBox="1"/>
              <p:nvPr/>
            </p:nvSpPr>
            <p:spPr>
              <a:xfrm>
                <a:off x="5318125" y="1236118"/>
                <a:ext cx="2904706" cy="5157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e>
                        <m:e>
                          <m:r>
                            <a:rPr lang="en-US" b="0" i="1" smtClean="0">
                              <a:latin typeface="Cambria Math" panose="02040503050406030204" pitchFamily="18" charset="0"/>
                            </a:rPr>
                            <m:t>𝑋</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𝑝</m:t>
                                </m:r>
                              </m:e>
                              <m:e>
                                <m:r>
                                  <a:rPr lang="en-US" b="0" i="1" smtClean="0">
                                    <a:latin typeface="Cambria Math" panose="02040503050406030204" pitchFamily="18" charset="0"/>
                                  </a:rPr>
                                  <m:t>𝑝</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𝑝</m:t>
                                </m:r>
                              </m:e>
                              <m:e>
                                <m:r>
                                  <a:rPr lang="en-US" b="0" i="1" smtClean="0">
                                    <a:latin typeface="Cambria Math" panose="02040503050406030204" pitchFamily="18" charset="0"/>
                                  </a:rPr>
                                  <m:t>1−</m:t>
                                </m:r>
                                <m:r>
                                  <a:rPr lang="en-US" b="0" i="1" smtClean="0">
                                    <a:latin typeface="Cambria Math" panose="02040503050406030204" pitchFamily="18" charset="0"/>
                                  </a:rPr>
                                  <m:t>𝑝</m:t>
                                </m:r>
                              </m:e>
                            </m:mr>
                          </m:m>
                        </m:e>
                      </m:d>
                    </m:oMath>
                  </m:oMathPara>
                </a14:m>
                <a:endParaRPr lang="en-US" dirty="0"/>
              </a:p>
            </p:txBody>
          </p:sp>
        </mc:Choice>
        <mc:Fallback xmlns="">
          <p:sp>
            <p:nvSpPr>
              <p:cNvPr id="2" name="TextBox 1">
                <a:extLst>
                  <a:ext uri="{FF2B5EF4-FFF2-40B4-BE49-F238E27FC236}">
                    <a16:creationId xmlns:a16="http://schemas.microsoft.com/office/drawing/2014/main" id="{E426626C-055C-4C84-BBC0-6D3722C72747}"/>
                  </a:ext>
                </a:extLst>
              </p:cNvPr>
              <p:cNvSpPr txBox="1">
                <a:spLocks noRot="1" noChangeAspect="1" noMove="1" noResize="1" noEditPoints="1" noAdjustHandles="1" noChangeArrowheads="1" noChangeShapeType="1" noTextEdit="1"/>
              </p:cNvSpPr>
              <p:nvPr/>
            </p:nvSpPr>
            <p:spPr>
              <a:xfrm>
                <a:off x="5318125" y="1236118"/>
                <a:ext cx="2904706" cy="515719"/>
              </a:xfrm>
              <a:prstGeom prst="rect">
                <a:avLst/>
              </a:prstGeom>
              <a:blipFill>
                <a:blip r:embed="rId3"/>
                <a:stretch>
                  <a:fillRect/>
                </a:stretch>
              </a:blipFill>
            </p:spPr>
            <p:txBody>
              <a:bodyPr/>
              <a:lstStyle/>
              <a:p>
                <a:r>
                  <a:rPr lang="en-IN">
                    <a:noFill/>
                  </a:rPr>
                  <a:t> </a:t>
                </a:r>
              </a:p>
            </p:txBody>
          </p:sp>
        </mc:Fallback>
      </mc:AlternateContent>
      <p:sp>
        <p:nvSpPr>
          <p:cNvPr id="29" name="TextBox 28">
            <a:extLst>
              <a:ext uri="{FF2B5EF4-FFF2-40B4-BE49-F238E27FC236}">
                <a16:creationId xmlns:a16="http://schemas.microsoft.com/office/drawing/2014/main" id="{5D384801-ED5A-4846-B5F6-16357A1D602F}"/>
              </a:ext>
            </a:extLst>
          </p:cNvPr>
          <p:cNvSpPr txBox="1"/>
          <p:nvPr/>
        </p:nvSpPr>
        <p:spPr>
          <a:xfrm>
            <a:off x="579118" y="1987124"/>
            <a:ext cx="10764003" cy="646331"/>
          </a:xfrm>
          <a:prstGeom prst="rect">
            <a:avLst/>
          </a:prstGeom>
          <a:noFill/>
        </p:spPr>
        <p:txBody>
          <a:bodyPr wrap="square" rtlCol="0">
            <a:spAutoFit/>
          </a:bodyPr>
          <a:lstStyle/>
          <a:p>
            <a:pPr marL="342900" indent="-342900">
              <a:buAutoNum type="alphaLcParenR"/>
            </a:pPr>
            <a:r>
              <a:rPr lang="en-US" dirty="0"/>
              <a:t>Draw the channel diagram</a:t>
            </a:r>
          </a:p>
          <a:p>
            <a:pPr marL="342900" indent="-342900">
              <a:buAutoNum type="alphaLcParenR"/>
            </a:pPr>
            <a:r>
              <a:rPr lang="en-US" dirty="0"/>
              <a:t>If the source has equally likely output, compute the probability associated with the channel output for p = 0.2</a:t>
            </a:r>
          </a:p>
        </p:txBody>
      </p:sp>
      <p:sp>
        <p:nvSpPr>
          <p:cNvPr id="9243" name="Line 2">
            <a:extLst>
              <a:ext uri="{FF2B5EF4-FFF2-40B4-BE49-F238E27FC236}">
                <a16:creationId xmlns:a16="http://schemas.microsoft.com/office/drawing/2014/main" id="{ACE99468-3284-6379-2101-516D4A54A31F}"/>
              </a:ext>
            </a:extLst>
          </p:cNvPr>
          <p:cNvSpPr>
            <a:spLocks noChangeShapeType="1"/>
          </p:cNvSpPr>
          <p:nvPr/>
        </p:nvSpPr>
        <p:spPr bwMode="auto">
          <a:xfrm>
            <a:off x="216310" y="3104803"/>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4" name="Line 3">
            <a:extLst>
              <a:ext uri="{FF2B5EF4-FFF2-40B4-BE49-F238E27FC236}">
                <a16:creationId xmlns:a16="http://schemas.microsoft.com/office/drawing/2014/main" id="{416CBDD6-F5BB-D9D4-804B-E054980D20BA}"/>
              </a:ext>
            </a:extLst>
          </p:cNvPr>
          <p:cNvSpPr>
            <a:spLocks noChangeShapeType="1"/>
          </p:cNvSpPr>
          <p:nvPr/>
        </p:nvSpPr>
        <p:spPr bwMode="auto">
          <a:xfrm flipV="1">
            <a:off x="216310" y="3943003"/>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5" name="Text Box 4">
            <a:extLst>
              <a:ext uri="{FF2B5EF4-FFF2-40B4-BE49-F238E27FC236}">
                <a16:creationId xmlns:a16="http://schemas.microsoft.com/office/drawing/2014/main" id="{B9A17AEF-6B0F-6383-7552-05E0F69D70A6}"/>
              </a:ext>
            </a:extLst>
          </p:cNvPr>
          <p:cNvSpPr txBox="1">
            <a:spLocks noChangeArrowheads="1"/>
          </p:cNvSpPr>
          <p:nvPr/>
        </p:nvSpPr>
        <p:spPr bwMode="auto">
          <a:xfrm>
            <a:off x="509471" y="3231516"/>
            <a:ext cx="30684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BSC: Numerical</a:t>
            </a:r>
            <a:endParaRPr lang="en-US" i="0" dirty="0">
              <a:solidFill>
                <a:srgbClr val="000000"/>
              </a:solidFill>
              <a:effectLst/>
              <a:latin typeface="Times New Roman" panose="02020603050405020304" pitchFamily="18" charset="0"/>
              <a:cs typeface="Times New Roman" panose="02020603050405020304" pitchFamily="18" charset="0"/>
            </a:endParaRPr>
          </a:p>
        </p:txBody>
      </p:sp>
      <p:sp>
        <p:nvSpPr>
          <p:cNvPr id="9246" name="Line 5">
            <a:extLst>
              <a:ext uri="{FF2B5EF4-FFF2-40B4-BE49-F238E27FC236}">
                <a16:creationId xmlns:a16="http://schemas.microsoft.com/office/drawing/2014/main" id="{62E0B6DC-4A7C-095E-7A32-3E1221B206F1}"/>
              </a:ext>
            </a:extLst>
          </p:cNvPr>
          <p:cNvSpPr>
            <a:spLocks noChangeShapeType="1"/>
          </p:cNvSpPr>
          <p:nvPr/>
        </p:nvSpPr>
        <p:spPr bwMode="auto">
          <a:xfrm flipV="1">
            <a:off x="216310" y="9686683"/>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7" name="AutoShape 3" descr="Y">
            <a:extLst>
              <a:ext uri="{FF2B5EF4-FFF2-40B4-BE49-F238E27FC236}">
                <a16:creationId xmlns:a16="http://schemas.microsoft.com/office/drawing/2014/main" id="{726C7CE7-98C6-F5B2-DFFB-C3702DE2350F}"/>
              </a:ext>
            </a:extLst>
          </p:cNvPr>
          <p:cNvSpPr>
            <a:spLocks noChangeAspect="1" noChangeArrowheads="1"/>
          </p:cNvSpPr>
          <p:nvPr/>
        </p:nvSpPr>
        <p:spPr bwMode="auto">
          <a:xfrm>
            <a:off x="5382035" y="283911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48" name="AutoShape 4" descr="X">
            <a:extLst>
              <a:ext uri="{FF2B5EF4-FFF2-40B4-BE49-F238E27FC236}">
                <a16:creationId xmlns:a16="http://schemas.microsoft.com/office/drawing/2014/main" id="{8DCA1FB2-10D5-A3D3-B34F-C6A0D1DC8353}"/>
              </a:ext>
            </a:extLst>
          </p:cNvPr>
          <p:cNvSpPr>
            <a:spLocks noChangeAspect="1" noChangeArrowheads="1"/>
          </p:cNvSpPr>
          <p:nvPr/>
        </p:nvSpPr>
        <p:spPr bwMode="auto">
          <a:xfrm>
            <a:off x="8490360" y="283911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49" name="TextBox 9248">
            <a:extLst>
              <a:ext uri="{FF2B5EF4-FFF2-40B4-BE49-F238E27FC236}">
                <a16:creationId xmlns:a16="http://schemas.microsoft.com/office/drawing/2014/main" id="{BC6C131D-9A9C-66B6-7771-E2F21CE95EBB}"/>
              </a:ext>
            </a:extLst>
          </p:cNvPr>
          <p:cNvSpPr txBox="1"/>
          <p:nvPr/>
        </p:nvSpPr>
        <p:spPr>
          <a:xfrm>
            <a:off x="509471" y="4129416"/>
            <a:ext cx="5871607" cy="1477328"/>
          </a:xfrm>
          <a:prstGeom prst="rect">
            <a:avLst/>
          </a:prstGeom>
          <a:noFill/>
        </p:spPr>
        <p:txBody>
          <a:bodyPr wrap="none" rtlCol="0">
            <a:spAutoFit/>
          </a:bodyPr>
          <a:lstStyle/>
          <a:p>
            <a:r>
              <a:rPr lang="en-US" dirty="0"/>
              <a:t>For the given BSC.</a:t>
            </a:r>
          </a:p>
          <a:p>
            <a:pPr marL="342900" indent="-342900">
              <a:buAutoNum type="arabicParenR"/>
            </a:pPr>
            <a:r>
              <a:rPr lang="en-US" dirty="0"/>
              <a:t>Show that the mutual information is given by</a:t>
            </a:r>
          </a:p>
          <a:p>
            <a:r>
              <a:rPr lang="en-US" dirty="0"/>
              <a:t>	I(X;Y)=H(Y) + p log</a:t>
            </a:r>
            <a:r>
              <a:rPr lang="en-US" baseline="-25000" dirty="0"/>
              <a:t>2</a:t>
            </a:r>
            <a:r>
              <a:rPr lang="en-US" dirty="0"/>
              <a:t>p + (1-p)log</a:t>
            </a:r>
            <a:r>
              <a:rPr lang="en-US" baseline="-25000" dirty="0"/>
              <a:t>2</a:t>
            </a:r>
            <a:r>
              <a:rPr lang="en-US" dirty="0"/>
              <a:t>(1-p)</a:t>
            </a:r>
          </a:p>
          <a:p>
            <a:r>
              <a:rPr lang="en-US" dirty="0"/>
              <a:t>2) Calculate I(X;Y) for </a:t>
            </a:r>
            <a:r>
              <a:rPr lang="el-GR" dirty="0"/>
              <a:t>α</a:t>
            </a:r>
            <a:r>
              <a:rPr lang="en-US" dirty="0"/>
              <a:t> = 0.5 and p= 0.1</a:t>
            </a:r>
          </a:p>
          <a:p>
            <a:r>
              <a:rPr lang="en-US" dirty="0"/>
              <a:t>3) Calculate I(X;Y) for </a:t>
            </a:r>
            <a:r>
              <a:rPr lang="el-GR" dirty="0"/>
              <a:t>α</a:t>
            </a:r>
            <a:r>
              <a:rPr lang="en-US" dirty="0"/>
              <a:t> = 0.5 and p= 0.5, comment on results</a:t>
            </a:r>
          </a:p>
        </p:txBody>
      </p:sp>
      <p:grpSp>
        <p:nvGrpSpPr>
          <p:cNvPr id="9250" name="Group 9249">
            <a:extLst>
              <a:ext uri="{FF2B5EF4-FFF2-40B4-BE49-F238E27FC236}">
                <a16:creationId xmlns:a16="http://schemas.microsoft.com/office/drawing/2014/main" id="{D503DB43-A826-0805-1246-9EDFC18A3EA4}"/>
              </a:ext>
            </a:extLst>
          </p:cNvPr>
          <p:cNvGrpSpPr/>
          <p:nvPr/>
        </p:nvGrpSpPr>
        <p:grpSpPr>
          <a:xfrm>
            <a:off x="6551200" y="4048027"/>
            <a:ext cx="5040596" cy="2049987"/>
            <a:chOff x="6885497" y="873710"/>
            <a:chExt cx="5040596" cy="2049987"/>
          </a:xfrm>
        </p:grpSpPr>
        <p:cxnSp>
          <p:nvCxnSpPr>
            <p:cNvPr id="9251" name="Straight Arrow Connector 9250">
              <a:extLst>
                <a:ext uri="{FF2B5EF4-FFF2-40B4-BE49-F238E27FC236}">
                  <a16:creationId xmlns:a16="http://schemas.microsoft.com/office/drawing/2014/main" id="{C3BDF86E-AFC1-6EB8-0A8A-5B935049DFC1}"/>
                </a:ext>
              </a:extLst>
            </p:cNvPr>
            <p:cNvCxnSpPr/>
            <p:nvPr/>
          </p:nvCxnSpPr>
          <p:spPr>
            <a:xfrm>
              <a:off x="8061710" y="1336068"/>
              <a:ext cx="33832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252" name="Straight Arrow Connector 9251">
              <a:extLst>
                <a:ext uri="{FF2B5EF4-FFF2-40B4-BE49-F238E27FC236}">
                  <a16:creationId xmlns:a16="http://schemas.microsoft.com/office/drawing/2014/main" id="{5684C4F0-1FB1-5055-64B1-CF725B9E4E5B}"/>
                </a:ext>
              </a:extLst>
            </p:cNvPr>
            <p:cNvCxnSpPr/>
            <p:nvPr/>
          </p:nvCxnSpPr>
          <p:spPr>
            <a:xfrm>
              <a:off x="8061710" y="2612730"/>
              <a:ext cx="33832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253" name="Straight Arrow Connector 9252">
              <a:extLst>
                <a:ext uri="{FF2B5EF4-FFF2-40B4-BE49-F238E27FC236}">
                  <a16:creationId xmlns:a16="http://schemas.microsoft.com/office/drawing/2014/main" id="{D80B2969-B124-05E6-1FCC-2BF445099A6E}"/>
                </a:ext>
              </a:extLst>
            </p:cNvPr>
            <p:cNvCxnSpPr>
              <a:cxnSpLocks/>
            </p:cNvCxnSpPr>
            <p:nvPr/>
          </p:nvCxnSpPr>
          <p:spPr>
            <a:xfrm flipV="1">
              <a:off x="8061710" y="1336068"/>
              <a:ext cx="3255864" cy="1276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254" name="Straight Arrow Connector 9253">
              <a:extLst>
                <a:ext uri="{FF2B5EF4-FFF2-40B4-BE49-F238E27FC236}">
                  <a16:creationId xmlns:a16="http://schemas.microsoft.com/office/drawing/2014/main" id="{15FEFF90-8B30-FF8C-FE2E-C0969DC0C7E3}"/>
                </a:ext>
              </a:extLst>
            </p:cNvPr>
            <p:cNvCxnSpPr>
              <a:cxnSpLocks/>
            </p:cNvCxnSpPr>
            <p:nvPr/>
          </p:nvCxnSpPr>
          <p:spPr>
            <a:xfrm>
              <a:off x="8061710" y="1336067"/>
              <a:ext cx="3383280" cy="1276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255" name="TextBox 9254">
              <a:extLst>
                <a:ext uri="{FF2B5EF4-FFF2-40B4-BE49-F238E27FC236}">
                  <a16:creationId xmlns:a16="http://schemas.microsoft.com/office/drawing/2014/main" id="{DD0ED43F-A5A9-4583-F48A-E0834A60ED3C}"/>
                </a:ext>
              </a:extLst>
            </p:cNvPr>
            <p:cNvSpPr txBox="1"/>
            <p:nvPr/>
          </p:nvSpPr>
          <p:spPr>
            <a:xfrm>
              <a:off x="6932790" y="1096230"/>
              <a:ext cx="1450831" cy="369332"/>
            </a:xfrm>
            <a:prstGeom prst="rect">
              <a:avLst/>
            </a:prstGeom>
            <a:noFill/>
          </p:spPr>
          <p:txBody>
            <a:bodyPr wrap="square" rtlCol="0">
              <a:spAutoFit/>
            </a:bodyPr>
            <a:lstStyle/>
            <a:p>
              <a:r>
                <a:rPr lang="en-US" b="1" dirty="0"/>
                <a:t>P(x</a:t>
              </a:r>
              <a:r>
                <a:rPr lang="en-US" b="1" baseline="-25000" dirty="0"/>
                <a:t>1 </a:t>
              </a:r>
              <a:r>
                <a:rPr lang="en-US" b="1" dirty="0"/>
                <a:t>)= </a:t>
              </a:r>
              <a:r>
                <a:rPr lang="el-GR" b="1" dirty="0"/>
                <a:t>α</a:t>
              </a:r>
              <a:endParaRPr lang="en-US" b="1" dirty="0"/>
            </a:p>
          </p:txBody>
        </p:sp>
        <p:sp>
          <p:nvSpPr>
            <p:cNvPr id="9256" name="TextBox 9255">
              <a:extLst>
                <a:ext uri="{FF2B5EF4-FFF2-40B4-BE49-F238E27FC236}">
                  <a16:creationId xmlns:a16="http://schemas.microsoft.com/office/drawing/2014/main" id="{4763811B-9697-6C66-3F88-63C0DCA86B01}"/>
                </a:ext>
              </a:extLst>
            </p:cNvPr>
            <p:cNvSpPr txBox="1"/>
            <p:nvPr/>
          </p:nvSpPr>
          <p:spPr>
            <a:xfrm>
              <a:off x="6885497" y="2554365"/>
              <a:ext cx="1545416" cy="369332"/>
            </a:xfrm>
            <a:prstGeom prst="rect">
              <a:avLst/>
            </a:prstGeom>
            <a:noFill/>
          </p:spPr>
          <p:txBody>
            <a:bodyPr wrap="square" rtlCol="0">
              <a:spAutoFit/>
            </a:bodyPr>
            <a:lstStyle/>
            <a:p>
              <a:r>
                <a:rPr lang="en-US" b="1" dirty="0"/>
                <a:t>P(x</a:t>
              </a:r>
              <a:r>
                <a:rPr lang="en-US" b="1" baseline="-25000" dirty="0"/>
                <a:t>2 </a:t>
              </a:r>
              <a:r>
                <a:rPr lang="en-US" b="1" dirty="0"/>
                <a:t>)= 1-</a:t>
              </a:r>
              <a:r>
                <a:rPr lang="el-GR" b="1" dirty="0"/>
                <a:t>α</a:t>
              </a:r>
              <a:endParaRPr lang="en-US" b="1" dirty="0"/>
            </a:p>
          </p:txBody>
        </p:sp>
        <p:sp>
          <p:nvSpPr>
            <p:cNvPr id="9257" name="TextBox 9256">
              <a:extLst>
                <a:ext uri="{FF2B5EF4-FFF2-40B4-BE49-F238E27FC236}">
                  <a16:creationId xmlns:a16="http://schemas.microsoft.com/office/drawing/2014/main" id="{955C393A-4D99-4B20-31F4-35238148A9B6}"/>
                </a:ext>
              </a:extLst>
            </p:cNvPr>
            <p:cNvSpPr txBox="1"/>
            <p:nvPr/>
          </p:nvSpPr>
          <p:spPr>
            <a:xfrm>
              <a:off x="11451148" y="1096230"/>
              <a:ext cx="452541" cy="338554"/>
            </a:xfrm>
            <a:prstGeom prst="rect">
              <a:avLst/>
            </a:prstGeom>
            <a:noFill/>
          </p:spPr>
          <p:txBody>
            <a:bodyPr wrap="square" rtlCol="0">
              <a:spAutoFit/>
            </a:bodyPr>
            <a:lstStyle/>
            <a:p>
              <a:r>
                <a:rPr lang="en-US" sz="2400" b="1" baseline="-25000" dirty="0"/>
                <a:t>y1</a:t>
              </a:r>
            </a:p>
          </p:txBody>
        </p:sp>
        <p:sp>
          <p:nvSpPr>
            <p:cNvPr id="9258" name="TextBox 9257">
              <a:extLst>
                <a:ext uri="{FF2B5EF4-FFF2-40B4-BE49-F238E27FC236}">
                  <a16:creationId xmlns:a16="http://schemas.microsoft.com/office/drawing/2014/main" id="{977EC442-01D4-5DC5-B1DF-63AC4D364BC9}"/>
                </a:ext>
              </a:extLst>
            </p:cNvPr>
            <p:cNvSpPr txBox="1"/>
            <p:nvPr/>
          </p:nvSpPr>
          <p:spPr>
            <a:xfrm>
              <a:off x="11473552" y="2309548"/>
              <a:ext cx="452541" cy="338554"/>
            </a:xfrm>
            <a:prstGeom prst="rect">
              <a:avLst/>
            </a:prstGeom>
            <a:noFill/>
          </p:spPr>
          <p:txBody>
            <a:bodyPr wrap="square" rtlCol="0">
              <a:spAutoFit/>
            </a:bodyPr>
            <a:lstStyle/>
            <a:p>
              <a:r>
                <a:rPr lang="en-US" sz="2400" b="1" baseline="-25000" dirty="0"/>
                <a:t>y2</a:t>
              </a:r>
            </a:p>
          </p:txBody>
        </p:sp>
        <p:sp>
          <p:nvSpPr>
            <p:cNvPr id="9259" name="TextBox 9258">
              <a:extLst>
                <a:ext uri="{FF2B5EF4-FFF2-40B4-BE49-F238E27FC236}">
                  <a16:creationId xmlns:a16="http://schemas.microsoft.com/office/drawing/2014/main" id="{356D85CC-6430-44BB-487C-08C6CDCBD426}"/>
                </a:ext>
              </a:extLst>
            </p:cNvPr>
            <p:cNvSpPr txBox="1"/>
            <p:nvPr/>
          </p:nvSpPr>
          <p:spPr>
            <a:xfrm>
              <a:off x="9466647" y="873710"/>
              <a:ext cx="599720" cy="338554"/>
            </a:xfrm>
            <a:prstGeom prst="rect">
              <a:avLst/>
            </a:prstGeom>
            <a:noFill/>
          </p:spPr>
          <p:txBody>
            <a:bodyPr wrap="square" rtlCol="0">
              <a:spAutoFit/>
            </a:bodyPr>
            <a:lstStyle/>
            <a:p>
              <a:r>
                <a:rPr lang="en-US" sz="2400" b="1" baseline="-25000" dirty="0"/>
                <a:t>1-p</a:t>
              </a:r>
            </a:p>
          </p:txBody>
        </p:sp>
        <p:sp>
          <p:nvSpPr>
            <p:cNvPr id="9260" name="TextBox 9259">
              <a:extLst>
                <a:ext uri="{FF2B5EF4-FFF2-40B4-BE49-F238E27FC236}">
                  <a16:creationId xmlns:a16="http://schemas.microsoft.com/office/drawing/2014/main" id="{A382B712-002F-3B05-CBF3-895E1C8271AA}"/>
                </a:ext>
              </a:extLst>
            </p:cNvPr>
            <p:cNvSpPr txBox="1"/>
            <p:nvPr/>
          </p:nvSpPr>
          <p:spPr>
            <a:xfrm>
              <a:off x="9512542" y="2215811"/>
              <a:ext cx="599720" cy="338554"/>
            </a:xfrm>
            <a:prstGeom prst="rect">
              <a:avLst/>
            </a:prstGeom>
            <a:noFill/>
          </p:spPr>
          <p:txBody>
            <a:bodyPr wrap="square" rtlCol="0">
              <a:spAutoFit/>
            </a:bodyPr>
            <a:lstStyle/>
            <a:p>
              <a:r>
                <a:rPr lang="en-US" sz="2400" b="1" baseline="-25000" dirty="0"/>
                <a:t>1-p</a:t>
              </a:r>
            </a:p>
          </p:txBody>
        </p:sp>
        <p:sp>
          <p:nvSpPr>
            <p:cNvPr id="9261" name="TextBox 9260">
              <a:extLst>
                <a:ext uri="{FF2B5EF4-FFF2-40B4-BE49-F238E27FC236}">
                  <a16:creationId xmlns:a16="http://schemas.microsoft.com/office/drawing/2014/main" id="{492B6A46-A33A-1165-A02D-A58EC171DBD9}"/>
                </a:ext>
              </a:extLst>
            </p:cNvPr>
            <p:cNvSpPr txBox="1"/>
            <p:nvPr/>
          </p:nvSpPr>
          <p:spPr>
            <a:xfrm>
              <a:off x="8888770" y="1298144"/>
              <a:ext cx="599720" cy="338554"/>
            </a:xfrm>
            <a:prstGeom prst="rect">
              <a:avLst/>
            </a:prstGeom>
            <a:noFill/>
          </p:spPr>
          <p:txBody>
            <a:bodyPr wrap="square" rtlCol="0">
              <a:spAutoFit/>
            </a:bodyPr>
            <a:lstStyle/>
            <a:p>
              <a:r>
                <a:rPr lang="en-US" sz="2400" b="1" baseline="-25000" dirty="0"/>
                <a:t>p</a:t>
              </a:r>
            </a:p>
          </p:txBody>
        </p:sp>
        <p:sp>
          <p:nvSpPr>
            <p:cNvPr id="9262" name="TextBox 9261">
              <a:extLst>
                <a:ext uri="{FF2B5EF4-FFF2-40B4-BE49-F238E27FC236}">
                  <a16:creationId xmlns:a16="http://schemas.microsoft.com/office/drawing/2014/main" id="{E3D5D004-EA93-F2EC-0FE6-09449C00EE73}"/>
                </a:ext>
              </a:extLst>
            </p:cNvPr>
            <p:cNvSpPr txBox="1"/>
            <p:nvPr/>
          </p:nvSpPr>
          <p:spPr>
            <a:xfrm>
              <a:off x="8888770" y="1857439"/>
              <a:ext cx="599720" cy="338554"/>
            </a:xfrm>
            <a:prstGeom prst="rect">
              <a:avLst/>
            </a:prstGeom>
            <a:noFill/>
          </p:spPr>
          <p:txBody>
            <a:bodyPr wrap="square" rtlCol="0">
              <a:spAutoFit/>
            </a:bodyPr>
            <a:lstStyle/>
            <a:p>
              <a:r>
                <a:rPr lang="en-US" sz="2400" b="1" baseline="-25000" dirty="0"/>
                <a:t>p</a:t>
              </a:r>
            </a:p>
          </p:txBody>
        </p:sp>
      </p:grpSp>
    </p:spTree>
    <p:extLst>
      <p:ext uri="{BB962C8B-B14F-4D97-AF65-F5344CB8AC3E}">
        <p14:creationId xmlns:p14="http://schemas.microsoft.com/office/powerpoint/2010/main" val="2867114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0684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BSC: Numerical</a:t>
            </a:r>
            <a:endParaRPr lang="en-US"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F150B50-0750-4686-B478-A4D05C34D5AC}"/>
              </a:ext>
            </a:extLst>
          </p:cNvPr>
          <p:cNvSpPr txBox="1"/>
          <p:nvPr/>
        </p:nvSpPr>
        <p:spPr>
          <a:xfrm>
            <a:off x="154914" y="1143353"/>
            <a:ext cx="5871607" cy="1477328"/>
          </a:xfrm>
          <a:prstGeom prst="rect">
            <a:avLst/>
          </a:prstGeom>
          <a:noFill/>
        </p:spPr>
        <p:txBody>
          <a:bodyPr wrap="none" rtlCol="0">
            <a:spAutoFit/>
          </a:bodyPr>
          <a:lstStyle/>
          <a:p>
            <a:r>
              <a:rPr lang="en-US" dirty="0"/>
              <a:t>For the given BSC.</a:t>
            </a:r>
          </a:p>
          <a:p>
            <a:pPr marL="342900" indent="-342900">
              <a:buAutoNum type="arabicParenR"/>
            </a:pPr>
            <a:r>
              <a:rPr lang="en-US" dirty="0"/>
              <a:t>Show that the mutual information is given by</a:t>
            </a:r>
          </a:p>
          <a:p>
            <a:r>
              <a:rPr lang="en-US" dirty="0"/>
              <a:t>	I(X;Y)=H(Y) + p log</a:t>
            </a:r>
            <a:r>
              <a:rPr lang="en-US" baseline="-25000" dirty="0"/>
              <a:t>2</a:t>
            </a:r>
            <a:r>
              <a:rPr lang="en-US" dirty="0"/>
              <a:t>p + (1-p)log</a:t>
            </a:r>
            <a:r>
              <a:rPr lang="en-US" baseline="-25000" dirty="0"/>
              <a:t>2</a:t>
            </a:r>
            <a:r>
              <a:rPr lang="en-US" dirty="0"/>
              <a:t>(1-p)</a:t>
            </a:r>
          </a:p>
          <a:p>
            <a:r>
              <a:rPr lang="en-US" dirty="0"/>
              <a:t>2) Calculate I(X;Y) for </a:t>
            </a:r>
            <a:r>
              <a:rPr lang="el-GR" dirty="0"/>
              <a:t>α</a:t>
            </a:r>
            <a:r>
              <a:rPr lang="en-US" dirty="0"/>
              <a:t> = 0.5 and p= 0.1</a:t>
            </a:r>
          </a:p>
          <a:p>
            <a:r>
              <a:rPr lang="en-US" dirty="0"/>
              <a:t>3) Calculate I(X;Y) for </a:t>
            </a:r>
            <a:r>
              <a:rPr lang="el-GR" dirty="0"/>
              <a:t>α</a:t>
            </a:r>
            <a:r>
              <a:rPr lang="en-US" dirty="0"/>
              <a:t> = 0.5 and p= 0.5, comment on results</a:t>
            </a:r>
          </a:p>
        </p:txBody>
      </p:sp>
      <p:grpSp>
        <p:nvGrpSpPr>
          <p:cNvPr id="2" name="Group 1">
            <a:extLst>
              <a:ext uri="{FF2B5EF4-FFF2-40B4-BE49-F238E27FC236}">
                <a16:creationId xmlns:a16="http://schemas.microsoft.com/office/drawing/2014/main" id="{50C3837C-DB10-4CAE-AD9B-493932CA55F7}"/>
              </a:ext>
            </a:extLst>
          </p:cNvPr>
          <p:cNvGrpSpPr/>
          <p:nvPr/>
        </p:nvGrpSpPr>
        <p:grpSpPr>
          <a:xfrm>
            <a:off x="1920206" y="3212326"/>
            <a:ext cx="5040596" cy="2049987"/>
            <a:chOff x="6885497" y="873710"/>
            <a:chExt cx="5040596" cy="2049987"/>
          </a:xfrm>
        </p:grpSpPr>
        <p:cxnSp>
          <p:nvCxnSpPr>
            <p:cNvPr id="8" name="Straight Arrow Connector 7">
              <a:extLst>
                <a:ext uri="{FF2B5EF4-FFF2-40B4-BE49-F238E27FC236}">
                  <a16:creationId xmlns:a16="http://schemas.microsoft.com/office/drawing/2014/main" id="{EEA89890-6380-4D4B-A25A-139CADB959F7}"/>
                </a:ext>
              </a:extLst>
            </p:cNvPr>
            <p:cNvCxnSpPr/>
            <p:nvPr/>
          </p:nvCxnSpPr>
          <p:spPr>
            <a:xfrm>
              <a:off x="8061710" y="1336068"/>
              <a:ext cx="33832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74952CF-9115-4F4B-8DD8-14E5DA2339F7}"/>
                </a:ext>
              </a:extLst>
            </p:cNvPr>
            <p:cNvCxnSpPr/>
            <p:nvPr/>
          </p:nvCxnSpPr>
          <p:spPr>
            <a:xfrm>
              <a:off x="8061710" y="2612730"/>
              <a:ext cx="33832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4CED080-AFAB-4630-A456-E11FA7238D55}"/>
                </a:ext>
              </a:extLst>
            </p:cNvPr>
            <p:cNvCxnSpPr>
              <a:cxnSpLocks/>
            </p:cNvCxnSpPr>
            <p:nvPr/>
          </p:nvCxnSpPr>
          <p:spPr>
            <a:xfrm flipV="1">
              <a:off x="8061710" y="1336068"/>
              <a:ext cx="3255864" cy="1276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D723737-60B6-47FE-A942-0282EE122FAD}"/>
                </a:ext>
              </a:extLst>
            </p:cNvPr>
            <p:cNvCxnSpPr>
              <a:cxnSpLocks/>
            </p:cNvCxnSpPr>
            <p:nvPr/>
          </p:nvCxnSpPr>
          <p:spPr>
            <a:xfrm>
              <a:off x="8061710" y="1336067"/>
              <a:ext cx="3383280" cy="1276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591B92E-8733-45E1-A21B-6AC124A3859C}"/>
                </a:ext>
              </a:extLst>
            </p:cNvPr>
            <p:cNvSpPr txBox="1"/>
            <p:nvPr/>
          </p:nvSpPr>
          <p:spPr>
            <a:xfrm>
              <a:off x="6932790" y="1096230"/>
              <a:ext cx="1450831" cy="369332"/>
            </a:xfrm>
            <a:prstGeom prst="rect">
              <a:avLst/>
            </a:prstGeom>
            <a:noFill/>
          </p:spPr>
          <p:txBody>
            <a:bodyPr wrap="square" rtlCol="0">
              <a:spAutoFit/>
            </a:bodyPr>
            <a:lstStyle/>
            <a:p>
              <a:r>
                <a:rPr lang="en-US" b="1" dirty="0"/>
                <a:t>P(x</a:t>
              </a:r>
              <a:r>
                <a:rPr lang="en-US" b="1" baseline="-25000" dirty="0"/>
                <a:t>1 </a:t>
              </a:r>
              <a:r>
                <a:rPr lang="en-US" b="1" dirty="0"/>
                <a:t>)= </a:t>
              </a:r>
              <a:r>
                <a:rPr lang="el-GR" b="1" dirty="0"/>
                <a:t>α</a:t>
              </a:r>
              <a:endParaRPr lang="en-US" b="1" dirty="0"/>
            </a:p>
          </p:txBody>
        </p:sp>
        <p:sp>
          <p:nvSpPr>
            <p:cNvPr id="23" name="TextBox 22">
              <a:extLst>
                <a:ext uri="{FF2B5EF4-FFF2-40B4-BE49-F238E27FC236}">
                  <a16:creationId xmlns:a16="http://schemas.microsoft.com/office/drawing/2014/main" id="{B1D9E82C-888A-44AE-835D-B35C2A80365A}"/>
                </a:ext>
              </a:extLst>
            </p:cNvPr>
            <p:cNvSpPr txBox="1"/>
            <p:nvPr/>
          </p:nvSpPr>
          <p:spPr>
            <a:xfrm>
              <a:off x="6885497" y="2554365"/>
              <a:ext cx="1545416" cy="369332"/>
            </a:xfrm>
            <a:prstGeom prst="rect">
              <a:avLst/>
            </a:prstGeom>
            <a:noFill/>
          </p:spPr>
          <p:txBody>
            <a:bodyPr wrap="square" rtlCol="0">
              <a:spAutoFit/>
            </a:bodyPr>
            <a:lstStyle/>
            <a:p>
              <a:r>
                <a:rPr lang="en-US" b="1" dirty="0"/>
                <a:t>P(x</a:t>
              </a:r>
              <a:r>
                <a:rPr lang="en-US" b="1" baseline="-25000" dirty="0"/>
                <a:t>2 </a:t>
              </a:r>
              <a:r>
                <a:rPr lang="en-US" b="1" dirty="0"/>
                <a:t>)= 1-</a:t>
              </a:r>
              <a:r>
                <a:rPr lang="el-GR" b="1" dirty="0"/>
                <a:t>α</a:t>
              </a:r>
              <a:endParaRPr lang="en-US" b="1" dirty="0"/>
            </a:p>
          </p:txBody>
        </p:sp>
        <p:sp>
          <p:nvSpPr>
            <p:cNvPr id="24" name="TextBox 23">
              <a:extLst>
                <a:ext uri="{FF2B5EF4-FFF2-40B4-BE49-F238E27FC236}">
                  <a16:creationId xmlns:a16="http://schemas.microsoft.com/office/drawing/2014/main" id="{2F610942-0F49-4A19-896D-1302734CE4CE}"/>
                </a:ext>
              </a:extLst>
            </p:cNvPr>
            <p:cNvSpPr txBox="1"/>
            <p:nvPr/>
          </p:nvSpPr>
          <p:spPr>
            <a:xfrm>
              <a:off x="11451148" y="1096230"/>
              <a:ext cx="452541" cy="338554"/>
            </a:xfrm>
            <a:prstGeom prst="rect">
              <a:avLst/>
            </a:prstGeom>
            <a:noFill/>
          </p:spPr>
          <p:txBody>
            <a:bodyPr wrap="square" rtlCol="0">
              <a:spAutoFit/>
            </a:bodyPr>
            <a:lstStyle/>
            <a:p>
              <a:r>
                <a:rPr lang="en-US" sz="2400" b="1" baseline="-25000" dirty="0"/>
                <a:t>y1</a:t>
              </a:r>
            </a:p>
          </p:txBody>
        </p:sp>
        <p:sp>
          <p:nvSpPr>
            <p:cNvPr id="25" name="TextBox 24">
              <a:extLst>
                <a:ext uri="{FF2B5EF4-FFF2-40B4-BE49-F238E27FC236}">
                  <a16:creationId xmlns:a16="http://schemas.microsoft.com/office/drawing/2014/main" id="{358C046E-1782-404C-8B4D-ACBA198A3E1F}"/>
                </a:ext>
              </a:extLst>
            </p:cNvPr>
            <p:cNvSpPr txBox="1"/>
            <p:nvPr/>
          </p:nvSpPr>
          <p:spPr>
            <a:xfrm>
              <a:off x="11473552" y="2309548"/>
              <a:ext cx="452541" cy="338554"/>
            </a:xfrm>
            <a:prstGeom prst="rect">
              <a:avLst/>
            </a:prstGeom>
            <a:noFill/>
          </p:spPr>
          <p:txBody>
            <a:bodyPr wrap="square" rtlCol="0">
              <a:spAutoFit/>
            </a:bodyPr>
            <a:lstStyle/>
            <a:p>
              <a:r>
                <a:rPr lang="en-US" sz="2400" b="1" baseline="-25000" dirty="0"/>
                <a:t>y2</a:t>
              </a:r>
            </a:p>
          </p:txBody>
        </p:sp>
        <p:sp>
          <p:nvSpPr>
            <p:cNvPr id="26" name="TextBox 25">
              <a:extLst>
                <a:ext uri="{FF2B5EF4-FFF2-40B4-BE49-F238E27FC236}">
                  <a16:creationId xmlns:a16="http://schemas.microsoft.com/office/drawing/2014/main" id="{45204297-8AB4-47D0-974B-99405CDA8079}"/>
                </a:ext>
              </a:extLst>
            </p:cNvPr>
            <p:cNvSpPr txBox="1"/>
            <p:nvPr/>
          </p:nvSpPr>
          <p:spPr>
            <a:xfrm>
              <a:off x="9466647" y="873710"/>
              <a:ext cx="599720" cy="338554"/>
            </a:xfrm>
            <a:prstGeom prst="rect">
              <a:avLst/>
            </a:prstGeom>
            <a:noFill/>
          </p:spPr>
          <p:txBody>
            <a:bodyPr wrap="square" rtlCol="0">
              <a:spAutoFit/>
            </a:bodyPr>
            <a:lstStyle/>
            <a:p>
              <a:r>
                <a:rPr lang="en-US" sz="2400" b="1" baseline="-25000" dirty="0"/>
                <a:t>1-p</a:t>
              </a:r>
            </a:p>
          </p:txBody>
        </p:sp>
        <p:sp>
          <p:nvSpPr>
            <p:cNvPr id="27" name="TextBox 26">
              <a:extLst>
                <a:ext uri="{FF2B5EF4-FFF2-40B4-BE49-F238E27FC236}">
                  <a16:creationId xmlns:a16="http://schemas.microsoft.com/office/drawing/2014/main" id="{7CA6CE83-4F44-4D33-A03A-248D8B483E58}"/>
                </a:ext>
              </a:extLst>
            </p:cNvPr>
            <p:cNvSpPr txBox="1"/>
            <p:nvPr/>
          </p:nvSpPr>
          <p:spPr>
            <a:xfrm>
              <a:off x="9512542" y="2215811"/>
              <a:ext cx="599720" cy="338554"/>
            </a:xfrm>
            <a:prstGeom prst="rect">
              <a:avLst/>
            </a:prstGeom>
            <a:noFill/>
          </p:spPr>
          <p:txBody>
            <a:bodyPr wrap="square" rtlCol="0">
              <a:spAutoFit/>
            </a:bodyPr>
            <a:lstStyle/>
            <a:p>
              <a:r>
                <a:rPr lang="en-US" sz="2400" b="1" baseline="-25000" dirty="0"/>
                <a:t>1-p</a:t>
              </a:r>
            </a:p>
          </p:txBody>
        </p:sp>
        <p:sp>
          <p:nvSpPr>
            <p:cNvPr id="20" name="TextBox 19">
              <a:extLst>
                <a:ext uri="{FF2B5EF4-FFF2-40B4-BE49-F238E27FC236}">
                  <a16:creationId xmlns:a16="http://schemas.microsoft.com/office/drawing/2014/main" id="{6070FD5B-FFC2-46FA-AC7D-C13F0A060CFE}"/>
                </a:ext>
              </a:extLst>
            </p:cNvPr>
            <p:cNvSpPr txBox="1"/>
            <p:nvPr/>
          </p:nvSpPr>
          <p:spPr>
            <a:xfrm>
              <a:off x="8888770" y="1298144"/>
              <a:ext cx="599720" cy="338554"/>
            </a:xfrm>
            <a:prstGeom prst="rect">
              <a:avLst/>
            </a:prstGeom>
            <a:noFill/>
          </p:spPr>
          <p:txBody>
            <a:bodyPr wrap="square" rtlCol="0">
              <a:spAutoFit/>
            </a:bodyPr>
            <a:lstStyle/>
            <a:p>
              <a:r>
                <a:rPr lang="en-US" sz="2400" b="1" baseline="-25000" dirty="0"/>
                <a:t>p</a:t>
              </a:r>
            </a:p>
          </p:txBody>
        </p:sp>
        <p:sp>
          <p:nvSpPr>
            <p:cNvPr id="21" name="TextBox 20">
              <a:extLst>
                <a:ext uri="{FF2B5EF4-FFF2-40B4-BE49-F238E27FC236}">
                  <a16:creationId xmlns:a16="http://schemas.microsoft.com/office/drawing/2014/main" id="{9949E09D-1C9A-4202-B8B5-F5F63652C6EF}"/>
                </a:ext>
              </a:extLst>
            </p:cNvPr>
            <p:cNvSpPr txBox="1"/>
            <p:nvPr/>
          </p:nvSpPr>
          <p:spPr>
            <a:xfrm>
              <a:off x="8888770" y="1857439"/>
              <a:ext cx="599720" cy="338554"/>
            </a:xfrm>
            <a:prstGeom prst="rect">
              <a:avLst/>
            </a:prstGeom>
            <a:noFill/>
          </p:spPr>
          <p:txBody>
            <a:bodyPr wrap="square" rtlCol="0">
              <a:spAutoFit/>
            </a:bodyPr>
            <a:lstStyle/>
            <a:p>
              <a:r>
                <a:rPr lang="en-US" sz="2400" b="1" baseline="-25000" dirty="0"/>
                <a:t>p</a:t>
              </a:r>
            </a:p>
          </p:txBody>
        </p:sp>
      </p:grpSp>
    </p:spTree>
    <p:extLst>
      <p:ext uri="{BB962C8B-B14F-4D97-AF65-F5344CB8AC3E}">
        <p14:creationId xmlns:p14="http://schemas.microsoft.com/office/powerpoint/2010/main" val="4191260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0684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BSC: Numerical</a:t>
            </a:r>
            <a:endParaRPr lang="en-US"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F150B50-0750-4686-B478-A4D05C34D5AC}"/>
              </a:ext>
            </a:extLst>
          </p:cNvPr>
          <p:cNvSpPr txBox="1"/>
          <p:nvPr/>
        </p:nvSpPr>
        <p:spPr>
          <a:xfrm>
            <a:off x="318772" y="1200103"/>
            <a:ext cx="9193927" cy="923330"/>
          </a:xfrm>
          <a:prstGeom prst="rect">
            <a:avLst/>
          </a:prstGeom>
          <a:noFill/>
        </p:spPr>
        <p:txBody>
          <a:bodyPr wrap="none" rtlCol="0">
            <a:spAutoFit/>
          </a:bodyPr>
          <a:lstStyle/>
          <a:p>
            <a:pPr algn="l"/>
            <a:r>
              <a:rPr lang="en-US" sz="1800" b="1" i="0" u="none" strike="noStrike" baseline="0" dirty="0">
                <a:latin typeface="Times New Roman" panose="02020603050405020304" pitchFamily="18" charset="0"/>
              </a:rPr>
              <a:t>A binary channel has the following noise characteristics:</a:t>
            </a:r>
          </a:p>
          <a:p>
            <a:pPr algn="l"/>
            <a:r>
              <a:rPr lang="en-US" sz="1800" b="1" i="0" u="none" strike="noStrike" baseline="0" dirty="0">
                <a:latin typeface="Times New Roman" panose="02020603050405020304" pitchFamily="18" charset="0"/>
              </a:rPr>
              <a:t>If the input symbols are transmitted with probabilities ¾ &amp; ¼ respectively, find H(X), H(Y),</a:t>
            </a:r>
          </a:p>
          <a:p>
            <a:pPr algn="l"/>
            <a:r>
              <a:rPr lang="pt-BR" sz="1800" b="1" i="0" u="none" strike="noStrike" baseline="0" dirty="0">
                <a:latin typeface="Times New Roman" panose="02020603050405020304" pitchFamily="18" charset="0"/>
              </a:rPr>
              <a:t>H(X,Y), H(Y|X), H(X|Y).</a:t>
            </a:r>
            <a:endParaRPr lang="en-US" dirty="0"/>
          </a:p>
        </p:txBody>
      </p:sp>
      <p:pic>
        <p:nvPicPr>
          <p:cNvPr id="6" name="Picture 5">
            <a:extLst>
              <a:ext uri="{FF2B5EF4-FFF2-40B4-BE49-F238E27FC236}">
                <a16:creationId xmlns:a16="http://schemas.microsoft.com/office/drawing/2014/main" id="{A53C116B-7A94-424A-BDD1-C4A52521C11B}"/>
              </a:ext>
            </a:extLst>
          </p:cNvPr>
          <p:cNvPicPr>
            <a:picLocks noChangeAspect="1"/>
          </p:cNvPicPr>
          <p:nvPr/>
        </p:nvPicPr>
        <p:blipFill>
          <a:blip r:embed="rId3"/>
          <a:stretch>
            <a:fillRect/>
          </a:stretch>
        </p:blipFill>
        <p:spPr>
          <a:xfrm>
            <a:off x="9483113" y="264712"/>
            <a:ext cx="2390115" cy="1421469"/>
          </a:xfrm>
          <a:prstGeom prst="rect">
            <a:avLst/>
          </a:prstGeom>
        </p:spPr>
      </p:pic>
      <p:pic>
        <p:nvPicPr>
          <p:cNvPr id="7" name="Picture 6">
            <a:extLst>
              <a:ext uri="{FF2B5EF4-FFF2-40B4-BE49-F238E27FC236}">
                <a16:creationId xmlns:a16="http://schemas.microsoft.com/office/drawing/2014/main" id="{8F00810E-1F6A-6CA5-3A17-683145E24928}"/>
              </a:ext>
            </a:extLst>
          </p:cNvPr>
          <p:cNvPicPr>
            <a:picLocks noChangeAspect="1"/>
          </p:cNvPicPr>
          <p:nvPr/>
        </p:nvPicPr>
        <p:blipFill>
          <a:blip r:embed="rId4"/>
          <a:stretch>
            <a:fillRect/>
          </a:stretch>
        </p:blipFill>
        <p:spPr>
          <a:xfrm>
            <a:off x="318773" y="2401101"/>
            <a:ext cx="5217962" cy="4191363"/>
          </a:xfrm>
          <a:prstGeom prst="rect">
            <a:avLst/>
          </a:prstGeom>
        </p:spPr>
      </p:pic>
      <p:pic>
        <p:nvPicPr>
          <p:cNvPr id="9" name="Picture 8">
            <a:extLst>
              <a:ext uri="{FF2B5EF4-FFF2-40B4-BE49-F238E27FC236}">
                <a16:creationId xmlns:a16="http://schemas.microsoft.com/office/drawing/2014/main" id="{12BCA361-8F90-FF91-5257-9FF32FD0559E}"/>
              </a:ext>
            </a:extLst>
          </p:cNvPr>
          <p:cNvPicPr>
            <a:picLocks noChangeAspect="1"/>
          </p:cNvPicPr>
          <p:nvPr/>
        </p:nvPicPr>
        <p:blipFill>
          <a:blip r:embed="rId5"/>
          <a:stretch>
            <a:fillRect/>
          </a:stretch>
        </p:blipFill>
        <p:spPr>
          <a:xfrm>
            <a:off x="5691578" y="2123433"/>
            <a:ext cx="6181650" cy="4595258"/>
          </a:xfrm>
          <a:prstGeom prst="rect">
            <a:avLst/>
          </a:prstGeom>
        </p:spPr>
      </p:pic>
    </p:spTree>
    <p:extLst>
      <p:ext uri="{BB962C8B-B14F-4D97-AF65-F5344CB8AC3E}">
        <p14:creationId xmlns:p14="http://schemas.microsoft.com/office/powerpoint/2010/main" val="252890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0CE112-8525-27A3-8ECA-E84F24DA1563}"/>
              </a:ext>
            </a:extLst>
          </p:cNvPr>
          <p:cNvPicPr>
            <a:picLocks noChangeAspect="1"/>
          </p:cNvPicPr>
          <p:nvPr/>
        </p:nvPicPr>
        <p:blipFill>
          <a:blip r:embed="rId2"/>
          <a:stretch>
            <a:fillRect/>
          </a:stretch>
        </p:blipFill>
        <p:spPr>
          <a:xfrm>
            <a:off x="2035710" y="580645"/>
            <a:ext cx="6974066" cy="4961475"/>
          </a:xfrm>
          <a:prstGeom prst="rect">
            <a:avLst/>
          </a:prstGeom>
        </p:spPr>
      </p:pic>
    </p:spTree>
    <p:extLst>
      <p:ext uri="{BB962C8B-B14F-4D97-AF65-F5344CB8AC3E}">
        <p14:creationId xmlns:p14="http://schemas.microsoft.com/office/powerpoint/2010/main" val="3029961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0684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BSC: Numerical</a:t>
            </a:r>
            <a:endParaRPr lang="en-US"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EF0235F1-CD41-4D53-AC2F-10DD4BC6DF20}"/>
              </a:ext>
            </a:extLst>
          </p:cNvPr>
          <p:cNvSpPr txBox="1"/>
          <p:nvPr/>
        </p:nvSpPr>
        <p:spPr>
          <a:xfrm>
            <a:off x="538648" y="1308628"/>
            <a:ext cx="9132758" cy="646331"/>
          </a:xfrm>
          <a:prstGeom prst="rect">
            <a:avLst/>
          </a:prstGeom>
          <a:noFill/>
        </p:spPr>
        <p:txBody>
          <a:bodyPr wrap="square">
            <a:spAutoFit/>
          </a:bodyPr>
          <a:lstStyle/>
          <a:p>
            <a:pPr algn="l"/>
            <a:r>
              <a:rPr lang="en-US" sz="1800" b="1" i="0" u="none" strike="noStrike" baseline="0" dirty="0">
                <a:latin typeface="Times New Roman" panose="02020603050405020304" pitchFamily="18" charset="0"/>
              </a:rPr>
              <a:t>The joint probability matrix for a channel is given. Compute H(X), H(Y), H(XY), H(X/Y) &amp; H(Y/X).</a:t>
            </a:r>
            <a:endParaRPr lang="en-US" dirty="0"/>
          </a:p>
        </p:txBody>
      </p:sp>
      <p:pic>
        <p:nvPicPr>
          <p:cNvPr id="7" name="Picture 6">
            <a:extLst>
              <a:ext uri="{FF2B5EF4-FFF2-40B4-BE49-F238E27FC236}">
                <a16:creationId xmlns:a16="http://schemas.microsoft.com/office/drawing/2014/main" id="{023BDAB5-9089-4164-B095-1A073C9057EE}"/>
              </a:ext>
            </a:extLst>
          </p:cNvPr>
          <p:cNvPicPr>
            <a:picLocks noChangeAspect="1"/>
          </p:cNvPicPr>
          <p:nvPr/>
        </p:nvPicPr>
        <p:blipFill>
          <a:blip r:embed="rId3"/>
          <a:stretch>
            <a:fillRect/>
          </a:stretch>
        </p:blipFill>
        <p:spPr>
          <a:xfrm>
            <a:off x="9293901" y="1117312"/>
            <a:ext cx="2898099" cy="1143987"/>
          </a:xfrm>
          <a:prstGeom prst="rect">
            <a:avLst/>
          </a:prstGeom>
        </p:spPr>
      </p:pic>
      <p:pic>
        <p:nvPicPr>
          <p:cNvPr id="5" name="Picture 4">
            <a:extLst>
              <a:ext uri="{FF2B5EF4-FFF2-40B4-BE49-F238E27FC236}">
                <a16:creationId xmlns:a16="http://schemas.microsoft.com/office/drawing/2014/main" id="{43FF7632-0486-160D-2CF8-559564ACAD36}"/>
              </a:ext>
            </a:extLst>
          </p:cNvPr>
          <p:cNvPicPr>
            <a:picLocks noChangeAspect="1"/>
          </p:cNvPicPr>
          <p:nvPr/>
        </p:nvPicPr>
        <p:blipFill>
          <a:blip r:embed="rId4"/>
          <a:stretch>
            <a:fillRect/>
          </a:stretch>
        </p:blipFill>
        <p:spPr>
          <a:xfrm>
            <a:off x="333530" y="1954959"/>
            <a:ext cx="4092295" cy="4366638"/>
          </a:xfrm>
          <a:prstGeom prst="rect">
            <a:avLst/>
          </a:prstGeom>
        </p:spPr>
      </p:pic>
      <p:pic>
        <p:nvPicPr>
          <p:cNvPr id="8" name="Picture 7">
            <a:extLst>
              <a:ext uri="{FF2B5EF4-FFF2-40B4-BE49-F238E27FC236}">
                <a16:creationId xmlns:a16="http://schemas.microsoft.com/office/drawing/2014/main" id="{6270AB99-8CF0-8F14-ED72-4A7F6FE53490}"/>
              </a:ext>
            </a:extLst>
          </p:cNvPr>
          <p:cNvPicPr>
            <a:picLocks noChangeAspect="1"/>
          </p:cNvPicPr>
          <p:nvPr/>
        </p:nvPicPr>
        <p:blipFill>
          <a:blip r:embed="rId5"/>
          <a:stretch>
            <a:fillRect/>
          </a:stretch>
        </p:blipFill>
        <p:spPr>
          <a:xfrm>
            <a:off x="4244262" y="2388011"/>
            <a:ext cx="7483547" cy="3607607"/>
          </a:xfrm>
          <a:prstGeom prst="rect">
            <a:avLst/>
          </a:prstGeom>
        </p:spPr>
      </p:pic>
    </p:spTree>
    <p:extLst>
      <p:ext uri="{BB962C8B-B14F-4D97-AF65-F5344CB8AC3E}">
        <p14:creationId xmlns:p14="http://schemas.microsoft.com/office/powerpoint/2010/main" val="1589805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524B1D-A73A-5025-1880-B7E5FCB25D19}"/>
              </a:ext>
            </a:extLst>
          </p:cNvPr>
          <p:cNvPicPr>
            <a:picLocks noChangeAspect="1"/>
          </p:cNvPicPr>
          <p:nvPr/>
        </p:nvPicPr>
        <p:blipFill>
          <a:blip r:embed="rId2"/>
          <a:stretch>
            <a:fillRect/>
          </a:stretch>
        </p:blipFill>
        <p:spPr>
          <a:xfrm>
            <a:off x="1646177" y="631104"/>
            <a:ext cx="9813486" cy="5325079"/>
          </a:xfrm>
          <a:prstGeom prst="rect">
            <a:avLst/>
          </a:prstGeom>
        </p:spPr>
      </p:pic>
    </p:spTree>
    <p:extLst>
      <p:ext uri="{BB962C8B-B14F-4D97-AF65-F5344CB8AC3E}">
        <p14:creationId xmlns:p14="http://schemas.microsoft.com/office/powerpoint/2010/main" val="548711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96055"/>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0684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BSC: Numerical</a:t>
            </a:r>
            <a:endParaRPr lang="en-US"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C76508B1-61B4-4B78-A57C-6BF91A5D1AD1}"/>
              </a:ext>
            </a:extLst>
          </p:cNvPr>
          <p:cNvSpPr txBox="1"/>
          <p:nvPr/>
        </p:nvSpPr>
        <p:spPr>
          <a:xfrm>
            <a:off x="1534234" y="1143717"/>
            <a:ext cx="9039069" cy="1200329"/>
          </a:xfrm>
          <a:prstGeom prst="rect">
            <a:avLst/>
          </a:prstGeom>
          <a:noFill/>
        </p:spPr>
        <p:txBody>
          <a:bodyPr wrap="square">
            <a:spAutoFit/>
          </a:bodyPr>
          <a:lstStyle/>
          <a:p>
            <a:pPr algn="just"/>
            <a:r>
              <a:rPr lang="en-US" sz="1800" b="1" i="0" u="none" strike="noStrike" baseline="0" dirty="0">
                <a:latin typeface="Times New Roman" panose="02020603050405020304" pitchFamily="18" charset="0"/>
              </a:rPr>
              <a:t>A source delivers the binary digits 0 and 1 with equal probability into a noisy channel at a rate of 1000 digits / second. Owing to noise on the channel the probability of receiving a transmitted ‘0’ as a ‘1’ is 1/16, while the probability of transmitting a ‘1’ and receiving a ‘0’ is 1/32. Determine the rate at which information is received.</a:t>
            </a:r>
            <a:endParaRPr lang="en-US" dirty="0"/>
          </a:p>
        </p:txBody>
      </p:sp>
      <p:pic>
        <p:nvPicPr>
          <p:cNvPr id="5" name="Picture 4">
            <a:extLst>
              <a:ext uri="{FF2B5EF4-FFF2-40B4-BE49-F238E27FC236}">
                <a16:creationId xmlns:a16="http://schemas.microsoft.com/office/drawing/2014/main" id="{8489CA99-CCA4-4431-9C40-7808697D2400}"/>
              </a:ext>
            </a:extLst>
          </p:cNvPr>
          <p:cNvPicPr>
            <a:picLocks noChangeAspect="1"/>
          </p:cNvPicPr>
          <p:nvPr/>
        </p:nvPicPr>
        <p:blipFill>
          <a:blip r:embed="rId3"/>
          <a:stretch>
            <a:fillRect/>
          </a:stretch>
        </p:blipFill>
        <p:spPr>
          <a:xfrm>
            <a:off x="2048333" y="2780746"/>
            <a:ext cx="3041964" cy="1439501"/>
          </a:xfrm>
          <a:prstGeom prst="rect">
            <a:avLst/>
          </a:prstGeom>
        </p:spPr>
      </p:pic>
    </p:spTree>
    <p:extLst>
      <p:ext uri="{BB962C8B-B14F-4D97-AF65-F5344CB8AC3E}">
        <p14:creationId xmlns:p14="http://schemas.microsoft.com/office/powerpoint/2010/main" val="3478995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30684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BSC: Numerical</a:t>
            </a:r>
            <a:endParaRPr lang="en-US"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A0B39B40-E393-42DE-AC3B-E8EEE21204B6}"/>
              </a:ext>
            </a:extLst>
          </p:cNvPr>
          <p:cNvSpPr txBox="1"/>
          <p:nvPr/>
        </p:nvSpPr>
        <p:spPr>
          <a:xfrm>
            <a:off x="1219199" y="1143353"/>
            <a:ext cx="6799845" cy="646331"/>
          </a:xfrm>
          <a:prstGeom prst="rect">
            <a:avLst/>
          </a:prstGeom>
          <a:noFill/>
        </p:spPr>
        <p:txBody>
          <a:bodyPr wrap="square">
            <a:spAutoFit/>
          </a:bodyPr>
          <a:lstStyle/>
          <a:p>
            <a:r>
              <a:rPr lang="en-US" sz="1800" b="1" i="0" u="none" strike="noStrike" baseline="0" dirty="0">
                <a:latin typeface="Times New Roman" panose="02020603050405020304" pitchFamily="18" charset="0"/>
              </a:rPr>
              <a:t>A transmitter produces three symbols ABC which are related with joint probability shown. Calculate H(X,Y)</a:t>
            </a:r>
            <a:endParaRPr lang="en-US" dirty="0"/>
          </a:p>
        </p:txBody>
      </p:sp>
      <p:pic>
        <p:nvPicPr>
          <p:cNvPr id="6" name="Picture 5">
            <a:extLst>
              <a:ext uri="{FF2B5EF4-FFF2-40B4-BE49-F238E27FC236}">
                <a16:creationId xmlns:a16="http://schemas.microsoft.com/office/drawing/2014/main" id="{7AF60D7E-B2E3-40A3-9A58-634EC078F194}"/>
              </a:ext>
            </a:extLst>
          </p:cNvPr>
          <p:cNvPicPr>
            <a:picLocks noChangeAspect="1"/>
          </p:cNvPicPr>
          <p:nvPr/>
        </p:nvPicPr>
        <p:blipFill>
          <a:blip r:embed="rId3"/>
          <a:stretch>
            <a:fillRect/>
          </a:stretch>
        </p:blipFill>
        <p:spPr>
          <a:xfrm>
            <a:off x="183301" y="2116995"/>
            <a:ext cx="5287224" cy="2344848"/>
          </a:xfrm>
          <a:prstGeom prst="rect">
            <a:avLst/>
          </a:prstGeom>
        </p:spPr>
      </p:pic>
      <p:pic>
        <p:nvPicPr>
          <p:cNvPr id="5" name="Picture 4">
            <a:extLst>
              <a:ext uri="{FF2B5EF4-FFF2-40B4-BE49-F238E27FC236}">
                <a16:creationId xmlns:a16="http://schemas.microsoft.com/office/drawing/2014/main" id="{4C2D0C3F-8F59-2F12-3EEE-B503D73AF0A9}"/>
              </a:ext>
            </a:extLst>
          </p:cNvPr>
          <p:cNvPicPr>
            <a:picLocks noChangeAspect="1"/>
          </p:cNvPicPr>
          <p:nvPr/>
        </p:nvPicPr>
        <p:blipFill>
          <a:blip r:embed="rId4"/>
          <a:stretch>
            <a:fillRect/>
          </a:stretch>
        </p:blipFill>
        <p:spPr>
          <a:xfrm>
            <a:off x="5797183" y="4109167"/>
            <a:ext cx="5258534" cy="2448267"/>
          </a:xfrm>
          <a:prstGeom prst="rect">
            <a:avLst/>
          </a:prstGeom>
        </p:spPr>
      </p:pic>
    </p:spTree>
    <p:extLst>
      <p:ext uri="{BB962C8B-B14F-4D97-AF65-F5344CB8AC3E}">
        <p14:creationId xmlns:p14="http://schemas.microsoft.com/office/powerpoint/2010/main" val="1490607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0D0BAD-DDF0-A3C4-E8B4-64086058A0F7}"/>
              </a:ext>
            </a:extLst>
          </p:cNvPr>
          <p:cNvPicPr>
            <a:picLocks noChangeAspect="1"/>
          </p:cNvPicPr>
          <p:nvPr/>
        </p:nvPicPr>
        <p:blipFill>
          <a:blip r:embed="rId2"/>
          <a:stretch>
            <a:fillRect/>
          </a:stretch>
        </p:blipFill>
        <p:spPr>
          <a:xfrm>
            <a:off x="183655" y="71019"/>
            <a:ext cx="7821116" cy="4115374"/>
          </a:xfrm>
          <a:prstGeom prst="rect">
            <a:avLst/>
          </a:prstGeom>
        </p:spPr>
      </p:pic>
      <p:pic>
        <p:nvPicPr>
          <p:cNvPr id="5" name="Picture 4">
            <a:extLst>
              <a:ext uri="{FF2B5EF4-FFF2-40B4-BE49-F238E27FC236}">
                <a16:creationId xmlns:a16="http://schemas.microsoft.com/office/drawing/2014/main" id="{23AE07D1-2BE7-EABF-DB5B-244A946E029B}"/>
              </a:ext>
            </a:extLst>
          </p:cNvPr>
          <p:cNvPicPr>
            <a:picLocks noChangeAspect="1"/>
          </p:cNvPicPr>
          <p:nvPr/>
        </p:nvPicPr>
        <p:blipFill>
          <a:blip r:embed="rId3"/>
          <a:stretch>
            <a:fillRect/>
          </a:stretch>
        </p:blipFill>
        <p:spPr>
          <a:xfrm>
            <a:off x="6760270" y="170749"/>
            <a:ext cx="5287224" cy="2344848"/>
          </a:xfrm>
          <a:prstGeom prst="rect">
            <a:avLst/>
          </a:prstGeom>
        </p:spPr>
      </p:pic>
      <p:pic>
        <p:nvPicPr>
          <p:cNvPr id="7" name="Picture 6">
            <a:extLst>
              <a:ext uri="{FF2B5EF4-FFF2-40B4-BE49-F238E27FC236}">
                <a16:creationId xmlns:a16="http://schemas.microsoft.com/office/drawing/2014/main" id="{25ECBEDB-11D3-3495-86C1-12C7BF995D49}"/>
              </a:ext>
            </a:extLst>
          </p:cNvPr>
          <p:cNvPicPr>
            <a:picLocks noChangeAspect="1"/>
          </p:cNvPicPr>
          <p:nvPr/>
        </p:nvPicPr>
        <p:blipFill>
          <a:blip r:embed="rId4"/>
          <a:stretch>
            <a:fillRect/>
          </a:stretch>
        </p:blipFill>
        <p:spPr>
          <a:xfrm>
            <a:off x="281952" y="4186393"/>
            <a:ext cx="9121930" cy="2636748"/>
          </a:xfrm>
          <a:prstGeom prst="rect">
            <a:avLst/>
          </a:prstGeom>
        </p:spPr>
      </p:pic>
    </p:spTree>
    <p:extLst>
      <p:ext uri="{BB962C8B-B14F-4D97-AF65-F5344CB8AC3E}">
        <p14:creationId xmlns:p14="http://schemas.microsoft.com/office/powerpoint/2010/main" val="1640852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F9C6F9-BCA8-C59A-12FC-F948B26E6F1E}"/>
              </a:ext>
            </a:extLst>
          </p:cNvPr>
          <p:cNvPicPr>
            <a:picLocks noChangeAspect="1"/>
          </p:cNvPicPr>
          <p:nvPr/>
        </p:nvPicPr>
        <p:blipFill>
          <a:blip r:embed="rId2"/>
          <a:stretch>
            <a:fillRect/>
          </a:stretch>
        </p:blipFill>
        <p:spPr>
          <a:xfrm>
            <a:off x="135280" y="1403322"/>
            <a:ext cx="9221241" cy="5454678"/>
          </a:xfrm>
          <a:prstGeom prst="rect">
            <a:avLst/>
          </a:prstGeom>
        </p:spPr>
      </p:pic>
      <p:pic>
        <p:nvPicPr>
          <p:cNvPr id="4" name="Picture 3">
            <a:extLst>
              <a:ext uri="{FF2B5EF4-FFF2-40B4-BE49-F238E27FC236}">
                <a16:creationId xmlns:a16="http://schemas.microsoft.com/office/drawing/2014/main" id="{16A20182-3C94-7E35-0A39-012D1C4EACCC}"/>
              </a:ext>
            </a:extLst>
          </p:cNvPr>
          <p:cNvPicPr>
            <a:picLocks noChangeAspect="1"/>
          </p:cNvPicPr>
          <p:nvPr/>
        </p:nvPicPr>
        <p:blipFill>
          <a:blip r:embed="rId3"/>
          <a:stretch>
            <a:fillRect/>
          </a:stretch>
        </p:blipFill>
        <p:spPr>
          <a:xfrm>
            <a:off x="6798186" y="-85328"/>
            <a:ext cx="5258534" cy="2448267"/>
          </a:xfrm>
          <a:prstGeom prst="rect">
            <a:avLst/>
          </a:prstGeom>
        </p:spPr>
      </p:pic>
    </p:spTree>
    <p:extLst>
      <p:ext uri="{BB962C8B-B14F-4D97-AF65-F5344CB8AC3E}">
        <p14:creationId xmlns:p14="http://schemas.microsoft.com/office/powerpoint/2010/main" val="2997732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549541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BSC: Numerical (Assignment)</a:t>
            </a:r>
            <a:endParaRPr lang="en-US"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B868C34B-6E5F-4BBC-9650-8D38F8B8CF79}"/>
              </a:ext>
            </a:extLst>
          </p:cNvPr>
          <p:cNvPicPr>
            <a:picLocks noChangeAspect="1"/>
          </p:cNvPicPr>
          <p:nvPr/>
        </p:nvPicPr>
        <p:blipFill>
          <a:blip r:embed="rId3"/>
          <a:stretch>
            <a:fillRect/>
          </a:stretch>
        </p:blipFill>
        <p:spPr>
          <a:xfrm>
            <a:off x="674229" y="1261447"/>
            <a:ext cx="10455887" cy="2585403"/>
          </a:xfrm>
          <a:prstGeom prst="rect">
            <a:avLst/>
          </a:prstGeom>
        </p:spPr>
      </p:pic>
    </p:spTree>
    <p:extLst>
      <p:ext uri="{BB962C8B-B14F-4D97-AF65-F5344CB8AC3E}">
        <p14:creationId xmlns:p14="http://schemas.microsoft.com/office/powerpoint/2010/main" val="4057193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Line 2">
            <a:extLst>
              <a:ext uri="{FF2B5EF4-FFF2-40B4-BE49-F238E27FC236}">
                <a16:creationId xmlns:a16="http://schemas.microsoft.com/office/drawing/2014/main" id="{B80F17A2-967F-4758-B690-15B90FC4B7B2}"/>
              </a:ext>
            </a:extLst>
          </p:cNvPr>
          <p:cNvSpPr>
            <a:spLocks noChangeShapeType="1"/>
          </p:cNvSpPr>
          <p:nvPr/>
        </p:nvSpPr>
        <p:spPr bwMode="auto">
          <a:xfrm>
            <a:off x="0" y="121222"/>
            <a:ext cx="12192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9" name="Line 3">
            <a:extLst>
              <a:ext uri="{FF2B5EF4-FFF2-40B4-BE49-F238E27FC236}">
                <a16:creationId xmlns:a16="http://schemas.microsoft.com/office/drawing/2014/main" id="{D216B66D-CB10-42AD-A3FB-617EDBA6005A}"/>
              </a:ext>
            </a:extLst>
          </p:cNvPr>
          <p:cNvSpPr>
            <a:spLocks noChangeShapeType="1"/>
          </p:cNvSpPr>
          <p:nvPr/>
        </p:nvSpPr>
        <p:spPr bwMode="auto">
          <a:xfrm flipV="1">
            <a:off x="0" y="959422"/>
            <a:ext cx="12192000" cy="3117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Text Box 4">
            <a:extLst>
              <a:ext uri="{FF2B5EF4-FFF2-40B4-BE49-F238E27FC236}">
                <a16:creationId xmlns:a16="http://schemas.microsoft.com/office/drawing/2014/main" id="{F1A1D0A4-783E-4A5F-9176-6625485B21C2}"/>
              </a:ext>
            </a:extLst>
          </p:cNvPr>
          <p:cNvSpPr txBox="1">
            <a:spLocks noChangeArrowheads="1"/>
          </p:cNvSpPr>
          <p:nvPr/>
        </p:nvSpPr>
        <p:spPr bwMode="auto">
          <a:xfrm>
            <a:off x="0" y="247935"/>
            <a:ext cx="549541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l"/>
            <a:r>
              <a:rPr lang="en-US" dirty="0">
                <a:solidFill>
                  <a:srgbClr val="000000"/>
                </a:solidFill>
                <a:latin typeface="Times New Roman" panose="02020603050405020304" pitchFamily="18" charset="0"/>
                <a:cs typeface="Times New Roman" panose="02020603050405020304" pitchFamily="18" charset="0"/>
              </a:rPr>
              <a:t>BSC: Numerical (Assignment)</a:t>
            </a:r>
            <a:endParaRPr lang="en-US" i="0" dirty="0">
              <a:solidFill>
                <a:srgbClr val="000000"/>
              </a:solidFill>
              <a:effectLst/>
              <a:latin typeface="Times New Roman" panose="02020603050405020304" pitchFamily="18" charset="0"/>
              <a:cs typeface="Times New Roman" panose="02020603050405020304" pitchFamily="18" charset="0"/>
            </a:endParaRPr>
          </a:p>
        </p:txBody>
      </p:sp>
      <p:sp>
        <p:nvSpPr>
          <p:cNvPr id="9221" name="Line 5">
            <a:extLst>
              <a:ext uri="{FF2B5EF4-FFF2-40B4-BE49-F238E27FC236}">
                <a16:creationId xmlns:a16="http://schemas.microsoft.com/office/drawing/2014/main" id="{813B641B-59D1-4F94-8787-5406583E7085}"/>
              </a:ext>
            </a:extLst>
          </p:cNvPr>
          <p:cNvSpPr>
            <a:spLocks noChangeShapeType="1"/>
          </p:cNvSpPr>
          <p:nvPr/>
        </p:nvSpPr>
        <p:spPr bwMode="auto">
          <a:xfrm flipV="1">
            <a:off x="0" y="6703102"/>
            <a:ext cx="12192000" cy="31178"/>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AutoShape 3" descr="Y">
            <a:extLst>
              <a:ext uri="{FF2B5EF4-FFF2-40B4-BE49-F238E27FC236}">
                <a16:creationId xmlns:a16="http://schemas.microsoft.com/office/drawing/2014/main" id="{BCE392CB-7F7C-4A8B-8613-91016F4C22A4}"/>
              </a:ext>
            </a:extLst>
          </p:cNvPr>
          <p:cNvSpPr>
            <a:spLocks noChangeAspect="1" noChangeArrowheads="1"/>
          </p:cNvSpPr>
          <p:nvPr/>
        </p:nvSpPr>
        <p:spPr bwMode="auto">
          <a:xfrm>
            <a:off x="5165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
            <a:extLst>
              <a:ext uri="{FF2B5EF4-FFF2-40B4-BE49-F238E27FC236}">
                <a16:creationId xmlns:a16="http://schemas.microsoft.com/office/drawing/2014/main" id="{6829A074-1F42-44C8-9C9E-1D86E7E3DEDC}"/>
              </a:ext>
            </a:extLst>
          </p:cNvPr>
          <p:cNvSpPr>
            <a:spLocks noChangeAspect="1" noChangeArrowheads="1"/>
          </p:cNvSpPr>
          <p:nvPr/>
        </p:nvSpPr>
        <p:spPr bwMode="auto">
          <a:xfrm>
            <a:off x="82740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9C5440EB-3150-45BD-974F-5B49F469CD47}"/>
              </a:ext>
            </a:extLst>
          </p:cNvPr>
          <p:cNvPicPr>
            <a:picLocks noChangeAspect="1"/>
          </p:cNvPicPr>
          <p:nvPr/>
        </p:nvPicPr>
        <p:blipFill>
          <a:blip r:embed="rId3"/>
          <a:stretch>
            <a:fillRect/>
          </a:stretch>
        </p:blipFill>
        <p:spPr>
          <a:xfrm>
            <a:off x="1120878" y="1252173"/>
            <a:ext cx="9377658" cy="3528832"/>
          </a:xfrm>
          <a:prstGeom prst="rect">
            <a:avLst/>
          </a:prstGeom>
        </p:spPr>
      </p:pic>
    </p:spTree>
    <p:extLst>
      <p:ext uri="{BB962C8B-B14F-4D97-AF65-F5344CB8AC3E}">
        <p14:creationId xmlns:p14="http://schemas.microsoft.com/office/powerpoint/2010/main" val="3826280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C2CA1-EA84-44A4-9C76-5B57855D118B}"/>
              </a:ext>
            </a:extLst>
          </p:cNvPr>
          <p:cNvSpPr>
            <a:spLocks noGrp="1"/>
          </p:cNvSpPr>
          <p:nvPr>
            <p:ph type="title"/>
          </p:nvPr>
        </p:nvSpPr>
        <p:spPr>
          <a:xfrm>
            <a:off x="838200" y="1"/>
            <a:ext cx="10515600" cy="978194"/>
          </a:xfrm>
        </p:spPr>
        <p:txBody>
          <a:bodyPr/>
          <a:lstStyle/>
          <a:p>
            <a:r>
              <a:rPr lang="en-IN" dirty="0"/>
              <a:t>Extension of a DMS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D474D3-7F7F-4E22-80EF-18499D1C42D5}"/>
                  </a:ext>
                </a:extLst>
              </p:cNvPr>
              <p:cNvSpPr>
                <a:spLocks noGrp="1"/>
              </p:cNvSpPr>
              <p:nvPr>
                <p:ph idx="1"/>
              </p:nvPr>
            </p:nvSpPr>
            <p:spPr>
              <a:xfrm>
                <a:off x="1082040" y="1429299"/>
                <a:ext cx="10515600" cy="5198768"/>
              </a:xfrm>
            </p:spPr>
            <p:txBody>
              <a:bodyPr/>
              <a:lstStyle/>
              <a:p>
                <a:pPr algn="just"/>
                <a:r>
                  <a:rPr lang="en-US" dirty="0"/>
                  <a:t>Consider blocks of symbols rather than individual symbols with each block consisting of </a:t>
                </a:r>
                <a:r>
                  <a:rPr lang="en-US" i="1" dirty="0"/>
                  <a:t>n </a:t>
                </a:r>
                <a:r>
                  <a:rPr lang="en-US" dirty="0"/>
                  <a:t>successive source symbols.</a:t>
                </a:r>
              </a:p>
              <a:p>
                <a:pPr algn="just"/>
                <a:r>
                  <a:rPr lang="en-US" dirty="0"/>
                  <a:t>The resultant entropy is </a:t>
                </a:r>
              </a:p>
              <a:p>
                <a:pPr marL="0" indent="0">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𝐻</m:t>
                      </m:r>
                      <m:d>
                        <m:dPr>
                          <m:ctrlPr>
                            <a:rPr lang="en-IN" b="0" i="1" smtClean="0">
                              <a:latin typeface="Cambria Math" panose="02040503050406030204" pitchFamily="18" charset="0"/>
                            </a:rPr>
                          </m:ctrlPr>
                        </m:dPr>
                        <m:e>
                          <m:sSup>
                            <m:sSupPr>
                              <m:ctrlPr>
                                <a:rPr lang="en-IN" b="0" i="1" smtClean="0">
                                  <a:latin typeface="Cambria Math" panose="02040503050406030204" pitchFamily="18" charset="0"/>
                                </a:rPr>
                              </m:ctrlPr>
                            </m:sSupPr>
                            <m:e>
                              <m:r>
                                <a:rPr lang="en-IN" b="0" i="1" smtClean="0">
                                  <a:latin typeface="Cambria Math" panose="02040503050406030204" pitchFamily="18" charset="0"/>
                                </a:rPr>
                                <m:t>𝑃</m:t>
                              </m:r>
                            </m:e>
                            <m:sup>
                              <m:r>
                                <a:rPr lang="en-IN" b="0" i="1" smtClean="0">
                                  <a:latin typeface="Cambria Math" panose="02040503050406030204" pitchFamily="18" charset="0"/>
                                </a:rPr>
                                <m:t>𝑛</m:t>
                              </m:r>
                            </m:sup>
                          </m:sSup>
                        </m:e>
                      </m:d>
                      <m:r>
                        <a:rPr lang="en-IN" b="0" i="1" smtClean="0">
                          <a:latin typeface="Cambria Math" panose="02040503050406030204" pitchFamily="18" charset="0"/>
                        </a:rPr>
                        <m:t>=</m:t>
                      </m:r>
                      <m:r>
                        <a:rPr lang="en-IN" b="0" i="1" smtClean="0">
                          <a:latin typeface="Cambria Math" panose="02040503050406030204" pitchFamily="18" charset="0"/>
                        </a:rPr>
                        <m:t>𝑛𝐻</m:t>
                      </m:r>
                      <m:r>
                        <a:rPr lang="en-IN" b="0" i="1" smtClean="0">
                          <a:latin typeface="Cambria Math" panose="02040503050406030204" pitchFamily="18" charset="0"/>
                        </a:rPr>
                        <m:t>(</m:t>
                      </m:r>
                      <m:r>
                        <a:rPr lang="en-IN" b="0" i="1" smtClean="0">
                          <a:latin typeface="Cambria Math" panose="02040503050406030204" pitchFamily="18" charset="0"/>
                        </a:rPr>
                        <m:t>𝑃</m:t>
                      </m:r>
                      <m:r>
                        <a:rPr lang="en-IN" b="0" i="1" smtClean="0">
                          <a:latin typeface="Cambria Math" panose="02040503050406030204" pitchFamily="18" charset="0"/>
                        </a:rPr>
                        <m:t>)</m:t>
                      </m:r>
                    </m:oMath>
                  </m:oMathPara>
                </a14:m>
                <a:endParaRPr lang="en-US" dirty="0"/>
              </a:p>
              <a:p>
                <a:endParaRPr lang="en-IN" dirty="0"/>
              </a:p>
            </p:txBody>
          </p:sp>
        </mc:Choice>
        <mc:Fallback xmlns="">
          <p:sp>
            <p:nvSpPr>
              <p:cNvPr id="3" name="Content Placeholder 2">
                <a:extLst>
                  <a:ext uri="{FF2B5EF4-FFF2-40B4-BE49-F238E27FC236}">
                    <a16:creationId xmlns:a16="http://schemas.microsoft.com/office/drawing/2014/main" id="{30D474D3-7F7F-4E22-80EF-18499D1C42D5}"/>
                  </a:ext>
                </a:extLst>
              </p:cNvPr>
              <p:cNvSpPr>
                <a:spLocks noGrp="1" noRot="1" noChangeAspect="1" noMove="1" noResize="1" noEditPoints="1" noAdjustHandles="1" noChangeArrowheads="1" noChangeShapeType="1" noTextEdit="1"/>
              </p:cNvSpPr>
              <p:nvPr>
                <p:ph idx="1"/>
              </p:nvPr>
            </p:nvSpPr>
            <p:spPr>
              <a:xfrm>
                <a:off x="1082040" y="1429299"/>
                <a:ext cx="10515600" cy="5198768"/>
              </a:xfrm>
              <a:blipFill>
                <a:blip r:embed="rId2"/>
                <a:stretch>
                  <a:fillRect l="-406" t="-586" r="-464"/>
                </a:stretch>
              </a:blipFill>
            </p:spPr>
            <p:txBody>
              <a:bodyPr/>
              <a:lstStyle/>
              <a:p>
                <a:r>
                  <a:rPr lang="en-IN">
                    <a:noFill/>
                  </a:rPr>
                  <a:t> </a:t>
                </a:r>
              </a:p>
            </p:txBody>
          </p:sp>
        </mc:Fallback>
      </mc:AlternateContent>
    </p:spTree>
    <p:extLst>
      <p:ext uri="{BB962C8B-B14F-4D97-AF65-F5344CB8AC3E}">
        <p14:creationId xmlns:p14="http://schemas.microsoft.com/office/powerpoint/2010/main" val="2161080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4FAED1A8-D20F-6D4E-4D0A-60B80DE50A60}"/>
              </a:ext>
            </a:extLst>
          </p:cNvPr>
          <p:cNvPicPr>
            <a:picLocks noGrp="1" noChangeAspect="1"/>
          </p:cNvPicPr>
          <p:nvPr>
            <p:ph idx="1"/>
          </p:nvPr>
        </p:nvPicPr>
        <p:blipFill>
          <a:blip r:embed="rId2"/>
          <a:stretch>
            <a:fillRect/>
          </a:stretch>
        </p:blipFill>
        <p:spPr>
          <a:xfrm>
            <a:off x="1458992" y="142614"/>
            <a:ext cx="8364162" cy="3170561"/>
          </a:xfrm>
        </p:spPr>
      </p:pic>
      <p:pic>
        <p:nvPicPr>
          <p:cNvPr id="12" name="Picture 11">
            <a:extLst>
              <a:ext uri="{FF2B5EF4-FFF2-40B4-BE49-F238E27FC236}">
                <a16:creationId xmlns:a16="http://schemas.microsoft.com/office/drawing/2014/main" id="{75819D2C-9701-DB23-528B-1F5800C1AB2F}"/>
              </a:ext>
            </a:extLst>
          </p:cNvPr>
          <p:cNvPicPr>
            <a:picLocks noChangeAspect="1"/>
          </p:cNvPicPr>
          <p:nvPr/>
        </p:nvPicPr>
        <p:blipFill>
          <a:blip r:embed="rId3"/>
          <a:stretch>
            <a:fillRect/>
          </a:stretch>
        </p:blipFill>
        <p:spPr>
          <a:xfrm>
            <a:off x="1458992" y="3313175"/>
            <a:ext cx="8364162" cy="3402211"/>
          </a:xfrm>
          <a:prstGeom prst="rect">
            <a:avLst/>
          </a:prstGeom>
        </p:spPr>
      </p:pic>
    </p:spTree>
    <p:extLst>
      <p:ext uri="{BB962C8B-B14F-4D97-AF65-F5344CB8AC3E}">
        <p14:creationId xmlns:p14="http://schemas.microsoft.com/office/powerpoint/2010/main" val="4193808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43F21D-329E-06D5-C0A5-42DD4CA17B27}"/>
              </a:ext>
            </a:extLst>
          </p:cNvPr>
          <p:cNvPicPr>
            <a:picLocks noChangeAspect="1"/>
          </p:cNvPicPr>
          <p:nvPr/>
        </p:nvPicPr>
        <p:blipFill>
          <a:blip r:embed="rId2"/>
          <a:stretch>
            <a:fillRect/>
          </a:stretch>
        </p:blipFill>
        <p:spPr>
          <a:xfrm>
            <a:off x="1910282" y="495046"/>
            <a:ext cx="7163421" cy="2933954"/>
          </a:xfrm>
          <a:prstGeom prst="rect">
            <a:avLst/>
          </a:prstGeom>
        </p:spPr>
      </p:pic>
    </p:spTree>
    <p:extLst>
      <p:ext uri="{BB962C8B-B14F-4D97-AF65-F5344CB8AC3E}">
        <p14:creationId xmlns:p14="http://schemas.microsoft.com/office/powerpoint/2010/main" val="3129729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5B63D5BA-FF3D-8CE3-03BA-0C89F98CF87A}"/>
              </a:ext>
            </a:extLst>
          </p:cNvPr>
          <p:cNvPicPr>
            <a:picLocks noChangeAspect="1"/>
          </p:cNvPicPr>
          <p:nvPr/>
        </p:nvPicPr>
        <p:blipFill>
          <a:blip r:embed="rId3"/>
          <a:stretch>
            <a:fillRect/>
          </a:stretch>
        </p:blipFill>
        <p:spPr>
          <a:xfrm>
            <a:off x="174592" y="679725"/>
            <a:ext cx="7346317" cy="3429000"/>
          </a:xfrm>
          <a:prstGeom prst="rect">
            <a:avLst/>
          </a:prstGeom>
        </p:spPr>
      </p:pic>
      <p:pic>
        <p:nvPicPr>
          <p:cNvPr id="28" name="Picture 27">
            <a:extLst>
              <a:ext uri="{FF2B5EF4-FFF2-40B4-BE49-F238E27FC236}">
                <a16:creationId xmlns:a16="http://schemas.microsoft.com/office/drawing/2014/main" id="{65832BC2-5103-94AD-AD62-061E233FF136}"/>
              </a:ext>
            </a:extLst>
          </p:cNvPr>
          <p:cNvPicPr>
            <a:picLocks noChangeAspect="1"/>
          </p:cNvPicPr>
          <p:nvPr/>
        </p:nvPicPr>
        <p:blipFill>
          <a:blip r:embed="rId4"/>
          <a:stretch>
            <a:fillRect/>
          </a:stretch>
        </p:blipFill>
        <p:spPr>
          <a:xfrm>
            <a:off x="329260" y="3040556"/>
            <a:ext cx="6100373" cy="3428999"/>
          </a:xfrm>
          <a:prstGeom prst="rect">
            <a:avLst/>
          </a:prstGeom>
        </p:spPr>
      </p:pic>
      <p:pic>
        <p:nvPicPr>
          <p:cNvPr id="30" name="Picture 29">
            <a:extLst>
              <a:ext uri="{FF2B5EF4-FFF2-40B4-BE49-F238E27FC236}">
                <a16:creationId xmlns:a16="http://schemas.microsoft.com/office/drawing/2014/main" id="{A640D316-27CA-B252-514F-CB9F8F9C17EA}"/>
              </a:ext>
            </a:extLst>
          </p:cNvPr>
          <p:cNvPicPr>
            <a:picLocks noChangeAspect="1"/>
          </p:cNvPicPr>
          <p:nvPr/>
        </p:nvPicPr>
        <p:blipFill>
          <a:blip r:embed="rId5"/>
          <a:stretch>
            <a:fillRect/>
          </a:stretch>
        </p:blipFill>
        <p:spPr>
          <a:xfrm>
            <a:off x="6604225" y="1920232"/>
            <a:ext cx="5587775" cy="4633362"/>
          </a:xfrm>
          <a:prstGeom prst="rect">
            <a:avLst/>
          </a:prstGeom>
        </p:spPr>
        <p:style>
          <a:lnRef idx="2">
            <a:schemeClr val="dk1">
              <a:shade val="15000"/>
            </a:schemeClr>
          </a:lnRef>
          <a:fillRef idx="1">
            <a:schemeClr val="dk1"/>
          </a:fillRef>
          <a:effectRef idx="0">
            <a:schemeClr val="dk1"/>
          </a:effectRef>
          <a:fontRef idx="minor">
            <a:schemeClr val="lt1"/>
          </a:fontRef>
        </p:style>
      </p:pic>
      <p:sp>
        <p:nvSpPr>
          <p:cNvPr id="33" name="TextBox 32">
            <a:extLst>
              <a:ext uri="{FF2B5EF4-FFF2-40B4-BE49-F238E27FC236}">
                <a16:creationId xmlns:a16="http://schemas.microsoft.com/office/drawing/2014/main" id="{886F5D1E-DDC6-9291-51CB-5448EAFD25AA}"/>
              </a:ext>
            </a:extLst>
          </p:cNvPr>
          <p:cNvSpPr txBox="1"/>
          <p:nvPr/>
        </p:nvSpPr>
        <p:spPr>
          <a:xfrm>
            <a:off x="244500" y="96562"/>
            <a:ext cx="11947500" cy="646331"/>
          </a:xfrm>
          <a:prstGeom prst="rect">
            <a:avLst/>
          </a:prstGeom>
          <a:noFill/>
        </p:spPr>
        <p:txBody>
          <a:bodyPr wrap="square">
            <a:spAutoFit/>
          </a:bodyPr>
          <a:lstStyle/>
          <a:p>
            <a:r>
              <a:rPr lang="en-IN" sz="1800" b="1" dirty="0">
                <a:solidFill>
                  <a:schemeClr val="tx2">
                    <a:lumMod val="50000"/>
                  </a:schemeClr>
                </a:solidFill>
              </a:rPr>
              <a:t>CALCULATE </a:t>
            </a:r>
            <a:r>
              <a:rPr lang="en-IN" b="1" dirty="0">
                <a:solidFill>
                  <a:schemeClr val="tx2">
                    <a:lumMod val="50000"/>
                  </a:schemeClr>
                </a:solidFill>
              </a:rPr>
              <a:t>RELATIVE ENTROPY </a:t>
            </a:r>
            <a:r>
              <a:rPr lang="en-IN" sz="1800" b="1" dirty="0">
                <a:solidFill>
                  <a:schemeClr val="tx2">
                    <a:lumMod val="50000"/>
                  </a:schemeClr>
                </a:solidFill>
              </a:rPr>
              <a:t>FOR (P)=[0.25,0.10,0.15,0.30,0.20], (Q)=[0.13,0.27,0.20,0.15,0.25]</a:t>
            </a:r>
          </a:p>
          <a:p>
            <a:r>
              <a:rPr lang="en-IN" b="1" dirty="0">
                <a:solidFill>
                  <a:schemeClr val="tx2">
                    <a:lumMod val="50000"/>
                  </a:schemeClr>
                </a:solidFill>
                <a:highlight>
                  <a:srgbClr val="FFFF00"/>
                </a:highlight>
              </a:rPr>
              <a:t>A) </a:t>
            </a:r>
            <a:r>
              <a:rPr lang="en-IN" b="1" dirty="0">
                <a:solidFill>
                  <a:schemeClr val="tx2">
                    <a:lumMod val="50000"/>
                  </a:schemeClr>
                </a:solidFill>
              </a:rPr>
              <a:t>D(P||Q) 			</a:t>
            </a:r>
            <a:r>
              <a:rPr lang="en-IN" b="1" dirty="0">
                <a:solidFill>
                  <a:schemeClr val="tx2">
                    <a:lumMod val="50000"/>
                  </a:schemeClr>
                </a:solidFill>
                <a:highlight>
                  <a:srgbClr val="FFFF00"/>
                </a:highlight>
              </a:rPr>
              <a:t>B) </a:t>
            </a:r>
            <a:r>
              <a:rPr lang="en-IN" b="1" dirty="0">
                <a:solidFill>
                  <a:schemeClr val="tx2">
                    <a:lumMod val="50000"/>
                  </a:schemeClr>
                </a:solidFill>
              </a:rPr>
              <a:t>D(Q||P)</a:t>
            </a:r>
            <a:endParaRPr lang="en-IN" sz="1800" b="1" dirty="0">
              <a:solidFill>
                <a:schemeClr val="tx2">
                  <a:lumMod val="50000"/>
                </a:schemeClr>
              </a:solidFill>
            </a:endParaRPr>
          </a:p>
        </p:txBody>
      </p:sp>
      <p:sp>
        <p:nvSpPr>
          <p:cNvPr id="34" name="Rectangle 33">
            <a:extLst>
              <a:ext uri="{FF2B5EF4-FFF2-40B4-BE49-F238E27FC236}">
                <a16:creationId xmlns:a16="http://schemas.microsoft.com/office/drawing/2014/main" id="{105A8D70-7714-6B9D-A511-19CF1B22BE9A}"/>
              </a:ext>
            </a:extLst>
          </p:cNvPr>
          <p:cNvSpPr/>
          <p:nvPr/>
        </p:nvSpPr>
        <p:spPr>
          <a:xfrm>
            <a:off x="329260" y="1795244"/>
            <a:ext cx="1298204" cy="3858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C3225E07-65FD-CF47-DE5A-B544B1999AFB}"/>
              </a:ext>
            </a:extLst>
          </p:cNvPr>
          <p:cNvSpPr txBox="1"/>
          <p:nvPr/>
        </p:nvSpPr>
        <p:spPr>
          <a:xfrm>
            <a:off x="620878" y="2541431"/>
            <a:ext cx="6279158" cy="369332"/>
          </a:xfrm>
          <a:prstGeom prst="rect">
            <a:avLst/>
          </a:prstGeom>
          <a:noFill/>
        </p:spPr>
        <p:txBody>
          <a:bodyPr wrap="square">
            <a:spAutoFit/>
          </a:bodyPr>
          <a:lstStyle/>
          <a:p>
            <a:r>
              <a:rPr lang="en-IN" b="1" dirty="0">
                <a:solidFill>
                  <a:schemeClr val="tx2">
                    <a:lumMod val="50000"/>
                  </a:schemeClr>
                </a:solidFill>
                <a:highlight>
                  <a:srgbClr val="FFFF00"/>
                </a:highlight>
              </a:rPr>
              <a:t>A) </a:t>
            </a:r>
            <a:r>
              <a:rPr lang="en-IN" b="1" dirty="0">
                <a:solidFill>
                  <a:schemeClr val="tx2">
                    <a:lumMod val="50000"/>
                  </a:schemeClr>
                </a:solidFill>
              </a:rPr>
              <a:t>D(P||Q) 	</a:t>
            </a:r>
            <a:endParaRPr lang="en-IN" dirty="0"/>
          </a:p>
        </p:txBody>
      </p:sp>
      <p:sp>
        <p:nvSpPr>
          <p:cNvPr id="38" name="TextBox 37">
            <a:extLst>
              <a:ext uri="{FF2B5EF4-FFF2-40B4-BE49-F238E27FC236}">
                <a16:creationId xmlns:a16="http://schemas.microsoft.com/office/drawing/2014/main" id="{71FDCD09-B882-3AC5-C9EB-06DC0CD0FD04}"/>
              </a:ext>
            </a:extLst>
          </p:cNvPr>
          <p:cNvSpPr txBox="1"/>
          <p:nvPr/>
        </p:nvSpPr>
        <p:spPr>
          <a:xfrm>
            <a:off x="6716876" y="1425912"/>
            <a:ext cx="6279158" cy="369332"/>
          </a:xfrm>
          <a:prstGeom prst="rect">
            <a:avLst/>
          </a:prstGeom>
          <a:noFill/>
        </p:spPr>
        <p:txBody>
          <a:bodyPr wrap="square">
            <a:spAutoFit/>
          </a:bodyPr>
          <a:lstStyle/>
          <a:p>
            <a:r>
              <a:rPr lang="en-IN" b="1" dirty="0">
                <a:solidFill>
                  <a:schemeClr val="tx2">
                    <a:lumMod val="50000"/>
                  </a:schemeClr>
                </a:solidFill>
                <a:highlight>
                  <a:srgbClr val="FFFF00"/>
                </a:highlight>
              </a:rPr>
              <a:t>B) </a:t>
            </a:r>
            <a:r>
              <a:rPr lang="en-IN" b="1" dirty="0">
                <a:solidFill>
                  <a:schemeClr val="tx2">
                    <a:lumMod val="50000"/>
                  </a:schemeClr>
                </a:solidFill>
              </a:rPr>
              <a:t>D(Q||P)</a:t>
            </a:r>
            <a:endParaRPr lang="en-IN" dirty="0"/>
          </a:p>
        </p:txBody>
      </p:sp>
    </p:spTree>
    <p:extLst>
      <p:ext uri="{BB962C8B-B14F-4D97-AF65-F5344CB8AC3E}">
        <p14:creationId xmlns:p14="http://schemas.microsoft.com/office/powerpoint/2010/main" val="32875937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C9ACA3-8AA2-233B-1C29-8B4F640FB5D4}"/>
              </a:ext>
            </a:extLst>
          </p:cNvPr>
          <p:cNvSpPr txBox="1"/>
          <p:nvPr/>
        </p:nvSpPr>
        <p:spPr>
          <a:xfrm>
            <a:off x="262155" y="0"/>
            <a:ext cx="11929845" cy="400110"/>
          </a:xfrm>
          <a:prstGeom prst="rect">
            <a:avLst/>
          </a:prstGeom>
          <a:noFill/>
        </p:spPr>
        <p:txBody>
          <a:bodyPr wrap="square">
            <a:spAutoFit/>
          </a:bodyPr>
          <a:lstStyle/>
          <a:p>
            <a:r>
              <a:rPr lang="en-IN" sz="2000" b="1" dirty="0">
                <a:solidFill>
                  <a:schemeClr val="tx2">
                    <a:lumMod val="50000"/>
                  </a:schemeClr>
                </a:solidFill>
              </a:rPr>
              <a:t>CALCULATE CROSS ENTROPY FOR P(X)=[0.25,0.10,0.15,0.30,0.20], P(Y)=[0.13,0.27,0.20,0.15,0.25]</a:t>
            </a:r>
          </a:p>
        </p:txBody>
      </p:sp>
      <p:pic>
        <p:nvPicPr>
          <p:cNvPr id="5" name="Picture 4">
            <a:extLst>
              <a:ext uri="{FF2B5EF4-FFF2-40B4-BE49-F238E27FC236}">
                <a16:creationId xmlns:a16="http://schemas.microsoft.com/office/drawing/2014/main" id="{B61CD621-C0EF-6773-067D-DADF827FC157}"/>
              </a:ext>
            </a:extLst>
          </p:cNvPr>
          <p:cNvPicPr>
            <a:picLocks noChangeAspect="1"/>
          </p:cNvPicPr>
          <p:nvPr/>
        </p:nvPicPr>
        <p:blipFill>
          <a:blip r:embed="rId2"/>
          <a:stretch>
            <a:fillRect/>
          </a:stretch>
        </p:blipFill>
        <p:spPr>
          <a:xfrm>
            <a:off x="464332" y="1194061"/>
            <a:ext cx="5631668" cy="5006774"/>
          </a:xfrm>
          <a:prstGeom prst="rect">
            <a:avLst/>
          </a:prstGeom>
        </p:spPr>
      </p:pic>
      <p:pic>
        <p:nvPicPr>
          <p:cNvPr id="7" name="Picture 6">
            <a:extLst>
              <a:ext uri="{FF2B5EF4-FFF2-40B4-BE49-F238E27FC236}">
                <a16:creationId xmlns:a16="http://schemas.microsoft.com/office/drawing/2014/main" id="{AA378A99-7BA3-E065-AB45-EB84F68F8301}"/>
              </a:ext>
            </a:extLst>
          </p:cNvPr>
          <p:cNvPicPr>
            <a:picLocks noChangeAspect="1"/>
          </p:cNvPicPr>
          <p:nvPr/>
        </p:nvPicPr>
        <p:blipFill>
          <a:blip r:embed="rId3"/>
          <a:stretch>
            <a:fillRect/>
          </a:stretch>
        </p:blipFill>
        <p:spPr>
          <a:xfrm>
            <a:off x="5079690" y="3115282"/>
            <a:ext cx="6881456" cy="3345470"/>
          </a:xfrm>
          <a:prstGeom prst="rect">
            <a:avLst/>
          </a:prstGeom>
        </p:spPr>
      </p:pic>
    </p:spTree>
    <p:extLst>
      <p:ext uri="{BB962C8B-B14F-4D97-AF65-F5344CB8AC3E}">
        <p14:creationId xmlns:p14="http://schemas.microsoft.com/office/powerpoint/2010/main" val="13519035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675DD9-27D9-92D6-EC1E-C159332A306B}"/>
              </a:ext>
            </a:extLst>
          </p:cNvPr>
          <p:cNvSpPr txBox="1"/>
          <p:nvPr/>
        </p:nvSpPr>
        <p:spPr>
          <a:xfrm>
            <a:off x="153098" y="0"/>
            <a:ext cx="11868325" cy="369332"/>
          </a:xfrm>
          <a:prstGeom prst="rect">
            <a:avLst/>
          </a:prstGeom>
          <a:noFill/>
        </p:spPr>
        <p:txBody>
          <a:bodyPr wrap="square">
            <a:spAutoFit/>
          </a:bodyPr>
          <a:lstStyle/>
          <a:p>
            <a:r>
              <a:rPr lang="en-IN" dirty="0"/>
              <a:t>CALCULATE Jensen Shannon divergence FOR P(X)=[0.25,0.10,0.15,0.30,0.20], P(Y)=[0.13,0.27,0.20,0.15,0.25]</a:t>
            </a:r>
          </a:p>
        </p:txBody>
      </p:sp>
      <p:pic>
        <p:nvPicPr>
          <p:cNvPr id="5" name="Picture 4">
            <a:extLst>
              <a:ext uri="{FF2B5EF4-FFF2-40B4-BE49-F238E27FC236}">
                <a16:creationId xmlns:a16="http://schemas.microsoft.com/office/drawing/2014/main" id="{1AD597B6-90CF-D080-AA04-18F249E6FA97}"/>
              </a:ext>
            </a:extLst>
          </p:cNvPr>
          <p:cNvPicPr>
            <a:picLocks noChangeAspect="1"/>
          </p:cNvPicPr>
          <p:nvPr/>
        </p:nvPicPr>
        <p:blipFill>
          <a:blip r:embed="rId2"/>
          <a:stretch>
            <a:fillRect/>
          </a:stretch>
        </p:blipFill>
        <p:spPr>
          <a:xfrm>
            <a:off x="1772173" y="968480"/>
            <a:ext cx="7533821" cy="5105366"/>
          </a:xfrm>
          <a:prstGeom prst="rect">
            <a:avLst/>
          </a:prstGeom>
        </p:spPr>
      </p:pic>
    </p:spTree>
    <p:extLst>
      <p:ext uri="{BB962C8B-B14F-4D97-AF65-F5344CB8AC3E}">
        <p14:creationId xmlns:p14="http://schemas.microsoft.com/office/powerpoint/2010/main" val="3228565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EEB038-03C8-F81D-328B-E27A3B031E3B}"/>
              </a:ext>
            </a:extLst>
          </p:cNvPr>
          <p:cNvPicPr>
            <a:picLocks noChangeAspect="1"/>
          </p:cNvPicPr>
          <p:nvPr/>
        </p:nvPicPr>
        <p:blipFill>
          <a:blip r:embed="rId2"/>
          <a:stretch>
            <a:fillRect/>
          </a:stretch>
        </p:blipFill>
        <p:spPr>
          <a:xfrm>
            <a:off x="0" y="2776757"/>
            <a:ext cx="6950042" cy="3984770"/>
          </a:xfrm>
          <a:prstGeom prst="rect">
            <a:avLst/>
          </a:prstGeom>
        </p:spPr>
      </p:pic>
      <p:pic>
        <p:nvPicPr>
          <p:cNvPr id="6" name="Picture 5">
            <a:extLst>
              <a:ext uri="{FF2B5EF4-FFF2-40B4-BE49-F238E27FC236}">
                <a16:creationId xmlns:a16="http://schemas.microsoft.com/office/drawing/2014/main" id="{D2683636-AED9-27D7-1FB3-68AB46C8F88A}"/>
              </a:ext>
            </a:extLst>
          </p:cNvPr>
          <p:cNvPicPr>
            <a:picLocks noChangeAspect="1"/>
          </p:cNvPicPr>
          <p:nvPr/>
        </p:nvPicPr>
        <p:blipFill>
          <a:blip r:embed="rId3"/>
          <a:stretch>
            <a:fillRect/>
          </a:stretch>
        </p:blipFill>
        <p:spPr>
          <a:xfrm>
            <a:off x="5847127" y="0"/>
            <a:ext cx="6344873" cy="3703641"/>
          </a:xfrm>
          <a:prstGeom prst="rect">
            <a:avLst/>
          </a:prstGeom>
        </p:spPr>
      </p:pic>
    </p:spTree>
    <p:extLst>
      <p:ext uri="{BB962C8B-B14F-4D97-AF65-F5344CB8AC3E}">
        <p14:creationId xmlns:p14="http://schemas.microsoft.com/office/powerpoint/2010/main" val="2268735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7F9FF9-9B3C-7C56-21D5-3454BAE43C63}"/>
              </a:ext>
            </a:extLst>
          </p:cNvPr>
          <p:cNvPicPr>
            <a:picLocks noChangeAspect="1"/>
          </p:cNvPicPr>
          <p:nvPr/>
        </p:nvPicPr>
        <p:blipFill>
          <a:blip r:embed="rId2"/>
          <a:stretch>
            <a:fillRect/>
          </a:stretch>
        </p:blipFill>
        <p:spPr>
          <a:xfrm>
            <a:off x="2257824" y="84782"/>
            <a:ext cx="7023828" cy="6780470"/>
          </a:xfrm>
          <a:prstGeom prst="rect">
            <a:avLst/>
          </a:prstGeom>
        </p:spPr>
      </p:pic>
    </p:spTree>
    <p:extLst>
      <p:ext uri="{BB962C8B-B14F-4D97-AF65-F5344CB8AC3E}">
        <p14:creationId xmlns:p14="http://schemas.microsoft.com/office/powerpoint/2010/main" val="2528678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17488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2461</TotalTime>
  <Words>1972</Words>
  <Application>Microsoft Office PowerPoint</Application>
  <PresentationFormat>Widescreen</PresentationFormat>
  <Paragraphs>191</Paragraphs>
  <Slides>33</Slides>
  <Notes>19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Arial</vt:lpstr>
      <vt:lpstr>Calibri</vt:lpstr>
      <vt:lpstr>Cambria Math</vt:lpstr>
      <vt:lpstr>Century Gothic</vt:lpstr>
      <vt:lpstr>Linux Libertine</vt:lpstr>
      <vt:lpstr>Times New Roman</vt:lpstr>
      <vt:lpstr>Times-Bold</vt:lpstr>
      <vt:lpstr>Times-Italic</vt:lpstr>
      <vt:lpstr>Times-Roman</vt:lpstr>
      <vt:lpstr>Wingdings</vt:lpstr>
      <vt:lpstr>Wingdings 3</vt:lpstr>
      <vt:lpstr>Wisp</vt:lpstr>
      <vt:lpstr>Information Theory and Coding  Module 2</vt:lpstr>
      <vt:lpstr>Topics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Extension of a DMS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Information Theory</dc:title>
  <dc:creator>sameeulla.khan23@gmail.com</dc:creator>
  <cp:lastModifiedBy>Saladi Saritha</cp:lastModifiedBy>
  <cp:revision>166</cp:revision>
  <dcterms:created xsi:type="dcterms:W3CDTF">2019-07-05T05:58:21Z</dcterms:created>
  <dcterms:modified xsi:type="dcterms:W3CDTF">2026-01-23T11:15:30Z</dcterms:modified>
</cp:coreProperties>
</file>