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4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4240" y="17475"/>
            <a:ext cx="11183518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4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1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0" y="0"/>
                </a:moveTo>
                <a:lnTo>
                  <a:pt x="2042483" y="0"/>
                </a:lnTo>
                <a:lnTo>
                  <a:pt x="0" y="6857996"/>
                </a:lnTo>
                <a:lnTo>
                  <a:pt x="3006850" y="6857996"/>
                </a:lnTo>
                <a:lnTo>
                  <a:pt x="3006850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4" y="0"/>
                </a:moveTo>
                <a:lnTo>
                  <a:pt x="0" y="0"/>
                </a:lnTo>
                <a:lnTo>
                  <a:pt x="1208190" y="6857996"/>
                </a:lnTo>
                <a:lnTo>
                  <a:pt x="2587664" y="6857996"/>
                </a:lnTo>
                <a:lnTo>
                  <a:pt x="2587664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0" y="6857996"/>
                </a:lnTo>
                <a:lnTo>
                  <a:pt x="2851161" y="6857996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7" y="0"/>
                </a:moveTo>
                <a:lnTo>
                  <a:pt x="1018958" y="0"/>
                </a:lnTo>
                <a:lnTo>
                  <a:pt x="0" y="6857996"/>
                </a:lnTo>
                <a:lnTo>
                  <a:pt x="1290827" y="6857996"/>
                </a:lnTo>
                <a:lnTo>
                  <a:pt x="1290827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0" y="6857996"/>
                </a:lnTo>
                <a:lnTo>
                  <a:pt x="1248203" y="6857996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4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5100" y="0"/>
            <a:ext cx="3247644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4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1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0" y="0"/>
                </a:moveTo>
                <a:lnTo>
                  <a:pt x="2042483" y="0"/>
                </a:lnTo>
                <a:lnTo>
                  <a:pt x="0" y="6857996"/>
                </a:lnTo>
                <a:lnTo>
                  <a:pt x="3006850" y="6857996"/>
                </a:lnTo>
                <a:lnTo>
                  <a:pt x="3006850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4" y="0"/>
                </a:moveTo>
                <a:lnTo>
                  <a:pt x="0" y="0"/>
                </a:lnTo>
                <a:lnTo>
                  <a:pt x="1208190" y="6857996"/>
                </a:lnTo>
                <a:lnTo>
                  <a:pt x="2587664" y="6857996"/>
                </a:lnTo>
                <a:lnTo>
                  <a:pt x="2587664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0" y="6857996"/>
                </a:lnTo>
                <a:lnTo>
                  <a:pt x="2851161" y="6857996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4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7" y="0"/>
                </a:moveTo>
                <a:lnTo>
                  <a:pt x="1018958" y="0"/>
                </a:lnTo>
                <a:lnTo>
                  <a:pt x="0" y="6857996"/>
                </a:lnTo>
                <a:lnTo>
                  <a:pt x="1290827" y="6857996"/>
                </a:lnTo>
                <a:lnTo>
                  <a:pt x="1290827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0" y="6857996"/>
                </a:lnTo>
                <a:lnTo>
                  <a:pt x="1248203" y="6857996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4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17475"/>
            <a:ext cx="1035812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75"/>
            <a:ext cx="810640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90C225"/>
                </a:solidFill>
                <a:latin typeface="Times New Roman"/>
                <a:cs typeface="Times New Roman"/>
              </a:rPr>
              <a:t>Structural</a:t>
            </a:r>
            <a:r>
              <a:rPr sz="3600" spc="15" dirty="0">
                <a:solidFill>
                  <a:srgbClr val="90C225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90C225"/>
                </a:solidFill>
                <a:latin typeface="Times New Roman"/>
                <a:cs typeface="Times New Roman"/>
              </a:rPr>
              <a:t>Properties</a:t>
            </a:r>
            <a:r>
              <a:rPr sz="3600" spc="15" dirty="0">
                <a:solidFill>
                  <a:srgbClr val="90C225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90C225"/>
                </a:solidFill>
                <a:latin typeface="Times New Roman"/>
                <a:cs typeface="Times New Roman"/>
              </a:rPr>
              <a:t>of</a:t>
            </a:r>
            <a:r>
              <a:rPr sz="3600" spc="15" dirty="0">
                <a:solidFill>
                  <a:srgbClr val="90C225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90C225"/>
                </a:solidFill>
                <a:latin typeface="Times New Roman"/>
                <a:cs typeface="Times New Roman"/>
              </a:rPr>
              <a:t>Convolutional</a:t>
            </a:r>
            <a:r>
              <a:rPr sz="3600" spc="35" dirty="0">
                <a:solidFill>
                  <a:srgbClr val="90C225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90C225"/>
                </a:solidFill>
                <a:latin typeface="Times New Roman"/>
                <a:cs typeface="Times New Roman"/>
              </a:rPr>
              <a:t>Code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122045"/>
            <a:ext cx="10359390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</a:pPr>
            <a:r>
              <a:rPr sz="2050" spc="-18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2050" spc="229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6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structural</a:t>
            </a:r>
            <a:r>
              <a:rPr sz="2600" spc="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properties</a:t>
            </a:r>
            <a:r>
              <a:rPr sz="26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6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60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convolutional</a:t>
            </a:r>
            <a:r>
              <a:rPr sz="2600" spc="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encoder</a:t>
            </a:r>
            <a:r>
              <a:rPr sz="26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600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portrayed</a:t>
            </a:r>
            <a:r>
              <a:rPr sz="260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26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using </a:t>
            </a:r>
            <a:r>
              <a:rPr sz="2600" spc="-6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any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solidFill>
                  <a:srgbClr val="404040"/>
                </a:solidFill>
                <a:latin typeface="Times New Roman"/>
                <a:cs typeface="Times New Roman"/>
              </a:rPr>
              <a:t>one</a:t>
            </a:r>
            <a:r>
              <a:rPr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three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equivalent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graphs:</a:t>
            </a:r>
            <a:r>
              <a:rPr sz="2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code</a:t>
            </a:r>
            <a:r>
              <a:rPr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tree,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trellis</a:t>
            </a:r>
            <a:r>
              <a:rPr sz="26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graph,</a:t>
            </a:r>
            <a:r>
              <a:rPr sz="2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 state</a:t>
            </a:r>
            <a:r>
              <a:rPr sz="26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404040"/>
                </a:solidFill>
                <a:latin typeface="Times New Roman"/>
                <a:cs typeface="Times New Roman"/>
              </a:rPr>
              <a:t>graph.</a:t>
            </a:r>
            <a:endParaRPr sz="2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6955" y="2450592"/>
            <a:ext cx="6400800" cy="37261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854D9C79-C7BB-9299-A35F-5F0B8951F8FE}"/>
              </a:ext>
            </a:extLst>
          </p:cNvPr>
          <p:cNvSpPr txBox="1">
            <a:spLocks/>
          </p:cNvSpPr>
          <p:nvPr/>
        </p:nvSpPr>
        <p:spPr>
          <a:xfrm>
            <a:off x="916938" y="17475"/>
            <a:ext cx="37312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spc="-25" dirty="0">
                <a:solidFill>
                  <a:srgbClr val="90C225"/>
                </a:solidFill>
                <a:latin typeface="Times New Roman"/>
                <a:cs typeface="Times New Roman"/>
              </a:rPr>
              <a:t>Code Tree</a:t>
            </a:r>
            <a:endParaRPr lang="en-IN" sz="3600" dirty="0">
              <a:latin typeface="Times New Roman"/>
              <a:cs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114274-54C5-FBBA-1F06-3DCD5DAAE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773" y="0"/>
            <a:ext cx="282262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75"/>
            <a:ext cx="2461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90C225"/>
                </a:solidFill>
                <a:latin typeface="Times New Roman"/>
                <a:cs typeface="Times New Roman"/>
              </a:rPr>
              <a:t>Trellis</a:t>
            </a:r>
            <a:r>
              <a:rPr sz="3600" spc="-45" dirty="0">
                <a:solidFill>
                  <a:srgbClr val="90C225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90C225"/>
                </a:solidFill>
                <a:latin typeface="Times New Roman"/>
                <a:cs typeface="Times New Roman"/>
              </a:rPr>
              <a:t>Graph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929385"/>
            <a:ext cx="103574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450" spc="-150" dirty="0">
                <a:solidFill>
                  <a:srgbClr val="90C225"/>
                </a:solidFill>
                <a:latin typeface="Lucida Sans Unicode"/>
                <a:cs typeface="Lucida Sans Unicode"/>
              </a:rPr>
              <a:t>▶	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 code</a:t>
            </a:r>
            <a:r>
              <a:rPr sz="1800" spc="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branch</a:t>
            </a:r>
            <a:r>
              <a:rPr sz="18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trellis</a:t>
            </a:r>
            <a:r>
              <a:rPr sz="18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produced</a:t>
            </a:r>
            <a:r>
              <a:rPr sz="18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18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input</a:t>
            </a:r>
            <a:r>
              <a:rPr sz="1800" spc="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bit</a:t>
            </a:r>
            <a:r>
              <a:rPr sz="180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0</a:t>
            </a:r>
            <a:r>
              <a:rPr sz="18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drawn</a:t>
            </a:r>
            <a:r>
              <a:rPr sz="1800" spc="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80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solid</a:t>
            </a:r>
            <a:r>
              <a:rPr sz="1800" spc="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line,</a:t>
            </a:r>
            <a:r>
              <a:rPr sz="1800" spc="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whereas</a:t>
            </a:r>
            <a:r>
              <a:rPr sz="1800" spc="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code</a:t>
            </a:r>
            <a:r>
              <a:rPr sz="1800" spc="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branch</a:t>
            </a:r>
            <a:r>
              <a:rPr sz="1800" spc="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produced </a:t>
            </a:r>
            <a:r>
              <a:rPr sz="1800" spc="-43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by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input bit 1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dashed</a:t>
            </a:r>
            <a:r>
              <a:rPr sz="18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line.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5272" y="2010155"/>
            <a:ext cx="7970520" cy="345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70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961" y="484236"/>
            <a:ext cx="4990005" cy="2457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93280" y="0"/>
            <a:ext cx="3907535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17475"/>
            <a:ext cx="35788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State</a:t>
            </a:r>
            <a:r>
              <a:rPr spc="-65" dirty="0"/>
              <a:t> </a:t>
            </a:r>
            <a:r>
              <a:rPr lang="en-US" dirty="0"/>
              <a:t>Diagram</a:t>
            </a:r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7365" y="847725"/>
            <a:ext cx="2123026" cy="5362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4240" y="17475"/>
            <a:ext cx="9701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90C225"/>
                </a:solidFill>
                <a:latin typeface="Times New Roman"/>
                <a:cs typeface="Times New Roman"/>
              </a:rPr>
              <a:t>Decoding</a:t>
            </a:r>
            <a:r>
              <a:rPr sz="3600" spc="15" dirty="0">
                <a:solidFill>
                  <a:srgbClr val="90C225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90C225"/>
                </a:solidFill>
                <a:latin typeface="Times New Roman"/>
                <a:cs typeface="Times New Roman"/>
              </a:rPr>
              <a:t>of</a:t>
            </a:r>
            <a:r>
              <a:rPr sz="3600" spc="20" dirty="0">
                <a:solidFill>
                  <a:srgbClr val="90C225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90C225"/>
                </a:solidFill>
                <a:latin typeface="Times New Roman"/>
                <a:cs typeface="Times New Roman"/>
              </a:rPr>
              <a:t>Convolutional</a:t>
            </a:r>
            <a:r>
              <a:rPr sz="3600" spc="15" dirty="0">
                <a:solidFill>
                  <a:srgbClr val="90C225"/>
                </a:solidFill>
                <a:latin typeface="Times New Roman"/>
                <a:cs typeface="Times New Roman"/>
              </a:rPr>
              <a:t> </a:t>
            </a:r>
            <a:r>
              <a:rPr sz="3600" spc="-20" dirty="0">
                <a:solidFill>
                  <a:srgbClr val="90C225"/>
                </a:solidFill>
                <a:latin typeface="Times New Roman"/>
                <a:cs typeface="Times New Roman"/>
              </a:rPr>
              <a:t>Codes-Viterbi</a:t>
            </a:r>
            <a:r>
              <a:rPr sz="3600" spc="-175" dirty="0">
                <a:solidFill>
                  <a:srgbClr val="90C225"/>
                </a:solidFill>
                <a:latin typeface="Times New Roman"/>
                <a:cs typeface="Times New Roman"/>
              </a:rPr>
              <a:t> </a:t>
            </a:r>
            <a:r>
              <a:rPr sz="3600" spc="-5" dirty="0">
                <a:solidFill>
                  <a:srgbClr val="90C225"/>
                </a:solidFill>
                <a:latin typeface="Times New Roman"/>
                <a:cs typeface="Times New Roman"/>
              </a:rPr>
              <a:t>Algorithm</a:t>
            </a:r>
            <a:endParaRPr sz="36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504240" y="1066800"/>
                <a:ext cx="10468560" cy="3652923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469265" marR="5080" indent="-457200" algn="just">
                  <a:lnSpc>
                    <a:spcPct val="100000"/>
                  </a:lnSpc>
                  <a:spcBef>
                    <a:spcPts val="105"/>
                  </a:spcBef>
                  <a:buFont typeface="Wingdings" panose="05000000000000000000" pitchFamily="2" charset="2"/>
                  <a:buChar char="Ø"/>
                </a:pPr>
                <a:r>
                  <a:rPr lang="en-US" sz="260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Suppose</a:t>
                </a:r>
                <a:r>
                  <a:rPr lang="en-US" sz="2600" spc="26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spc="-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we</a:t>
                </a:r>
                <a:r>
                  <a:rPr lang="en-US" sz="2600" spc="26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spc="-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send</a:t>
                </a:r>
                <a:r>
                  <a:rPr lang="en-US" sz="2600" spc="27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spc="-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all-zero</a:t>
                </a:r>
                <a:r>
                  <a:rPr lang="en-US" sz="2600" spc="26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bit</a:t>
                </a:r>
                <a:r>
                  <a:rPr lang="en-US" sz="2600" spc="26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but</a:t>
                </a:r>
                <a:r>
                  <a:rPr lang="en-US" sz="2600" spc="26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US" sz="2600" spc="26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spc="-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received</a:t>
                </a:r>
                <a:r>
                  <a:rPr lang="en-US" sz="2600" spc="26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bits</a:t>
                </a:r>
                <a:r>
                  <a:rPr lang="en-US" sz="2600" spc="254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are</a:t>
                </a:r>
                <a:r>
                  <a:rPr lang="en-US" sz="2600" spc="26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spc="-5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(0100010000</a:t>
                </a:r>
                <a:r>
                  <a:rPr lang="en-US" sz="2600" spc="-15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60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…</a:t>
                </a:r>
                <a:r>
                  <a:rPr lang="en-US" sz="2600" spc="-145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600" spc="-5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)</a:t>
                </a:r>
                <a:r>
                  <a:rPr lang="en-US" sz="2600" spc="-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, </a:t>
                </a:r>
                <a:r>
                  <a:rPr lang="en-US" sz="2600" spc="-63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which</a:t>
                </a:r>
                <a:r>
                  <a:rPr lang="en-US" sz="2600" spc="-2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contains</a:t>
                </a:r>
                <a:r>
                  <a:rPr lang="en-US" sz="2600" spc="-1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2</a:t>
                </a:r>
                <a:r>
                  <a:rPr lang="en-US" sz="2600" spc="-10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600" spc="-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errors. </a:t>
                </a:r>
              </a:p>
              <a:p>
                <a:pPr marL="469265" marR="5080" indent="-457200" algn="just">
                  <a:lnSpc>
                    <a:spcPct val="100000"/>
                  </a:lnSpc>
                  <a:spcBef>
                    <a:spcPts val="105"/>
                  </a:spcBef>
                  <a:buFont typeface="Wingdings" panose="05000000000000000000" pitchFamily="2" charset="2"/>
                  <a:buChar char="Ø"/>
                </a:pPr>
                <a:r>
                  <a:rPr lang="en-US" sz="2600" spc="-5" dirty="0">
                    <a:solidFill>
                      <a:srgbClr val="404040"/>
                    </a:solidFill>
                    <a:latin typeface="Times New Roman"/>
                    <a:cs typeface="Times New Roman"/>
                  </a:rPr>
                  <a:t>In subsequent slides it shows the results of applying algorithm for level </a:t>
                </a:r>
                <a14:m>
                  <m:oMath xmlns:m="http://schemas.openxmlformats.org/officeDocument/2006/math">
                    <m:r>
                      <a:rPr lang="en-US" sz="2600" b="0" i="1" spc="-5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𝑗</m:t>
                    </m:r>
                    <m:r>
                      <a:rPr lang="en-US" sz="2600" b="0" i="1" spc="-5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  <a:cs typeface="Times New Roman"/>
                      </a:rPr>
                      <m:t>=1, 2, 3, 4</m:t>
                    </m:r>
                  </m:oMath>
                </a14:m>
                <a:r>
                  <a:rPr lang="en-US" sz="2600" dirty="0">
                    <a:latin typeface="Times New Roman"/>
                    <a:cs typeface="Times New Roman"/>
                  </a:rPr>
                  <a:t>.</a:t>
                </a:r>
              </a:p>
              <a:p>
                <a:pPr marL="469265" marR="5080" indent="-457200" algn="just">
                  <a:lnSpc>
                    <a:spcPct val="100000"/>
                  </a:lnSpc>
                  <a:spcBef>
                    <a:spcPts val="105"/>
                  </a:spcBef>
                  <a:buFont typeface="Wingdings" panose="05000000000000000000" pitchFamily="2" charset="2"/>
                  <a:buChar char="Ø"/>
                </a:pPr>
                <a:r>
                  <a:rPr lang="en-US" sz="2600" dirty="0">
                    <a:latin typeface="Times New Roman"/>
                    <a:cs typeface="Times New Roman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/>
                      </a:rPr>
                      <m:t>𝑗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/>
                      </a:rPr>
                      <m:t>=3,</m:t>
                    </m:r>
                  </m:oMath>
                </a14:m>
                <a:r>
                  <a:rPr lang="en-US" sz="2600" dirty="0">
                    <a:latin typeface="Times New Roman"/>
                    <a:cs typeface="Times New Roman"/>
                  </a:rPr>
                  <a:t> the path entering each of the state with their individual metrics followed by four survivors.</a:t>
                </a:r>
              </a:p>
              <a:p>
                <a:pPr marL="469265" marR="5080" indent="-457200" algn="just">
                  <a:lnSpc>
                    <a:spcPct val="100000"/>
                  </a:lnSpc>
                  <a:spcBef>
                    <a:spcPts val="105"/>
                  </a:spcBef>
                  <a:buFont typeface="Wingdings" panose="05000000000000000000" pitchFamily="2" charset="2"/>
                  <a:buChar char="Ø"/>
                </a:pPr>
                <a:r>
                  <a:rPr lang="en-US" sz="2600" dirty="0">
                    <a:latin typeface="Times New Roman"/>
                    <a:cs typeface="Times New Roman"/>
                  </a:rPr>
                  <a:t>Examining the survivors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/>
                      </a:rPr>
                      <m:t>𝑗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cs typeface="Times New Roman"/>
                      </a:rPr>
                      <m:t>=5,</m:t>
                    </m:r>
                  </m:oMath>
                </a14:m>
                <a:r>
                  <a:rPr lang="en-US" sz="2600" dirty="0">
                    <a:latin typeface="Times New Roman"/>
                    <a:cs typeface="Times New Roman"/>
                  </a:rPr>
                  <a:t> we see that all-zero path has the smallest metric and will remain the path of smallest metric from this point forward. 	</a:t>
                </a: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40" y="1066800"/>
                <a:ext cx="10468560" cy="3652923"/>
              </a:xfrm>
              <a:prstGeom prst="rect">
                <a:avLst/>
              </a:prstGeom>
              <a:blipFill>
                <a:blip r:embed="rId2"/>
                <a:stretch>
                  <a:fillRect l="-1689" t="-2671" r="-1864" b="-4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5447" y="0"/>
            <a:ext cx="4261104" cy="68579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274" y="702767"/>
            <a:ext cx="2387112" cy="53216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435679-B451-7EFF-CD61-496EED4F3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594" y="1258080"/>
            <a:ext cx="2807594" cy="1461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4EE295-DE75-70C5-01F9-5773530F2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521" y="1134414"/>
            <a:ext cx="3400023" cy="29041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2ADFE1-2646-2E76-7D66-88C7FF14D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54676"/>
            <a:ext cx="3709115" cy="29878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6B12D9-9C5A-79FD-E7FB-ADE5B7A972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001280"/>
            <a:ext cx="2987899" cy="287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49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0EC24A-8F63-706A-61D2-308305D91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65214"/>
            <a:ext cx="4470557" cy="2950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AA9B7D-0D53-25E5-9EE2-DEEFB2078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177" y="990600"/>
            <a:ext cx="2575775" cy="23181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B19650-202D-A62D-3C3E-22B4475C8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660641"/>
            <a:ext cx="4470557" cy="2717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9C69B6-E0F9-5951-EDE7-7BEED39D7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177" y="3918195"/>
            <a:ext cx="3090930" cy="220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7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4AB19DC-21F0-7942-2EB1-7B58E9C045C3}"/>
              </a:ext>
            </a:extLst>
          </p:cNvPr>
          <p:cNvSpPr txBox="1"/>
          <p:nvPr/>
        </p:nvSpPr>
        <p:spPr>
          <a:xfrm>
            <a:off x="504240" y="312815"/>
            <a:ext cx="97015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>
                <a:solidFill>
                  <a:srgbClr val="90C225"/>
                </a:solidFill>
                <a:latin typeface="Times New Roman"/>
                <a:cs typeface="Times New Roman"/>
              </a:rPr>
              <a:t>Incorrect decoding of received sequence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3315E5F-C102-0DE9-602F-B412D3FBD74C}"/>
              </a:ext>
            </a:extLst>
          </p:cNvPr>
          <p:cNvSpPr txBox="1"/>
          <p:nvPr/>
        </p:nvSpPr>
        <p:spPr>
          <a:xfrm>
            <a:off x="504240" y="1066800"/>
            <a:ext cx="10620960" cy="1657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</a:pPr>
            <a:r>
              <a:rPr sz="2050" spc="-18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lang="en-US" sz="2050" spc="229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lang="en-US" sz="2600" dirty="0">
                <a:solidFill>
                  <a:srgbClr val="404040"/>
                </a:solidFill>
                <a:latin typeface="Times New Roman"/>
                <a:cs typeface="Times New Roman"/>
              </a:rPr>
              <a:t>Length of error pattern spread over a time span shorter than one constraint length of the encoder is uncorrectable by the Viterbi algorithm.</a:t>
            </a:r>
          </a:p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</a:pPr>
            <a:r>
              <a:rPr lang="en-IN" sz="2800" spc="-18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lang="en-IN" sz="2800" spc="229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lang="en-US" sz="2600" dirty="0">
                <a:solidFill>
                  <a:srgbClr val="404040"/>
                </a:solidFill>
                <a:latin typeface="Times New Roman"/>
                <a:cs typeface="Times New Roman"/>
              </a:rPr>
              <a:t>Suppose</a:t>
            </a:r>
            <a:r>
              <a:rPr lang="en-US" sz="2600" spc="2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lang="en-US" sz="2600" spc="2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send</a:t>
            </a:r>
            <a:r>
              <a:rPr lang="en-US" sz="2600" spc="2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all-zero</a:t>
            </a:r>
            <a:r>
              <a:rPr lang="en-US" sz="26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>
                <a:solidFill>
                  <a:srgbClr val="404040"/>
                </a:solidFill>
                <a:latin typeface="Times New Roman"/>
                <a:cs typeface="Times New Roman"/>
              </a:rPr>
              <a:t>bit</a:t>
            </a:r>
            <a:r>
              <a:rPr lang="en-US" sz="2600" spc="2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>
                <a:solidFill>
                  <a:srgbClr val="404040"/>
                </a:solidFill>
                <a:latin typeface="Times New Roman"/>
                <a:cs typeface="Times New Roman"/>
              </a:rPr>
              <a:t>but</a:t>
            </a:r>
            <a:r>
              <a:rPr lang="en-US" sz="2600" spc="2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lang="en-US" sz="2600" spc="2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received</a:t>
            </a:r>
            <a:r>
              <a:rPr lang="en-US" sz="26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>
                <a:solidFill>
                  <a:srgbClr val="404040"/>
                </a:solidFill>
                <a:latin typeface="Times New Roman"/>
                <a:cs typeface="Times New Roman"/>
              </a:rPr>
              <a:t>bits</a:t>
            </a:r>
            <a:r>
              <a:rPr lang="en-US" sz="2600" spc="25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lang="en-US" sz="2600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spc="-5" dirty="0">
                <a:solidFill>
                  <a:srgbClr val="404040"/>
                </a:solidFill>
                <a:latin typeface="Cambria Math"/>
                <a:cs typeface="Cambria Math"/>
              </a:rPr>
              <a:t>(1100010000</a:t>
            </a:r>
            <a:r>
              <a:rPr lang="en-US" sz="2600" spc="-15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lang="en-US" sz="2600" dirty="0">
                <a:solidFill>
                  <a:srgbClr val="404040"/>
                </a:solidFill>
                <a:latin typeface="Cambria Math"/>
                <a:cs typeface="Cambria Math"/>
              </a:rPr>
              <a:t>…</a:t>
            </a:r>
            <a:r>
              <a:rPr lang="en-US" sz="2600" spc="-14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lang="en-US" sz="2600" spc="-5" dirty="0">
                <a:solidFill>
                  <a:srgbClr val="404040"/>
                </a:solidFill>
                <a:latin typeface="Cambria Math"/>
                <a:cs typeface="Cambria Math"/>
              </a:rPr>
              <a:t>)</a:t>
            </a:r>
            <a:r>
              <a:rPr lang="en-US"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, </a:t>
            </a:r>
            <a:r>
              <a:rPr lang="en-US" sz="2600" spc="-6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>
                <a:solidFill>
                  <a:srgbClr val="404040"/>
                </a:solidFill>
                <a:latin typeface="Times New Roman"/>
                <a:cs typeface="Times New Roman"/>
              </a:rPr>
              <a:t>which</a:t>
            </a:r>
            <a:r>
              <a:rPr lang="en-US" sz="2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>
                <a:solidFill>
                  <a:srgbClr val="404040"/>
                </a:solidFill>
                <a:latin typeface="Times New Roman"/>
                <a:cs typeface="Times New Roman"/>
              </a:rPr>
              <a:t>contains</a:t>
            </a:r>
            <a:r>
              <a:rPr lang="en-US" sz="2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dirty="0">
                <a:solidFill>
                  <a:srgbClr val="404040"/>
                </a:solidFill>
                <a:latin typeface="Times New Roman"/>
                <a:cs typeface="Times New Roman"/>
              </a:rPr>
              <a:t>three</a:t>
            </a:r>
            <a:r>
              <a:rPr lang="en-US" sz="2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600" spc="-5" dirty="0">
                <a:solidFill>
                  <a:srgbClr val="404040"/>
                </a:solidFill>
                <a:latin typeface="Times New Roman"/>
                <a:cs typeface="Times New Roman"/>
              </a:rPr>
              <a:t>errors. There are 3 errors in the received sequence </a:t>
            </a:r>
            <a:endParaRPr sz="2600" dirty="0">
              <a:latin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1857E1-0CA3-3479-0322-88181C83A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590" y="3920543"/>
            <a:ext cx="2678806" cy="14553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A05E1B-23DB-98DD-11A0-CE48591C9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657600"/>
            <a:ext cx="3065172" cy="232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2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E3104E9-BD1D-3D46-6377-CBB68BA5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31258"/>
            <a:ext cx="3245476" cy="24405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C41988-C509-D337-FE17-979990209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8800"/>
            <a:ext cx="3915177" cy="240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75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</TotalTime>
  <Words>230</Words>
  <Application>Microsoft Office PowerPoint</Application>
  <PresentationFormat>Widescreen</PresentationFormat>
  <Paragraphs>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Cambria Math</vt:lpstr>
      <vt:lpstr>Lucida Sans Unicode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State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Codes</dc:title>
  <dc:creator>sameeulla.khan23@gmail.com</dc:creator>
  <cp:lastModifiedBy>Dr. Sameeulla Khan Md</cp:lastModifiedBy>
  <cp:revision>6</cp:revision>
  <dcterms:created xsi:type="dcterms:W3CDTF">2024-05-04T08:22:56Z</dcterms:created>
  <dcterms:modified xsi:type="dcterms:W3CDTF">2024-05-06T11:00:15Z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2024-05-04T00:00:00Z</vt:filetime>
  </property>
</Properties>
</file>