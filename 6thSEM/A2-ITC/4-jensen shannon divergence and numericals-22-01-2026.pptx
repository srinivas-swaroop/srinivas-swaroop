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12"/>
  </p:notesMasterIdLst>
  <p:sldIdLst>
    <p:sldId id="750" r:id="rId2"/>
    <p:sldId id="751" r:id="rId3"/>
    <p:sldId id="752" r:id="rId4"/>
    <p:sldId id="753" r:id="rId5"/>
    <p:sldId id="754" r:id="rId6"/>
    <p:sldId id="755" r:id="rId7"/>
    <p:sldId id="756" r:id="rId8"/>
    <p:sldId id="758" r:id="rId9"/>
    <p:sldId id="757" r:id="rId10"/>
    <p:sldId id="759" r:id="rId1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SorterView">
  <p:normalViewPr>
    <p:restoredLeft sz="15147" autoAdjust="0"/>
    <p:restoredTop sz="94660"/>
  </p:normalViewPr>
  <p:slideViewPr>
    <p:cSldViewPr snapToGrid="0">
      <p:cViewPr varScale="1">
        <p:scale>
          <a:sx n="91" d="100"/>
          <a:sy n="91" d="100"/>
        </p:scale>
        <p:origin x="360" y="58"/>
      </p:cViewPr>
      <p:guideLst/>
    </p:cSldViewPr>
  </p:slideViewPr>
  <p:notesTextViewPr>
    <p:cViewPr>
      <p:scale>
        <a:sx n="1" d="1"/>
        <a:sy n="1" d="1"/>
      </p:scale>
      <p:origin x="0" y="0"/>
    </p:cViewPr>
  </p:notesTextViewPr>
  <p:sorterViewPr>
    <p:cViewPr>
      <p:scale>
        <a:sx n="100" d="100"/>
        <a:sy n="100" d="100"/>
      </p:scale>
      <p:origin x="0" y="-53"/>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EB4F893-DF5F-4A3B-AF46-4FFD08C68E9A}" type="datetimeFigureOut">
              <a:rPr lang="en-US" smtClean="0"/>
              <a:t>8/16/2025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A5B18D4-E752-40F5-AC7A-051EE8BE05E9}" type="slidenum">
              <a:rPr lang="en-US" smtClean="0"/>
              <a:t>‹#›</a:t>
            </a:fld>
            <a:endParaRPr lang="en-US"/>
          </a:p>
        </p:txBody>
      </p:sp>
    </p:spTree>
    <p:extLst>
      <p:ext uri="{BB962C8B-B14F-4D97-AF65-F5344CB8AC3E}">
        <p14:creationId xmlns:p14="http://schemas.microsoft.com/office/powerpoint/2010/main" val="308313698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6">
            <a:extLst>
              <a:ext uri="{FF2B5EF4-FFF2-40B4-BE49-F238E27FC236}">
                <a16:creationId xmlns:a16="http://schemas.microsoft.com/office/drawing/2014/main" id="{8F076AA0-D7E3-47CB-94C1-D226F8894D84}"/>
              </a:ext>
            </a:extLst>
          </p:cNvPr>
          <p:cNvSpPr>
            <a:spLocks noGrp="1" noChangeArrowheads="1"/>
          </p:cNvSpPr>
          <p:nvPr>
            <p:ph type="ftr" sz="quarter" idx="4"/>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US" altLang="en-US" sz="1200" b="0">
                <a:latin typeface="Times New Roman" panose="02020603050405020304" pitchFamily="18" charset="0"/>
              </a:rPr>
              <a:t>1.#</a:t>
            </a:r>
          </a:p>
        </p:txBody>
      </p:sp>
      <p:sp>
        <p:nvSpPr>
          <p:cNvPr id="10243" name="Rectangle 2">
            <a:extLst>
              <a:ext uri="{FF2B5EF4-FFF2-40B4-BE49-F238E27FC236}">
                <a16:creationId xmlns:a16="http://schemas.microsoft.com/office/drawing/2014/main" id="{49DBDD4A-EE08-42FC-A21F-17804FAA3FDB}"/>
              </a:ext>
            </a:extLst>
          </p:cNvPr>
          <p:cNvSpPr>
            <a:spLocks noGrp="1" noRot="1" noChangeAspect="1" noChangeArrowheads="1" noTextEdit="1"/>
          </p:cNvSpPr>
          <p:nvPr>
            <p:ph type="sldImg"/>
          </p:nvPr>
        </p:nvSpPr>
        <p:spPr>
          <a:ln/>
        </p:spPr>
      </p:sp>
      <p:sp>
        <p:nvSpPr>
          <p:cNvPr id="10244" name="Rectangle 3">
            <a:extLst>
              <a:ext uri="{FF2B5EF4-FFF2-40B4-BE49-F238E27FC236}">
                <a16:creationId xmlns:a16="http://schemas.microsoft.com/office/drawing/2014/main" id="{6F27B0CE-C315-4311-873E-D1BDB958CC82}"/>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en-US" altLang="en-US"/>
          </a:p>
        </p:txBody>
      </p:sp>
    </p:spTree>
    <p:extLst>
      <p:ext uri="{BB962C8B-B14F-4D97-AF65-F5344CB8AC3E}">
        <p14:creationId xmlns:p14="http://schemas.microsoft.com/office/powerpoint/2010/main" val="217506831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6">
            <a:extLst>
              <a:ext uri="{FF2B5EF4-FFF2-40B4-BE49-F238E27FC236}">
                <a16:creationId xmlns:a16="http://schemas.microsoft.com/office/drawing/2014/main" id="{8F076AA0-D7E3-47CB-94C1-D226F8894D84}"/>
              </a:ext>
            </a:extLst>
          </p:cNvPr>
          <p:cNvSpPr>
            <a:spLocks noGrp="1" noChangeArrowheads="1"/>
          </p:cNvSpPr>
          <p:nvPr>
            <p:ph type="ftr" sz="quarter" idx="4"/>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US" altLang="en-US" sz="1200" b="0">
                <a:latin typeface="Times New Roman" panose="02020603050405020304" pitchFamily="18" charset="0"/>
              </a:rPr>
              <a:t>1.#</a:t>
            </a:r>
          </a:p>
        </p:txBody>
      </p:sp>
      <p:sp>
        <p:nvSpPr>
          <p:cNvPr id="10243" name="Rectangle 2">
            <a:extLst>
              <a:ext uri="{FF2B5EF4-FFF2-40B4-BE49-F238E27FC236}">
                <a16:creationId xmlns:a16="http://schemas.microsoft.com/office/drawing/2014/main" id="{49DBDD4A-EE08-42FC-A21F-17804FAA3FDB}"/>
              </a:ext>
            </a:extLst>
          </p:cNvPr>
          <p:cNvSpPr>
            <a:spLocks noGrp="1" noRot="1" noChangeAspect="1" noChangeArrowheads="1" noTextEdit="1"/>
          </p:cNvSpPr>
          <p:nvPr>
            <p:ph type="sldImg"/>
          </p:nvPr>
        </p:nvSpPr>
        <p:spPr>
          <a:ln/>
        </p:spPr>
      </p:sp>
      <p:sp>
        <p:nvSpPr>
          <p:cNvPr id="10244" name="Rectangle 3">
            <a:extLst>
              <a:ext uri="{FF2B5EF4-FFF2-40B4-BE49-F238E27FC236}">
                <a16:creationId xmlns:a16="http://schemas.microsoft.com/office/drawing/2014/main" id="{6F27B0CE-C315-4311-873E-D1BDB958CC82}"/>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en-US" altLang="en-US"/>
          </a:p>
        </p:txBody>
      </p:sp>
    </p:spTree>
    <p:extLst>
      <p:ext uri="{BB962C8B-B14F-4D97-AF65-F5344CB8AC3E}">
        <p14:creationId xmlns:p14="http://schemas.microsoft.com/office/powerpoint/2010/main" val="60463879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6">
            <a:extLst>
              <a:ext uri="{FF2B5EF4-FFF2-40B4-BE49-F238E27FC236}">
                <a16:creationId xmlns:a16="http://schemas.microsoft.com/office/drawing/2014/main" id="{8F076AA0-D7E3-47CB-94C1-D226F8894D84}"/>
              </a:ext>
            </a:extLst>
          </p:cNvPr>
          <p:cNvSpPr>
            <a:spLocks noGrp="1" noChangeArrowheads="1"/>
          </p:cNvSpPr>
          <p:nvPr>
            <p:ph type="ftr" sz="quarter" idx="4"/>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US" altLang="en-US" sz="1200" b="0">
                <a:latin typeface="Times New Roman" panose="02020603050405020304" pitchFamily="18" charset="0"/>
              </a:rPr>
              <a:t>1.#</a:t>
            </a:r>
          </a:p>
        </p:txBody>
      </p:sp>
      <p:sp>
        <p:nvSpPr>
          <p:cNvPr id="10243" name="Rectangle 2">
            <a:extLst>
              <a:ext uri="{FF2B5EF4-FFF2-40B4-BE49-F238E27FC236}">
                <a16:creationId xmlns:a16="http://schemas.microsoft.com/office/drawing/2014/main" id="{49DBDD4A-EE08-42FC-A21F-17804FAA3FDB}"/>
              </a:ext>
            </a:extLst>
          </p:cNvPr>
          <p:cNvSpPr>
            <a:spLocks noGrp="1" noRot="1" noChangeAspect="1" noChangeArrowheads="1" noTextEdit="1"/>
          </p:cNvSpPr>
          <p:nvPr>
            <p:ph type="sldImg"/>
          </p:nvPr>
        </p:nvSpPr>
        <p:spPr>
          <a:ln/>
        </p:spPr>
      </p:sp>
      <p:sp>
        <p:nvSpPr>
          <p:cNvPr id="10244" name="Rectangle 3">
            <a:extLst>
              <a:ext uri="{FF2B5EF4-FFF2-40B4-BE49-F238E27FC236}">
                <a16:creationId xmlns:a16="http://schemas.microsoft.com/office/drawing/2014/main" id="{6F27B0CE-C315-4311-873E-D1BDB958CC82}"/>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en-US" altLang="en-US"/>
          </a:p>
        </p:txBody>
      </p:sp>
    </p:spTree>
    <p:extLst>
      <p:ext uri="{BB962C8B-B14F-4D97-AF65-F5344CB8AC3E}">
        <p14:creationId xmlns:p14="http://schemas.microsoft.com/office/powerpoint/2010/main" val="121663443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6">
            <a:extLst>
              <a:ext uri="{FF2B5EF4-FFF2-40B4-BE49-F238E27FC236}">
                <a16:creationId xmlns:a16="http://schemas.microsoft.com/office/drawing/2014/main" id="{8F076AA0-D7E3-47CB-94C1-D226F8894D84}"/>
              </a:ext>
            </a:extLst>
          </p:cNvPr>
          <p:cNvSpPr>
            <a:spLocks noGrp="1" noChangeArrowheads="1"/>
          </p:cNvSpPr>
          <p:nvPr>
            <p:ph type="ftr" sz="quarter" idx="4"/>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US" altLang="en-US" sz="1200" b="0">
                <a:latin typeface="Times New Roman" panose="02020603050405020304" pitchFamily="18" charset="0"/>
              </a:rPr>
              <a:t>1.#</a:t>
            </a:r>
          </a:p>
        </p:txBody>
      </p:sp>
      <p:sp>
        <p:nvSpPr>
          <p:cNvPr id="10243" name="Rectangle 2">
            <a:extLst>
              <a:ext uri="{FF2B5EF4-FFF2-40B4-BE49-F238E27FC236}">
                <a16:creationId xmlns:a16="http://schemas.microsoft.com/office/drawing/2014/main" id="{49DBDD4A-EE08-42FC-A21F-17804FAA3FDB}"/>
              </a:ext>
            </a:extLst>
          </p:cNvPr>
          <p:cNvSpPr>
            <a:spLocks noGrp="1" noRot="1" noChangeAspect="1" noChangeArrowheads="1" noTextEdit="1"/>
          </p:cNvSpPr>
          <p:nvPr>
            <p:ph type="sldImg"/>
          </p:nvPr>
        </p:nvSpPr>
        <p:spPr>
          <a:ln/>
        </p:spPr>
      </p:sp>
      <p:sp>
        <p:nvSpPr>
          <p:cNvPr id="10244" name="Rectangle 3">
            <a:extLst>
              <a:ext uri="{FF2B5EF4-FFF2-40B4-BE49-F238E27FC236}">
                <a16:creationId xmlns:a16="http://schemas.microsoft.com/office/drawing/2014/main" id="{6F27B0CE-C315-4311-873E-D1BDB958CC82}"/>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en-US" altLang="en-US"/>
          </a:p>
        </p:txBody>
      </p:sp>
    </p:spTree>
    <p:extLst>
      <p:ext uri="{BB962C8B-B14F-4D97-AF65-F5344CB8AC3E}">
        <p14:creationId xmlns:p14="http://schemas.microsoft.com/office/powerpoint/2010/main" val="107009355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6">
            <a:extLst>
              <a:ext uri="{FF2B5EF4-FFF2-40B4-BE49-F238E27FC236}">
                <a16:creationId xmlns:a16="http://schemas.microsoft.com/office/drawing/2014/main" id="{8F076AA0-D7E3-47CB-94C1-D226F8894D84}"/>
              </a:ext>
            </a:extLst>
          </p:cNvPr>
          <p:cNvSpPr>
            <a:spLocks noGrp="1" noChangeArrowheads="1"/>
          </p:cNvSpPr>
          <p:nvPr>
            <p:ph type="ftr" sz="quarter" idx="4"/>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US" altLang="en-US" sz="1200" b="0">
                <a:latin typeface="Times New Roman" panose="02020603050405020304" pitchFamily="18" charset="0"/>
              </a:rPr>
              <a:t>1.#</a:t>
            </a:r>
          </a:p>
        </p:txBody>
      </p:sp>
      <p:sp>
        <p:nvSpPr>
          <p:cNvPr id="10243" name="Rectangle 2">
            <a:extLst>
              <a:ext uri="{FF2B5EF4-FFF2-40B4-BE49-F238E27FC236}">
                <a16:creationId xmlns:a16="http://schemas.microsoft.com/office/drawing/2014/main" id="{49DBDD4A-EE08-42FC-A21F-17804FAA3FDB}"/>
              </a:ext>
            </a:extLst>
          </p:cNvPr>
          <p:cNvSpPr>
            <a:spLocks noGrp="1" noRot="1" noChangeAspect="1" noChangeArrowheads="1" noTextEdit="1"/>
          </p:cNvSpPr>
          <p:nvPr>
            <p:ph type="sldImg"/>
          </p:nvPr>
        </p:nvSpPr>
        <p:spPr>
          <a:ln/>
        </p:spPr>
      </p:sp>
      <p:sp>
        <p:nvSpPr>
          <p:cNvPr id="10244" name="Rectangle 3">
            <a:extLst>
              <a:ext uri="{FF2B5EF4-FFF2-40B4-BE49-F238E27FC236}">
                <a16:creationId xmlns:a16="http://schemas.microsoft.com/office/drawing/2014/main" id="{6F27B0CE-C315-4311-873E-D1BDB958CC82}"/>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en-US" altLang="en-US"/>
          </a:p>
        </p:txBody>
      </p:sp>
    </p:spTree>
    <p:extLst>
      <p:ext uri="{BB962C8B-B14F-4D97-AF65-F5344CB8AC3E}">
        <p14:creationId xmlns:p14="http://schemas.microsoft.com/office/powerpoint/2010/main" val="170369518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6">
            <a:extLst>
              <a:ext uri="{FF2B5EF4-FFF2-40B4-BE49-F238E27FC236}">
                <a16:creationId xmlns:a16="http://schemas.microsoft.com/office/drawing/2014/main" id="{8F076AA0-D7E3-47CB-94C1-D226F8894D84}"/>
              </a:ext>
            </a:extLst>
          </p:cNvPr>
          <p:cNvSpPr>
            <a:spLocks noGrp="1" noChangeArrowheads="1"/>
          </p:cNvSpPr>
          <p:nvPr>
            <p:ph type="ftr" sz="quarter" idx="4"/>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US" altLang="en-US" sz="1200" b="0">
                <a:latin typeface="Times New Roman" panose="02020603050405020304" pitchFamily="18" charset="0"/>
              </a:rPr>
              <a:t>1.#</a:t>
            </a:r>
          </a:p>
        </p:txBody>
      </p:sp>
      <p:sp>
        <p:nvSpPr>
          <p:cNvPr id="10243" name="Rectangle 2">
            <a:extLst>
              <a:ext uri="{FF2B5EF4-FFF2-40B4-BE49-F238E27FC236}">
                <a16:creationId xmlns:a16="http://schemas.microsoft.com/office/drawing/2014/main" id="{49DBDD4A-EE08-42FC-A21F-17804FAA3FDB}"/>
              </a:ext>
            </a:extLst>
          </p:cNvPr>
          <p:cNvSpPr>
            <a:spLocks noGrp="1" noRot="1" noChangeAspect="1" noChangeArrowheads="1" noTextEdit="1"/>
          </p:cNvSpPr>
          <p:nvPr>
            <p:ph type="sldImg"/>
          </p:nvPr>
        </p:nvSpPr>
        <p:spPr>
          <a:ln/>
        </p:spPr>
      </p:sp>
      <p:sp>
        <p:nvSpPr>
          <p:cNvPr id="10244" name="Rectangle 3">
            <a:extLst>
              <a:ext uri="{FF2B5EF4-FFF2-40B4-BE49-F238E27FC236}">
                <a16:creationId xmlns:a16="http://schemas.microsoft.com/office/drawing/2014/main" id="{6F27B0CE-C315-4311-873E-D1BDB958CC82}"/>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en-US" altLang="en-US"/>
          </a:p>
        </p:txBody>
      </p:sp>
    </p:spTree>
    <p:extLst>
      <p:ext uri="{BB962C8B-B14F-4D97-AF65-F5344CB8AC3E}">
        <p14:creationId xmlns:p14="http://schemas.microsoft.com/office/powerpoint/2010/main" val="265124092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6">
            <a:extLst>
              <a:ext uri="{FF2B5EF4-FFF2-40B4-BE49-F238E27FC236}">
                <a16:creationId xmlns:a16="http://schemas.microsoft.com/office/drawing/2014/main" id="{8F076AA0-D7E3-47CB-94C1-D226F8894D84}"/>
              </a:ext>
            </a:extLst>
          </p:cNvPr>
          <p:cNvSpPr>
            <a:spLocks noGrp="1" noChangeArrowheads="1"/>
          </p:cNvSpPr>
          <p:nvPr>
            <p:ph type="ftr" sz="quarter" idx="4"/>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US" altLang="en-US" sz="1200" b="0">
                <a:latin typeface="Times New Roman" panose="02020603050405020304" pitchFamily="18" charset="0"/>
              </a:rPr>
              <a:t>1.#</a:t>
            </a:r>
          </a:p>
        </p:txBody>
      </p:sp>
      <p:sp>
        <p:nvSpPr>
          <p:cNvPr id="10243" name="Rectangle 2">
            <a:extLst>
              <a:ext uri="{FF2B5EF4-FFF2-40B4-BE49-F238E27FC236}">
                <a16:creationId xmlns:a16="http://schemas.microsoft.com/office/drawing/2014/main" id="{49DBDD4A-EE08-42FC-A21F-17804FAA3FDB}"/>
              </a:ext>
            </a:extLst>
          </p:cNvPr>
          <p:cNvSpPr>
            <a:spLocks noGrp="1" noRot="1" noChangeAspect="1" noChangeArrowheads="1" noTextEdit="1"/>
          </p:cNvSpPr>
          <p:nvPr>
            <p:ph type="sldImg"/>
          </p:nvPr>
        </p:nvSpPr>
        <p:spPr>
          <a:ln/>
        </p:spPr>
      </p:sp>
      <p:sp>
        <p:nvSpPr>
          <p:cNvPr id="10244" name="Rectangle 3">
            <a:extLst>
              <a:ext uri="{FF2B5EF4-FFF2-40B4-BE49-F238E27FC236}">
                <a16:creationId xmlns:a16="http://schemas.microsoft.com/office/drawing/2014/main" id="{6F27B0CE-C315-4311-873E-D1BDB958CC82}"/>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en-US" altLang="en-US"/>
          </a:p>
        </p:txBody>
      </p:sp>
    </p:spTree>
    <p:extLst>
      <p:ext uri="{BB962C8B-B14F-4D97-AF65-F5344CB8AC3E}">
        <p14:creationId xmlns:p14="http://schemas.microsoft.com/office/powerpoint/2010/main" val="182356053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6">
            <a:extLst>
              <a:ext uri="{FF2B5EF4-FFF2-40B4-BE49-F238E27FC236}">
                <a16:creationId xmlns:a16="http://schemas.microsoft.com/office/drawing/2014/main" id="{8F076AA0-D7E3-47CB-94C1-D226F8894D84}"/>
              </a:ext>
            </a:extLst>
          </p:cNvPr>
          <p:cNvSpPr>
            <a:spLocks noGrp="1" noChangeArrowheads="1"/>
          </p:cNvSpPr>
          <p:nvPr>
            <p:ph type="ftr" sz="quarter" idx="4"/>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US" altLang="en-US" sz="1200" b="0">
                <a:latin typeface="Times New Roman" panose="02020603050405020304" pitchFamily="18" charset="0"/>
              </a:rPr>
              <a:t>1.#</a:t>
            </a:r>
          </a:p>
        </p:txBody>
      </p:sp>
      <p:sp>
        <p:nvSpPr>
          <p:cNvPr id="10243" name="Rectangle 2">
            <a:extLst>
              <a:ext uri="{FF2B5EF4-FFF2-40B4-BE49-F238E27FC236}">
                <a16:creationId xmlns:a16="http://schemas.microsoft.com/office/drawing/2014/main" id="{49DBDD4A-EE08-42FC-A21F-17804FAA3FDB}"/>
              </a:ext>
            </a:extLst>
          </p:cNvPr>
          <p:cNvSpPr>
            <a:spLocks noGrp="1" noRot="1" noChangeAspect="1" noChangeArrowheads="1" noTextEdit="1"/>
          </p:cNvSpPr>
          <p:nvPr>
            <p:ph type="sldImg"/>
          </p:nvPr>
        </p:nvSpPr>
        <p:spPr>
          <a:ln/>
        </p:spPr>
      </p:sp>
      <p:sp>
        <p:nvSpPr>
          <p:cNvPr id="10244" name="Rectangle 3">
            <a:extLst>
              <a:ext uri="{FF2B5EF4-FFF2-40B4-BE49-F238E27FC236}">
                <a16:creationId xmlns:a16="http://schemas.microsoft.com/office/drawing/2014/main" id="{6F27B0CE-C315-4311-873E-D1BDB958CC82}"/>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en-US" altLang="en-US"/>
          </a:p>
        </p:txBody>
      </p:sp>
    </p:spTree>
    <p:extLst>
      <p:ext uri="{BB962C8B-B14F-4D97-AF65-F5344CB8AC3E}">
        <p14:creationId xmlns:p14="http://schemas.microsoft.com/office/powerpoint/2010/main" val="326031497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6">
            <a:extLst>
              <a:ext uri="{FF2B5EF4-FFF2-40B4-BE49-F238E27FC236}">
                <a16:creationId xmlns:a16="http://schemas.microsoft.com/office/drawing/2014/main" id="{8F076AA0-D7E3-47CB-94C1-D226F8894D84}"/>
              </a:ext>
            </a:extLst>
          </p:cNvPr>
          <p:cNvSpPr>
            <a:spLocks noGrp="1" noChangeArrowheads="1"/>
          </p:cNvSpPr>
          <p:nvPr>
            <p:ph type="ftr" sz="quarter" idx="4"/>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US" altLang="en-US" sz="1200" b="0">
                <a:latin typeface="Times New Roman" panose="02020603050405020304" pitchFamily="18" charset="0"/>
              </a:rPr>
              <a:t>1.#</a:t>
            </a:r>
          </a:p>
        </p:txBody>
      </p:sp>
      <p:sp>
        <p:nvSpPr>
          <p:cNvPr id="10243" name="Rectangle 2">
            <a:extLst>
              <a:ext uri="{FF2B5EF4-FFF2-40B4-BE49-F238E27FC236}">
                <a16:creationId xmlns:a16="http://schemas.microsoft.com/office/drawing/2014/main" id="{49DBDD4A-EE08-42FC-A21F-17804FAA3FDB}"/>
              </a:ext>
            </a:extLst>
          </p:cNvPr>
          <p:cNvSpPr>
            <a:spLocks noGrp="1" noRot="1" noChangeAspect="1" noChangeArrowheads="1" noTextEdit="1"/>
          </p:cNvSpPr>
          <p:nvPr>
            <p:ph type="sldImg"/>
          </p:nvPr>
        </p:nvSpPr>
        <p:spPr>
          <a:ln/>
        </p:spPr>
      </p:sp>
      <p:sp>
        <p:nvSpPr>
          <p:cNvPr id="10244" name="Rectangle 3">
            <a:extLst>
              <a:ext uri="{FF2B5EF4-FFF2-40B4-BE49-F238E27FC236}">
                <a16:creationId xmlns:a16="http://schemas.microsoft.com/office/drawing/2014/main" id="{6F27B0CE-C315-4311-873E-D1BDB958CC82}"/>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en-US" altLang="en-US"/>
          </a:p>
        </p:txBody>
      </p:sp>
    </p:spTree>
    <p:extLst>
      <p:ext uri="{BB962C8B-B14F-4D97-AF65-F5344CB8AC3E}">
        <p14:creationId xmlns:p14="http://schemas.microsoft.com/office/powerpoint/2010/main" val="185295839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6">
            <a:extLst>
              <a:ext uri="{FF2B5EF4-FFF2-40B4-BE49-F238E27FC236}">
                <a16:creationId xmlns:a16="http://schemas.microsoft.com/office/drawing/2014/main" id="{8F076AA0-D7E3-47CB-94C1-D226F8894D84}"/>
              </a:ext>
            </a:extLst>
          </p:cNvPr>
          <p:cNvSpPr>
            <a:spLocks noGrp="1" noChangeArrowheads="1"/>
          </p:cNvSpPr>
          <p:nvPr>
            <p:ph type="ftr" sz="quarter" idx="4"/>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US" altLang="en-US" sz="1200" b="0">
                <a:latin typeface="Times New Roman" panose="02020603050405020304" pitchFamily="18" charset="0"/>
              </a:rPr>
              <a:t>1.#</a:t>
            </a:r>
          </a:p>
        </p:txBody>
      </p:sp>
      <p:sp>
        <p:nvSpPr>
          <p:cNvPr id="10243" name="Rectangle 2">
            <a:extLst>
              <a:ext uri="{FF2B5EF4-FFF2-40B4-BE49-F238E27FC236}">
                <a16:creationId xmlns:a16="http://schemas.microsoft.com/office/drawing/2014/main" id="{49DBDD4A-EE08-42FC-A21F-17804FAA3FDB}"/>
              </a:ext>
            </a:extLst>
          </p:cNvPr>
          <p:cNvSpPr>
            <a:spLocks noGrp="1" noRot="1" noChangeAspect="1" noChangeArrowheads="1" noTextEdit="1"/>
          </p:cNvSpPr>
          <p:nvPr>
            <p:ph type="sldImg"/>
          </p:nvPr>
        </p:nvSpPr>
        <p:spPr>
          <a:ln/>
        </p:spPr>
      </p:sp>
      <p:sp>
        <p:nvSpPr>
          <p:cNvPr id="10244" name="Rectangle 3">
            <a:extLst>
              <a:ext uri="{FF2B5EF4-FFF2-40B4-BE49-F238E27FC236}">
                <a16:creationId xmlns:a16="http://schemas.microsoft.com/office/drawing/2014/main" id="{6F27B0CE-C315-4311-873E-D1BDB958CC82}"/>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en-US" altLang="en-US"/>
          </a:p>
        </p:txBody>
      </p:sp>
    </p:spTree>
    <p:extLst>
      <p:ext uri="{BB962C8B-B14F-4D97-AF65-F5344CB8AC3E}">
        <p14:creationId xmlns:p14="http://schemas.microsoft.com/office/powerpoint/2010/main" val="210599304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100051" y="4455620"/>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2C6A5A51-7622-4CA2-995F-779F87ED2362}" type="datetimeFigureOut">
              <a:rPr lang="en-IN" smtClean="0"/>
              <a:t>16-08-2025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AEA75B2-F555-4190-9D20-7B0AA5D969FF}" type="slidenum">
              <a:rPr lang="en-IN" smtClean="0"/>
              <a:t>‹#›</a:t>
            </a:fld>
            <a:endParaRPr lang="en-IN"/>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7633521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marL="0">
              <a:defRPr/>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C6A5A51-7622-4CA2-995F-779F87ED2362}" type="datetimeFigureOut">
              <a:rPr lang="en-IN" smtClean="0"/>
              <a:t>16-08-2025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AEA75B2-F555-4190-9D20-7B0AA5D969FF}" type="slidenum">
              <a:rPr lang="en-IN" smtClean="0"/>
              <a:t>‹#›</a:t>
            </a:fld>
            <a:endParaRPr lang="en-IN"/>
          </a:p>
        </p:txBody>
      </p:sp>
    </p:spTree>
    <p:extLst>
      <p:ext uri="{BB962C8B-B14F-4D97-AF65-F5344CB8AC3E}">
        <p14:creationId xmlns:p14="http://schemas.microsoft.com/office/powerpoint/2010/main" val="331216898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C6A5A51-7622-4CA2-995F-779F87ED2362}" type="datetimeFigureOut">
              <a:rPr lang="en-IN" smtClean="0"/>
              <a:t>16-08-2025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AEA75B2-F555-4190-9D20-7B0AA5D969FF}" type="slidenum">
              <a:rPr lang="en-IN" smtClean="0"/>
              <a:t>‹#›</a:t>
            </a:fld>
            <a:endParaRPr lang="en-IN"/>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1342476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97279" y="1845734"/>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2C6A5A51-7622-4CA2-995F-779F87ED2362}" type="datetimeFigureOut">
              <a:rPr lang="en-IN" smtClean="0"/>
              <a:t>16-08-2025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BAEA75B2-F555-4190-9D20-7B0AA5D969FF}" type="slidenum">
              <a:rPr lang="en-IN" smtClean="0"/>
              <a:t>‹#›</a:t>
            </a:fld>
            <a:endParaRPr lang="en-IN"/>
          </a:p>
        </p:txBody>
      </p:sp>
    </p:spTree>
    <p:extLst>
      <p:ext uri="{BB962C8B-B14F-4D97-AF65-F5344CB8AC3E}">
        <p14:creationId xmlns:p14="http://schemas.microsoft.com/office/powerpoint/2010/main" val="156586278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9728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1792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2C6A5A51-7622-4CA2-995F-779F87ED2362}" type="datetimeFigureOut">
              <a:rPr lang="en-IN" smtClean="0"/>
              <a:t>16-08-2025</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BAEA75B2-F555-4190-9D20-7B0AA5D969FF}" type="slidenum">
              <a:rPr lang="en-IN" smtClean="0"/>
              <a:t>‹#›</a:t>
            </a:fld>
            <a:endParaRPr lang="en-IN"/>
          </a:p>
        </p:txBody>
      </p:sp>
    </p:spTree>
    <p:extLst>
      <p:ext uri="{BB962C8B-B14F-4D97-AF65-F5344CB8AC3E}">
        <p14:creationId xmlns:p14="http://schemas.microsoft.com/office/powerpoint/2010/main" val="348424492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2C6A5A51-7622-4CA2-995F-779F87ED2362}" type="datetimeFigureOut">
              <a:rPr lang="en-IN" smtClean="0"/>
              <a:t>16-08-2025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BAEA75B2-F555-4190-9D20-7B0AA5D969FF}" type="slidenum">
              <a:rPr lang="en-IN" smtClean="0"/>
              <a:t>‹#›</a:t>
            </a:fld>
            <a:endParaRPr lang="en-IN"/>
          </a:p>
        </p:txBody>
      </p:sp>
    </p:spTree>
    <p:extLst>
      <p:ext uri="{BB962C8B-B14F-4D97-AF65-F5344CB8AC3E}">
        <p14:creationId xmlns:p14="http://schemas.microsoft.com/office/powerpoint/2010/main" val="170261774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2C6A5A51-7622-4CA2-995F-779F87ED2362}" type="datetimeFigureOut">
              <a:rPr lang="en-IN" smtClean="0"/>
              <a:t>16-08-2025</a:t>
            </a:fld>
            <a:endParaRPr lang="en-IN"/>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IN"/>
          </a:p>
        </p:txBody>
      </p:sp>
      <p:sp>
        <p:nvSpPr>
          <p:cNvPr id="9" name="Slide Number Placeholder 8"/>
          <p:cNvSpPr>
            <a:spLocks noGrp="1"/>
          </p:cNvSpPr>
          <p:nvPr>
            <p:ph type="sldNum" sz="quarter" idx="12"/>
          </p:nvPr>
        </p:nvSpPr>
        <p:spPr/>
        <p:txBody>
          <a:bodyPr/>
          <a:lstStyle/>
          <a:p>
            <a:fld id="{BAEA75B2-F555-4190-9D20-7B0AA5D969FF}" type="slidenum">
              <a:rPr lang="en-IN" smtClean="0"/>
              <a:t>‹#›</a:t>
            </a:fld>
            <a:endParaRPr lang="en-IN"/>
          </a:p>
        </p:txBody>
      </p:sp>
    </p:spTree>
    <p:extLst>
      <p:ext uri="{BB962C8B-B14F-4D97-AF65-F5344CB8AC3E}">
        <p14:creationId xmlns:p14="http://schemas.microsoft.com/office/powerpoint/2010/main" val="72044671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fld id="{2C6A5A51-7622-4CA2-995F-779F87ED2362}" type="datetimeFigureOut">
              <a:rPr lang="en-IN" smtClean="0"/>
              <a:t>16-08-2025</a:t>
            </a:fld>
            <a:endParaRPr lang="en-IN"/>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endParaRPr lang="en-IN"/>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BAEA75B2-F555-4190-9D20-7B0AA5D969FF}" type="slidenum">
              <a:rPr lang="en-IN" smtClean="0"/>
              <a:t>‹#›</a:t>
            </a:fld>
            <a:endParaRPr lang="en-IN"/>
          </a:p>
        </p:txBody>
      </p:sp>
    </p:spTree>
    <p:extLst>
      <p:ext uri="{BB962C8B-B14F-4D97-AF65-F5344CB8AC3E}">
        <p14:creationId xmlns:p14="http://schemas.microsoft.com/office/powerpoint/2010/main" val="299654523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264" cy="822960"/>
          </a:xfrm>
        </p:spPr>
        <p:txBody>
          <a:bodyPr lIns="91440" tIns="0" rIns="91440" bIns="0" anchor="b">
            <a:noAutofit/>
          </a:bodyPr>
          <a:lstStyle>
            <a:lvl1pPr>
              <a:defRPr sz="3600"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15" y="0"/>
            <a:ext cx="12191985" cy="4915076"/>
          </a:xfrm>
          <a:blipFill>
            <a:blip r:embed="rId2"/>
            <a:stretch>
              <a:fillRect/>
            </a:stretch>
          </a:blipFill>
        </p:spPr>
        <p:txBody>
          <a:bodyPr lIns="457200" tIns="457200"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097280" y="5907023"/>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2C6A5A51-7622-4CA2-995F-779F87ED2362}" type="datetimeFigureOut">
              <a:rPr lang="en-IN" smtClean="0"/>
              <a:t>16-08-2025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BAEA75B2-F555-4190-9D20-7B0AA5D969FF}" type="slidenum">
              <a:rPr lang="en-IN" smtClean="0"/>
              <a:t>‹#›</a:t>
            </a:fld>
            <a:endParaRPr lang="en-IN"/>
          </a:p>
        </p:txBody>
      </p:sp>
    </p:spTree>
    <p:extLst>
      <p:ext uri="{BB962C8B-B14F-4D97-AF65-F5344CB8AC3E}">
        <p14:creationId xmlns:p14="http://schemas.microsoft.com/office/powerpoint/2010/main" val="133743023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C6A5A51-7622-4CA2-995F-779F87ED2362}" type="datetimeFigureOut">
              <a:rPr lang="en-IN" smtClean="0"/>
              <a:t>16-08-2025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AEA75B2-F555-4190-9D20-7B0AA5D969FF}" type="slidenum">
              <a:rPr lang="en-IN" smtClean="0"/>
              <a:t>‹#›</a:t>
            </a:fld>
            <a:endParaRPr lang="en-IN"/>
          </a:p>
        </p:txBody>
      </p:sp>
    </p:spTree>
    <p:extLst>
      <p:ext uri="{BB962C8B-B14F-4D97-AF65-F5344CB8AC3E}">
        <p14:creationId xmlns:p14="http://schemas.microsoft.com/office/powerpoint/2010/main" val="248847662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4778"/>
            <a:ext cx="2628900" cy="575742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414778"/>
            <a:ext cx="7734300" cy="5757422"/>
          </a:xfrm>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C6A5A51-7622-4CA2-995F-779F87ED2362}" type="datetimeFigureOut">
              <a:rPr lang="en-IN" smtClean="0"/>
              <a:t>16-08-2025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AEA75B2-F555-4190-9D20-7B0AA5D969FF}" type="slidenum">
              <a:rPr lang="en-IN" smtClean="0"/>
              <a:t>‹#›</a:t>
            </a:fld>
            <a:endParaRPr lang="en-IN"/>
          </a:p>
        </p:txBody>
      </p:sp>
    </p:spTree>
    <p:extLst>
      <p:ext uri="{BB962C8B-B14F-4D97-AF65-F5344CB8AC3E}">
        <p14:creationId xmlns:p14="http://schemas.microsoft.com/office/powerpoint/2010/main" val="39665753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0" y="6334316"/>
            <a:ext cx="12192001" cy="659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fld id="{2C6A5A51-7622-4CA2-995F-779F87ED2362}" type="datetimeFigureOut">
              <a:rPr lang="en-IN" smtClean="0"/>
              <a:t>16-08-2025</a:t>
            </a:fld>
            <a:endParaRPr lang="en-IN"/>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lang="en-IN"/>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fld id="{BAEA75B2-F555-4190-9D20-7B0AA5D969FF}" type="slidenum">
              <a:rPr lang="en-IN" smtClean="0"/>
              <a:t>‹#›</a:t>
            </a:fld>
            <a:endParaRPr lang="en-IN"/>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73076231"/>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notesSlide" Target="../notesSlides/notesSlide1.xml"/><Relationship Id="rId1" Type="http://schemas.openxmlformats.org/officeDocument/2006/relationships/slideLayout" Target="../slideLayouts/slideLayout7.xml"/><Relationship Id="rId4" Type="http://schemas.openxmlformats.org/officeDocument/2006/relationships/image" Target="../media/image3.emf"/></Relationships>
</file>

<file path=ppt/slides/_rels/slide2.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notesSlide" Target="../notesSlides/notesSlide2.xml"/><Relationship Id="rId1" Type="http://schemas.openxmlformats.org/officeDocument/2006/relationships/slideLayout" Target="../slideLayouts/slideLayout7.xml"/><Relationship Id="rId4" Type="http://schemas.openxmlformats.org/officeDocument/2006/relationships/image" Target="../media/image2.emf"/></Relationships>
</file>

<file path=ppt/slides/_rels/slide3.xml.rels><?xml version="1.0" encoding="UTF-8" standalone="yes"?>
<Relationships xmlns="http://schemas.openxmlformats.org/package/2006/relationships"><Relationship Id="rId3" Type="http://schemas.openxmlformats.org/officeDocument/2006/relationships/image" Target="../media/image5.emf"/><Relationship Id="rId2" Type="http://schemas.openxmlformats.org/officeDocument/2006/relationships/notesSlide" Target="../notesSlides/notesSlide3.xml"/><Relationship Id="rId1" Type="http://schemas.openxmlformats.org/officeDocument/2006/relationships/slideLayout" Target="../slideLayouts/slideLayout7.xml"/><Relationship Id="rId4" Type="http://schemas.openxmlformats.org/officeDocument/2006/relationships/image" Target="../media/image6.emf"/></Relationships>
</file>

<file path=ppt/slides/_rels/slide4.xml.rels><?xml version="1.0" encoding="UTF-8" standalone="yes"?>
<Relationships xmlns="http://schemas.openxmlformats.org/package/2006/relationships"><Relationship Id="rId3" Type="http://schemas.openxmlformats.org/officeDocument/2006/relationships/image" Target="../media/image5.emf"/><Relationship Id="rId2" Type="http://schemas.openxmlformats.org/officeDocument/2006/relationships/notesSlide" Target="../notesSlides/notesSlide4.xml"/><Relationship Id="rId1" Type="http://schemas.openxmlformats.org/officeDocument/2006/relationships/slideLayout" Target="../slideLayouts/slideLayout7.xml"/><Relationship Id="rId5" Type="http://schemas.openxmlformats.org/officeDocument/2006/relationships/image" Target="../media/image8.emf"/><Relationship Id="rId4" Type="http://schemas.openxmlformats.org/officeDocument/2006/relationships/image" Target="../media/image7.emf"/></Relationships>
</file>

<file path=ppt/slides/_rels/slide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5.xml"/><Relationship Id="rId1" Type="http://schemas.openxmlformats.org/officeDocument/2006/relationships/slideLayout" Target="../slideLayouts/slideLayout7.xml"/><Relationship Id="rId5" Type="http://schemas.openxmlformats.org/officeDocument/2006/relationships/image" Target="../media/image11.png"/><Relationship Id="rId4" Type="http://schemas.openxmlformats.org/officeDocument/2006/relationships/image" Target="../media/image10.png"/></Relationships>
</file>

<file path=ppt/slides/_rels/slide6.xml.rels><?xml version="1.0" encoding="UTF-8" standalone="yes"?>
<Relationships xmlns="http://schemas.openxmlformats.org/package/2006/relationships"><Relationship Id="rId3" Type="http://schemas.openxmlformats.org/officeDocument/2006/relationships/image" Target="../media/image12.emf"/><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13.emf"/><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Line 2">
            <a:extLst>
              <a:ext uri="{FF2B5EF4-FFF2-40B4-BE49-F238E27FC236}">
                <a16:creationId xmlns:a16="http://schemas.microsoft.com/office/drawing/2014/main" id="{B80F17A2-967F-4758-B690-15B90FC4B7B2}"/>
              </a:ext>
            </a:extLst>
          </p:cNvPr>
          <p:cNvSpPr>
            <a:spLocks noChangeShapeType="1"/>
          </p:cNvSpPr>
          <p:nvPr/>
        </p:nvSpPr>
        <p:spPr bwMode="auto">
          <a:xfrm>
            <a:off x="0" y="121222"/>
            <a:ext cx="12192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9219" name="Line 3">
            <a:extLst>
              <a:ext uri="{FF2B5EF4-FFF2-40B4-BE49-F238E27FC236}">
                <a16:creationId xmlns:a16="http://schemas.microsoft.com/office/drawing/2014/main" id="{D216B66D-CB10-42AD-A3FB-617EDBA6005A}"/>
              </a:ext>
            </a:extLst>
          </p:cNvPr>
          <p:cNvSpPr>
            <a:spLocks noChangeShapeType="1"/>
          </p:cNvSpPr>
          <p:nvPr/>
        </p:nvSpPr>
        <p:spPr bwMode="auto">
          <a:xfrm flipV="1">
            <a:off x="0" y="959422"/>
            <a:ext cx="12192000" cy="31178"/>
          </a:xfrm>
          <a:prstGeom prst="line">
            <a:avLst/>
          </a:prstGeom>
          <a:noFill/>
          <a:ln w="1905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9220" name="Text Box 4">
            <a:extLst>
              <a:ext uri="{FF2B5EF4-FFF2-40B4-BE49-F238E27FC236}">
                <a16:creationId xmlns:a16="http://schemas.microsoft.com/office/drawing/2014/main" id="{F1A1D0A4-783E-4A5F-9176-6625485B21C2}"/>
              </a:ext>
            </a:extLst>
          </p:cNvPr>
          <p:cNvSpPr txBox="1">
            <a:spLocks noChangeArrowheads="1"/>
          </p:cNvSpPr>
          <p:nvPr/>
        </p:nvSpPr>
        <p:spPr bwMode="auto">
          <a:xfrm>
            <a:off x="0" y="247935"/>
            <a:ext cx="3504486"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algn="l"/>
            <a:r>
              <a:rPr lang="en-US" b="1" i="0" u="none" strike="noStrike" baseline="0" dirty="0">
                <a:solidFill>
                  <a:srgbClr val="231F20"/>
                </a:solidFill>
                <a:latin typeface="Times-Bold"/>
              </a:rPr>
              <a:t>Noiseless Channels</a:t>
            </a:r>
            <a:endParaRPr lang="en-US" sz="4800" i="0" dirty="0">
              <a:solidFill>
                <a:srgbClr val="000000"/>
              </a:solidFill>
              <a:effectLst/>
              <a:latin typeface="Times New Roman" panose="02020603050405020304" pitchFamily="18" charset="0"/>
              <a:cs typeface="Times New Roman" panose="02020603050405020304" pitchFamily="18" charset="0"/>
            </a:endParaRPr>
          </a:p>
        </p:txBody>
      </p:sp>
      <p:sp>
        <p:nvSpPr>
          <p:cNvPr id="9221" name="Line 5">
            <a:extLst>
              <a:ext uri="{FF2B5EF4-FFF2-40B4-BE49-F238E27FC236}">
                <a16:creationId xmlns:a16="http://schemas.microsoft.com/office/drawing/2014/main" id="{813B641B-59D1-4F94-8787-5406583E7085}"/>
              </a:ext>
            </a:extLst>
          </p:cNvPr>
          <p:cNvSpPr>
            <a:spLocks noChangeShapeType="1"/>
          </p:cNvSpPr>
          <p:nvPr/>
        </p:nvSpPr>
        <p:spPr bwMode="auto">
          <a:xfrm flipV="1">
            <a:off x="0" y="6703102"/>
            <a:ext cx="12192000" cy="31178"/>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9" name="TextBox 8">
            <a:extLst>
              <a:ext uri="{FF2B5EF4-FFF2-40B4-BE49-F238E27FC236}">
                <a16:creationId xmlns:a16="http://schemas.microsoft.com/office/drawing/2014/main" id="{0083D19A-9286-42E1-86BC-089823FFD167}"/>
              </a:ext>
            </a:extLst>
          </p:cNvPr>
          <p:cNvSpPr txBox="1"/>
          <p:nvPr/>
        </p:nvSpPr>
        <p:spPr>
          <a:xfrm>
            <a:off x="149903" y="1117312"/>
            <a:ext cx="11648397" cy="1323439"/>
          </a:xfrm>
          <a:prstGeom prst="rect">
            <a:avLst/>
          </a:prstGeom>
          <a:noFill/>
        </p:spPr>
        <p:txBody>
          <a:bodyPr wrap="square">
            <a:spAutoFit/>
          </a:bodyPr>
          <a:lstStyle/>
          <a:p>
            <a:pPr algn="l"/>
            <a:r>
              <a:rPr lang="en-US" sz="2000" b="0" i="1" u="none" strike="noStrike" baseline="0" dirty="0">
                <a:solidFill>
                  <a:srgbClr val="231F20"/>
                </a:solidFill>
                <a:latin typeface="Times-Italic"/>
              </a:rPr>
              <a:t>A channel in which there are at least as many output symbols as input symbols, but in which each of the output symbols can be produced by the occurrence only of a particular one of the input symbols is called a </a:t>
            </a:r>
            <a:r>
              <a:rPr lang="en-US" sz="2000" b="0" i="0" u="none" strike="noStrike" baseline="0" dirty="0">
                <a:solidFill>
                  <a:srgbClr val="231F20"/>
                </a:solidFill>
                <a:latin typeface="Times-Roman"/>
              </a:rPr>
              <a:t>noiseless channel</a:t>
            </a:r>
            <a:r>
              <a:rPr lang="en-US" sz="2000" b="0" i="1" u="none" strike="noStrike" baseline="0" dirty="0">
                <a:solidFill>
                  <a:srgbClr val="231F20"/>
                </a:solidFill>
                <a:latin typeface="Times-Italic"/>
              </a:rPr>
              <a:t>. The channel matrix of a noiseless channel has the property that there is one, and only one, non-zero element in each column.</a:t>
            </a:r>
            <a:r>
              <a:rPr lang="en-US" sz="2000" dirty="0">
                <a:solidFill>
                  <a:srgbClr val="202122"/>
                </a:solidFill>
                <a:latin typeface="Arial" panose="020B0604020202020204" pitchFamily="34" charset="0"/>
              </a:rPr>
              <a:t>:</a:t>
            </a:r>
          </a:p>
        </p:txBody>
      </p:sp>
      <p:pic>
        <p:nvPicPr>
          <p:cNvPr id="2" name="Picture 1">
            <a:extLst>
              <a:ext uri="{FF2B5EF4-FFF2-40B4-BE49-F238E27FC236}">
                <a16:creationId xmlns:a16="http://schemas.microsoft.com/office/drawing/2014/main" id="{BF46FF56-7E65-406D-B836-7E405161258D}"/>
              </a:ext>
            </a:extLst>
          </p:cNvPr>
          <p:cNvPicPr>
            <a:picLocks noChangeAspect="1"/>
          </p:cNvPicPr>
          <p:nvPr/>
        </p:nvPicPr>
        <p:blipFill>
          <a:blip r:embed="rId3"/>
          <a:stretch>
            <a:fillRect/>
          </a:stretch>
        </p:blipFill>
        <p:spPr>
          <a:xfrm>
            <a:off x="8792550" y="2339449"/>
            <a:ext cx="3005750" cy="3014804"/>
          </a:xfrm>
          <a:prstGeom prst="rect">
            <a:avLst/>
          </a:prstGeom>
        </p:spPr>
      </p:pic>
      <p:pic>
        <p:nvPicPr>
          <p:cNvPr id="3" name="Picture 2">
            <a:extLst>
              <a:ext uri="{FF2B5EF4-FFF2-40B4-BE49-F238E27FC236}">
                <a16:creationId xmlns:a16="http://schemas.microsoft.com/office/drawing/2014/main" id="{8BD8A8D3-B457-4CF8-BF87-7F9BB4E75650}"/>
              </a:ext>
            </a:extLst>
          </p:cNvPr>
          <p:cNvPicPr>
            <a:picLocks noChangeAspect="1"/>
          </p:cNvPicPr>
          <p:nvPr/>
        </p:nvPicPr>
        <p:blipFill>
          <a:blip r:embed="rId4"/>
          <a:stretch>
            <a:fillRect/>
          </a:stretch>
        </p:blipFill>
        <p:spPr>
          <a:xfrm>
            <a:off x="2225392" y="2670699"/>
            <a:ext cx="4744016" cy="1267485"/>
          </a:xfrm>
          <a:prstGeom prst="rect">
            <a:avLst/>
          </a:prstGeom>
        </p:spPr>
      </p:pic>
      <p:sp>
        <p:nvSpPr>
          <p:cNvPr id="12" name="TextBox 11">
            <a:extLst>
              <a:ext uri="{FF2B5EF4-FFF2-40B4-BE49-F238E27FC236}">
                <a16:creationId xmlns:a16="http://schemas.microsoft.com/office/drawing/2014/main" id="{4B1996A1-DB6B-4430-ADBF-4EDCC07F4428}"/>
              </a:ext>
            </a:extLst>
          </p:cNvPr>
          <p:cNvSpPr txBox="1"/>
          <p:nvPr/>
        </p:nvSpPr>
        <p:spPr>
          <a:xfrm>
            <a:off x="149903" y="4559338"/>
            <a:ext cx="8488724" cy="923330"/>
          </a:xfrm>
          <a:prstGeom prst="rect">
            <a:avLst/>
          </a:prstGeom>
          <a:noFill/>
        </p:spPr>
        <p:txBody>
          <a:bodyPr wrap="square">
            <a:spAutoFit/>
          </a:bodyPr>
          <a:lstStyle/>
          <a:p>
            <a:pPr marL="285750" indent="-285750" algn="l">
              <a:buFont typeface="Arial" panose="020B0604020202020204" pitchFamily="34" charset="0"/>
              <a:buChar char="•"/>
            </a:pPr>
            <a:r>
              <a:rPr lang="en-US" sz="1800" b="0" i="0" u="none" strike="noStrike" baseline="0" dirty="0">
                <a:solidFill>
                  <a:srgbClr val="FF0000"/>
                </a:solidFill>
                <a:latin typeface="Times-Roman"/>
              </a:rPr>
              <a:t>we know, with certainty 1, which input symbol, was transmitted given knowledge of the received output symbol.</a:t>
            </a:r>
          </a:p>
          <a:p>
            <a:pPr marL="285750" indent="-285750" algn="l">
              <a:buFont typeface="Arial" panose="020B0604020202020204" pitchFamily="34" charset="0"/>
              <a:buChar char="•"/>
            </a:pPr>
            <a:r>
              <a:rPr lang="en-US" sz="1800" b="0" i="0" u="none" strike="noStrike" baseline="0" dirty="0">
                <a:solidFill>
                  <a:srgbClr val="FF0000"/>
                </a:solidFill>
                <a:latin typeface="Times-Roman"/>
              </a:rPr>
              <a:t>there is only one non-zero element in each column</a:t>
            </a:r>
            <a:r>
              <a:rPr lang="en-US" dirty="0">
                <a:solidFill>
                  <a:srgbClr val="FF0000"/>
                </a:solidFill>
                <a:latin typeface="Times-Roman"/>
              </a:rPr>
              <a:t>.</a:t>
            </a:r>
            <a:endParaRPr lang="en-US" dirty="0">
              <a:solidFill>
                <a:srgbClr val="FF0000"/>
              </a:solidFill>
            </a:endParaRPr>
          </a:p>
        </p:txBody>
      </p:sp>
    </p:spTree>
    <p:extLst>
      <p:ext uri="{BB962C8B-B14F-4D97-AF65-F5344CB8AC3E}">
        <p14:creationId xmlns:p14="http://schemas.microsoft.com/office/powerpoint/2010/main" val="80362705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Line 2">
            <a:extLst>
              <a:ext uri="{FF2B5EF4-FFF2-40B4-BE49-F238E27FC236}">
                <a16:creationId xmlns:a16="http://schemas.microsoft.com/office/drawing/2014/main" id="{B80F17A2-967F-4758-B690-15B90FC4B7B2}"/>
              </a:ext>
            </a:extLst>
          </p:cNvPr>
          <p:cNvSpPr>
            <a:spLocks noChangeShapeType="1"/>
          </p:cNvSpPr>
          <p:nvPr/>
        </p:nvSpPr>
        <p:spPr bwMode="auto">
          <a:xfrm>
            <a:off x="0" y="121222"/>
            <a:ext cx="12192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9219" name="Line 3">
            <a:extLst>
              <a:ext uri="{FF2B5EF4-FFF2-40B4-BE49-F238E27FC236}">
                <a16:creationId xmlns:a16="http://schemas.microsoft.com/office/drawing/2014/main" id="{D216B66D-CB10-42AD-A3FB-617EDBA6005A}"/>
              </a:ext>
            </a:extLst>
          </p:cNvPr>
          <p:cNvSpPr>
            <a:spLocks noChangeShapeType="1"/>
          </p:cNvSpPr>
          <p:nvPr/>
        </p:nvSpPr>
        <p:spPr bwMode="auto">
          <a:xfrm flipV="1">
            <a:off x="0" y="959422"/>
            <a:ext cx="12192000" cy="31178"/>
          </a:xfrm>
          <a:prstGeom prst="line">
            <a:avLst/>
          </a:prstGeom>
          <a:noFill/>
          <a:ln w="1905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9220" name="Text Box 4">
            <a:extLst>
              <a:ext uri="{FF2B5EF4-FFF2-40B4-BE49-F238E27FC236}">
                <a16:creationId xmlns:a16="http://schemas.microsoft.com/office/drawing/2014/main" id="{F1A1D0A4-783E-4A5F-9176-6625485B21C2}"/>
              </a:ext>
            </a:extLst>
          </p:cNvPr>
          <p:cNvSpPr txBox="1">
            <a:spLocks noChangeArrowheads="1"/>
          </p:cNvSpPr>
          <p:nvPr/>
        </p:nvSpPr>
        <p:spPr bwMode="auto">
          <a:xfrm>
            <a:off x="0" y="247935"/>
            <a:ext cx="3504486"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algn="l"/>
            <a:r>
              <a:rPr lang="en-US" b="1" i="0" u="none" strike="noStrike" baseline="0" dirty="0">
                <a:solidFill>
                  <a:srgbClr val="231F20"/>
                </a:solidFill>
                <a:latin typeface="Times-Bold"/>
              </a:rPr>
              <a:t>Noiseless Channels</a:t>
            </a:r>
            <a:endParaRPr lang="en-US" sz="4800" i="0" dirty="0">
              <a:solidFill>
                <a:srgbClr val="000000"/>
              </a:solidFill>
              <a:effectLst/>
              <a:latin typeface="Times New Roman" panose="02020603050405020304" pitchFamily="18" charset="0"/>
              <a:cs typeface="Times New Roman" panose="02020603050405020304" pitchFamily="18" charset="0"/>
            </a:endParaRPr>
          </a:p>
        </p:txBody>
      </p:sp>
      <p:sp>
        <p:nvSpPr>
          <p:cNvPr id="9221" name="Line 5">
            <a:extLst>
              <a:ext uri="{FF2B5EF4-FFF2-40B4-BE49-F238E27FC236}">
                <a16:creationId xmlns:a16="http://schemas.microsoft.com/office/drawing/2014/main" id="{813B641B-59D1-4F94-8787-5406583E7085}"/>
              </a:ext>
            </a:extLst>
          </p:cNvPr>
          <p:cNvSpPr>
            <a:spLocks noChangeShapeType="1"/>
          </p:cNvSpPr>
          <p:nvPr/>
        </p:nvSpPr>
        <p:spPr bwMode="auto">
          <a:xfrm flipV="1">
            <a:off x="0" y="6703102"/>
            <a:ext cx="12192000" cy="31178"/>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9" name="TextBox 8">
            <a:extLst>
              <a:ext uri="{FF2B5EF4-FFF2-40B4-BE49-F238E27FC236}">
                <a16:creationId xmlns:a16="http://schemas.microsoft.com/office/drawing/2014/main" id="{0083D19A-9286-42E1-86BC-089823FFD167}"/>
              </a:ext>
            </a:extLst>
          </p:cNvPr>
          <p:cNvSpPr txBox="1"/>
          <p:nvPr/>
        </p:nvSpPr>
        <p:spPr>
          <a:xfrm>
            <a:off x="149903" y="1117312"/>
            <a:ext cx="11648397" cy="369332"/>
          </a:xfrm>
          <a:prstGeom prst="rect">
            <a:avLst/>
          </a:prstGeom>
          <a:noFill/>
        </p:spPr>
        <p:txBody>
          <a:bodyPr wrap="square">
            <a:spAutoFit/>
          </a:bodyPr>
          <a:lstStyle/>
          <a:p>
            <a:pPr algn="l"/>
            <a:r>
              <a:rPr lang="en-US" dirty="0">
                <a:solidFill>
                  <a:srgbClr val="231F20"/>
                </a:solidFill>
                <a:latin typeface="Times-Roman"/>
              </a:rPr>
              <a:t>M</a:t>
            </a:r>
            <a:r>
              <a:rPr lang="en-US" sz="1800" b="0" i="0" u="none" strike="noStrike" baseline="0" dirty="0">
                <a:solidFill>
                  <a:srgbClr val="231F20"/>
                </a:solidFill>
                <a:latin typeface="Times-Roman"/>
              </a:rPr>
              <a:t>utual </a:t>
            </a:r>
            <a:r>
              <a:rPr lang="en-US" dirty="0">
                <a:solidFill>
                  <a:srgbClr val="231F20"/>
                </a:solidFill>
                <a:latin typeface="Times-Roman"/>
              </a:rPr>
              <a:t>I</a:t>
            </a:r>
            <a:r>
              <a:rPr lang="en-US" sz="1800" b="0" i="0" u="none" strike="noStrike" baseline="0" dirty="0">
                <a:solidFill>
                  <a:srgbClr val="231F20"/>
                </a:solidFill>
                <a:latin typeface="Times-Roman"/>
              </a:rPr>
              <a:t>nformation through a noiseless channel:</a:t>
            </a:r>
            <a:endParaRPr lang="en-US" sz="2000" dirty="0">
              <a:solidFill>
                <a:srgbClr val="202122"/>
              </a:solidFill>
              <a:latin typeface="Arial" panose="020B0604020202020204" pitchFamily="34" charset="0"/>
            </a:endParaRPr>
          </a:p>
        </p:txBody>
      </p:sp>
      <p:pic>
        <p:nvPicPr>
          <p:cNvPr id="4" name="Picture 3">
            <a:extLst>
              <a:ext uri="{FF2B5EF4-FFF2-40B4-BE49-F238E27FC236}">
                <a16:creationId xmlns:a16="http://schemas.microsoft.com/office/drawing/2014/main" id="{9AAE20D3-2C02-4BF2-98DF-BEDAF45B5514}"/>
              </a:ext>
            </a:extLst>
          </p:cNvPr>
          <p:cNvPicPr>
            <a:picLocks noChangeAspect="1"/>
          </p:cNvPicPr>
          <p:nvPr/>
        </p:nvPicPr>
        <p:blipFill>
          <a:blip r:embed="rId3"/>
          <a:stretch>
            <a:fillRect/>
          </a:stretch>
        </p:blipFill>
        <p:spPr>
          <a:xfrm>
            <a:off x="662286" y="1670909"/>
            <a:ext cx="3730028" cy="2851842"/>
          </a:xfrm>
          <a:prstGeom prst="rect">
            <a:avLst/>
          </a:prstGeom>
        </p:spPr>
      </p:pic>
      <p:pic>
        <p:nvPicPr>
          <p:cNvPr id="11" name="Picture 10">
            <a:extLst>
              <a:ext uri="{FF2B5EF4-FFF2-40B4-BE49-F238E27FC236}">
                <a16:creationId xmlns:a16="http://schemas.microsoft.com/office/drawing/2014/main" id="{45D32B72-5DF9-4232-B2AD-F0641D1700B5}"/>
              </a:ext>
            </a:extLst>
          </p:cNvPr>
          <p:cNvPicPr>
            <a:picLocks noChangeAspect="1"/>
          </p:cNvPicPr>
          <p:nvPr/>
        </p:nvPicPr>
        <p:blipFill>
          <a:blip r:embed="rId4"/>
          <a:stretch>
            <a:fillRect/>
          </a:stretch>
        </p:blipFill>
        <p:spPr>
          <a:xfrm>
            <a:off x="9070118" y="1117312"/>
            <a:ext cx="2867881" cy="2876520"/>
          </a:xfrm>
          <a:prstGeom prst="rect">
            <a:avLst/>
          </a:prstGeom>
        </p:spPr>
      </p:pic>
      <p:sp>
        <p:nvSpPr>
          <p:cNvPr id="13" name="TextBox 12">
            <a:extLst>
              <a:ext uri="{FF2B5EF4-FFF2-40B4-BE49-F238E27FC236}">
                <a16:creationId xmlns:a16="http://schemas.microsoft.com/office/drawing/2014/main" id="{8456741D-C460-4F38-B522-BE88EC1EA1D7}"/>
              </a:ext>
            </a:extLst>
          </p:cNvPr>
          <p:cNvSpPr txBox="1"/>
          <p:nvPr/>
        </p:nvSpPr>
        <p:spPr>
          <a:xfrm>
            <a:off x="149902" y="4489875"/>
            <a:ext cx="11379811" cy="1508105"/>
          </a:xfrm>
          <a:prstGeom prst="rect">
            <a:avLst/>
          </a:prstGeom>
          <a:noFill/>
        </p:spPr>
        <p:txBody>
          <a:bodyPr wrap="square">
            <a:spAutoFit/>
          </a:bodyPr>
          <a:lstStyle/>
          <a:p>
            <a:r>
              <a:rPr lang="en-US" sz="1800" b="0" i="1" u="none" strike="noStrike" baseline="0" dirty="0">
                <a:solidFill>
                  <a:srgbClr val="231F20"/>
                </a:solidFill>
                <a:latin typeface="Times-Italic"/>
              </a:rPr>
              <a:t>The mutual information for noiseless channels is given by</a:t>
            </a:r>
          </a:p>
          <a:p>
            <a:endParaRPr lang="en-US" i="1" dirty="0">
              <a:solidFill>
                <a:srgbClr val="231F20"/>
              </a:solidFill>
              <a:latin typeface="Times-Italic"/>
            </a:endParaRPr>
          </a:p>
          <a:p>
            <a:pPr algn="ctr"/>
            <a:r>
              <a:rPr lang="en-US" sz="2000" b="1" i="1" dirty="0">
                <a:solidFill>
                  <a:srgbClr val="231F20"/>
                </a:solidFill>
                <a:latin typeface="Times-Italic"/>
              </a:rPr>
              <a:t>I(A;B) = H(A)</a:t>
            </a:r>
          </a:p>
          <a:p>
            <a:endParaRPr lang="en-US" i="1" dirty="0">
              <a:solidFill>
                <a:srgbClr val="231F20"/>
              </a:solidFill>
              <a:latin typeface="Times-Italic"/>
            </a:endParaRPr>
          </a:p>
          <a:p>
            <a:pPr algn="l"/>
            <a:r>
              <a:rPr lang="en-US" sz="1800" b="0" i="1" u="none" strike="noStrike" baseline="0" dirty="0">
                <a:solidFill>
                  <a:srgbClr val="231F20"/>
                </a:solidFill>
                <a:latin typeface="Times-Italic"/>
              </a:rPr>
              <a:t>That is, the amount of information provided by the channel is the same as the information sent through the channel.</a:t>
            </a:r>
            <a:endParaRPr lang="en-US" dirty="0"/>
          </a:p>
        </p:txBody>
      </p:sp>
    </p:spTree>
    <p:extLst>
      <p:ext uri="{BB962C8B-B14F-4D97-AF65-F5344CB8AC3E}">
        <p14:creationId xmlns:p14="http://schemas.microsoft.com/office/powerpoint/2010/main" val="64479344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Line 2">
            <a:extLst>
              <a:ext uri="{FF2B5EF4-FFF2-40B4-BE49-F238E27FC236}">
                <a16:creationId xmlns:a16="http://schemas.microsoft.com/office/drawing/2014/main" id="{B80F17A2-967F-4758-B690-15B90FC4B7B2}"/>
              </a:ext>
            </a:extLst>
          </p:cNvPr>
          <p:cNvSpPr>
            <a:spLocks noChangeShapeType="1"/>
          </p:cNvSpPr>
          <p:nvPr/>
        </p:nvSpPr>
        <p:spPr bwMode="auto">
          <a:xfrm>
            <a:off x="0" y="121222"/>
            <a:ext cx="12192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9219" name="Line 3">
            <a:extLst>
              <a:ext uri="{FF2B5EF4-FFF2-40B4-BE49-F238E27FC236}">
                <a16:creationId xmlns:a16="http://schemas.microsoft.com/office/drawing/2014/main" id="{D216B66D-CB10-42AD-A3FB-617EDBA6005A}"/>
              </a:ext>
            </a:extLst>
          </p:cNvPr>
          <p:cNvSpPr>
            <a:spLocks noChangeShapeType="1"/>
          </p:cNvSpPr>
          <p:nvPr/>
        </p:nvSpPr>
        <p:spPr bwMode="auto">
          <a:xfrm flipV="1">
            <a:off x="0" y="959422"/>
            <a:ext cx="12192000" cy="31178"/>
          </a:xfrm>
          <a:prstGeom prst="line">
            <a:avLst/>
          </a:prstGeom>
          <a:noFill/>
          <a:ln w="1905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9220" name="Text Box 4">
            <a:extLst>
              <a:ext uri="{FF2B5EF4-FFF2-40B4-BE49-F238E27FC236}">
                <a16:creationId xmlns:a16="http://schemas.microsoft.com/office/drawing/2014/main" id="{F1A1D0A4-783E-4A5F-9176-6625485B21C2}"/>
              </a:ext>
            </a:extLst>
          </p:cNvPr>
          <p:cNvSpPr txBox="1">
            <a:spLocks noChangeArrowheads="1"/>
          </p:cNvSpPr>
          <p:nvPr/>
        </p:nvSpPr>
        <p:spPr bwMode="auto">
          <a:xfrm>
            <a:off x="0" y="247935"/>
            <a:ext cx="4299575"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algn="l"/>
            <a:r>
              <a:rPr lang="en-US" dirty="0">
                <a:solidFill>
                  <a:srgbClr val="231F20"/>
                </a:solidFill>
                <a:latin typeface="Times-Bold"/>
              </a:rPr>
              <a:t>Deterministic </a:t>
            </a:r>
            <a:r>
              <a:rPr lang="en-US" b="1" i="0" u="none" strike="noStrike" baseline="0" dirty="0">
                <a:solidFill>
                  <a:srgbClr val="231F20"/>
                </a:solidFill>
                <a:latin typeface="Times-Bold"/>
              </a:rPr>
              <a:t>Channels</a:t>
            </a:r>
            <a:endParaRPr lang="en-US" sz="4800" i="0" dirty="0">
              <a:solidFill>
                <a:srgbClr val="000000"/>
              </a:solidFill>
              <a:effectLst/>
              <a:latin typeface="Times New Roman" panose="02020603050405020304" pitchFamily="18" charset="0"/>
              <a:cs typeface="Times New Roman" panose="02020603050405020304" pitchFamily="18" charset="0"/>
            </a:endParaRPr>
          </a:p>
        </p:txBody>
      </p:sp>
      <p:sp>
        <p:nvSpPr>
          <p:cNvPr id="9221" name="Line 5">
            <a:extLst>
              <a:ext uri="{FF2B5EF4-FFF2-40B4-BE49-F238E27FC236}">
                <a16:creationId xmlns:a16="http://schemas.microsoft.com/office/drawing/2014/main" id="{813B641B-59D1-4F94-8787-5406583E7085}"/>
              </a:ext>
            </a:extLst>
          </p:cNvPr>
          <p:cNvSpPr>
            <a:spLocks noChangeShapeType="1"/>
          </p:cNvSpPr>
          <p:nvPr/>
        </p:nvSpPr>
        <p:spPr bwMode="auto">
          <a:xfrm flipV="1">
            <a:off x="0" y="6703102"/>
            <a:ext cx="12192000" cy="31178"/>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9" name="TextBox 8">
            <a:extLst>
              <a:ext uri="{FF2B5EF4-FFF2-40B4-BE49-F238E27FC236}">
                <a16:creationId xmlns:a16="http://schemas.microsoft.com/office/drawing/2014/main" id="{0083D19A-9286-42E1-86BC-089823FFD167}"/>
              </a:ext>
            </a:extLst>
          </p:cNvPr>
          <p:cNvSpPr txBox="1"/>
          <p:nvPr/>
        </p:nvSpPr>
        <p:spPr>
          <a:xfrm>
            <a:off x="149903" y="1117312"/>
            <a:ext cx="8676597" cy="2031325"/>
          </a:xfrm>
          <a:prstGeom prst="rect">
            <a:avLst/>
          </a:prstGeom>
          <a:noFill/>
        </p:spPr>
        <p:txBody>
          <a:bodyPr wrap="square">
            <a:spAutoFit/>
          </a:bodyPr>
          <a:lstStyle/>
          <a:p>
            <a:pPr algn="l"/>
            <a:r>
              <a:rPr lang="en-US" i="1" dirty="0">
                <a:solidFill>
                  <a:srgbClr val="231F20"/>
                </a:solidFill>
                <a:latin typeface="Times-Italic"/>
              </a:rPr>
              <a:t>A channel in which there are at least as many input symbols as output symbols, but in which each of the input symbols is capable of producing only one of the output symbols is called a deterministic channel. </a:t>
            </a:r>
          </a:p>
          <a:p>
            <a:pPr algn="l"/>
            <a:endParaRPr lang="en-US" i="1" dirty="0">
              <a:solidFill>
                <a:srgbClr val="231F20"/>
              </a:solidFill>
              <a:latin typeface="Times-Italic"/>
            </a:endParaRPr>
          </a:p>
          <a:p>
            <a:pPr algn="l"/>
            <a:r>
              <a:rPr lang="en-US" i="1" dirty="0">
                <a:solidFill>
                  <a:srgbClr val="231F20"/>
                </a:solidFill>
                <a:latin typeface="Times-Italic"/>
              </a:rPr>
              <a:t>The channel matrix of a deterministic channel has the property that there is one, and only one, non-zero element in each row, and since the entries along each row must sum to 1, that non-zero element is equal to 1</a:t>
            </a:r>
            <a:r>
              <a:rPr lang="en-US" sz="1800" b="0" i="1" u="none" strike="noStrike" baseline="0" dirty="0">
                <a:solidFill>
                  <a:srgbClr val="231F20"/>
                </a:solidFill>
                <a:latin typeface="Times-Italic"/>
              </a:rPr>
              <a:t>.</a:t>
            </a:r>
            <a:endParaRPr lang="en-US" sz="2000" dirty="0">
              <a:solidFill>
                <a:srgbClr val="202122"/>
              </a:solidFill>
              <a:latin typeface="Arial" panose="020B0604020202020204" pitchFamily="34" charset="0"/>
            </a:endParaRPr>
          </a:p>
        </p:txBody>
      </p:sp>
      <p:pic>
        <p:nvPicPr>
          <p:cNvPr id="2" name="Picture 1">
            <a:extLst>
              <a:ext uri="{FF2B5EF4-FFF2-40B4-BE49-F238E27FC236}">
                <a16:creationId xmlns:a16="http://schemas.microsoft.com/office/drawing/2014/main" id="{B33DAE96-ED60-4FF0-887C-12C78EF90D0D}"/>
              </a:ext>
            </a:extLst>
          </p:cNvPr>
          <p:cNvPicPr>
            <a:picLocks noChangeAspect="1"/>
          </p:cNvPicPr>
          <p:nvPr/>
        </p:nvPicPr>
        <p:blipFill>
          <a:blip r:embed="rId3"/>
          <a:stretch>
            <a:fillRect/>
          </a:stretch>
        </p:blipFill>
        <p:spPr>
          <a:xfrm>
            <a:off x="9082260" y="1194889"/>
            <a:ext cx="2716040" cy="3069125"/>
          </a:xfrm>
          <a:prstGeom prst="rect">
            <a:avLst/>
          </a:prstGeom>
        </p:spPr>
      </p:pic>
      <p:pic>
        <p:nvPicPr>
          <p:cNvPr id="3" name="Picture 2">
            <a:extLst>
              <a:ext uri="{FF2B5EF4-FFF2-40B4-BE49-F238E27FC236}">
                <a16:creationId xmlns:a16="http://schemas.microsoft.com/office/drawing/2014/main" id="{94DDC9EB-32C8-48CE-832E-9FB1A1F1BAFB}"/>
              </a:ext>
            </a:extLst>
          </p:cNvPr>
          <p:cNvPicPr>
            <a:picLocks noChangeAspect="1"/>
          </p:cNvPicPr>
          <p:nvPr/>
        </p:nvPicPr>
        <p:blipFill>
          <a:blip r:embed="rId4"/>
          <a:stretch>
            <a:fillRect/>
          </a:stretch>
        </p:blipFill>
        <p:spPr>
          <a:xfrm>
            <a:off x="2598344" y="3105642"/>
            <a:ext cx="4742256" cy="2316744"/>
          </a:xfrm>
          <a:prstGeom prst="rect">
            <a:avLst/>
          </a:prstGeom>
        </p:spPr>
      </p:pic>
      <p:sp>
        <p:nvSpPr>
          <p:cNvPr id="14" name="TextBox 13">
            <a:extLst>
              <a:ext uri="{FF2B5EF4-FFF2-40B4-BE49-F238E27FC236}">
                <a16:creationId xmlns:a16="http://schemas.microsoft.com/office/drawing/2014/main" id="{545157B7-6133-40B4-AEC4-E3879D0F6E88}"/>
              </a:ext>
            </a:extLst>
          </p:cNvPr>
          <p:cNvSpPr txBox="1"/>
          <p:nvPr/>
        </p:nvSpPr>
        <p:spPr>
          <a:xfrm>
            <a:off x="441324" y="5568947"/>
            <a:ext cx="10683875" cy="369332"/>
          </a:xfrm>
          <a:prstGeom prst="rect">
            <a:avLst/>
          </a:prstGeom>
          <a:noFill/>
        </p:spPr>
        <p:txBody>
          <a:bodyPr wrap="square">
            <a:spAutoFit/>
          </a:bodyPr>
          <a:lstStyle/>
          <a:p>
            <a:pPr marL="285750" indent="-285750" algn="l">
              <a:buFont typeface="Arial" panose="020B0604020202020204" pitchFamily="34" charset="0"/>
              <a:buChar char="•"/>
            </a:pPr>
            <a:r>
              <a:rPr lang="en-US" dirty="0">
                <a:solidFill>
                  <a:srgbClr val="FF0000"/>
                </a:solidFill>
                <a:latin typeface="Times-Roman"/>
              </a:rPr>
              <a:t>T</a:t>
            </a:r>
            <a:r>
              <a:rPr lang="en-US" sz="1800" b="0" i="0" u="none" strike="noStrike" baseline="0" dirty="0">
                <a:solidFill>
                  <a:srgbClr val="FF0000"/>
                </a:solidFill>
                <a:latin typeface="Times-Roman"/>
              </a:rPr>
              <a:t>here is only one nonzero element in each row and that the element   is 1.</a:t>
            </a:r>
            <a:endParaRPr lang="en-US" dirty="0">
              <a:solidFill>
                <a:srgbClr val="FF0000"/>
              </a:solidFill>
            </a:endParaRPr>
          </a:p>
        </p:txBody>
      </p:sp>
    </p:spTree>
    <p:extLst>
      <p:ext uri="{BB962C8B-B14F-4D97-AF65-F5344CB8AC3E}">
        <p14:creationId xmlns:p14="http://schemas.microsoft.com/office/powerpoint/2010/main" val="293377287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Line 2">
            <a:extLst>
              <a:ext uri="{FF2B5EF4-FFF2-40B4-BE49-F238E27FC236}">
                <a16:creationId xmlns:a16="http://schemas.microsoft.com/office/drawing/2014/main" id="{B80F17A2-967F-4758-B690-15B90FC4B7B2}"/>
              </a:ext>
            </a:extLst>
          </p:cNvPr>
          <p:cNvSpPr>
            <a:spLocks noChangeShapeType="1"/>
          </p:cNvSpPr>
          <p:nvPr/>
        </p:nvSpPr>
        <p:spPr bwMode="auto">
          <a:xfrm>
            <a:off x="0" y="121222"/>
            <a:ext cx="12192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9219" name="Line 3">
            <a:extLst>
              <a:ext uri="{FF2B5EF4-FFF2-40B4-BE49-F238E27FC236}">
                <a16:creationId xmlns:a16="http://schemas.microsoft.com/office/drawing/2014/main" id="{D216B66D-CB10-42AD-A3FB-617EDBA6005A}"/>
              </a:ext>
            </a:extLst>
          </p:cNvPr>
          <p:cNvSpPr>
            <a:spLocks noChangeShapeType="1"/>
          </p:cNvSpPr>
          <p:nvPr/>
        </p:nvSpPr>
        <p:spPr bwMode="auto">
          <a:xfrm flipV="1">
            <a:off x="0" y="959422"/>
            <a:ext cx="12192000" cy="31178"/>
          </a:xfrm>
          <a:prstGeom prst="line">
            <a:avLst/>
          </a:prstGeom>
          <a:noFill/>
          <a:ln w="1905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9220" name="Text Box 4">
            <a:extLst>
              <a:ext uri="{FF2B5EF4-FFF2-40B4-BE49-F238E27FC236}">
                <a16:creationId xmlns:a16="http://schemas.microsoft.com/office/drawing/2014/main" id="{F1A1D0A4-783E-4A5F-9176-6625485B21C2}"/>
              </a:ext>
            </a:extLst>
          </p:cNvPr>
          <p:cNvSpPr txBox="1">
            <a:spLocks noChangeArrowheads="1"/>
          </p:cNvSpPr>
          <p:nvPr/>
        </p:nvSpPr>
        <p:spPr bwMode="auto">
          <a:xfrm>
            <a:off x="0" y="247935"/>
            <a:ext cx="4299575"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algn="l"/>
            <a:r>
              <a:rPr lang="en-US" dirty="0">
                <a:solidFill>
                  <a:srgbClr val="231F20"/>
                </a:solidFill>
                <a:latin typeface="Times-Bold"/>
              </a:rPr>
              <a:t>Deterministic </a:t>
            </a:r>
            <a:r>
              <a:rPr lang="en-US" b="1" i="0" u="none" strike="noStrike" baseline="0" dirty="0">
                <a:solidFill>
                  <a:srgbClr val="231F20"/>
                </a:solidFill>
                <a:latin typeface="Times-Bold"/>
              </a:rPr>
              <a:t>Channels</a:t>
            </a:r>
            <a:endParaRPr lang="en-US" sz="4800" i="0" dirty="0">
              <a:solidFill>
                <a:srgbClr val="000000"/>
              </a:solidFill>
              <a:effectLst/>
              <a:latin typeface="Times New Roman" panose="02020603050405020304" pitchFamily="18" charset="0"/>
              <a:cs typeface="Times New Roman" panose="02020603050405020304" pitchFamily="18" charset="0"/>
            </a:endParaRPr>
          </a:p>
        </p:txBody>
      </p:sp>
      <p:sp>
        <p:nvSpPr>
          <p:cNvPr id="9221" name="Line 5">
            <a:extLst>
              <a:ext uri="{FF2B5EF4-FFF2-40B4-BE49-F238E27FC236}">
                <a16:creationId xmlns:a16="http://schemas.microsoft.com/office/drawing/2014/main" id="{813B641B-59D1-4F94-8787-5406583E7085}"/>
              </a:ext>
            </a:extLst>
          </p:cNvPr>
          <p:cNvSpPr>
            <a:spLocks noChangeShapeType="1"/>
          </p:cNvSpPr>
          <p:nvPr/>
        </p:nvSpPr>
        <p:spPr bwMode="auto">
          <a:xfrm flipV="1">
            <a:off x="0" y="6703102"/>
            <a:ext cx="12192000" cy="31178"/>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9" name="TextBox 8">
            <a:extLst>
              <a:ext uri="{FF2B5EF4-FFF2-40B4-BE49-F238E27FC236}">
                <a16:creationId xmlns:a16="http://schemas.microsoft.com/office/drawing/2014/main" id="{0083D19A-9286-42E1-86BC-089823FFD167}"/>
              </a:ext>
            </a:extLst>
          </p:cNvPr>
          <p:cNvSpPr txBox="1"/>
          <p:nvPr/>
        </p:nvSpPr>
        <p:spPr>
          <a:xfrm>
            <a:off x="149903" y="1117312"/>
            <a:ext cx="8676597" cy="369332"/>
          </a:xfrm>
          <a:prstGeom prst="rect">
            <a:avLst/>
          </a:prstGeom>
          <a:noFill/>
        </p:spPr>
        <p:txBody>
          <a:bodyPr wrap="square">
            <a:spAutoFit/>
          </a:bodyPr>
          <a:lstStyle/>
          <a:p>
            <a:pPr algn="l"/>
            <a:r>
              <a:rPr lang="en-US" dirty="0">
                <a:solidFill>
                  <a:srgbClr val="231F20"/>
                </a:solidFill>
                <a:latin typeface="Times-Roman"/>
              </a:rPr>
              <a:t>M</a:t>
            </a:r>
            <a:r>
              <a:rPr lang="en-US" sz="1800" b="0" i="0" u="none" strike="noStrike" baseline="0" dirty="0">
                <a:solidFill>
                  <a:srgbClr val="231F20"/>
                </a:solidFill>
                <a:latin typeface="Times-Roman"/>
              </a:rPr>
              <a:t>utual </a:t>
            </a:r>
            <a:r>
              <a:rPr lang="en-US" dirty="0">
                <a:solidFill>
                  <a:srgbClr val="231F20"/>
                </a:solidFill>
                <a:latin typeface="Times-Roman"/>
              </a:rPr>
              <a:t>I</a:t>
            </a:r>
            <a:r>
              <a:rPr lang="en-US" sz="1800" b="0" i="0" u="none" strike="noStrike" baseline="0" dirty="0">
                <a:solidFill>
                  <a:srgbClr val="231F20"/>
                </a:solidFill>
                <a:latin typeface="Times-Roman"/>
              </a:rPr>
              <a:t>nformation through a deterministic channel</a:t>
            </a:r>
            <a:endParaRPr lang="en-US" sz="2000" dirty="0">
              <a:solidFill>
                <a:srgbClr val="202122"/>
              </a:solidFill>
              <a:latin typeface="Arial" panose="020B0604020202020204" pitchFamily="34" charset="0"/>
            </a:endParaRPr>
          </a:p>
        </p:txBody>
      </p:sp>
      <p:pic>
        <p:nvPicPr>
          <p:cNvPr id="10" name="Picture 9">
            <a:extLst>
              <a:ext uri="{FF2B5EF4-FFF2-40B4-BE49-F238E27FC236}">
                <a16:creationId xmlns:a16="http://schemas.microsoft.com/office/drawing/2014/main" id="{CC12DBB5-B365-463E-9407-602F348774FA}"/>
              </a:ext>
            </a:extLst>
          </p:cNvPr>
          <p:cNvPicPr>
            <a:picLocks noChangeAspect="1"/>
          </p:cNvPicPr>
          <p:nvPr/>
        </p:nvPicPr>
        <p:blipFill>
          <a:blip r:embed="rId3"/>
          <a:stretch>
            <a:fillRect/>
          </a:stretch>
        </p:blipFill>
        <p:spPr>
          <a:xfrm>
            <a:off x="9372600" y="1194889"/>
            <a:ext cx="2425700" cy="2741041"/>
          </a:xfrm>
          <a:prstGeom prst="rect">
            <a:avLst/>
          </a:prstGeom>
        </p:spPr>
      </p:pic>
      <p:pic>
        <p:nvPicPr>
          <p:cNvPr id="4" name="Picture 3">
            <a:extLst>
              <a:ext uri="{FF2B5EF4-FFF2-40B4-BE49-F238E27FC236}">
                <a16:creationId xmlns:a16="http://schemas.microsoft.com/office/drawing/2014/main" id="{A0CF3E44-6A9D-49A3-9753-97C4DB9FB188}"/>
              </a:ext>
            </a:extLst>
          </p:cNvPr>
          <p:cNvPicPr>
            <a:picLocks noChangeAspect="1"/>
          </p:cNvPicPr>
          <p:nvPr/>
        </p:nvPicPr>
        <p:blipFill>
          <a:blip r:embed="rId4"/>
          <a:stretch>
            <a:fillRect/>
          </a:stretch>
        </p:blipFill>
        <p:spPr>
          <a:xfrm>
            <a:off x="1166514" y="1674019"/>
            <a:ext cx="4074848" cy="1646403"/>
          </a:xfrm>
          <a:prstGeom prst="rect">
            <a:avLst/>
          </a:prstGeom>
        </p:spPr>
      </p:pic>
      <p:pic>
        <p:nvPicPr>
          <p:cNvPr id="5" name="Picture 4">
            <a:extLst>
              <a:ext uri="{FF2B5EF4-FFF2-40B4-BE49-F238E27FC236}">
                <a16:creationId xmlns:a16="http://schemas.microsoft.com/office/drawing/2014/main" id="{480ACEF1-0A2C-43C1-98D5-8755A80BA651}"/>
              </a:ext>
            </a:extLst>
          </p:cNvPr>
          <p:cNvPicPr>
            <a:picLocks noChangeAspect="1"/>
          </p:cNvPicPr>
          <p:nvPr/>
        </p:nvPicPr>
        <p:blipFill>
          <a:blip r:embed="rId5"/>
          <a:stretch>
            <a:fillRect/>
          </a:stretch>
        </p:blipFill>
        <p:spPr>
          <a:xfrm>
            <a:off x="1166513" y="3537577"/>
            <a:ext cx="4273149" cy="602623"/>
          </a:xfrm>
          <a:prstGeom prst="rect">
            <a:avLst/>
          </a:prstGeom>
        </p:spPr>
      </p:pic>
      <p:sp>
        <p:nvSpPr>
          <p:cNvPr id="12" name="TextBox 11">
            <a:extLst>
              <a:ext uri="{FF2B5EF4-FFF2-40B4-BE49-F238E27FC236}">
                <a16:creationId xmlns:a16="http://schemas.microsoft.com/office/drawing/2014/main" id="{342FB137-8DEB-404E-8AC3-D06761463490}"/>
              </a:ext>
            </a:extLst>
          </p:cNvPr>
          <p:cNvSpPr txBox="1"/>
          <p:nvPr/>
        </p:nvSpPr>
        <p:spPr>
          <a:xfrm>
            <a:off x="149902" y="4489875"/>
            <a:ext cx="11379811" cy="1508105"/>
          </a:xfrm>
          <a:prstGeom prst="rect">
            <a:avLst/>
          </a:prstGeom>
          <a:noFill/>
        </p:spPr>
        <p:txBody>
          <a:bodyPr wrap="square">
            <a:spAutoFit/>
          </a:bodyPr>
          <a:lstStyle/>
          <a:p>
            <a:r>
              <a:rPr lang="en-US" sz="1800" b="0" i="1" u="none" strike="noStrike" baseline="0" dirty="0">
                <a:solidFill>
                  <a:srgbClr val="231F20"/>
                </a:solidFill>
                <a:latin typeface="Times-Italic"/>
              </a:rPr>
              <a:t>The mutual information for noiseless channels is given by</a:t>
            </a:r>
          </a:p>
          <a:p>
            <a:endParaRPr lang="en-US" i="1" dirty="0">
              <a:solidFill>
                <a:srgbClr val="231F20"/>
              </a:solidFill>
              <a:latin typeface="Times-Italic"/>
            </a:endParaRPr>
          </a:p>
          <a:p>
            <a:pPr algn="ctr"/>
            <a:r>
              <a:rPr lang="en-US" sz="2000" b="1" i="1" dirty="0">
                <a:solidFill>
                  <a:srgbClr val="231F20"/>
                </a:solidFill>
                <a:latin typeface="Times-Italic"/>
              </a:rPr>
              <a:t>I(A;B) = H(B)</a:t>
            </a:r>
          </a:p>
          <a:p>
            <a:endParaRPr lang="en-US" i="1" dirty="0">
              <a:solidFill>
                <a:srgbClr val="231F20"/>
              </a:solidFill>
              <a:latin typeface="Times-Italic"/>
            </a:endParaRPr>
          </a:p>
          <a:p>
            <a:pPr algn="l"/>
            <a:r>
              <a:rPr lang="en-US" sz="1800" b="0" i="1" u="none" strike="noStrike" baseline="0" dirty="0">
                <a:solidFill>
                  <a:srgbClr val="231F20"/>
                </a:solidFill>
                <a:latin typeface="Times-Italic"/>
              </a:rPr>
              <a:t>That is, the amount of information provided by the channel is the same as </a:t>
            </a:r>
            <a:r>
              <a:rPr lang="en-US" sz="1800" b="0" i="1" u="none" strike="noStrike" baseline="0" dirty="0" err="1">
                <a:solidFill>
                  <a:srgbClr val="231F20"/>
                </a:solidFill>
                <a:latin typeface="Times-Italic"/>
              </a:rPr>
              <a:t>theinformation</a:t>
            </a:r>
            <a:r>
              <a:rPr lang="en-US" sz="1800" b="0" i="1" u="none" strike="noStrike" baseline="0" dirty="0">
                <a:solidFill>
                  <a:srgbClr val="231F20"/>
                </a:solidFill>
                <a:latin typeface="Times-Italic"/>
              </a:rPr>
              <a:t> produced by the channel output</a:t>
            </a:r>
            <a:endParaRPr lang="en-US" dirty="0"/>
          </a:p>
        </p:txBody>
      </p:sp>
    </p:spTree>
    <p:extLst>
      <p:ext uri="{BB962C8B-B14F-4D97-AF65-F5344CB8AC3E}">
        <p14:creationId xmlns:p14="http://schemas.microsoft.com/office/powerpoint/2010/main" val="114823302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Line 2">
            <a:extLst>
              <a:ext uri="{FF2B5EF4-FFF2-40B4-BE49-F238E27FC236}">
                <a16:creationId xmlns:a16="http://schemas.microsoft.com/office/drawing/2014/main" id="{B80F17A2-967F-4758-B690-15B90FC4B7B2}"/>
              </a:ext>
            </a:extLst>
          </p:cNvPr>
          <p:cNvSpPr>
            <a:spLocks noChangeShapeType="1"/>
          </p:cNvSpPr>
          <p:nvPr/>
        </p:nvSpPr>
        <p:spPr bwMode="auto">
          <a:xfrm>
            <a:off x="0" y="121222"/>
            <a:ext cx="12192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9219" name="Line 3">
            <a:extLst>
              <a:ext uri="{FF2B5EF4-FFF2-40B4-BE49-F238E27FC236}">
                <a16:creationId xmlns:a16="http://schemas.microsoft.com/office/drawing/2014/main" id="{D216B66D-CB10-42AD-A3FB-617EDBA6005A}"/>
              </a:ext>
            </a:extLst>
          </p:cNvPr>
          <p:cNvSpPr>
            <a:spLocks noChangeShapeType="1"/>
          </p:cNvSpPr>
          <p:nvPr/>
        </p:nvSpPr>
        <p:spPr bwMode="auto">
          <a:xfrm flipV="1">
            <a:off x="0" y="959422"/>
            <a:ext cx="12192000" cy="31178"/>
          </a:xfrm>
          <a:prstGeom prst="line">
            <a:avLst/>
          </a:prstGeom>
          <a:noFill/>
          <a:ln w="1905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9220" name="Text Box 4">
            <a:extLst>
              <a:ext uri="{FF2B5EF4-FFF2-40B4-BE49-F238E27FC236}">
                <a16:creationId xmlns:a16="http://schemas.microsoft.com/office/drawing/2014/main" id="{F1A1D0A4-783E-4A5F-9176-6625485B21C2}"/>
              </a:ext>
            </a:extLst>
          </p:cNvPr>
          <p:cNvSpPr txBox="1">
            <a:spLocks noChangeArrowheads="1"/>
          </p:cNvSpPr>
          <p:nvPr/>
        </p:nvSpPr>
        <p:spPr bwMode="auto">
          <a:xfrm>
            <a:off x="0" y="247935"/>
            <a:ext cx="3616696"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algn="l"/>
            <a:r>
              <a:rPr lang="en-US" dirty="0">
                <a:solidFill>
                  <a:srgbClr val="231F20"/>
                </a:solidFill>
                <a:latin typeface="Times-Bold"/>
              </a:rPr>
              <a:t>Cascaded </a:t>
            </a:r>
            <a:r>
              <a:rPr lang="en-US" b="1" i="0" u="none" strike="noStrike" baseline="0" dirty="0">
                <a:solidFill>
                  <a:srgbClr val="231F20"/>
                </a:solidFill>
                <a:latin typeface="Times-Bold"/>
              </a:rPr>
              <a:t>Channels</a:t>
            </a:r>
            <a:endParaRPr lang="en-US" sz="4800" i="0" dirty="0">
              <a:solidFill>
                <a:srgbClr val="000000"/>
              </a:solidFill>
              <a:effectLst/>
              <a:latin typeface="Times New Roman" panose="02020603050405020304" pitchFamily="18" charset="0"/>
              <a:cs typeface="Times New Roman" panose="02020603050405020304" pitchFamily="18" charset="0"/>
            </a:endParaRPr>
          </a:p>
        </p:txBody>
      </p:sp>
      <p:sp>
        <p:nvSpPr>
          <p:cNvPr id="9221" name="Line 5">
            <a:extLst>
              <a:ext uri="{FF2B5EF4-FFF2-40B4-BE49-F238E27FC236}">
                <a16:creationId xmlns:a16="http://schemas.microsoft.com/office/drawing/2014/main" id="{813B641B-59D1-4F94-8787-5406583E7085}"/>
              </a:ext>
            </a:extLst>
          </p:cNvPr>
          <p:cNvSpPr>
            <a:spLocks noChangeShapeType="1"/>
          </p:cNvSpPr>
          <p:nvPr/>
        </p:nvSpPr>
        <p:spPr bwMode="auto">
          <a:xfrm flipV="1">
            <a:off x="0" y="6703102"/>
            <a:ext cx="12192000" cy="31178"/>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pic>
        <p:nvPicPr>
          <p:cNvPr id="2" name="Picture 1">
            <a:extLst>
              <a:ext uri="{FF2B5EF4-FFF2-40B4-BE49-F238E27FC236}">
                <a16:creationId xmlns:a16="http://schemas.microsoft.com/office/drawing/2014/main" id="{651458C4-4FEB-40CA-A5CD-AC3AC0321E8E}"/>
              </a:ext>
            </a:extLst>
          </p:cNvPr>
          <p:cNvPicPr>
            <a:picLocks noChangeAspect="1"/>
          </p:cNvPicPr>
          <p:nvPr/>
        </p:nvPicPr>
        <p:blipFill>
          <a:blip r:embed="rId3"/>
          <a:stretch>
            <a:fillRect/>
          </a:stretch>
        </p:blipFill>
        <p:spPr>
          <a:xfrm>
            <a:off x="5648325" y="1390650"/>
            <a:ext cx="6543675" cy="2038350"/>
          </a:xfrm>
          <a:prstGeom prst="rect">
            <a:avLst/>
          </a:prstGeom>
        </p:spPr>
      </p:pic>
      <p:sp>
        <p:nvSpPr>
          <p:cNvPr id="13" name="TextBox 12">
            <a:extLst>
              <a:ext uri="{FF2B5EF4-FFF2-40B4-BE49-F238E27FC236}">
                <a16:creationId xmlns:a16="http://schemas.microsoft.com/office/drawing/2014/main" id="{D163D953-8381-424B-97FA-D4E7E7C6D699}"/>
              </a:ext>
            </a:extLst>
          </p:cNvPr>
          <p:cNvSpPr txBox="1"/>
          <p:nvPr/>
        </p:nvSpPr>
        <p:spPr>
          <a:xfrm>
            <a:off x="93663" y="1016095"/>
            <a:ext cx="6191250" cy="2308324"/>
          </a:xfrm>
          <a:prstGeom prst="rect">
            <a:avLst/>
          </a:prstGeom>
          <a:noFill/>
        </p:spPr>
        <p:txBody>
          <a:bodyPr wrap="square">
            <a:spAutoFit/>
          </a:bodyPr>
          <a:lstStyle/>
          <a:p>
            <a:r>
              <a:rPr lang="en-US" sz="1800" b="0" i="0" u="none" strike="noStrike" baseline="0" dirty="0">
                <a:solidFill>
                  <a:srgbClr val="231F20"/>
                </a:solidFill>
                <a:latin typeface="Times-Roman"/>
              </a:rPr>
              <a:t>Output of channel AB is connected to the input of channel BC.</a:t>
            </a:r>
          </a:p>
          <a:p>
            <a:endParaRPr lang="en-US" sz="1800" b="0" i="0" u="none" strike="noStrike" baseline="0" dirty="0">
              <a:solidFill>
                <a:srgbClr val="231F20"/>
              </a:solidFill>
              <a:latin typeface="Times-Roman"/>
            </a:endParaRPr>
          </a:p>
          <a:p>
            <a:r>
              <a:rPr lang="en-US" sz="1800" b="0" i="0" u="none" strike="noStrike" baseline="0" dirty="0">
                <a:solidFill>
                  <a:srgbClr val="231F20"/>
                </a:solidFill>
                <a:latin typeface="Times-Roman"/>
              </a:rPr>
              <a:t>Say the input symbol</a:t>
            </a:r>
            <a:r>
              <a:rPr lang="en-US" dirty="0">
                <a:solidFill>
                  <a:srgbClr val="231F20"/>
                </a:solidFill>
                <a:latin typeface="Times-Roman"/>
              </a:rPr>
              <a:t> a</a:t>
            </a:r>
            <a:r>
              <a:rPr lang="en-US" baseline="-25000" dirty="0">
                <a:solidFill>
                  <a:srgbClr val="231F20"/>
                </a:solidFill>
                <a:latin typeface="Times-Roman"/>
              </a:rPr>
              <a:t>i  </a:t>
            </a:r>
            <a:r>
              <a:rPr lang="en-US" sz="1800" b="0" i="0" u="none" strike="noStrike" baseline="0" dirty="0">
                <a:solidFill>
                  <a:srgbClr val="231F20"/>
                </a:solidFill>
                <a:latin typeface="Times-Roman"/>
              </a:rPr>
              <a:t>is transmitted through channel AB,</a:t>
            </a:r>
          </a:p>
          <a:p>
            <a:r>
              <a:rPr lang="en-US" sz="1800" b="0" i="0" u="none" strike="noStrike" baseline="0" dirty="0">
                <a:solidFill>
                  <a:srgbClr val="231F20"/>
                </a:solidFill>
                <a:latin typeface="Times-Roman"/>
              </a:rPr>
              <a:t>and this produces</a:t>
            </a:r>
            <a:r>
              <a:rPr lang="en-US" dirty="0">
                <a:solidFill>
                  <a:srgbClr val="231F20"/>
                </a:solidFill>
                <a:latin typeface="Times-Roman"/>
              </a:rPr>
              <a:t> </a:t>
            </a:r>
            <a:r>
              <a:rPr lang="en-US" dirty="0" err="1">
                <a:solidFill>
                  <a:srgbClr val="231F20"/>
                </a:solidFill>
                <a:latin typeface="Times-Roman"/>
              </a:rPr>
              <a:t>b</a:t>
            </a:r>
            <a:r>
              <a:rPr lang="en-US" baseline="-25000" dirty="0" err="1">
                <a:solidFill>
                  <a:srgbClr val="231F20"/>
                </a:solidFill>
                <a:latin typeface="Times-Roman"/>
              </a:rPr>
              <a:t>j</a:t>
            </a:r>
            <a:r>
              <a:rPr lang="en-US" baseline="-25000" dirty="0">
                <a:solidFill>
                  <a:srgbClr val="231F20"/>
                </a:solidFill>
                <a:latin typeface="Times-Roman"/>
              </a:rPr>
              <a:t> </a:t>
            </a:r>
            <a:r>
              <a:rPr lang="en-US" sz="1800" b="0" i="0" u="none" strike="noStrike" baseline="0" dirty="0">
                <a:solidFill>
                  <a:srgbClr val="231F20"/>
                </a:solidFill>
                <a:latin typeface="Times-Roman"/>
              </a:rPr>
              <a:t>as the output from channel</a:t>
            </a:r>
            <a:r>
              <a:rPr lang="en-US" sz="1800" b="0" i="0" u="none" strike="noStrike" baseline="-25000" dirty="0">
                <a:solidFill>
                  <a:srgbClr val="231F20"/>
                </a:solidFill>
                <a:latin typeface="Times-Roman"/>
              </a:rPr>
              <a:t> </a:t>
            </a:r>
            <a:r>
              <a:rPr lang="en-US" dirty="0">
                <a:solidFill>
                  <a:srgbClr val="231F20"/>
                </a:solidFill>
                <a:latin typeface="Times-Roman"/>
              </a:rPr>
              <a:t>AB. </a:t>
            </a:r>
          </a:p>
          <a:p>
            <a:pPr algn="l"/>
            <a:r>
              <a:rPr lang="en-US" sz="1800" b="0" i="0" u="none" strike="noStrike" baseline="0" dirty="0">
                <a:solidFill>
                  <a:srgbClr val="231F20"/>
                </a:solidFill>
                <a:latin typeface="Times-Roman"/>
              </a:rPr>
              <a:t>Then </a:t>
            </a:r>
            <a:r>
              <a:rPr lang="en-US" sz="1800" b="0" i="0" u="none" strike="noStrike" baseline="0" dirty="0" err="1">
                <a:solidFill>
                  <a:srgbClr val="231F20"/>
                </a:solidFill>
                <a:latin typeface="Times-Roman"/>
              </a:rPr>
              <a:t>b</a:t>
            </a:r>
            <a:r>
              <a:rPr lang="en-US" sz="1800" b="0" i="0" u="none" strike="noStrike" baseline="-25000" dirty="0" err="1">
                <a:solidFill>
                  <a:srgbClr val="231F20"/>
                </a:solidFill>
                <a:latin typeface="Times-Roman"/>
              </a:rPr>
              <a:t>j</a:t>
            </a:r>
            <a:r>
              <a:rPr lang="en-US" sz="1800" b="0" i="0" u="none" strike="noStrike" baseline="0" dirty="0">
                <a:solidFill>
                  <a:srgbClr val="231F20"/>
                </a:solidFill>
                <a:latin typeface="Times-Roman"/>
              </a:rPr>
              <a:t> forms the input to channel BC which,</a:t>
            </a:r>
          </a:p>
          <a:p>
            <a:pPr algn="l"/>
            <a:r>
              <a:rPr lang="en-US" sz="1800" b="0" i="0" u="none" strike="noStrike" baseline="0" dirty="0">
                <a:solidFill>
                  <a:srgbClr val="231F20"/>
                </a:solidFill>
                <a:latin typeface="Times-Roman"/>
              </a:rPr>
              <a:t>in turn, produces c</a:t>
            </a:r>
            <a:r>
              <a:rPr lang="en-US" sz="1800" b="0" i="0" u="none" strike="noStrike" baseline="-25000" dirty="0">
                <a:solidFill>
                  <a:srgbClr val="231F20"/>
                </a:solidFill>
                <a:latin typeface="Times-Roman"/>
              </a:rPr>
              <a:t>k</a:t>
            </a:r>
            <a:r>
              <a:rPr lang="en-US" sz="1800" b="0" i="0" u="none" strike="noStrike" baseline="0" dirty="0">
                <a:solidFill>
                  <a:srgbClr val="231F20"/>
                </a:solidFill>
                <a:latin typeface="Times-Roman"/>
              </a:rPr>
              <a:t> as the output from channel BC.</a:t>
            </a:r>
          </a:p>
          <a:p>
            <a:pPr algn="l"/>
            <a:endParaRPr lang="en-US" dirty="0">
              <a:solidFill>
                <a:srgbClr val="231F20"/>
              </a:solidFill>
              <a:latin typeface="Times-Roman"/>
            </a:endParaRPr>
          </a:p>
          <a:p>
            <a:pPr algn="l"/>
            <a:r>
              <a:rPr lang="en-US" dirty="0">
                <a:solidFill>
                  <a:srgbClr val="231F20"/>
                </a:solidFill>
                <a:latin typeface="Times-Roman"/>
              </a:rPr>
              <a:t>The output </a:t>
            </a:r>
            <a:r>
              <a:rPr lang="en-US" sz="1800" b="0" i="0" u="none" strike="noStrike" baseline="0" dirty="0">
                <a:solidFill>
                  <a:srgbClr val="231F20"/>
                </a:solidFill>
                <a:latin typeface="Times-Roman"/>
              </a:rPr>
              <a:t>c</a:t>
            </a:r>
            <a:r>
              <a:rPr lang="en-US" sz="1800" b="0" i="0" u="none" strike="noStrike" baseline="-25000" dirty="0">
                <a:solidFill>
                  <a:srgbClr val="231F20"/>
                </a:solidFill>
                <a:latin typeface="Times-Roman"/>
              </a:rPr>
              <a:t>k </a:t>
            </a:r>
            <a:r>
              <a:rPr lang="en-US" sz="1800" b="0" i="0" u="none" strike="noStrike" dirty="0">
                <a:solidFill>
                  <a:srgbClr val="231F20"/>
                </a:solidFill>
                <a:latin typeface="Times-Roman"/>
              </a:rPr>
              <a:t>depends solely on </a:t>
            </a:r>
            <a:r>
              <a:rPr lang="en-US" sz="1800" b="0" i="0" u="none" strike="noStrike" baseline="0" dirty="0">
                <a:solidFill>
                  <a:srgbClr val="231F20"/>
                </a:solidFill>
                <a:latin typeface="Times-Roman"/>
              </a:rPr>
              <a:t> </a:t>
            </a:r>
            <a:r>
              <a:rPr lang="en-US" sz="1800" b="0" i="0" u="none" strike="noStrike" baseline="0" dirty="0" err="1">
                <a:solidFill>
                  <a:srgbClr val="231F20"/>
                </a:solidFill>
                <a:latin typeface="Times-Roman"/>
              </a:rPr>
              <a:t>b</a:t>
            </a:r>
            <a:r>
              <a:rPr lang="en-US" sz="1800" b="0" i="0" u="none" strike="noStrike" baseline="-25000" dirty="0" err="1">
                <a:solidFill>
                  <a:srgbClr val="231F20"/>
                </a:solidFill>
                <a:latin typeface="Times-Roman"/>
              </a:rPr>
              <a:t>j</a:t>
            </a:r>
            <a:r>
              <a:rPr lang="en-US" sz="1800" b="0" i="0" u="none" strike="noStrike" baseline="0" dirty="0">
                <a:solidFill>
                  <a:srgbClr val="231F20"/>
                </a:solidFill>
                <a:latin typeface="Times-Roman"/>
              </a:rPr>
              <a:t> not on </a:t>
            </a:r>
            <a:r>
              <a:rPr lang="en-US" dirty="0">
                <a:solidFill>
                  <a:srgbClr val="231F20"/>
                </a:solidFill>
                <a:latin typeface="Times-Roman"/>
              </a:rPr>
              <a:t> a</a:t>
            </a:r>
            <a:r>
              <a:rPr lang="en-US" baseline="-25000" dirty="0">
                <a:solidFill>
                  <a:srgbClr val="231F20"/>
                </a:solidFill>
                <a:latin typeface="Times-Roman"/>
              </a:rPr>
              <a:t>i .</a:t>
            </a:r>
            <a:endParaRPr lang="en-US" dirty="0"/>
          </a:p>
        </p:txBody>
      </p:sp>
      <p:pic>
        <p:nvPicPr>
          <p:cNvPr id="6" name="Picture 5">
            <a:extLst>
              <a:ext uri="{FF2B5EF4-FFF2-40B4-BE49-F238E27FC236}">
                <a16:creationId xmlns:a16="http://schemas.microsoft.com/office/drawing/2014/main" id="{0A13CC84-336D-437F-BB22-4F2A2DCAB980}"/>
              </a:ext>
            </a:extLst>
          </p:cNvPr>
          <p:cNvPicPr>
            <a:picLocks noChangeAspect="1"/>
          </p:cNvPicPr>
          <p:nvPr/>
        </p:nvPicPr>
        <p:blipFill>
          <a:blip r:embed="rId4"/>
          <a:stretch>
            <a:fillRect/>
          </a:stretch>
        </p:blipFill>
        <p:spPr>
          <a:xfrm>
            <a:off x="816346" y="3967112"/>
            <a:ext cx="2800350" cy="342900"/>
          </a:xfrm>
          <a:prstGeom prst="rect">
            <a:avLst/>
          </a:prstGeom>
        </p:spPr>
      </p:pic>
      <p:pic>
        <p:nvPicPr>
          <p:cNvPr id="7" name="Picture 6">
            <a:extLst>
              <a:ext uri="{FF2B5EF4-FFF2-40B4-BE49-F238E27FC236}">
                <a16:creationId xmlns:a16="http://schemas.microsoft.com/office/drawing/2014/main" id="{278FC897-8149-4B34-9635-95A8CD2D6EF9}"/>
              </a:ext>
            </a:extLst>
          </p:cNvPr>
          <p:cNvPicPr>
            <a:picLocks noChangeAspect="1"/>
          </p:cNvPicPr>
          <p:nvPr/>
        </p:nvPicPr>
        <p:blipFill>
          <a:blip r:embed="rId5"/>
          <a:stretch>
            <a:fillRect/>
          </a:stretch>
        </p:blipFill>
        <p:spPr>
          <a:xfrm>
            <a:off x="816346" y="4713626"/>
            <a:ext cx="2724150" cy="352425"/>
          </a:xfrm>
          <a:prstGeom prst="rect">
            <a:avLst/>
          </a:prstGeom>
        </p:spPr>
      </p:pic>
      <p:sp>
        <p:nvSpPr>
          <p:cNvPr id="16" name="TextBox 15">
            <a:extLst>
              <a:ext uri="{FF2B5EF4-FFF2-40B4-BE49-F238E27FC236}">
                <a16:creationId xmlns:a16="http://schemas.microsoft.com/office/drawing/2014/main" id="{B78DD89A-7487-4412-AD1C-F0BAB2DBDA93}"/>
              </a:ext>
            </a:extLst>
          </p:cNvPr>
          <p:cNvSpPr txBox="1"/>
          <p:nvPr/>
        </p:nvSpPr>
        <p:spPr>
          <a:xfrm>
            <a:off x="4229100" y="3884383"/>
            <a:ext cx="7861300" cy="2062103"/>
          </a:xfrm>
          <a:prstGeom prst="rect">
            <a:avLst/>
          </a:prstGeom>
          <a:noFill/>
        </p:spPr>
        <p:txBody>
          <a:bodyPr wrap="square">
            <a:spAutoFit/>
          </a:bodyPr>
          <a:lstStyle/>
          <a:p>
            <a:r>
              <a:rPr lang="en-US" sz="1800" b="0" i="1" u="none" strike="noStrike" baseline="0" dirty="0">
                <a:solidFill>
                  <a:srgbClr val="231F20"/>
                </a:solidFill>
                <a:latin typeface="Times-Italic"/>
              </a:rPr>
              <a:t>The mutual information for noiseless channels is given by</a:t>
            </a:r>
          </a:p>
          <a:p>
            <a:endParaRPr lang="en-US" i="1" dirty="0">
              <a:solidFill>
                <a:srgbClr val="231F20"/>
              </a:solidFill>
              <a:latin typeface="Times-Italic"/>
            </a:endParaRPr>
          </a:p>
          <a:p>
            <a:pPr algn="ctr"/>
            <a:r>
              <a:rPr lang="en-US" sz="2000" b="1" i="1" dirty="0">
                <a:solidFill>
                  <a:srgbClr val="231F20"/>
                </a:solidFill>
                <a:latin typeface="Times-Italic"/>
              </a:rPr>
              <a:t>I(A;B) ≥ I(A;C) 		</a:t>
            </a:r>
            <a:r>
              <a:rPr lang="en-US" sz="2000" i="1" dirty="0" err="1">
                <a:solidFill>
                  <a:srgbClr val="231F20"/>
                </a:solidFill>
                <a:latin typeface="Times-Italic"/>
              </a:rPr>
              <a:t>wih</a:t>
            </a:r>
            <a:r>
              <a:rPr lang="en-US" sz="2000" i="1" dirty="0">
                <a:solidFill>
                  <a:srgbClr val="231F20"/>
                </a:solidFill>
                <a:latin typeface="Times-Italic"/>
              </a:rPr>
              <a:t> equality </a:t>
            </a:r>
            <a:r>
              <a:rPr lang="en-US" sz="2000" i="1" dirty="0" err="1">
                <a:solidFill>
                  <a:srgbClr val="231F20"/>
                </a:solidFill>
                <a:latin typeface="Times-Italic"/>
              </a:rPr>
              <a:t>iff</a:t>
            </a:r>
            <a:r>
              <a:rPr lang="en-US" sz="2000" i="1" dirty="0">
                <a:solidFill>
                  <a:srgbClr val="231F20"/>
                </a:solidFill>
                <a:latin typeface="Times-Italic"/>
              </a:rPr>
              <a:t> P(</a:t>
            </a:r>
            <a:r>
              <a:rPr lang="en-US" sz="2000" i="1" dirty="0" err="1">
                <a:solidFill>
                  <a:srgbClr val="231F20"/>
                </a:solidFill>
                <a:latin typeface="Times-Italic"/>
              </a:rPr>
              <a:t>a|c</a:t>
            </a:r>
            <a:r>
              <a:rPr lang="en-US" sz="2000" i="1" dirty="0">
                <a:solidFill>
                  <a:srgbClr val="231F20"/>
                </a:solidFill>
                <a:latin typeface="Times-Italic"/>
              </a:rPr>
              <a:t>) </a:t>
            </a:r>
            <a:r>
              <a:rPr lang="en-US" i="1" dirty="0">
                <a:solidFill>
                  <a:srgbClr val="231F20"/>
                </a:solidFill>
                <a:latin typeface="Times-Italic"/>
              </a:rPr>
              <a:t>=P(</a:t>
            </a:r>
            <a:r>
              <a:rPr lang="en-US" i="1" dirty="0" err="1">
                <a:solidFill>
                  <a:srgbClr val="231F20"/>
                </a:solidFill>
                <a:latin typeface="Times-Italic"/>
              </a:rPr>
              <a:t>a|b</a:t>
            </a:r>
            <a:r>
              <a:rPr lang="en-US" i="1" dirty="0">
                <a:solidFill>
                  <a:srgbClr val="231F20"/>
                </a:solidFill>
                <a:latin typeface="Times-Italic"/>
              </a:rPr>
              <a:t>), when   P(</a:t>
            </a:r>
            <a:r>
              <a:rPr lang="en-US" i="1" dirty="0" err="1">
                <a:solidFill>
                  <a:srgbClr val="231F20"/>
                </a:solidFill>
                <a:latin typeface="Times-Italic"/>
              </a:rPr>
              <a:t>b,c</a:t>
            </a:r>
            <a:r>
              <a:rPr lang="en-US" i="1" dirty="0">
                <a:solidFill>
                  <a:srgbClr val="231F20"/>
                </a:solidFill>
                <a:latin typeface="Times-Italic"/>
              </a:rPr>
              <a:t>)</a:t>
            </a:r>
            <a:r>
              <a:rPr lang="en-US" i="1" dirty="0">
                <a:solidFill>
                  <a:srgbClr val="231F20"/>
                </a:solidFill>
                <a:latin typeface="Arial" panose="020B0604020202020204" pitchFamily="34" charset="0"/>
                <a:cs typeface="Arial" panose="020B0604020202020204" pitchFamily="34" charset="0"/>
              </a:rPr>
              <a:t>≠ 0</a:t>
            </a:r>
            <a:endParaRPr lang="en-US" i="1" dirty="0">
              <a:solidFill>
                <a:srgbClr val="231F20"/>
              </a:solidFill>
              <a:latin typeface="Times-Italic"/>
            </a:endParaRPr>
          </a:p>
          <a:p>
            <a:pPr algn="l"/>
            <a:endParaRPr lang="en-US" sz="1800" b="0" i="1" u="none" strike="noStrike" baseline="0" dirty="0">
              <a:solidFill>
                <a:srgbClr val="231F20"/>
              </a:solidFill>
              <a:latin typeface="Times-Italic"/>
            </a:endParaRPr>
          </a:p>
          <a:p>
            <a:pPr algn="l"/>
            <a:r>
              <a:rPr lang="en-US" sz="1800" b="0" i="1" u="none" strike="noStrike" baseline="0" dirty="0">
                <a:solidFill>
                  <a:srgbClr val="231F20"/>
                </a:solidFill>
                <a:latin typeface="Times-Italic"/>
              </a:rPr>
              <a:t>That is, channels tend to leak information and the amount of information out of a</a:t>
            </a:r>
          </a:p>
          <a:p>
            <a:pPr algn="l"/>
            <a:r>
              <a:rPr lang="en-US" sz="1800" b="0" i="1" u="none" strike="noStrike" baseline="0" dirty="0">
                <a:solidFill>
                  <a:srgbClr val="231F20"/>
                </a:solidFill>
                <a:latin typeface="Times-Italic"/>
              </a:rPr>
              <a:t>cascade can be no greater (and is usually less) than the information from the first</a:t>
            </a:r>
          </a:p>
          <a:p>
            <a:pPr algn="l"/>
            <a:r>
              <a:rPr lang="en-US" sz="1800" b="0" i="1" u="none" strike="noStrike" baseline="0" dirty="0">
                <a:solidFill>
                  <a:srgbClr val="231F20"/>
                </a:solidFill>
                <a:latin typeface="Times-Italic"/>
              </a:rPr>
              <a:t>channel.</a:t>
            </a:r>
            <a:endParaRPr lang="en-US" dirty="0"/>
          </a:p>
        </p:txBody>
      </p:sp>
      <p:sp>
        <p:nvSpPr>
          <p:cNvPr id="18" name="TextBox 17">
            <a:extLst>
              <a:ext uri="{FF2B5EF4-FFF2-40B4-BE49-F238E27FC236}">
                <a16:creationId xmlns:a16="http://schemas.microsoft.com/office/drawing/2014/main" id="{FB5C26A8-76D4-4BCB-A2E1-E229B4ECEB31}"/>
              </a:ext>
            </a:extLst>
          </p:cNvPr>
          <p:cNvSpPr txBox="1"/>
          <p:nvPr/>
        </p:nvSpPr>
        <p:spPr>
          <a:xfrm>
            <a:off x="4229100" y="5841905"/>
            <a:ext cx="6191250" cy="646331"/>
          </a:xfrm>
          <a:prstGeom prst="rect">
            <a:avLst/>
          </a:prstGeom>
          <a:noFill/>
        </p:spPr>
        <p:txBody>
          <a:bodyPr wrap="square">
            <a:spAutoFit/>
          </a:bodyPr>
          <a:lstStyle/>
          <a:p>
            <a:r>
              <a:rPr lang="en-US" sz="1800" b="0" i="1" u="none" strike="noStrike" baseline="0" dirty="0">
                <a:solidFill>
                  <a:srgbClr val="231F20"/>
                </a:solidFill>
                <a:latin typeface="Times-Italic"/>
              </a:rPr>
              <a:t>If channel BC is noiseless.</a:t>
            </a:r>
          </a:p>
          <a:p>
            <a:r>
              <a:rPr lang="en-US" sz="1800" b="1" i="1" dirty="0">
                <a:solidFill>
                  <a:srgbClr val="231F20"/>
                </a:solidFill>
                <a:latin typeface="Times-Italic"/>
              </a:rPr>
              <a:t>I(A;B) = I(A;C)</a:t>
            </a:r>
            <a:endParaRPr lang="en-US" sz="1800" b="0" i="1" u="none" strike="noStrike" baseline="0" dirty="0">
              <a:solidFill>
                <a:srgbClr val="231F20"/>
              </a:solidFill>
              <a:latin typeface="Times-Italic"/>
            </a:endParaRPr>
          </a:p>
        </p:txBody>
      </p:sp>
    </p:spTree>
    <p:extLst>
      <p:ext uri="{BB962C8B-B14F-4D97-AF65-F5344CB8AC3E}">
        <p14:creationId xmlns:p14="http://schemas.microsoft.com/office/powerpoint/2010/main" val="157343882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Line 2">
            <a:extLst>
              <a:ext uri="{FF2B5EF4-FFF2-40B4-BE49-F238E27FC236}">
                <a16:creationId xmlns:a16="http://schemas.microsoft.com/office/drawing/2014/main" id="{B80F17A2-967F-4758-B690-15B90FC4B7B2}"/>
              </a:ext>
            </a:extLst>
          </p:cNvPr>
          <p:cNvSpPr>
            <a:spLocks noChangeShapeType="1"/>
          </p:cNvSpPr>
          <p:nvPr/>
        </p:nvSpPr>
        <p:spPr bwMode="auto">
          <a:xfrm>
            <a:off x="0" y="121222"/>
            <a:ext cx="12192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9219" name="Line 3">
            <a:extLst>
              <a:ext uri="{FF2B5EF4-FFF2-40B4-BE49-F238E27FC236}">
                <a16:creationId xmlns:a16="http://schemas.microsoft.com/office/drawing/2014/main" id="{D216B66D-CB10-42AD-A3FB-617EDBA6005A}"/>
              </a:ext>
            </a:extLst>
          </p:cNvPr>
          <p:cNvSpPr>
            <a:spLocks noChangeShapeType="1"/>
          </p:cNvSpPr>
          <p:nvPr/>
        </p:nvSpPr>
        <p:spPr bwMode="auto">
          <a:xfrm flipV="1">
            <a:off x="0" y="959422"/>
            <a:ext cx="12192000" cy="31178"/>
          </a:xfrm>
          <a:prstGeom prst="line">
            <a:avLst/>
          </a:prstGeom>
          <a:noFill/>
          <a:ln w="1905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9220" name="Text Box 4">
            <a:extLst>
              <a:ext uri="{FF2B5EF4-FFF2-40B4-BE49-F238E27FC236}">
                <a16:creationId xmlns:a16="http://schemas.microsoft.com/office/drawing/2014/main" id="{F1A1D0A4-783E-4A5F-9176-6625485B21C2}"/>
              </a:ext>
            </a:extLst>
          </p:cNvPr>
          <p:cNvSpPr txBox="1">
            <a:spLocks noChangeArrowheads="1"/>
          </p:cNvSpPr>
          <p:nvPr/>
        </p:nvSpPr>
        <p:spPr bwMode="auto">
          <a:xfrm>
            <a:off x="0" y="247935"/>
            <a:ext cx="7951216"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algn="l"/>
            <a:r>
              <a:rPr lang="en-US" sz="2800" b="1" i="0" u="none" strike="noStrike" baseline="0" dirty="0">
                <a:solidFill>
                  <a:srgbClr val="231F20"/>
                </a:solidFill>
                <a:latin typeface="Times-Bold"/>
              </a:rPr>
              <a:t>Channel Capacity: Maximum Mutual Information</a:t>
            </a:r>
            <a:endParaRPr lang="en-US" sz="6600" i="0" dirty="0">
              <a:solidFill>
                <a:srgbClr val="000000"/>
              </a:solidFill>
              <a:effectLst/>
              <a:latin typeface="Times New Roman" panose="02020603050405020304" pitchFamily="18" charset="0"/>
              <a:cs typeface="Times New Roman" panose="02020603050405020304" pitchFamily="18" charset="0"/>
            </a:endParaRPr>
          </a:p>
        </p:txBody>
      </p:sp>
      <p:sp>
        <p:nvSpPr>
          <p:cNvPr id="9221" name="Line 5">
            <a:extLst>
              <a:ext uri="{FF2B5EF4-FFF2-40B4-BE49-F238E27FC236}">
                <a16:creationId xmlns:a16="http://schemas.microsoft.com/office/drawing/2014/main" id="{813B641B-59D1-4F94-8787-5406583E7085}"/>
              </a:ext>
            </a:extLst>
          </p:cNvPr>
          <p:cNvSpPr>
            <a:spLocks noChangeShapeType="1"/>
          </p:cNvSpPr>
          <p:nvPr/>
        </p:nvSpPr>
        <p:spPr bwMode="auto">
          <a:xfrm flipV="1">
            <a:off x="0" y="6703102"/>
            <a:ext cx="12192000" cy="31178"/>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4" name="TextBox 13">
            <a:extLst>
              <a:ext uri="{FF2B5EF4-FFF2-40B4-BE49-F238E27FC236}">
                <a16:creationId xmlns:a16="http://schemas.microsoft.com/office/drawing/2014/main" id="{7261BC8C-806D-4242-8C7A-A8E4A5522B69}"/>
              </a:ext>
            </a:extLst>
          </p:cNvPr>
          <p:cNvSpPr txBox="1"/>
          <p:nvPr/>
        </p:nvSpPr>
        <p:spPr>
          <a:xfrm>
            <a:off x="0" y="1178867"/>
            <a:ext cx="11963400" cy="646331"/>
          </a:xfrm>
          <a:prstGeom prst="rect">
            <a:avLst/>
          </a:prstGeom>
          <a:noFill/>
        </p:spPr>
        <p:txBody>
          <a:bodyPr wrap="square">
            <a:spAutoFit/>
          </a:bodyPr>
          <a:lstStyle/>
          <a:p>
            <a:pPr algn="l"/>
            <a:r>
              <a:rPr lang="en-US" sz="1800" b="0" i="0" u="none" strike="noStrike" baseline="0" dirty="0">
                <a:solidFill>
                  <a:srgbClr val="231F20"/>
                </a:solidFill>
                <a:latin typeface="Times-Roman"/>
              </a:rPr>
              <a:t>Consider an information channel with input alphabet A output alphabet B and channel matrix </a:t>
            </a:r>
            <a:r>
              <a:rPr lang="en-US" sz="1800" b="1" i="0" u="none" strike="noStrike" baseline="0" dirty="0">
                <a:solidFill>
                  <a:srgbClr val="231F20"/>
                </a:solidFill>
                <a:latin typeface="Times-Roman"/>
              </a:rPr>
              <a:t>P</a:t>
            </a:r>
            <a:r>
              <a:rPr lang="en-US" sz="1800" b="0" i="0" u="none" strike="noStrike" baseline="-25000" dirty="0">
                <a:solidFill>
                  <a:srgbClr val="231F20"/>
                </a:solidFill>
                <a:latin typeface="Times-Roman"/>
              </a:rPr>
              <a:t>AB </a:t>
            </a:r>
            <a:r>
              <a:rPr lang="en-US" sz="1800" b="0" i="0" u="none" strike="noStrike" baseline="0" dirty="0">
                <a:solidFill>
                  <a:srgbClr val="231F20"/>
                </a:solidFill>
                <a:latin typeface="Times-Roman"/>
              </a:rPr>
              <a:t>with conditional channel probabilities P(</a:t>
            </a:r>
            <a:r>
              <a:rPr lang="en-US" sz="1800" b="0" i="0" u="none" strike="noStrike" baseline="0" dirty="0" err="1">
                <a:solidFill>
                  <a:srgbClr val="231F20"/>
                </a:solidFill>
                <a:latin typeface="Times-Roman"/>
              </a:rPr>
              <a:t>b</a:t>
            </a:r>
            <a:r>
              <a:rPr lang="en-US" sz="1800" b="0" i="0" u="none" strike="noStrike" baseline="-25000" dirty="0" err="1">
                <a:solidFill>
                  <a:srgbClr val="231F20"/>
                </a:solidFill>
                <a:latin typeface="Times-Roman"/>
              </a:rPr>
              <a:t>j</a:t>
            </a:r>
            <a:r>
              <a:rPr lang="en-US" sz="1800" b="0" i="0" u="none" strike="noStrike" baseline="-25000" dirty="0">
                <a:solidFill>
                  <a:srgbClr val="231F20"/>
                </a:solidFill>
                <a:latin typeface="Times-Roman"/>
              </a:rPr>
              <a:t> </a:t>
            </a:r>
            <a:r>
              <a:rPr lang="en-US" sz="1800" b="0" i="0" u="none" strike="noStrike" baseline="0" dirty="0">
                <a:solidFill>
                  <a:srgbClr val="231F20"/>
                </a:solidFill>
                <a:latin typeface="Times-Roman"/>
              </a:rPr>
              <a:t>| a</a:t>
            </a:r>
            <a:r>
              <a:rPr lang="en-US" sz="1800" b="0" i="0" u="none" strike="noStrike" baseline="-25000" dirty="0">
                <a:solidFill>
                  <a:srgbClr val="231F20"/>
                </a:solidFill>
                <a:latin typeface="Times-Roman"/>
              </a:rPr>
              <a:t>i</a:t>
            </a:r>
            <a:r>
              <a:rPr lang="en-US" sz="1800" b="0" i="0" u="none" strike="noStrike" baseline="0" dirty="0">
                <a:solidFill>
                  <a:srgbClr val="231F20"/>
                </a:solidFill>
                <a:latin typeface="Times-Roman"/>
              </a:rPr>
              <a:t>). The mutual information:</a:t>
            </a:r>
            <a:endParaRPr lang="en-US" sz="1800" b="0" i="0" u="none" strike="noStrike" baseline="-25000" dirty="0">
              <a:solidFill>
                <a:srgbClr val="231F20"/>
              </a:solidFill>
              <a:latin typeface="Times-Roman"/>
            </a:endParaRPr>
          </a:p>
        </p:txBody>
      </p:sp>
      <p:pic>
        <p:nvPicPr>
          <p:cNvPr id="4" name="Picture 3">
            <a:extLst>
              <a:ext uri="{FF2B5EF4-FFF2-40B4-BE49-F238E27FC236}">
                <a16:creationId xmlns:a16="http://schemas.microsoft.com/office/drawing/2014/main" id="{7B0BBE30-E423-44E6-8E8F-E1CFA9419E75}"/>
              </a:ext>
            </a:extLst>
          </p:cNvPr>
          <p:cNvPicPr>
            <a:picLocks noChangeAspect="1"/>
          </p:cNvPicPr>
          <p:nvPr/>
        </p:nvPicPr>
        <p:blipFill>
          <a:blip r:embed="rId3"/>
          <a:stretch>
            <a:fillRect/>
          </a:stretch>
        </p:blipFill>
        <p:spPr>
          <a:xfrm>
            <a:off x="3404108" y="1825198"/>
            <a:ext cx="4317276" cy="830246"/>
          </a:xfrm>
          <a:prstGeom prst="rect">
            <a:avLst/>
          </a:prstGeom>
        </p:spPr>
      </p:pic>
      <p:sp>
        <p:nvSpPr>
          <p:cNvPr id="17" name="TextBox 16">
            <a:extLst>
              <a:ext uri="{FF2B5EF4-FFF2-40B4-BE49-F238E27FC236}">
                <a16:creationId xmlns:a16="http://schemas.microsoft.com/office/drawing/2014/main" id="{4DF5619F-DA76-4A46-A3A3-B579356D8E00}"/>
              </a:ext>
            </a:extLst>
          </p:cNvPr>
          <p:cNvSpPr txBox="1"/>
          <p:nvPr/>
        </p:nvSpPr>
        <p:spPr>
          <a:xfrm>
            <a:off x="39116" y="2704076"/>
            <a:ext cx="12052300" cy="3416320"/>
          </a:xfrm>
          <a:prstGeom prst="rect">
            <a:avLst/>
          </a:prstGeom>
          <a:noFill/>
        </p:spPr>
        <p:txBody>
          <a:bodyPr wrap="square">
            <a:spAutoFit/>
          </a:bodyPr>
          <a:lstStyle/>
          <a:p>
            <a:pPr algn="l"/>
            <a:r>
              <a:rPr lang="en-US" sz="1800" b="0" i="0" u="none" strike="noStrike" baseline="0" dirty="0">
                <a:solidFill>
                  <a:srgbClr val="231F20"/>
                </a:solidFill>
                <a:latin typeface="Times-Roman"/>
              </a:rPr>
              <a:t>The maximum amount of information carrying capacity for the channel is H(A), the amount of information  that is being transmitted through the channel. But this is reduced by H(A | B), which is an indication of the amount of “noise” present in the channel.</a:t>
            </a:r>
          </a:p>
          <a:p>
            <a:pPr algn="l"/>
            <a:endParaRPr lang="en-US" dirty="0">
              <a:solidFill>
                <a:srgbClr val="231F20"/>
              </a:solidFill>
              <a:latin typeface="Times-Roman"/>
            </a:endParaRPr>
          </a:p>
          <a:p>
            <a:pPr algn="l"/>
            <a:r>
              <a:rPr lang="en-US" sz="1800" b="0" i="0" u="none" strike="noStrike" baseline="0" dirty="0">
                <a:solidFill>
                  <a:srgbClr val="231F20"/>
                </a:solidFill>
                <a:latin typeface="Times-Roman"/>
              </a:rPr>
              <a:t>The expression for mutual information depends not only on the channel probabilities, P(</a:t>
            </a:r>
            <a:r>
              <a:rPr lang="en-US" sz="1800" b="0" i="0" u="none" strike="noStrike" baseline="0" dirty="0" err="1">
                <a:solidFill>
                  <a:srgbClr val="231F20"/>
                </a:solidFill>
                <a:latin typeface="Times-Roman"/>
              </a:rPr>
              <a:t>b</a:t>
            </a:r>
            <a:r>
              <a:rPr lang="en-US" sz="1800" b="0" i="0" u="none" strike="noStrike" baseline="-25000" dirty="0" err="1">
                <a:solidFill>
                  <a:srgbClr val="231F20"/>
                </a:solidFill>
                <a:latin typeface="Times-Roman"/>
              </a:rPr>
              <a:t>j</a:t>
            </a:r>
            <a:r>
              <a:rPr lang="en-US" sz="1800" b="0" i="0" u="none" strike="noStrike" baseline="-25000" dirty="0">
                <a:solidFill>
                  <a:srgbClr val="231F20"/>
                </a:solidFill>
                <a:latin typeface="Times-Roman"/>
              </a:rPr>
              <a:t> </a:t>
            </a:r>
            <a:r>
              <a:rPr lang="en-US" sz="1800" b="0" i="0" u="none" strike="noStrike" baseline="0" dirty="0">
                <a:solidFill>
                  <a:srgbClr val="231F20"/>
                </a:solidFill>
                <a:latin typeface="Times-Roman"/>
              </a:rPr>
              <a:t>| a</a:t>
            </a:r>
            <a:r>
              <a:rPr lang="en-US" sz="1800" b="0" i="0" u="none" strike="noStrike" baseline="-25000" dirty="0">
                <a:solidFill>
                  <a:srgbClr val="231F20"/>
                </a:solidFill>
                <a:latin typeface="Times-Roman"/>
              </a:rPr>
              <a:t>i</a:t>
            </a:r>
            <a:r>
              <a:rPr lang="en-US" sz="1800" b="0" i="0" u="none" strike="noStrike" baseline="0" dirty="0">
                <a:solidFill>
                  <a:srgbClr val="231F20"/>
                </a:solidFill>
                <a:latin typeface="Times-Roman"/>
              </a:rPr>
              <a:t>). which uniquely identify a channel, but also on how the channel is used, the input or source probability assignment P(a</a:t>
            </a:r>
            <a:r>
              <a:rPr lang="en-US" sz="1800" b="0" i="0" u="none" strike="noStrike" baseline="-25000" dirty="0">
                <a:solidFill>
                  <a:srgbClr val="231F20"/>
                </a:solidFill>
                <a:latin typeface="Times-Roman"/>
              </a:rPr>
              <a:t>i</a:t>
            </a:r>
            <a:r>
              <a:rPr lang="en-US" sz="1800" b="0" i="0" u="none" strike="noStrike" baseline="0" dirty="0">
                <a:solidFill>
                  <a:srgbClr val="231F20"/>
                </a:solidFill>
                <a:latin typeface="Times-Roman"/>
              </a:rPr>
              <a:t>).</a:t>
            </a:r>
          </a:p>
          <a:p>
            <a:pPr algn="l"/>
            <a:endParaRPr lang="en-US" dirty="0">
              <a:solidFill>
                <a:srgbClr val="231F20"/>
              </a:solidFill>
              <a:latin typeface="Times-Roman"/>
            </a:endParaRPr>
          </a:p>
          <a:p>
            <a:pPr algn="l"/>
            <a:r>
              <a:rPr lang="en-US" sz="1800" b="0" i="0" u="none" strike="noStrike" baseline="0" dirty="0">
                <a:solidFill>
                  <a:srgbClr val="231F20"/>
                </a:solidFill>
                <a:latin typeface="Times-Roman"/>
              </a:rPr>
              <a:t>As such I(A;B), cannot be used to provide a unique and comparative measure of the information carrying capacity of a channel since it depends on how the channel is used.</a:t>
            </a:r>
          </a:p>
          <a:p>
            <a:pPr algn="l"/>
            <a:endParaRPr lang="en-US" sz="1800" b="0" i="0" u="none" strike="noStrike" baseline="0" dirty="0">
              <a:solidFill>
                <a:srgbClr val="231F20"/>
              </a:solidFill>
              <a:latin typeface="Times-Roman"/>
            </a:endParaRPr>
          </a:p>
          <a:p>
            <a:pPr algn="l"/>
            <a:r>
              <a:rPr lang="en-US" sz="1800" b="0" i="0" u="none" strike="noStrike" baseline="0" dirty="0">
                <a:solidFill>
                  <a:srgbClr val="231F20"/>
                </a:solidFill>
                <a:latin typeface="Times-Roman"/>
              </a:rPr>
              <a:t>One solution is to ensure that the same probability assignment (or input distribution) is used in calculating the mutual information for different channels.</a:t>
            </a:r>
            <a:endParaRPr lang="en-US" dirty="0">
              <a:solidFill>
                <a:srgbClr val="231F20"/>
              </a:solidFill>
              <a:latin typeface="Times-Roman"/>
            </a:endParaRPr>
          </a:p>
        </p:txBody>
      </p:sp>
    </p:spTree>
    <p:extLst>
      <p:ext uri="{BB962C8B-B14F-4D97-AF65-F5344CB8AC3E}">
        <p14:creationId xmlns:p14="http://schemas.microsoft.com/office/powerpoint/2010/main" val="200905865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Line 2">
            <a:extLst>
              <a:ext uri="{FF2B5EF4-FFF2-40B4-BE49-F238E27FC236}">
                <a16:creationId xmlns:a16="http://schemas.microsoft.com/office/drawing/2014/main" id="{B80F17A2-967F-4758-B690-15B90FC4B7B2}"/>
              </a:ext>
            </a:extLst>
          </p:cNvPr>
          <p:cNvSpPr>
            <a:spLocks noChangeShapeType="1"/>
          </p:cNvSpPr>
          <p:nvPr/>
        </p:nvSpPr>
        <p:spPr bwMode="auto">
          <a:xfrm>
            <a:off x="0" y="121222"/>
            <a:ext cx="12192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9219" name="Line 3">
            <a:extLst>
              <a:ext uri="{FF2B5EF4-FFF2-40B4-BE49-F238E27FC236}">
                <a16:creationId xmlns:a16="http://schemas.microsoft.com/office/drawing/2014/main" id="{D216B66D-CB10-42AD-A3FB-617EDBA6005A}"/>
              </a:ext>
            </a:extLst>
          </p:cNvPr>
          <p:cNvSpPr>
            <a:spLocks noChangeShapeType="1"/>
          </p:cNvSpPr>
          <p:nvPr/>
        </p:nvSpPr>
        <p:spPr bwMode="auto">
          <a:xfrm flipV="1">
            <a:off x="0" y="959422"/>
            <a:ext cx="12192000" cy="31178"/>
          </a:xfrm>
          <a:prstGeom prst="line">
            <a:avLst/>
          </a:prstGeom>
          <a:noFill/>
          <a:ln w="1905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9220" name="Text Box 4">
            <a:extLst>
              <a:ext uri="{FF2B5EF4-FFF2-40B4-BE49-F238E27FC236}">
                <a16:creationId xmlns:a16="http://schemas.microsoft.com/office/drawing/2014/main" id="{F1A1D0A4-783E-4A5F-9176-6625485B21C2}"/>
              </a:ext>
            </a:extLst>
          </p:cNvPr>
          <p:cNvSpPr txBox="1">
            <a:spLocks noChangeArrowheads="1"/>
          </p:cNvSpPr>
          <p:nvPr/>
        </p:nvSpPr>
        <p:spPr bwMode="auto">
          <a:xfrm>
            <a:off x="0" y="247935"/>
            <a:ext cx="7951216"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algn="l"/>
            <a:r>
              <a:rPr lang="en-US" sz="2800" b="1" i="0" u="none" strike="noStrike" baseline="0" dirty="0">
                <a:solidFill>
                  <a:srgbClr val="231F20"/>
                </a:solidFill>
                <a:latin typeface="Times-Bold"/>
              </a:rPr>
              <a:t>Channel Capacity: Maximum Mutual Information</a:t>
            </a:r>
            <a:endParaRPr lang="en-US" sz="6600" i="0" dirty="0">
              <a:solidFill>
                <a:srgbClr val="000000"/>
              </a:solidFill>
              <a:effectLst/>
              <a:latin typeface="Times New Roman" panose="02020603050405020304" pitchFamily="18" charset="0"/>
              <a:cs typeface="Times New Roman" panose="02020603050405020304" pitchFamily="18" charset="0"/>
            </a:endParaRPr>
          </a:p>
        </p:txBody>
      </p:sp>
      <p:sp>
        <p:nvSpPr>
          <p:cNvPr id="9221" name="Line 5">
            <a:extLst>
              <a:ext uri="{FF2B5EF4-FFF2-40B4-BE49-F238E27FC236}">
                <a16:creationId xmlns:a16="http://schemas.microsoft.com/office/drawing/2014/main" id="{813B641B-59D1-4F94-8787-5406583E7085}"/>
              </a:ext>
            </a:extLst>
          </p:cNvPr>
          <p:cNvSpPr>
            <a:spLocks noChangeShapeType="1"/>
          </p:cNvSpPr>
          <p:nvPr/>
        </p:nvSpPr>
        <p:spPr bwMode="auto">
          <a:xfrm flipV="1">
            <a:off x="0" y="6703102"/>
            <a:ext cx="12192000" cy="31178"/>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4" name="TextBox 13">
            <a:extLst>
              <a:ext uri="{FF2B5EF4-FFF2-40B4-BE49-F238E27FC236}">
                <a16:creationId xmlns:a16="http://schemas.microsoft.com/office/drawing/2014/main" id="{7261BC8C-806D-4242-8C7A-A8E4A5522B69}"/>
              </a:ext>
            </a:extLst>
          </p:cNvPr>
          <p:cNvSpPr txBox="1"/>
          <p:nvPr/>
        </p:nvSpPr>
        <p:spPr>
          <a:xfrm>
            <a:off x="114300" y="1182468"/>
            <a:ext cx="11963400" cy="646331"/>
          </a:xfrm>
          <a:prstGeom prst="rect">
            <a:avLst/>
          </a:prstGeom>
          <a:noFill/>
        </p:spPr>
        <p:txBody>
          <a:bodyPr wrap="square">
            <a:spAutoFit/>
          </a:bodyPr>
          <a:lstStyle/>
          <a:p>
            <a:pPr algn="l"/>
            <a:r>
              <a:rPr lang="en-US" sz="1800" b="0" i="1" u="none" strike="noStrike" baseline="0" dirty="0">
                <a:solidFill>
                  <a:srgbClr val="231F20"/>
                </a:solidFill>
                <a:latin typeface="Times-Italic"/>
              </a:rPr>
              <a:t>The maximum average mutual information, I(</a:t>
            </a:r>
            <a:r>
              <a:rPr lang="en-US" i="1" dirty="0">
                <a:solidFill>
                  <a:srgbClr val="231F20"/>
                </a:solidFill>
                <a:latin typeface="Times-Italic"/>
              </a:rPr>
              <a:t>A</a:t>
            </a:r>
            <a:r>
              <a:rPr lang="en-US" sz="1800" b="0" i="1" u="none" strike="noStrike" baseline="0" dirty="0">
                <a:solidFill>
                  <a:srgbClr val="231F20"/>
                </a:solidFill>
                <a:latin typeface="Times-Italic"/>
              </a:rPr>
              <a:t>;B) in any single use of a channel defines the </a:t>
            </a:r>
            <a:r>
              <a:rPr lang="en-US" sz="1800" b="0" i="0" u="none" strike="noStrike" baseline="0" dirty="0">
                <a:solidFill>
                  <a:srgbClr val="231F20"/>
                </a:solidFill>
                <a:latin typeface="Times-Roman"/>
              </a:rPr>
              <a:t>channel capacity</a:t>
            </a:r>
            <a:r>
              <a:rPr lang="en-US" sz="1800" b="0" i="1" u="none" strike="noStrike" baseline="0" dirty="0">
                <a:solidFill>
                  <a:srgbClr val="231F20"/>
                </a:solidFill>
                <a:latin typeface="Times-Italic"/>
              </a:rPr>
              <a:t>. Mathematically,</a:t>
            </a:r>
          </a:p>
          <a:p>
            <a:pPr algn="l"/>
            <a:r>
              <a:rPr lang="en-US" sz="1800" b="0" i="1" u="none" strike="noStrike" baseline="0" dirty="0">
                <a:solidFill>
                  <a:srgbClr val="231F20"/>
                </a:solidFill>
                <a:latin typeface="Times-Italic"/>
              </a:rPr>
              <a:t>the channel capacity, , is defined as:</a:t>
            </a:r>
            <a:endParaRPr lang="en-US" sz="1800" b="0" i="0" u="none" strike="noStrike" baseline="-25000" dirty="0">
              <a:solidFill>
                <a:srgbClr val="231F20"/>
              </a:solidFill>
              <a:latin typeface="Times-Roman"/>
            </a:endParaRPr>
          </a:p>
        </p:txBody>
      </p:sp>
      <p:pic>
        <p:nvPicPr>
          <p:cNvPr id="2" name="Picture 1">
            <a:extLst>
              <a:ext uri="{FF2B5EF4-FFF2-40B4-BE49-F238E27FC236}">
                <a16:creationId xmlns:a16="http://schemas.microsoft.com/office/drawing/2014/main" id="{42B09030-69CB-4F8F-AE7C-276A1C805183}"/>
              </a:ext>
            </a:extLst>
          </p:cNvPr>
          <p:cNvPicPr>
            <a:picLocks noChangeAspect="1"/>
          </p:cNvPicPr>
          <p:nvPr/>
        </p:nvPicPr>
        <p:blipFill>
          <a:blip r:embed="rId3"/>
          <a:stretch>
            <a:fillRect/>
          </a:stretch>
        </p:blipFill>
        <p:spPr>
          <a:xfrm>
            <a:off x="4464867" y="1933686"/>
            <a:ext cx="2697731" cy="646331"/>
          </a:xfrm>
          <a:prstGeom prst="rect">
            <a:avLst/>
          </a:prstGeom>
        </p:spPr>
      </p:pic>
      <p:sp>
        <p:nvSpPr>
          <p:cNvPr id="11" name="TextBox 10">
            <a:extLst>
              <a:ext uri="{FF2B5EF4-FFF2-40B4-BE49-F238E27FC236}">
                <a16:creationId xmlns:a16="http://schemas.microsoft.com/office/drawing/2014/main" id="{E59E33ED-7189-4F6A-A5EE-9CADB4E4DC90}"/>
              </a:ext>
            </a:extLst>
          </p:cNvPr>
          <p:cNvSpPr txBox="1"/>
          <p:nvPr/>
        </p:nvSpPr>
        <p:spPr>
          <a:xfrm>
            <a:off x="114300" y="2574240"/>
            <a:ext cx="11620500" cy="369332"/>
          </a:xfrm>
          <a:prstGeom prst="rect">
            <a:avLst/>
          </a:prstGeom>
          <a:noFill/>
        </p:spPr>
        <p:txBody>
          <a:bodyPr wrap="square">
            <a:spAutoFit/>
          </a:bodyPr>
          <a:lstStyle/>
          <a:p>
            <a:r>
              <a:rPr lang="en-US" sz="1800" b="0" i="1" u="none" strike="noStrike" baseline="0" dirty="0">
                <a:solidFill>
                  <a:srgbClr val="231F20"/>
                </a:solidFill>
                <a:latin typeface="Times-Italic"/>
              </a:rPr>
              <a:t>that is, the maximum mutual information over all possible input probability assignments.</a:t>
            </a:r>
            <a:endParaRPr lang="en-US" dirty="0"/>
          </a:p>
        </p:txBody>
      </p:sp>
    </p:spTree>
    <p:extLst>
      <p:ext uri="{BB962C8B-B14F-4D97-AF65-F5344CB8AC3E}">
        <p14:creationId xmlns:p14="http://schemas.microsoft.com/office/powerpoint/2010/main" val="12341273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Line 2">
            <a:extLst>
              <a:ext uri="{FF2B5EF4-FFF2-40B4-BE49-F238E27FC236}">
                <a16:creationId xmlns:a16="http://schemas.microsoft.com/office/drawing/2014/main" id="{B80F17A2-967F-4758-B690-15B90FC4B7B2}"/>
              </a:ext>
            </a:extLst>
          </p:cNvPr>
          <p:cNvSpPr>
            <a:spLocks noChangeShapeType="1"/>
          </p:cNvSpPr>
          <p:nvPr/>
        </p:nvSpPr>
        <p:spPr bwMode="auto">
          <a:xfrm>
            <a:off x="0" y="121222"/>
            <a:ext cx="12192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9219" name="Line 3">
            <a:extLst>
              <a:ext uri="{FF2B5EF4-FFF2-40B4-BE49-F238E27FC236}">
                <a16:creationId xmlns:a16="http://schemas.microsoft.com/office/drawing/2014/main" id="{D216B66D-CB10-42AD-A3FB-617EDBA6005A}"/>
              </a:ext>
            </a:extLst>
          </p:cNvPr>
          <p:cNvSpPr>
            <a:spLocks noChangeShapeType="1"/>
          </p:cNvSpPr>
          <p:nvPr/>
        </p:nvSpPr>
        <p:spPr bwMode="auto">
          <a:xfrm flipV="1">
            <a:off x="0" y="959422"/>
            <a:ext cx="12192000" cy="31178"/>
          </a:xfrm>
          <a:prstGeom prst="line">
            <a:avLst/>
          </a:prstGeom>
          <a:noFill/>
          <a:ln w="1905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9220" name="Text Box 4">
            <a:extLst>
              <a:ext uri="{FF2B5EF4-FFF2-40B4-BE49-F238E27FC236}">
                <a16:creationId xmlns:a16="http://schemas.microsoft.com/office/drawing/2014/main" id="{F1A1D0A4-783E-4A5F-9176-6625485B21C2}"/>
              </a:ext>
            </a:extLst>
          </p:cNvPr>
          <p:cNvSpPr txBox="1">
            <a:spLocks noChangeArrowheads="1"/>
          </p:cNvSpPr>
          <p:nvPr/>
        </p:nvSpPr>
        <p:spPr bwMode="auto">
          <a:xfrm>
            <a:off x="105449" y="250050"/>
            <a:ext cx="4259436" cy="153888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US" sz="2800" dirty="0">
                <a:solidFill>
                  <a:srgbClr val="231F20"/>
                </a:solidFill>
                <a:latin typeface="Times-Bold"/>
              </a:rPr>
              <a:t>Shannon–Hartley theorem</a:t>
            </a:r>
          </a:p>
          <a:p>
            <a:pPr algn="l"/>
            <a:endParaRPr lang="en-US" sz="6600" i="0" dirty="0">
              <a:solidFill>
                <a:srgbClr val="000000"/>
              </a:solidFill>
              <a:effectLst/>
              <a:latin typeface="Times New Roman" panose="02020603050405020304" pitchFamily="18" charset="0"/>
              <a:cs typeface="Times New Roman" panose="02020603050405020304" pitchFamily="18" charset="0"/>
            </a:endParaRPr>
          </a:p>
        </p:txBody>
      </p:sp>
      <p:sp>
        <p:nvSpPr>
          <p:cNvPr id="9221" name="Line 5">
            <a:extLst>
              <a:ext uri="{FF2B5EF4-FFF2-40B4-BE49-F238E27FC236}">
                <a16:creationId xmlns:a16="http://schemas.microsoft.com/office/drawing/2014/main" id="{813B641B-59D1-4F94-8787-5406583E7085}"/>
              </a:ext>
            </a:extLst>
          </p:cNvPr>
          <p:cNvSpPr>
            <a:spLocks noChangeShapeType="1"/>
          </p:cNvSpPr>
          <p:nvPr/>
        </p:nvSpPr>
        <p:spPr bwMode="auto">
          <a:xfrm flipV="1">
            <a:off x="0" y="6703102"/>
            <a:ext cx="12192000" cy="31178"/>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0" name="TextBox 9">
            <a:extLst>
              <a:ext uri="{FF2B5EF4-FFF2-40B4-BE49-F238E27FC236}">
                <a16:creationId xmlns:a16="http://schemas.microsoft.com/office/drawing/2014/main" id="{CD68C3B3-D7A1-431C-8698-873636E1B55D}"/>
              </a:ext>
            </a:extLst>
          </p:cNvPr>
          <p:cNvSpPr txBox="1"/>
          <p:nvPr/>
        </p:nvSpPr>
        <p:spPr>
          <a:xfrm>
            <a:off x="105448" y="1228634"/>
            <a:ext cx="12086551" cy="2308324"/>
          </a:xfrm>
          <a:prstGeom prst="rect">
            <a:avLst/>
          </a:prstGeom>
          <a:noFill/>
        </p:spPr>
        <p:txBody>
          <a:bodyPr wrap="square">
            <a:spAutoFit/>
          </a:bodyPr>
          <a:lstStyle/>
          <a:p>
            <a:r>
              <a:rPr lang="en-US" b="0" i="0" dirty="0">
                <a:effectLst/>
                <a:latin typeface="Arial" panose="020B0604020202020204" pitchFamily="34" charset="0"/>
              </a:rPr>
              <a:t>In </a:t>
            </a:r>
            <a:r>
              <a:rPr lang="en-US" b="0" i="0" u="none" strike="noStrike" dirty="0">
                <a:effectLst/>
                <a:latin typeface="Arial" panose="020B0604020202020204" pitchFamily="34" charset="0"/>
              </a:rPr>
              <a:t>information theory</a:t>
            </a:r>
            <a:r>
              <a:rPr lang="en-US" b="0" i="0" dirty="0">
                <a:effectLst/>
                <a:latin typeface="Arial" panose="020B0604020202020204" pitchFamily="34" charset="0"/>
              </a:rPr>
              <a:t>, the </a:t>
            </a:r>
            <a:r>
              <a:rPr lang="en-US" b="1" i="0" dirty="0">
                <a:effectLst/>
                <a:latin typeface="Arial" panose="020B0604020202020204" pitchFamily="34" charset="0"/>
              </a:rPr>
              <a:t>Shannon–Hartley theorem</a:t>
            </a:r>
            <a:r>
              <a:rPr lang="en-US" b="0" i="0" dirty="0">
                <a:effectLst/>
                <a:latin typeface="Arial" panose="020B0604020202020204" pitchFamily="34" charset="0"/>
              </a:rPr>
              <a:t> tells the maximum rate at which information can be transmitted over a communications channel of a specified </a:t>
            </a:r>
            <a:r>
              <a:rPr lang="en-US" b="0" i="0" u="none" strike="noStrike" dirty="0">
                <a:effectLst/>
                <a:latin typeface="Arial" panose="020B0604020202020204" pitchFamily="34" charset="0"/>
              </a:rPr>
              <a:t>bandwidth</a:t>
            </a:r>
            <a:r>
              <a:rPr lang="en-US" b="0" i="0" dirty="0">
                <a:effectLst/>
                <a:latin typeface="Arial" panose="020B0604020202020204" pitchFamily="34" charset="0"/>
              </a:rPr>
              <a:t> in the presence of </a:t>
            </a:r>
            <a:r>
              <a:rPr lang="en-US" b="0" i="0" u="none" strike="noStrike" dirty="0">
                <a:effectLst/>
                <a:latin typeface="Arial" panose="020B0604020202020204" pitchFamily="34" charset="0"/>
              </a:rPr>
              <a:t>noise</a:t>
            </a:r>
            <a:r>
              <a:rPr lang="en-US" b="0" i="0" dirty="0">
                <a:effectLst/>
                <a:latin typeface="Arial" panose="020B0604020202020204" pitchFamily="34" charset="0"/>
              </a:rPr>
              <a:t>.</a:t>
            </a:r>
          </a:p>
          <a:p>
            <a:endParaRPr lang="en-US" dirty="0">
              <a:latin typeface="Arial" panose="020B0604020202020204" pitchFamily="34" charset="0"/>
            </a:endParaRPr>
          </a:p>
          <a:p>
            <a:r>
              <a:rPr lang="en-US" b="0" i="0" dirty="0">
                <a:effectLst/>
                <a:latin typeface="Arial" panose="020B0604020202020204" pitchFamily="34" charset="0"/>
              </a:rPr>
              <a:t>The theorem establishes Shannon's </a:t>
            </a:r>
            <a:r>
              <a:rPr lang="en-US" b="0" i="0" u="none" strike="noStrike" dirty="0">
                <a:effectLst/>
                <a:latin typeface="Arial" panose="020B0604020202020204" pitchFamily="34" charset="0"/>
              </a:rPr>
              <a:t>channel capacity</a:t>
            </a:r>
            <a:r>
              <a:rPr lang="en-US" b="0" i="0" dirty="0">
                <a:effectLst/>
                <a:latin typeface="Arial" panose="020B0604020202020204" pitchFamily="34" charset="0"/>
              </a:rPr>
              <a:t> for such a communication link, a bound on the maximum amount of error-free </a:t>
            </a:r>
            <a:r>
              <a:rPr lang="en-US" b="0" i="0" u="none" strike="noStrike" dirty="0">
                <a:effectLst/>
                <a:latin typeface="Arial" panose="020B0604020202020204" pitchFamily="34" charset="0"/>
              </a:rPr>
              <a:t>information</a:t>
            </a:r>
            <a:r>
              <a:rPr lang="en-US" b="0" i="0" dirty="0">
                <a:effectLst/>
                <a:latin typeface="Arial" panose="020B0604020202020204" pitchFamily="34" charset="0"/>
              </a:rPr>
              <a:t> per time unit that can be transmitted with a specified </a:t>
            </a:r>
            <a:r>
              <a:rPr lang="en-US" b="0" i="0" u="none" strike="noStrike" dirty="0">
                <a:effectLst/>
                <a:latin typeface="Arial" panose="020B0604020202020204" pitchFamily="34" charset="0"/>
              </a:rPr>
              <a:t>bandwidth</a:t>
            </a:r>
            <a:r>
              <a:rPr lang="en-US" b="0" i="0" dirty="0">
                <a:effectLst/>
                <a:latin typeface="Arial" panose="020B0604020202020204" pitchFamily="34" charset="0"/>
              </a:rPr>
              <a:t> in the presence of the noise interference, assuming that the signal power is bounded, and that the Gaussian noise process is characterized by a known power or power spectral density. </a:t>
            </a:r>
            <a:endParaRPr lang="en-US" dirty="0">
              <a:latin typeface="Arial" panose="020B0604020202020204" pitchFamily="34" charset="0"/>
            </a:endParaRPr>
          </a:p>
          <a:p>
            <a:endParaRPr lang="en-US" dirty="0"/>
          </a:p>
        </p:txBody>
      </p:sp>
      <p:sp>
        <p:nvSpPr>
          <p:cNvPr id="20" name="TextBox 19">
            <a:extLst>
              <a:ext uri="{FF2B5EF4-FFF2-40B4-BE49-F238E27FC236}">
                <a16:creationId xmlns:a16="http://schemas.microsoft.com/office/drawing/2014/main" id="{682D3793-5C9A-4E6D-B957-3AC473F2D6AA}"/>
              </a:ext>
            </a:extLst>
          </p:cNvPr>
          <p:cNvSpPr txBox="1"/>
          <p:nvPr/>
        </p:nvSpPr>
        <p:spPr>
          <a:xfrm>
            <a:off x="105447" y="3536958"/>
            <a:ext cx="12086550" cy="1323439"/>
          </a:xfrm>
          <a:prstGeom prst="rect">
            <a:avLst/>
          </a:prstGeom>
          <a:noFill/>
        </p:spPr>
        <p:txBody>
          <a:bodyPr wrap="square">
            <a:spAutoFit/>
          </a:bodyPr>
          <a:lstStyle/>
          <a:p>
            <a:r>
              <a:rPr lang="en-US" sz="2000" dirty="0">
                <a:latin typeface="Arial" panose="020B0604020202020204" pitchFamily="34" charset="0"/>
                <a:cs typeface="Arial" panose="020B0604020202020204" pitchFamily="34" charset="0"/>
              </a:rPr>
              <a:t>The Shannon–Hartley theorem states: “the channel capacity</a:t>
            </a:r>
            <a:r>
              <a:rPr lang="en-US" sz="2000" b="1" dirty="0">
                <a:latin typeface="Arial" panose="020B0604020202020204" pitchFamily="34" charset="0"/>
                <a:cs typeface="Arial" panose="020B0604020202020204" pitchFamily="34" charset="0"/>
              </a:rPr>
              <a:t> C</a:t>
            </a:r>
            <a:r>
              <a:rPr lang="en-US" sz="2000" dirty="0">
                <a:latin typeface="Arial" panose="020B0604020202020204" pitchFamily="34" charset="0"/>
                <a:cs typeface="Arial" panose="020B0604020202020204" pitchFamily="34" charset="0"/>
              </a:rPr>
              <a:t>, meaning the theoretical tightest upper bound on the information rate of data that can be communicated at an arbitrarily low error rate using an average received signal power </a:t>
            </a:r>
            <a:r>
              <a:rPr lang="en-US" sz="2000" b="1" dirty="0">
                <a:latin typeface="Arial" panose="020B0604020202020204" pitchFamily="34" charset="0"/>
                <a:cs typeface="Arial" panose="020B0604020202020204" pitchFamily="34" charset="0"/>
              </a:rPr>
              <a:t>S</a:t>
            </a:r>
            <a:r>
              <a:rPr lang="en-US" sz="2000" dirty="0">
                <a:latin typeface="Arial" panose="020B0604020202020204" pitchFamily="34" charset="0"/>
                <a:cs typeface="Arial" panose="020B0604020202020204" pitchFamily="34" charset="0"/>
              </a:rPr>
              <a:t> through an analog communication channel subject to additive white Gaussian noise (AWGN) of power </a:t>
            </a:r>
            <a:r>
              <a:rPr lang="en-US" sz="2000" b="1" dirty="0">
                <a:latin typeface="Arial" panose="020B0604020202020204" pitchFamily="34" charset="0"/>
                <a:cs typeface="Arial" panose="020B0604020202020204" pitchFamily="34" charset="0"/>
              </a:rPr>
              <a:t>N”</a:t>
            </a:r>
            <a:r>
              <a:rPr lang="en-US" sz="2000" dirty="0">
                <a:latin typeface="Arial" panose="020B0604020202020204" pitchFamily="34" charset="0"/>
                <a:cs typeface="Arial" panose="020B0604020202020204" pitchFamily="34" charset="0"/>
              </a:rPr>
              <a:t>:</a:t>
            </a:r>
          </a:p>
        </p:txBody>
      </p:sp>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9AEA0BA8-2347-48E9-96C7-63EA5DE549D0}"/>
                  </a:ext>
                </a:extLst>
              </p:cNvPr>
              <p:cNvSpPr txBox="1"/>
              <p:nvPr/>
            </p:nvSpPr>
            <p:spPr>
              <a:xfrm>
                <a:off x="4077325" y="5280522"/>
                <a:ext cx="3096910" cy="829843"/>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US" sz="2400" b="1" i="1" smtClean="0">
                          <a:latin typeface="Cambria Math" panose="02040503050406030204" pitchFamily="18" charset="0"/>
                        </a:rPr>
                        <m:t>𝑪</m:t>
                      </m:r>
                      <m:r>
                        <a:rPr lang="en-US" sz="2400" b="1" i="1" smtClean="0">
                          <a:latin typeface="Cambria Math" panose="02040503050406030204" pitchFamily="18" charset="0"/>
                        </a:rPr>
                        <m:t>=</m:t>
                      </m:r>
                      <m:r>
                        <a:rPr lang="en-US" sz="2400" b="1" i="1" smtClean="0">
                          <a:latin typeface="Cambria Math" panose="02040503050406030204" pitchFamily="18" charset="0"/>
                        </a:rPr>
                        <m:t>𝑩</m:t>
                      </m:r>
                      <m:func>
                        <m:funcPr>
                          <m:ctrlPr>
                            <a:rPr lang="en-US" sz="2400" b="1" i="1" smtClean="0">
                              <a:latin typeface="Cambria Math" panose="02040503050406030204" pitchFamily="18" charset="0"/>
                            </a:rPr>
                          </m:ctrlPr>
                        </m:funcPr>
                        <m:fName>
                          <m:sSub>
                            <m:sSubPr>
                              <m:ctrlPr>
                                <a:rPr lang="en-US" sz="2400" b="1" i="1" smtClean="0">
                                  <a:latin typeface="Cambria Math" panose="02040503050406030204" pitchFamily="18" charset="0"/>
                                </a:rPr>
                              </m:ctrlPr>
                            </m:sSubPr>
                            <m:e>
                              <m:r>
                                <a:rPr lang="en-US" sz="2400" b="1" i="0" smtClean="0">
                                  <a:latin typeface="Cambria Math" panose="02040503050406030204" pitchFamily="18" charset="0"/>
                                </a:rPr>
                                <m:t>𝐥𝐨𝐠</m:t>
                              </m:r>
                            </m:e>
                            <m:sub>
                              <m:r>
                                <a:rPr lang="en-US" sz="2400" b="1" i="1" smtClean="0">
                                  <a:latin typeface="Cambria Math" panose="02040503050406030204" pitchFamily="18" charset="0"/>
                                </a:rPr>
                                <m:t>𝟐</m:t>
                              </m:r>
                            </m:sub>
                          </m:sSub>
                        </m:fName>
                        <m:e>
                          <m:d>
                            <m:dPr>
                              <m:ctrlPr>
                                <a:rPr lang="en-US" sz="2400" b="1" i="1" smtClean="0">
                                  <a:latin typeface="Cambria Math" panose="02040503050406030204" pitchFamily="18" charset="0"/>
                                </a:rPr>
                              </m:ctrlPr>
                            </m:dPr>
                            <m:e>
                              <m:r>
                                <a:rPr lang="en-US" sz="2400" b="1" i="1" smtClean="0">
                                  <a:latin typeface="Cambria Math" panose="02040503050406030204" pitchFamily="18" charset="0"/>
                                </a:rPr>
                                <m:t>𝟏</m:t>
                              </m:r>
                              <m:r>
                                <a:rPr lang="en-US" sz="2400" b="1" i="1" smtClean="0">
                                  <a:latin typeface="Cambria Math" panose="02040503050406030204" pitchFamily="18" charset="0"/>
                                </a:rPr>
                                <m:t>+</m:t>
                              </m:r>
                              <m:f>
                                <m:fPr>
                                  <m:ctrlPr>
                                    <a:rPr lang="en-US" sz="2400" b="1" i="1" smtClean="0">
                                      <a:latin typeface="Cambria Math" panose="02040503050406030204" pitchFamily="18" charset="0"/>
                                    </a:rPr>
                                  </m:ctrlPr>
                                </m:fPr>
                                <m:num>
                                  <m:r>
                                    <a:rPr lang="en-US" sz="2400" b="1" i="1" smtClean="0">
                                      <a:latin typeface="Cambria Math" panose="02040503050406030204" pitchFamily="18" charset="0"/>
                                    </a:rPr>
                                    <m:t>𝑺</m:t>
                                  </m:r>
                                </m:num>
                                <m:den>
                                  <m:r>
                                    <a:rPr lang="en-US" sz="2400" b="1" i="1" smtClean="0">
                                      <a:latin typeface="Cambria Math" panose="02040503050406030204" pitchFamily="18" charset="0"/>
                                    </a:rPr>
                                    <m:t>𝑵</m:t>
                                  </m:r>
                                </m:den>
                              </m:f>
                            </m:e>
                          </m:d>
                        </m:e>
                      </m:func>
                    </m:oMath>
                  </m:oMathPara>
                </a14:m>
                <a:endParaRPr lang="en-US" sz="2400" b="1" dirty="0"/>
              </a:p>
            </p:txBody>
          </p:sp>
        </mc:Choice>
        <mc:Fallback xmlns="">
          <p:sp>
            <p:nvSpPr>
              <p:cNvPr id="18" name="TextBox 17">
                <a:extLst>
                  <a:ext uri="{FF2B5EF4-FFF2-40B4-BE49-F238E27FC236}">
                    <a16:creationId xmlns:a16="http://schemas.microsoft.com/office/drawing/2014/main" id="{9AEA0BA8-2347-48E9-96C7-63EA5DE549D0}"/>
                  </a:ext>
                </a:extLst>
              </p:cNvPr>
              <p:cNvSpPr txBox="1">
                <a:spLocks noRot="1" noChangeAspect="1" noMove="1" noResize="1" noEditPoints="1" noAdjustHandles="1" noChangeArrowheads="1" noChangeShapeType="1" noTextEdit="1"/>
              </p:cNvSpPr>
              <p:nvPr/>
            </p:nvSpPr>
            <p:spPr>
              <a:xfrm>
                <a:off x="4077325" y="5280522"/>
                <a:ext cx="3096910" cy="829843"/>
              </a:xfrm>
              <a:prstGeom prst="rect">
                <a:avLst/>
              </a:prstGeom>
              <a:blipFill>
                <a:blip r:embed="rId3"/>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289417136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Line 2">
            <a:extLst>
              <a:ext uri="{FF2B5EF4-FFF2-40B4-BE49-F238E27FC236}">
                <a16:creationId xmlns:a16="http://schemas.microsoft.com/office/drawing/2014/main" id="{B80F17A2-967F-4758-B690-15B90FC4B7B2}"/>
              </a:ext>
            </a:extLst>
          </p:cNvPr>
          <p:cNvSpPr>
            <a:spLocks noChangeShapeType="1"/>
          </p:cNvSpPr>
          <p:nvPr/>
        </p:nvSpPr>
        <p:spPr bwMode="auto">
          <a:xfrm>
            <a:off x="0" y="121222"/>
            <a:ext cx="12192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9219" name="Line 3">
            <a:extLst>
              <a:ext uri="{FF2B5EF4-FFF2-40B4-BE49-F238E27FC236}">
                <a16:creationId xmlns:a16="http://schemas.microsoft.com/office/drawing/2014/main" id="{D216B66D-CB10-42AD-A3FB-617EDBA6005A}"/>
              </a:ext>
            </a:extLst>
          </p:cNvPr>
          <p:cNvSpPr>
            <a:spLocks noChangeShapeType="1"/>
          </p:cNvSpPr>
          <p:nvPr/>
        </p:nvSpPr>
        <p:spPr bwMode="auto">
          <a:xfrm flipV="1">
            <a:off x="0" y="959422"/>
            <a:ext cx="12192000" cy="31178"/>
          </a:xfrm>
          <a:prstGeom prst="line">
            <a:avLst/>
          </a:prstGeom>
          <a:noFill/>
          <a:ln w="1905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9220" name="Text Box 4">
            <a:extLst>
              <a:ext uri="{FF2B5EF4-FFF2-40B4-BE49-F238E27FC236}">
                <a16:creationId xmlns:a16="http://schemas.microsoft.com/office/drawing/2014/main" id="{F1A1D0A4-783E-4A5F-9176-6625485B21C2}"/>
              </a:ext>
            </a:extLst>
          </p:cNvPr>
          <p:cNvSpPr txBox="1">
            <a:spLocks noChangeArrowheads="1"/>
          </p:cNvSpPr>
          <p:nvPr/>
        </p:nvSpPr>
        <p:spPr bwMode="auto">
          <a:xfrm>
            <a:off x="105449" y="250050"/>
            <a:ext cx="4259436" cy="153888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US" sz="2800" dirty="0">
                <a:solidFill>
                  <a:srgbClr val="231F20"/>
                </a:solidFill>
                <a:latin typeface="Times-Bold"/>
              </a:rPr>
              <a:t>Shannon–Hartley theorem</a:t>
            </a:r>
          </a:p>
          <a:p>
            <a:pPr algn="l"/>
            <a:endParaRPr lang="en-US" sz="6600" i="0" dirty="0">
              <a:solidFill>
                <a:srgbClr val="000000"/>
              </a:solidFill>
              <a:effectLst/>
              <a:latin typeface="Times New Roman" panose="02020603050405020304" pitchFamily="18" charset="0"/>
              <a:cs typeface="Times New Roman" panose="02020603050405020304" pitchFamily="18" charset="0"/>
            </a:endParaRPr>
          </a:p>
        </p:txBody>
      </p:sp>
      <p:sp>
        <p:nvSpPr>
          <p:cNvPr id="9221" name="Line 5">
            <a:extLst>
              <a:ext uri="{FF2B5EF4-FFF2-40B4-BE49-F238E27FC236}">
                <a16:creationId xmlns:a16="http://schemas.microsoft.com/office/drawing/2014/main" id="{813B641B-59D1-4F94-8787-5406583E7085}"/>
              </a:ext>
            </a:extLst>
          </p:cNvPr>
          <p:cNvSpPr>
            <a:spLocks noChangeShapeType="1"/>
          </p:cNvSpPr>
          <p:nvPr/>
        </p:nvSpPr>
        <p:spPr bwMode="auto">
          <a:xfrm flipV="1">
            <a:off x="0" y="6703102"/>
            <a:ext cx="12192000" cy="31178"/>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9AEA0BA8-2347-48E9-96C7-63EA5DE549D0}"/>
                  </a:ext>
                </a:extLst>
              </p:cNvPr>
              <p:cNvSpPr txBox="1"/>
              <p:nvPr/>
            </p:nvSpPr>
            <p:spPr>
              <a:xfrm>
                <a:off x="9095090" y="998956"/>
                <a:ext cx="3096910" cy="829843"/>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US" sz="2400" b="1" i="1" smtClean="0">
                          <a:latin typeface="Cambria Math" panose="02040503050406030204" pitchFamily="18" charset="0"/>
                        </a:rPr>
                        <m:t>𝑪</m:t>
                      </m:r>
                      <m:r>
                        <a:rPr lang="en-US" sz="2400" b="1" i="1" smtClean="0">
                          <a:latin typeface="Cambria Math" panose="02040503050406030204" pitchFamily="18" charset="0"/>
                        </a:rPr>
                        <m:t>=</m:t>
                      </m:r>
                      <m:r>
                        <a:rPr lang="en-US" sz="2400" b="1" i="1" smtClean="0">
                          <a:latin typeface="Cambria Math" panose="02040503050406030204" pitchFamily="18" charset="0"/>
                        </a:rPr>
                        <m:t>𝑩</m:t>
                      </m:r>
                      <m:func>
                        <m:funcPr>
                          <m:ctrlPr>
                            <a:rPr lang="en-US" sz="2400" b="1" i="1" smtClean="0">
                              <a:latin typeface="Cambria Math" panose="02040503050406030204" pitchFamily="18" charset="0"/>
                            </a:rPr>
                          </m:ctrlPr>
                        </m:funcPr>
                        <m:fName>
                          <m:sSub>
                            <m:sSubPr>
                              <m:ctrlPr>
                                <a:rPr lang="en-US" sz="2400" b="1" i="1" smtClean="0">
                                  <a:latin typeface="Cambria Math" panose="02040503050406030204" pitchFamily="18" charset="0"/>
                                </a:rPr>
                              </m:ctrlPr>
                            </m:sSubPr>
                            <m:e>
                              <m:r>
                                <a:rPr lang="en-US" sz="2400" b="1" i="0" smtClean="0">
                                  <a:latin typeface="Cambria Math" panose="02040503050406030204" pitchFamily="18" charset="0"/>
                                </a:rPr>
                                <m:t>𝐥𝐨𝐠</m:t>
                              </m:r>
                            </m:e>
                            <m:sub>
                              <m:r>
                                <a:rPr lang="en-US" sz="2400" b="1" i="1" smtClean="0">
                                  <a:latin typeface="Cambria Math" panose="02040503050406030204" pitchFamily="18" charset="0"/>
                                </a:rPr>
                                <m:t>𝟐</m:t>
                              </m:r>
                            </m:sub>
                          </m:sSub>
                        </m:fName>
                        <m:e>
                          <m:d>
                            <m:dPr>
                              <m:ctrlPr>
                                <a:rPr lang="en-US" sz="2400" b="1" i="1" smtClean="0">
                                  <a:latin typeface="Cambria Math" panose="02040503050406030204" pitchFamily="18" charset="0"/>
                                </a:rPr>
                              </m:ctrlPr>
                            </m:dPr>
                            <m:e>
                              <m:r>
                                <a:rPr lang="en-US" sz="2400" b="1" i="1" smtClean="0">
                                  <a:latin typeface="Cambria Math" panose="02040503050406030204" pitchFamily="18" charset="0"/>
                                </a:rPr>
                                <m:t>𝟏</m:t>
                              </m:r>
                              <m:r>
                                <a:rPr lang="en-US" sz="2400" b="1" i="1" smtClean="0">
                                  <a:latin typeface="Cambria Math" panose="02040503050406030204" pitchFamily="18" charset="0"/>
                                </a:rPr>
                                <m:t>+</m:t>
                              </m:r>
                              <m:f>
                                <m:fPr>
                                  <m:ctrlPr>
                                    <a:rPr lang="en-US" sz="2400" b="1" i="1" smtClean="0">
                                      <a:latin typeface="Cambria Math" panose="02040503050406030204" pitchFamily="18" charset="0"/>
                                    </a:rPr>
                                  </m:ctrlPr>
                                </m:fPr>
                                <m:num>
                                  <m:r>
                                    <a:rPr lang="en-US" sz="2400" b="1" i="1" smtClean="0">
                                      <a:latin typeface="Cambria Math" panose="02040503050406030204" pitchFamily="18" charset="0"/>
                                    </a:rPr>
                                    <m:t>𝑺</m:t>
                                  </m:r>
                                </m:num>
                                <m:den>
                                  <m:r>
                                    <a:rPr lang="en-US" sz="2400" b="1" i="1" smtClean="0">
                                      <a:latin typeface="Cambria Math" panose="02040503050406030204" pitchFamily="18" charset="0"/>
                                    </a:rPr>
                                    <m:t>𝑵</m:t>
                                  </m:r>
                                </m:den>
                              </m:f>
                            </m:e>
                          </m:d>
                        </m:e>
                      </m:func>
                    </m:oMath>
                  </m:oMathPara>
                </a14:m>
                <a:endParaRPr lang="en-US" sz="2400" b="1" dirty="0"/>
              </a:p>
            </p:txBody>
          </p:sp>
        </mc:Choice>
        <mc:Fallback xmlns="">
          <p:sp>
            <p:nvSpPr>
              <p:cNvPr id="18" name="TextBox 17">
                <a:extLst>
                  <a:ext uri="{FF2B5EF4-FFF2-40B4-BE49-F238E27FC236}">
                    <a16:creationId xmlns:a16="http://schemas.microsoft.com/office/drawing/2014/main" id="{9AEA0BA8-2347-48E9-96C7-63EA5DE549D0}"/>
                  </a:ext>
                </a:extLst>
              </p:cNvPr>
              <p:cNvSpPr txBox="1">
                <a:spLocks noRot="1" noChangeAspect="1" noMove="1" noResize="1" noEditPoints="1" noAdjustHandles="1" noChangeArrowheads="1" noChangeShapeType="1" noTextEdit="1"/>
              </p:cNvSpPr>
              <p:nvPr/>
            </p:nvSpPr>
            <p:spPr>
              <a:xfrm>
                <a:off x="9095090" y="998956"/>
                <a:ext cx="3096910" cy="829843"/>
              </a:xfrm>
              <a:prstGeom prst="rect">
                <a:avLst/>
              </a:prstGeom>
              <a:blipFill>
                <a:blip r:embed="rId3"/>
                <a:stretch>
                  <a:fillRect/>
                </a:stretch>
              </a:blipFill>
            </p:spPr>
            <p:txBody>
              <a:bodyPr/>
              <a:lstStyle/>
              <a:p>
                <a:r>
                  <a:rPr lang="en-US">
                    <a:noFill/>
                  </a:rPr>
                  <a:t> </a:t>
                </a:r>
              </a:p>
            </p:txBody>
          </p:sp>
        </mc:Fallback>
      </mc:AlternateContent>
      <p:sp>
        <p:nvSpPr>
          <p:cNvPr id="25" name="TextBox 24">
            <a:extLst>
              <a:ext uri="{FF2B5EF4-FFF2-40B4-BE49-F238E27FC236}">
                <a16:creationId xmlns:a16="http://schemas.microsoft.com/office/drawing/2014/main" id="{380F4D3E-B693-4655-BCDC-C1AC149A7AAE}"/>
              </a:ext>
            </a:extLst>
          </p:cNvPr>
          <p:cNvSpPr txBox="1"/>
          <p:nvPr/>
        </p:nvSpPr>
        <p:spPr>
          <a:xfrm>
            <a:off x="134720" y="1271429"/>
            <a:ext cx="8960370" cy="4524315"/>
          </a:xfrm>
          <a:prstGeom prst="rect">
            <a:avLst/>
          </a:prstGeom>
          <a:noFill/>
        </p:spPr>
        <p:txBody>
          <a:bodyPr wrap="square">
            <a:spAutoFit/>
          </a:bodyPr>
          <a:lstStyle/>
          <a:p>
            <a:r>
              <a:rPr lang="en-US" b="1" dirty="0">
                <a:latin typeface="Arial" panose="020B0604020202020204" pitchFamily="34" charset="0"/>
                <a:cs typeface="Arial" panose="020B0604020202020204" pitchFamily="34" charset="0"/>
              </a:rPr>
              <a:t>C:  </a:t>
            </a:r>
            <a:r>
              <a:rPr lang="en-US" dirty="0">
                <a:latin typeface="Arial" panose="020B0604020202020204" pitchFamily="34" charset="0"/>
                <a:cs typeface="Arial" panose="020B0604020202020204" pitchFamily="34" charset="0"/>
              </a:rPr>
              <a:t>is the channel capacity in bits per second, a theoretical upper bound on the net bit rate (information rate, sometimes denoted I);</a:t>
            </a:r>
          </a:p>
          <a:p>
            <a:endParaRPr lang="en-US" dirty="0">
              <a:latin typeface="Arial" panose="020B0604020202020204" pitchFamily="34" charset="0"/>
              <a:cs typeface="Arial" panose="020B0604020202020204" pitchFamily="34" charset="0"/>
            </a:endParaRPr>
          </a:p>
          <a:p>
            <a:r>
              <a:rPr lang="en-US" b="1" dirty="0">
                <a:latin typeface="Arial" panose="020B0604020202020204" pitchFamily="34" charset="0"/>
                <a:cs typeface="Arial" panose="020B0604020202020204" pitchFamily="34" charset="0"/>
              </a:rPr>
              <a:t>B:  </a:t>
            </a:r>
            <a:r>
              <a:rPr lang="en-US" b="0" i="0" dirty="0">
                <a:effectLst/>
                <a:latin typeface="Arial" panose="020B0604020202020204" pitchFamily="34" charset="0"/>
                <a:cs typeface="Arial" panose="020B0604020202020204" pitchFamily="34" charset="0"/>
              </a:rPr>
              <a:t>is the </a:t>
            </a:r>
            <a:r>
              <a:rPr lang="en-US" b="0" i="0" u="none" strike="noStrike" dirty="0">
                <a:effectLst/>
                <a:latin typeface="Arial" panose="020B0604020202020204" pitchFamily="34" charset="0"/>
                <a:cs typeface="Arial" panose="020B0604020202020204" pitchFamily="34" charset="0"/>
              </a:rPr>
              <a:t>bandwidth</a:t>
            </a:r>
            <a:r>
              <a:rPr lang="en-US" b="0" i="0" dirty="0">
                <a:effectLst/>
                <a:latin typeface="Arial" panose="020B0604020202020204" pitchFamily="34" charset="0"/>
                <a:cs typeface="Arial" panose="020B0604020202020204" pitchFamily="34" charset="0"/>
              </a:rPr>
              <a:t> of the channel in </a:t>
            </a:r>
            <a:r>
              <a:rPr lang="en-US" b="0" i="0" u="none" strike="noStrike" dirty="0">
                <a:effectLst/>
                <a:latin typeface="Arial" panose="020B0604020202020204" pitchFamily="34" charset="0"/>
                <a:cs typeface="Arial" panose="020B0604020202020204" pitchFamily="34" charset="0"/>
              </a:rPr>
              <a:t>hertz</a:t>
            </a:r>
            <a:r>
              <a:rPr lang="en-US" b="0" i="0" dirty="0">
                <a:effectLst/>
                <a:latin typeface="Arial" panose="020B0604020202020204" pitchFamily="34" charset="0"/>
                <a:cs typeface="Arial" panose="020B0604020202020204" pitchFamily="34" charset="0"/>
              </a:rPr>
              <a:t> (</a:t>
            </a:r>
            <a:r>
              <a:rPr lang="en-US" b="0" i="0" u="none" strike="noStrike" dirty="0">
                <a:effectLst/>
                <a:latin typeface="Arial" panose="020B0604020202020204" pitchFamily="34" charset="0"/>
                <a:cs typeface="Arial" panose="020B0604020202020204" pitchFamily="34" charset="0"/>
              </a:rPr>
              <a:t>passband</a:t>
            </a:r>
            <a:r>
              <a:rPr lang="en-US" b="0" i="0" dirty="0">
                <a:effectLst/>
                <a:latin typeface="Arial" panose="020B0604020202020204" pitchFamily="34" charset="0"/>
                <a:cs typeface="Arial" panose="020B0604020202020204" pitchFamily="34" charset="0"/>
              </a:rPr>
              <a:t> bandwidth in case of a bandpass signal);</a:t>
            </a:r>
          </a:p>
          <a:p>
            <a:endParaRPr lang="en-US" b="0" i="0" dirty="0">
              <a:effectLst/>
              <a:latin typeface="Arial" panose="020B0604020202020204" pitchFamily="34" charset="0"/>
              <a:cs typeface="Arial" panose="020B0604020202020204" pitchFamily="34" charset="0"/>
            </a:endParaRPr>
          </a:p>
          <a:p>
            <a:r>
              <a:rPr lang="en-US" b="1" i="0" dirty="0">
                <a:effectLst/>
                <a:latin typeface="Arial" panose="020B0604020202020204" pitchFamily="34" charset="0"/>
                <a:cs typeface="Arial" panose="020B0604020202020204" pitchFamily="34" charset="0"/>
              </a:rPr>
              <a:t>S: </a:t>
            </a:r>
            <a:r>
              <a:rPr lang="en-US" b="0" i="0" dirty="0">
                <a:effectLst/>
                <a:latin typeface="Arial" panose="020B0604020202020204" pitchFamily="34" charset="0"/>
                <a:cs typeface="Arial" panose="020B0604020202020204" pitchFamily="34" charset="0"/>
              </a:rPr>
              <a:t>is the average received signal power over the bandwidth  (in case of a carrier-modulated passband transmission, often denoted C), measured in watts (or volts squared);</a:t>
            </a:r>
          </a:p>
          <a:p>
            <a:endParaRPr lang="en-US" b="0" i="0" dirty="0">
              <a:effectLst/>
              <a:latin typeface="Arial" panose="020B0604020202020204" pitchFamily="34" charset="0"/>
              <a:cs typeface="Arial" panose="020B0604020202020204" pitchFamily="34" charset="0"/>
            </a:endParaRPr>
          </a:p>
          <a:p>
            <a:r>
              <a:rPr lang="en-US" b="1" i="0" dirty="0">
                <a:effectLst/>
                <a:latin typeface="Arial" panose="020B0604020202020204" pitchFamily="34" charset="0"/>
                <a:cs typeface="Arial" panose="020B0604020202020204" pitchFamily="34" charset="0"/>
              </a:rPr>
              <a:t>N: </a:t>
            </a:r>
            <a:r>
              <a:rPr lang="en-US" b="0" i="0" dirty="0">
                <a:effectLst/>
                <a:latin typeface="Arial" panose="020B0604020202020204" pitchFamily="34" charset="0"/>
                <a:cs typeface="Arial" panose="020B0604020202020204" pitchFamily="34" charset="0"/>
              </a:rPr>
              <a:t>is the average power of the noise and interference over the bandwidth measured in watts (or volts squared);</a:t>
            </a:r>
          </a:p>
          <a:p>
            <a:endParaRPr lang="en-US" b="0" i="0" dirty="0">
              <a:effectLst/>
              <a:latin typeface="Arial" panose="020B0604020202020204" pitchFamily="34" charset="0"/>
              <a:cs typeface="Arial" panose="020B0604020202020204" pitchFamily="34" charset="0"/>
            </a:endParaRPr>
          </a:p>
          <a:p>
            <a:r>
              <a:rPr lang="en-US" b="1" dirty="0">
                <a:latin typeface="Arial" panose="020B0604020202020204" pitchFamily="34" charset="0"/>
                <a:cs typeface="Arial" panose="020B0604020202020204" pitchFamily="34" charset="0"/>
              </a:rPr>
              <a:t>S/N: </a:t>
            </a:r>
            <a:r>
              <a:rPr lang="en-US" b="0" i="0" dirty="0">
                <a:effectLst/>
                <a:latin typeface="Arial" panose="020B0604020202020204" pitchFamily="34" charset="0"/>
                <a:cs typeface="Arial" panose="020B0604020202020204" pitchFamily="34" charset="0"/>
              </a:rPr>
              <a:t>is the </a:t>
            </a:r>
            <a:r>
              <a:rPr lang="en-US" b="0" i="0" u="none" strike="noStrike" dirty="0">
                <a:effectLst/>
                <a:latin typeface="Arial" panose="020B0604020202020204" pitchFamily="34" charset="0"/>
                <a:cs typeface="Arial" panose="020B0604020202020204" pitchFamily="34" charset="0"/>
              </a:rPr>
              <a:t>signal-to-noise ratio</a:t>
            </a:r>
            <a:r>
              <a:rPr lang="en-US" b="0" i="0" dirty="0">
                <a:effectLst/>
                <a:latin typeface="Arial" panose="020B0604020202020204" pitchFamily="34" charset="0"/>
                <a:cs typeface="Arial" panose="020B0604020202020204" pitchFamily="34" charset="0"/>
              </a:rPr>
              <a:t> (SNR) or the </a:t>
            </a:r>
            <a:r>
              <a:rPr lang="en-US" b="0" i="0" u="none" strike="noStrike" dirty="0">
                <a:effectLst/>
                <a:latin typeface="Arial" panose="020B0604020202020204" pitchFamily="34" charset="0"/>
                <a:cs typeface="Arial" panose="020B0604020202020204" pitchFamily="34" charset="0"/>
              </a:rPr>
              <a:t>carrier-to-noise ratio</a:t>
            </a:r>
            <a:r>
              <a:rPr lang="en-US" b="0" i="0" dirty="0">
                <a:effectLst/>
                <a:latin typeface="Arial" panose="020B0604020202020204" pitchFamily="34" charset="0"/>
                <a:cs typeface="Arial" panose="020B0604020202020204" pitchFamily="34" charset="0"/>
              </a:rPr>
              <a:t> (CNR) of the communication signal to the noise and interference at the receiver (expressed as a linear power ratio, not as logarithmic </a:t>
            </a:r>
            <a:r>
              <a:rPr lang="en-US" b="0" i="0" u="none" strike="noStrike" dirty="0">
                <a:effectLst/>
                <a:latin typeface="Arial" panose="020B0604020202020204" pitchFamily="34" charset="0"/>
                <a:cs typeface="Arial" panose="020B0604020202020204" pitchFamily="34" charset="0"/>
              </a:rPr>
              <a:t>decibels</a:t>
            </a:r>
            <a:r>
              <a:rPr lang="en-US" b="0" i="0" dirty="0">
                <a:effectLst/>
                <a:latin typeface="Arial" panose="020B0604020202020204" pitchFamily="34" charset="0"/>
                <a:cs typeface="Arial" panose="020B0604020202020204" pitchFamily="34" charset="0"/>
              </a:rPr>
              <a:t>).</a:t>
            </a:r>
            <a:endParaRPr 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91851055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Line 2">
            <a:extLst>
              <a:ext uri="{FF2B5EF4-FFF2-40B4-BE49-F238E27FC236}">
                <a16:creationId xmlns:a16="http://schemas.microsoft.com/office/drawing/2014/main" id="{B80F17A2-967F-4758-B690-15B90FC4B7B2}"/>
              </a:ext>
            </a:extLst>
          </p:cNvPr>
          <p:cNvSpPr>
            <a:spLocks noChangeShapeType="1"/>
          </p:cNvSpPr>
          <p:nvPr/>
        </p:nvSpPr>
        <p:spPr bwMode="auto">
          <a:xfrm>
            <a:off x="0" y="121222"/>
            <a:ext cx="12192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9219" name="Line 3">
            <a:extLst>
              <a:ext uri="{FF2B5EF4-FFF2-40B4-BE49-F238E27FC236}">
                <a16:creationId xmlns:a16="http://schemas.microsoft.com/office/drawing/2014/main" id="{D216B66D-CB10-42AD-A3FB-617EDBA6005A}"/>
              </a:ext>
            </a:extLst>
          </p:cNvPr>
          <p:cNvSpPr>
            <a:spLocks noChangeShapeType="1"/>
          </p:cNvSpPr>
          <p:nvPr/>
        </p:nvSpPr>
        <p:spPr bwMode="auto">
          <a:xfrm flipV="1">
            <a:off x="0" y="959422"/>
            <a:ext cx="12192000" cy="31178"/>
          </a:xfrm>
          <a:prstGeom prst="line">
            <a:avLst/>
          </a:prstGeom>
          <a:noFill/>
          <a:ln w="1905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9220" name="Text Box 4">
            <a:extLst>
              <a:ext uri="{FF2B5EF4-FFF2-40B4-BE49-F238E27FC236}">
                <a16:creationId xmlns:a16="http://schemas.microsoft.com/office/drawing/2014/main" id="{F1A1D0A4-783E-4A5F-9176-6625485B21C2}"/>
              </a:ext>
            </a:extLst>
          </p:cNvPr>
          <p:cNvSpPr txBox="1">
            <a:spLocks noChangeArrowheads="1"/>
          </p:cNvSpPr>
          <p:nvPr/>
        </p:nvSpPr>
        <p:spPr bwMode="auto">
          <a:xfrm>
            <a:off x="97767" y="250049"/>
            <a:ext cx="2339102"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algn="l"/>
            <a:r>
              <a:rPr lang="en-US" sz="3600" b="0" i="0" dirty="0">
                <a:solidFill>
                  <a:srgbClr val="000000"/>
                </a:solidFill>
                <a:effectLst/>
                <a:cs typeface="Arial" panose="020B0604020202020204" pitchFamily="34" charset="0"/>
              </a:rPr>
              <a:t>Examples:</a:t>
            </a:r>
          </a:p>
        </p:txBody>
      </p:sp>
      <p:sp>
        <p:nvSpPr>
          <p:cNvPr id="9221" name="Line 5">
            <a:extLst>
              <a:ext uri="{FF2B5EF4-FFF2-40B4-BE49-F238E27FC236}">
                <a16:creationId xmlns:a16="http://schemas.microsoft.com/office/drawing/2014/main" id="{813B641B-59D1-4F94-8787-5406583E7085}"/>
              </a:ext>
            </a:extLst>
          </p:cNvPr>
          <p:cNvSpPr>
            <a:spLocks noChangeShapeType="1"/>
          </p:cNvSpPr>
          <p:nvPr/>
        </p:nvSpPr>
        <p:spPr bwMode="auto">
          <a:xfrm flipV="1">
            <a:off x="0" y="6703102"/>
            <a:ext cx="12192000" cy="31178"/>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9AEA0BA8-2347-48E9-96C7-63EA5DE549D0}"/>
                  </a:ext>
                </a:extLst>
              </p:cNvPr>
              <p:cNvSpPr txBox="1"/>
              <p:nvPr/>
            </p:nvSpPr>
            <p:spPr>
              <a:xfrm>
                <a:off x="9095090" y="998956"/>
                <a:ext cx="3096910" cy="829843"/>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US" sz="2400" b="1" i="1" smtClean="0">
                          <a:latin typeface="Cambria Math" panose="02040503050406030204" pitchFamily="18" charset="0"/>
                        </a:rPr>
                        <m:t>𝑪</m:t>
                      </m:r>
                      <m:r>
                        <a:rPr lang="en-US" sz="2400" b="1" i="1" smtClean="0">
                          <a:latin typeface="Cambria Math" panose="02040503050406030204" pitchFamily="18" charset="0"/>
                        </a:rPr>
                        <m:t>=</m:t>
                      </m:r>
                      <m:r>
                        <a:rPr lang="en-US" sz="2400" b="1" i="1" smtClean="0">
                          <a:latin typeface="Cambria Math" panose="02040503050406030204" pitchFamily="18" charset="0"/>
                        </a:rPr>
                        <m:t>𝑩</m:t>
                      </m:r>
                      <m:func>
                        <m:funcPr>
                          <m:ctrlPr>
                            <a:rPr lang="en-US" sz="2400" b="1" i="1" smtClean="0">
                              <a:latin typeface="Cambria Math" panose="02040503050406030204" pitchFamily="18" charset="0"/>
                            </a:rPr>
                          </m:ctrlPr>
                        </m:funcPr>
                        <m:fName>
                          <m:sSub>
                            <m:sSubPr>
                              <m:ctrlPr>
                                <a:rPr lang="en-US" sz="2400" b="1" i="1" smtClean="0">
                                  <a:latin typeface="Cambria Math" panose="02040503050406030204" pitchFamily="18" charset="0"/>
                                </a:rPr>
                              </m:ctrlPr>
                            </m:sSubPr>
                            <m:e>
                              <m:r>
                                <a:rPr lang="en-US" sz="2400" b="1" i="0" smtClean="0">
                                  <a:latin typeface="Cambria Math" panose="02040503050406030204" pitchFamily="18" charset="0"/>
                                </a:rPr>
                                <m:t>𝐥𝐨𝐠</m:t>
                              </m:r>
                            </m:e>
                            <m:sub>
                              <m:r>
                                <a:rPr lang="en-US" sz="2400" b="1" i="1" smtClean="0">
                                  <a:latin typeface="Cambria Math" panose="02040503050406030204" pitchFamily="18" charset="0"/>
                                </a:rPr>
                                <m:t>𝟐</m:t>
                              </m:r>
                            </m:sub>
                          </m:sSub>
                        </m:fName>
                        <m:e>
                          <m:d>
                            <m:dPr>
                              <m:ctrlPr>
                                <a:rPr lang="en-US" sz="2400" b="1" i="1" smtClean="0">
                                  <a:latin typeface="Cambria Math" panose="02040503050406030204" pitchFamily="18" charset="0"/>
                                </a:rPr>
                              </m:ctrlPr>
                            </m:dPr>
                            <m:e>
                              <m:r>
                                <a:rPr lang="en-US" sz="2400" b="1" i="1" smtClean="0">
                                  <a:latin typeface="Cambria Math" panose="02040503050406030204" pitchFamily="18" charset="0"/>
                                </a:rPr>
                                <m:t>𝟏</m:t>
                              </m:r>
                              <m:r>
                                <a:rPr lang="en-US" sz="2400" b="1" i="1" smtClean="0">
                                  <a:latin typeface="Cambria Math" panose="02040503050406030204" pitchFamily="18" charset="0"/>
                                </a:rPr>
                                <m:t>+</m:t>
                              </m:r>
                              <m:f>
                                <m:fPr>
                                  <m:ctrlPr>
                                    <a:rPr lang="en-US" sz="2400" b="1" i="1" smtClean="0">
                                      <a:latin typeface="Cambria Math" panose="02040503050406030204" pitchFamily="18" charset="0"/>
                                    </a:rPr>
                                  </m:ctrlPr>
                                </m:fPr>
                                <m:num>
                                  <m:r>
                                    <a:rPr lang="en-US" sz="2400" b="1" i="1" smtClean="0">
                                      <a:latin typeface="Cambria Math" panose="02040503050406030204" pitchFamily="18" charset="0"/>
                                    </a:rPr>
                                    <m:t>𝑺</m:t>
                                  </m:r>
                                </m:num>
                                <m:den>
                                  <m:r>
                                    <a:rPr lang="en-US" sz="2400" b="1" i="1" smtClean="0">
                                      <a:latin typeface="Cambria Math" panose="02040503050406030204" pitchFamily="18" charset="0"/>
                                    </a:rPr>
                                    <m:t>𝑵</m:t>
                                  </m:r>
                                </m:den>
                              </m:f>
                            </m:e>
                          </m:d>
                        </m:e>
                      </m:func>
                    </m:oMath>
                  </m:oMathPara>
                </a14:m>
                <a:endParaRPr lang="en-US" sz="2400" b="1" dirty="0"/>
              </a:p>
            </p:txBody>
          </p:sp>
        </mc:Choice>
        <mc:Fallback xmlns="">
          <p:sp>
            <p:nvSpPr>
              <p:cNvPr id="18" name="TextBox 17">
                <a:extLst>
                  <a:ext uri="{FF2B5EF4-FFF2-40B4-BE49-F238E27FC236}">
                    <a16:creationId xmlns:a16="http://schemas.microsoft.com/office/drawing/2014/main" id="{9AEA0BA8-2347-48E9-96C7-63EA5DE549D0}"/>
                  </a:ext>
                </a:extLst>
              </p:cNvPr>
              <p:cNvSpPr txBox="1">
                <a:spLocks noRot="1" noChangeAspect="1" noMove="1" noResize="1" noEditPoints="1" noAdjustHandles="1" noChangeArrowheads="1" noChangeShapeType="1" noTextEdit="1"/>
              </p:cNvSpPr>
              <p:nvPr/>
            </p:nvSpPr>
            <p:spPr>
              <a:xfrm>
                <a:off x="9095090" y="998956"/>
                <a:ext cx="3096910" cy="829843"/>
              </a:xfrm>
              <a:prstGeom prst="rect">
                <a:avLst/>
              </a:prstGeom>
              <a:blipFill>
                <a:blip r:embed="rId3"/>
                <a:stretch>
                  <a:fillRect/>
                </a:stretch>
              </a:blipFill>
            </p:spPr>
            <p:txBody>
              <a:bodyPr/>
              <a:lstStyle/>
              <a:p>
                <a:r>
                  <a:rPr lang="en-US">
                    <a:noFill/>
                  </a:rPr>
                  <a:t> </a:t>
                </a:r>
              </a:p>
            </p:txBody>
          </p:sp>
        </mc:Fallback>
      </mc:AlternateContent>
      <p:sp>
        <p:nvSpPr>
          <p:cNvPr id="25" name="TextBox 24">
            <a:extLst>
              <a:ext uri="{FF2B5EF4-FFF2-40B4-BE49-F238E27FC236}">
                <a16:creationId xmlns:a16="http://schemas.microsoft.com/office/drawing/2014/main" id="{380F4D3E-B693-4655-BCDC-C1AC149A7AAE}"/>
              </a:ext>
            </a:extLst>
          </p:cNvPr>
          <p:cNvSpPr txBox="1"/>
          <p:nvPr/>
        </p:nvSpPr>
        <p:spPr>
          <a:xfrm>
            <a:off x="134720" y="1271429"/>
            <a:ext cx="8960370" cy="3139321"/>
          </a:xfrm>
          <a:prstGeom prst="rect">
            <a:avLst/>
          </a:prstGeom>
          <a:noFill/>
        </p:spPr>
        <p:txBody>
          <a:bodyPr wrap="square">
            <a:spAutoFit/>
          </a:bodyPr>
          <a:lstStyle/>
          <a:p>
            <a:r>
              <a:rPr lang="en-US" b="0" i="0" dirty="0">
                <a:solidFill>
                  <a:srgbClr val="202122"/>
                </a:solidFill>
                <a:effectLst/>
                <a:latin typeface="Arial" panose="020B0604020202020204" pitchFamily="34" charset="0"/>
              </a:rPr>
              <a:t>Q1: At a SNR of 0 dB (Signal power = Noise power) the Capacity in bits/s is equal to the ……………………………in hertz.</a:t>
            </a:r>
          </a:p>
          <a:p>
            <a:endParaRPr lang="en-US" b="0" i="0" dirty="0">
              <a:solidFill>
                <a:srgbClr val="202122"/>
              </a:solidFill>
              <a:effectLst/>
              <a:latin typeface="Arial" panose="020B0604020202020204" pitchFamily="34" charset="0"/>
            </a:endParaRPr>
          </a:p>
          <a:p>
            <a:endParaRPr lang="en-US" dirty="0">
              <a:solidFill>
                <a:srgbClr val="202122"/>
              </a:solidFill>
              <a:latin typeface="Arial" panose="020B0604020202020204" pitchFamily="34" charset="0"/>
              <a:cs typeface="Arial" panose="020B0604020202020204" pitchFamily="34" charset="0"/>
            </a:endParaRPr>
          </a:p>
          <a:p>
            <a:r>
              <a:rPr lang="en-US" dirty="0">
                <a:solidFill>
                  <a:srgbClr val="202122"/>
                </a:solidFill>
                <a:latin typeface="Arial" panose="020B0604020202020204" pitchFamily="34" charset="0"/>
                <a:cs typeface="Arial" panose="020B0604020202020204" pitchFamily="34" charset="0"/>
              </a:rPr>
              <a:t>Q2: </a:t>
            </a:r>
            <a:r>
              <a:rPr lang="en-US" b="0" i="0" dirty="0">
                <a:solidFill>
                  <a:srgbClr val="202122"/>
                </a:solidFill>
                <a:effectLst/>
                <a:latin typeface="Arial" panose="020B0604020202020204" pitchFamily="34" charset="0"/>
              </a:rPr>
              <a:t>If the SNR is 20 dB, and the bandwidth available is 4 kHz, which is appropriate for telephone communications, then C =   ?</a:t>
            </a:r>
          </a:p>
          <a:p>
            <a:endParaRPr lang="en-US" b="0" i="0" dirty="0">
              <a:solidFill>
                <a:srgbClr val="202122"/>
              </a:solidFill>
              <a:effectLst/>
              <a:latin typeface="Arial" panose="020B0604020202020204" pitchFamily="34" charset="0"/>
            </a:endParaRPr>
          </a:p>
          <a:p>
            <a:endParaRPr lang="en-US" dirty="0">
              <a:solidFill>
                <a:srgbClr val="202122"/>
              </a:solidFill>
              <a:latin typeface="Arial" panose="020B0604020202020204" pitchFamily="34" charset="0"/>
              <a:cs typeface="Arial" panose="020B0604020202020204" pitchFamily="34" charset="0"/>
            </a:endParaRPr>
          </a:p>
          <a:p>
            <a:endParaRPr lang="en-US" dirty="0">
              <a:solidFill>
                <a:srgbClr val="202122"/>
              </a:solidFill>
              <a:latin typeface="Arial" panose="020B0604020202020204" pitchFamily="34" charset="0"/>
              <a:cs typeface="Arial" panose="020B0604020202020204" pitchFamily="34" charset="0"/>
            </a:endParaRPr>
          </a:p>
          <a:p>
            <a:r>
              <a:rPr lang="en-US" dirty="0">
                <a:solidFill>
                  <a:srgbClr val="202122"/>
                </a:solidFill>
                <a:latin typeface="Arial" panose="020B0604020202020204" pitchFamily="34" charset="0"/>
                <a:cs typeface="Arial" panose="020B0604020202020204" pitchFamily="34" charset="0"/>
              </a:rPr>
              <a:t>Q3: </a:t>
            </a:r>
            <a:r>
              <a:rPr lang="en-US" b="0" i="0" dirty="0">
                <a:solidFill>
                  <a:srgbClr val="202122"/>
                </a:solidFill>
                <a:effectLst/>
                <a:latin typeface="Arial" panose="020B0604020202020204" pitchFamily="34" charset="0"/>
              </a:rPr>
              <a:t>If the requirement is to transmit at 50 </a:t>
            </a:r>
            <a:r>
              <a:rPr lang="en-US" b="0" i="0" dirty="0" err="1">
                <a:solidFill>
                  <a:srgbClr val="202122"/>
                </a:solidFill>
                <a:effectLst/>
                <a:latin typeface="Arial" panose="020B0604020202020204" pitchFamily="34" charset="0"/>
              </a:rPr>
              <a:t>kbit</a:t>
            </a:r>
            <a:r>
              <a:rPr lang="en-US" b="0" i="0" dirty="0">
                <a:solidFill>
                  <a:srgbClr val="202122"/>
                </a:solidFill>
                <a:effectLst/>
                <a:latin typeface="Arial" panose="020B0604020202020204" pitchFamily="34" charset="0"/>
              </a:rPr>
              <a:t>/s, and a bandwidth of 10 kHz is used, then the minimum S/N required is   ?</a:t>
            </a:r>
            <a:endParaRPr 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542396671"/>
      </p:ext>
    </p:extLst>
  </p:cSld>
  <p:clrMapOvr>
    <a:masterClrMapping/>
  </p:clrMapOvr>
</p:sld>
</file>

<file path=ppt/theme/theme1.xml><?xml version="1.0" encoding="utf-8"?>
<a:theme xmlns:a="http://schemas.openxmlformats.org/drawingml/2006/main" name="Retrospect">
  <a:themeElements>
    <a:clrScheme name="Retrospect">
      <a:dk1>
        <a:srgbClr val="000000"/>
      </a:dk1>
      <a:lt1>
        <a:sysClr val="window" lastClr="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3F1AAB62-24C6-49D2-8E01-B56FAC9A3DC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Retrospect</Template>
  <TotalTime>2825</TotalTime>
  <Words>1163</Words>
  <Application>Microsoft Office PowerPoint</Application>
  <PresentationFormat>Widescreen</PresentationFormat>
  <Paragraphs>91</Paragraphs>
  <Slides>10</Slides>
  <Notes>10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10</vt:i4>
      </vt:variant>
    </vt:vector>
  </HeadingPairs>
  <TitlesOfParts>
    <vt:vector size="19" baseType="lpstr">
      <vt:lpstr>Arial</vt:lpstr>
      <vt:lpstr>Calibri</vt:lpstr>
      <vt:lpstr>Calibri Light</vt:lpstr>
      <vt:lpstr>Cambria Math</vt:lpstr>
      <vt:lpstr>Times New Roman</vt:lpstr>
      <vt:lpstr>Times-Bold</vt:lpstr>
      <vt:lpstr>Times-Italic</vt:lpstr>
      <vt:lpstr>Times-Roman</vt:lpstr>
      <vt:lpstr>Retrospect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 to Information Theory</dc:title>
  <dc:creator>sameeulla.khan23@gmail.com</dc:creator>
  <cp:lastModifiedBy>Saladi Saritha</cp:lastModifiedBy>
  <cp:revision>237</cp:revision>
  <dcterms:created xsi:type="dcterms:W3CDTF">2019-07-05T05:58:21Z</dcterms:created>
  <dcterms:modified xsi:type="dcterms:W3CDTF">2025-08-16T07:08:03Z</dcterms:modified>
</cp:coreProperties>
</file>