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60" r:id="rId3"/>
    <p:sldId id="261" r:id="rId4"/>
    <p:sldId id="276" r:id="rId5"/>
    <p:sldId id="257" r:id="rId6"/>
    <p:sldId id="263" r:id="rId7"/>
    <p:sldId id="277" r:id="rId8"/>
    <p:sldId id="262" r:id="rId9"/>
    <p:sldId id="278" r:id="rId10"/>
    <p:sldId id="279" r:id="rId11"/>
    <p:sldId id="280" r:id="rId12"/>
    <p:sldId id="281" r:id="rId13"/>
    <p:sldId id="264" r:id="rId14"/>
    <p:sldId id="265" r:id="rId15"/>
    <p:sldId id="266" r:id="rId16"/>
    <p:sldId id="272" r:id="rId17"/>
    <p:sldId id="282"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C6A5A51-7622-4CA2-995F-779F87ED2362}" type="datetimeFigureOut">
              <a:rPr lang="en-IN" smtClean="0"/>
              <a:t>23-01-2026</a:t>
            </a:fld>
            <a:endParaRPr lang="en-IN"/>
          </a:p>
        </p:txBody>
      </p:sp>
      <p:sp>
        <p:nvSpPr>
          <p:cNvPr id="5" name="Footer Placeholder 4"/>
          <p:cNvSpPr>
            <a:spLocks noGrp="1"/>
          </p:cNvSpPr>
          <p:nvPr>
            <p:ph type="ftr" sz="quarter" idx="11"/>
          </p:nvPr>
        </p:nvSpPr>
        <p:spPr/>
        <p:txBody>
          <a:bodyPr/>
          <a:lstStyle/>
          <a:p>
            <a:endParaRPr lang="en-IN"/>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BAEA75B2-F555-4190-9D20-7B0AA5D969FF}" type="slidenum">
              <a:rPr lang="en-IN" smtClean="0"/>
              <a:t>‹#›</a:t>
            </a:fld>
            <a:endParaRPr lang="en-IN"/>
          </a:p>
        </p:txBody>
      </p:sp>
    </p:spTree>
    <p:extLst>
      <p:ext uri="{BB962C8B-B14F-4D97-AF65-F5344CB8AC3E}">
        <p14:creationId xmlns:p14="http://schemas.microsoft.com/office/powerpoint/2010/main" val="38036105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6A5A51-7622-4CA2-995F-779F87ED2362}" type="datetimeFigureOut">
              <a:rPr lang="en-IN" smtClean="0"/>
              <a:t>23-01-2026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AEA75B2-F555-4190-9D20-7B0AA5D969FF}" type="slidenum">
              <a:rPr lang="en-IN" smtClean="0"/>
              <a:t>‹#›</a:t>
            </a:fld>
            <a:endParaRPr lang="en-IN"/>
          </a:p>
        </p:txBody>
      </p:sp>
    </p:spTree>
    <p:extLst>
      <p:ext uri="{BB962C8B-B14F-4D97-AF65-F5344CB8AC3E}">
        <p14:creationId xmlns:p14="http://schemas.microsoft.com/office/powerpoint/2010/main" val="14554331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C6A5A51-7622-4CA2-995F-779F87ED2362}" type="datetimeFigureOut">
              <a:rPr lang="en-IN" smtClean="0"/>
              <a:t>23-01-2026</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BAEA75B2-F555-4190-9D20-7B0AA5D969FF}" type="slidenum">
              <a:rPr lang="en-IN" smtClean="0"/>
              <a:t>‹#›</a:t>
            </a:fld>
            <a:endParaRPr lang="en-IN"/>
          </a:p>
        </p:txBody>
      </p:sp>
    </p:spTree>
    <p:extLst>
      <p:ext uri="{BB962C8B-B14F-4D97-AF65-F5344CB8AC3E}">
        <p14:creationId xmlns:p14="http://schemas.microsoft.com/office/powerpoint/2010/main" val="23167421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C6A5A51-7622-4CA2-995F-779F87ED2362}" type="datetimeFigureOut">
              <a:rPr lang="en-IN" smtClean="0"/>
              <a:t>23-01-2026</a:t>
            </a:fld>
            <a:endParaRPr lang="en-IN"/>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BAEA75B2-F555-4190-9D20-7B0AA5D969FF}" type="slidenum">
              <a:rPr lang="en-IN" smtClean="0"/>
              <a:t>‹#›</a:t>
            </a:fld>
            <a:endParaRPr lang="en-IN"/>
          </a:p>
        </p:txBody>
      </p:sp>
    </p:spTree>
    <p:extLst>
      <p:ext uri="{BB962C8B-B14F-4D97-AF65-F5344CB8AC3E}">
        <p14:creationId xmlns:p14="http://schemas.microsoft.com/office/powerpoint/2010/main" val="34971701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C6A5A51-7622-4CA2-995F-779F87ED2362}" type="datetimeFigureOut">
              <a:rPr lang="en-IN" smtClean="0"/>
              <a:t>23-01-2026</a:t>
            </a:fld>
            <a:endParaRPr lang="en-IN"/>
          </a:p>
        </p:txBody>
      </p:sp>
      <p:sp>
        <p:nvSpPr>
          <p:cNvPr id="8" name="Footer Placeholder 7"/>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BAEA75B2-F555-4190-9D20-7B0AA5D969FF}" type="slidenum">
              <a:rPr lang="en-IN" smtClean="0"/>
              <a:t>‹#›</a:t>
            </a:fld>
            <a:endParaRPr lang="en-IN"/>
          </a:p>
        </p:txBody>
      </p:sp>
    </p:spTree>
    <p:extLst>
      <p:ext uri="{BB962C8B-B14F-4D97-AF65-F5344CB8AC3E}">
        <p14:creationId xmlns:p14="http://schemas.microsoft.com/office/powerpoint/2010/main" val="33700902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C6A5A51-7622-4CA2-995F-779F87ED2362}" type="datetimeFigureOut">
              <a:rPr lang="en-IN" smtClean="0"/>
              <a:t>23-01-2026</a:t>
            </a:fld>
            <a:endParaRPr lang="en-IN"/>
          </a:p>
        </p:txBody>
      </p:sp>
      <p:sp>
        <p:nvSpPr>
          <p:cNvPr id="4" name="Footer Placeholder 3"/>
          <p:cNvSpPr>
            <a:spLocks noGrp="1"/>
          </p:cNvSpPr>
          <p:nvPr>
            <p:ph type="ftr" sz="quarter" idx="11"/>
          </p:nvPr>
        </p:nvSpPr>
        <p:spPr/>
        <p:txBody>
          <a:bodyPr/>
          <a:lstStyle/>
          <a:p>
            <a:endParaRPr lang="en-IN"/>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BAEA75B2-F555-4190-9D20-7B0AA5D969FF}" type="slidenum">
              <a:rPr lang="en-IN" smtClean="0"/>
              <a:t>‹#›</a:t>
            </a:fld>
            <a:endParaRPr lang="en-IN"/>
          </a:p>
        </p:txBody>
      </p:sp>
    </p:spTree>
    <p:extLst>
      <p:ext uri="{BB962C8B-B14F-4D97-AF65-F5344CB8AC3E}">
        <p14:creationId xmlns:p14="http://schemas.microsoft.com/office/powerpoint/2010/main" val="5483224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C6A5A51-7622-4CA2-995F-779F87ED2362}" type="datetimeFigureOut">
              <a:rPr lang="en-IN" smtClean="0"/>
              <a:t>23-01-2026</a:t>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BAEA75B2-F555-4190-9D20-7B0AA5D969FF}" type="slidenum">
              <a:rPr lang="en-IN" smtClean="0"/>
              <a:t>‹#›</a:t>
            </a:fld>
            <a:endParaRPr lang="en-IN"/>
          </a:p>
        </p:txBody>
      </p:sp>
    </p:spTree>
    <p:extLst>
      <p:ext uri="{BB962C8B-B14F-4D97-AF65-F5344CB8AC3E}">
        <p14:creationId xmlns:p14="http://schemas.microsoft.com/office/powerpoint/2010/main" val="18279078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C6A5A51-7622-4CA2-995F-779F87ED2362}" type="datetimeFigureOut">
              <a:rPr lang="en-IN" smtClean="0"/>
              <a:t>23-01-2026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BAEA75B2-F555-4190-9D20-7B0AA5D969FF}" type="slidenum">
              <a:rPr lang="en-IN" smtClean="0"/>
              <a:t>‹#›</a:t>
            </a:fld>
            <a:endParaRPr lang="en-IN"/>
          </a:p>
        </p:txBody>
      </p:sp>
    </p:spTree>
    <p:extLst>
      <p:ext uri="{BB962C8B-B14F-4D97-AF65-F5344CB8AC3E}">
        <p14:creationId xmlns:p14="http://schemas.microsoft.com/office/powerpoint/2010/main" val="13676693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C6A5A51-7622-4CA2-995F-779F87ED2362}" type="datetimeFigureOut">
              <a:rPr lang="en-IN" smtClean="0"/>
              <a:t>23-01-2026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AEA75B2-F555-4190-9D20-7B0AA5D969FF}" type="slidenum">
              <a:rPr lang="en-IN" smtClean="0"/>
              <a:t>‹#›</a:t>
            </a:fld>
            <a:endParaRPr lang="en-IN"/>
          </a:p>
        </p:txBody>
      </p:sp>
    </p:spTree>
    <p:extLst>
      <p:ext uri="{BB962C8B-B14F-4D97-AF65-F5344CB8AC3E}">
        <p14:creationId xmlns:p14="http://schemas.microsoft.com/office/powerpoint/2010/main" val="7575301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C6A5A51-7622-4CA2-995F-779F87ED2362}" type="datetimeFigureOut">
              <a:rPr lang="en-IN" smtClean="0"/>
              <a:t>23-01-2026</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BAEA75B2-F555-4190-9D20-7B0AA5D969FF}" type="slidenum">
              <a:rPr lang="en-IN" smtClean="0"/>
              <a:t>‹#›</a:t>
            </a:fld>
            <a:endParaRPr lang="en-IN"/>
          </a:p>
        </p:txBody>
      </p:sp>
    </p:spTree>
    <p:extLst>
      <p:ext uri="{BB962C8B-B14F-4D97-AF65-F5344CB8AC3E}">
        <p14:creationId xmlns:p14="http://schemas.microsoft.com/office/powerpoint/2010/main" val="22329938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C6A5A51-7622-4CA2-995F-779F87ED2362}" type="datetimeFigureOut">
              <a:rPr lang="en-IN" smtClean="0"/>
              <a:t>23-01-2026</a:t>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BAEA75B2-F555-4190-9D20-7B0AA5D969FF}" type="slidenum">
              <a:rPr lang="en-IN" smtClean="0"/>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2290478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2C6A5A51-7622-4CA2-995F-779F87ED2362}" type="datetimeFigureOut">
              <a:rPr lang="en-IN" smtClean="0"/>
              <a:t>23-01-2026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AEA75B2-F555-4190-9D20-7B0AA5D969FF}" type="slidenum">
              <a:rPr lang="en-IN" smtClean="0"/>
              <a:t>‹#›</a:t>
            </a:fld>
            <a:endParaRPr lang="en-IN"/>
          </a:p>
        </p:txBody>
      </p:sp>
    </p:spTree>
    <p:extLst>
      <p:ext uri="{BB962C8B-B14F-4D97-AF65-F5344CB8AC3E}">
        <p14:creationId xmlns:p14="http://schemas.microsoft.com/office/powerpoint/2010/main" val="21729409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2C6A5A51-7622-4CA2-995F-779F87ED2362}" type="datetimeFigureOut">
              <a:rPr lang="en-IN" smtClean="0"/>
              <a:t>23-01-2026</a:t>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AEA75B2-F555-4190-9D20-7B0AA5D969FF}" type="slidenum">
              <a:rPr lang="en-IN" smtClean="0"/>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1429107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2C6A5A51-7622-4CA2-995F-779F87ED2362}" type="datetimeFigureOut">
              <a:rPr lang="en-IN" smtClean="0"/>
              <a:t>23-01-2026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AEA75B2-F555-4190-9D20-7B0AA5D969FF}" type="slidenum">
              <a:rPr lang="en-IN" smtClean="0"/>
              <a:t>‹#›</a:t>
            </a:fld>
            <a:endParaRPr lang="en-IN"/>
          </a:p>
        </p:txBody>
      </p:sp>
    </p:spTree>
    <p:extLst>
      <p:ext uri="{BB962C8B-B14F-4D97-AF65-F5344CB8AC3E}">
        <p14:creationId xmlns:p14="http://schemas.microsoft.com/office/powerpoint/2010/main" val="353954731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6A5A51-7622-4CA2-995F-779F87ED2362}" type="datetimeFigureOut">
              <a:rPr lang="en-IN" smtClean="0"/>
              <a:t>23-01-2026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AEA75B2-F555-4190-9D20-7B0AA5D969FF}" type="slidenum">
              <a:rPr lang="en-IN" smtClean="0"/>
              <a:t>‹#›</a:t>
            </a:fld>
            <a:endParaRPr lang="en-IN"/>
          </a:p>
        </p:txBody>
      </p:sp>
    </p:spTree>
    <p:extLst>
      <p:ext uri="{BB962C8B-B14F-4D97-AF65-F5344CB8AC3E}">
        <p14:creationId xmlns:p14="http://schemas.microsoft.com/office/powerpoint/2010/main" val="84533351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6A5A51-7622-4CA2-995F-779F87ED2362}" type="datetimeFigureOut">
              <a:rPr lang="en-IN" smtClean="0"/>
              <a:t>23-01-2026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AEA75B2-F555-4190-9D20-7B0AA5D969FF}" type="slidenum">
              <a:rPr lang="en-IN" smtClean="0"/>
              <a:t>‹#›</a:t>
            </a:fld>
            <a:endParaRPr lang="en-IN"/>
          </a:p>
        </p:txBody>
      </p:sp>
    </p:spTree>
    <p:extLst>
      <p:ext uri="{BB962C8B-B14F-4D97-AF65-F5344CB8AC3E}">
        <p14:creationId xmlns:p14="http://schemas.microsoft.com/office/powerpoint/2010/main" val="16095436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2C6A5A51-7622-4CA2-995F-779F87ED2362}" type="datetimeFigureOut">
              <a:rPr lang="en-IN" smtClean="0"/>
              <a:t>23-01-2026</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BAEA75B2-F555-4190-9D20-7B0AA5D969FF}" type="slidenum">
              <a:rPr lang="en-IN" smtClean="0"/>
              <a:t>‹#›</a:t>
            </a:fld>
            <a:endParaRPr lang="en-IN"/>
          </a:p>
        </p:txBody>
      </p:sp>
    </p:spTree>
    <p:extLst>
      <p:ext uri="{BB962C8B-B14F-4D97-AF65-F5344CB8AC3E}">
        <p14:creationId xmlns:p14="http://schemas.microsoft.com/office/powerpoint/2010/main" val="213865293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en.wikipedia.org/wiki/A_Mathematical_Theory_of_Communication" TargetMode="Externa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B9CDB-30C5-4DF0-81D5-2147421AFE19}"/>
              </a:ext>
            </a:extLst>
          </p:cNvPr>
          <p:cNvSpPr>
            <a:spLocks noGrp="1"/>
          </p:cNvSpPr>
          <p:nvPr>
            <p:ph type="ctrTitle"/>
          </p:nvPr>
        </p:nvSpPr>
        <p:spPr>
          <a:xfrm>
            <a:off x="1359108" y="1057457"/>
            <a:ext cx="9144000" cy="1655762"/>
          </a:xfrm>
        </p:spPr>
        <p:txBody>
          <a:bodyPr>
            <a:normAutofit fontScale="90000"/>
          </a:bodyPr>
          <a:lstStyle/>
          <a:p>
            <a:r>
              <a:rPr lang="en-US" sz="4800" b="1" dirty="0">
                <a:solidFill>
                  <a:srgbClr val="000000"/>
                </a:solidFill>
                <a:effectLst/>
                <a:latin typeface="Times New Roman" panose="02020603050405020304" pitchFamily="18" charset="0"/>
                <a:ea typeface="Calibri" panose="020F0502020204030204" pitchFamily="34" charset="0"/>
              </a:rPr>
              <a:t>Information Theory and Coding</a:t>
            </a:r>
            <a:br>
              <a:rPr lang="en-US" sz="4800" b="1" dirty="0">
                <a:solidFill>
                  <a:srgbClr val="000000"/>
                </a:solidFill>
                <a:effectLst/>
                <a:latin typeface="Times New Roman" panose="02020603050405020304" pitchFamily="18" charset="0"/>
                <a:ea typeface="Calibri" panose="020F0502020204030204" pitchFamily="34" charset="0"/>
              </a:rPr>
            </a:br>
            <a:br>
              <a:rPr lang="en-US" sz="4800" b="1" dirty="0">
                <a:solidFill>
                  <a:srgbClr val="000000"/>
                </a:solidFill>
                <a:effectLst/>
                <a:latin typeface="Times New Roman" panose="02020603050405020304" pitchFamily="18" charset="0"/>
                <a:ea typeface="Calibri" panose="020F0502020204030204" pitchFamily="34" charset="0"/>
              </a:rPr>
            </a:br>
            <a:r>
              <a:rPr lang="en-US" sz="2800" b="1" dirty="0">
                <a:solidFill>
                  <a:srgbClr val="000000"/>
                </a:solidFill>
                <a:effectLst/>
                <a:latin typeface="Times New Roman" panose="02020603050405020304" pitchFamily="18" charset="0"/>
                <a:ea typeface="Calibri" panose="020F0502020204030204" pitchFamily="34" charset="0"/>
              </a:rPr>
              <a:t>Module 1</a:t>
            </a:r>
            <a:endParaRPr lang="en-IN" sz="16600" dirty="0"/>
          </a:p>
        </p:txBody>
      </p:sp>
      <p:sp>
        <p:nvSpPr>
          <p:cNvPr id="3" name="Subtitle 2">
            <a:extLst>
              <a:ext uri="{FF2B5EF4-FFF2-40B4-BE49-F238E27FC236}">
                <a16:creationId xmlns:a16="http://schemas.microsoft.com/office/drawing/2014/main" id="{BEAE7386-E157-48D3-92C8-DF7E29AA86B4}"/>
              </a:ext>
            </a:extLst>
          </p:cNvPr>
          <p:cNvSpPr>
            <a:spLocks noGrp="1"/>
          </p:cNvSpPr>
          <p:nvPr>
            <p:ph type="subTitle" idx="1"/>
          </p:nvPr>
        </p:nvSpPr>
        <p:spPr>
          <a:xfrm>
            <a:off x="2723535" y="3543044"/>
            <a:ext cx="9144000" cy="2588900"/>
          </a:xfrm>
        </p:spPr>
        <p:txBody>
          <a:bodyPr>
            <a:normAutofit/>
          </a:bodyPr>
          <a:lstStyle/>
          <a:p>
            <a:endParaRPr lang="en-IN" dirty="0"/>
          </a:p>
          <a:p>
            <a:r>
              <a:rPr lang="en-IN" dirty="0"/>
              <a:t>Presented By:</a:t>
            </a:r>
          </a:p>
          <a:p>
            <a:r>
              <a:rPr lang="en-IN" dirty="0" err="1"/>
              <a:t>Dr.</a:t>
            </a:r>
            <a:r>
              <a:rPr lang="en-IN" dirty="0"/>
              <a:t> SALADI SARITHA</a:t>
            </a:r>
          </a:p>
          <a:p>
            <a:r>
              <a:rPr lang="en-IN" dirty="0"/>
              <a:t>Associate Professor</a:t>
            </a:r>
          </a:p>
          <a:p>
            <a:r>
              <a:rPr lang="en-IN" dirty="0"/>
              <a:t>School of Electronics  Engineering </a:t>
            </a:r>
          </a:p>
          <a:p>
            <a:r>
              <a:rPr lang="en-IN" dirty="0"/>
              <a:t>VIT-AP University</a:t>
            </a:r>
          </a:p>
        </p:txBody>
      </p:sp>
    </p:spTree>
    <p:extLst>
      <p:ext uri="{BB962C8B-B14F-4D97-AF65-F5344CB8AC3E}">
        <p14:creationId xmlns:p14="http://schemas.microsoft.com/office/powerpoint/2010/main" val="33568359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B7E72-0E56-432D-A560-7AB669496403}"/>
              </a:ext>
            </a:extLst>
          </p:cNvPr>
          <p:cNvSpPr>
            <a:spLocks noGrp="1"/>
          </p:cNvSpPr>
          <p:nvPr>
            <p:ph type="title"/>
          </p:nvPr>
        </p:nvSpPr>
        <p:spPr>
          <a:xfrm>
            <a:off x="838200" y="1"/>
            <a:ext cx="10515600" cy="818706"/>
          </a:xfrm>
        </p:spPr>
        <p:txBody>
          <a:bodyPr/>
          <a:lstStyle/>
          <a:p>
            <a:r>
              <a:rPr lang="en-IN" b="1" u="sng" dirty="0"/>
              <a:t>ITC: Applications</a:t>
            </a:r>
          </a:p>
        </p:txBody>
      </p:sp>
      <p:sp>
        <p:nvSpPr>
          <p:cNvPr id="5" name="TextBox 4">
            <a:extLst>
              <a:ext uri="{FF2B5EF4-FFF2-40B4-BE49-F238E27FC236}">
                <a16:creationId xmlns:a16="http://schemas.microsoft.com/office/drawing/2014/main" id="{AEED7C96-CD79-AB3A-0B11-FE30B6CB8B11}"/>
              </a:ext>
            </a:extLst>
          </p:cNvPr>
          <p:cNvSpPr txBox="1"/>
          <p:nvPr/>
        </p:nvSpPr>
        <p:spPr>
          <a:xfrm>
            <a:off x="6965429" y="4201877"/>
            <a:ext cx="4795291" cy="2246769"/>
          </a:xfrm>
          <a:prstGeom prst="rect">
            <a:avLst/>
          </a:prstGeom>
          <a:noFill/>
        </p:spPr>
        <p:txBody>
          <a:bodyPr wrap="square">
            <a:spAutoFit/>
          </a:bodyPr>
          <a:lstStyle/>
          <a:p>
            <a:pPr marL="285750" indent="-285750" algn="just">
              <a:buFont typeface="Arial" panose="020B0604020202020204" pitchFamily="34" charset="0"/>
              <a:buChar char="•"/>
            </a:pPr>
            <a:r>
              <a:rPr lang="en-US" sz="2000" b="0" i="0" u="none" strike="noStrike" baseline="0" dirty="0">
                <a:solidFill>
                  <a:srgbClr val="292526"/>
                </a:solidFill>
                <a:latin typeface="Times-Roman"/>
              </a:rPr>
              <a:t>The capacity can be computed simply from the noise characteristics of the channel. </a:t>
            </a:r>
          </a:p>
          <a:p>
            <a:pPr marL="285750" indent="-285750" algn="just">
              <a:buFont typeface="Arial" panose="020B0604020202020204" pitchFamily="34" charset="0"/>
              <a:buChar char="•"/>
            </a:pPr>
            <a:r>
              <a:rPr lang="en-US" sz="2000" b="0" i="0" u="none" strike="noStrike" baseline="0" dirty="0">
                <a:solidFill>
                  <a:srgbClr val="292526"/>
                </a:solidFill>
                <a:latin typeface="Times-Roman"/>
              </a:rPr>
              <a:t>Shannon further argued that random processes such as music and speech have an irreducible complexity below which the signal cannot </a:t>
            </a:r>
            <a:r>
              <a:rPr lang="en-IN" sz="2000" b="0" i="0" u="none" strike="noStrike" baseline="0" dirty="0">
                <a:solidFill>
                  <a:srgbClr val="292526"/>
                </a:solidFill>
                <a:latin typeface="Times-Roman"/>
              </a:rPr>
              <a:t>be compressed.</a:t>
            </a:r>
            <a:endParaRPr lang="en-IN" sz="2000" dirty="0"/>
          </a:p>
        </p:txBody>
      </p:sp>
      <p:pic>
        <p:nvPicPr>
          <p:cNvPr id="1026" name="Picture 2">
            <a:extLst>
              <a:ext uri="{FF2B5EF4-FFF2-40B4-BE49-F238E27FC236}">
                <a16:creationId xmlns:a16="http://schemas.microsoft.com/office/drawing/2014/main" id="{01DCBF36-D9E1-BEFD-31CE-E992C076DD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65220" y="409354"/>
            <a:ext cx="2095500" cy="2952750"/>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7724B996-9908-507C-CC93-44E6E5E61B45}"/>
              </a:ext>
            </a:extLst>
          </p:cNvPr>
          <p:cNvSpPr txBox="1"/>
          <p:nvPr/>
        </p:nvSpPr>
        <p:spPr>
          <a:xfrm>
            <a:off x="9725806" y="3495897"/>
            <a:ext cx="2034914" cy="369332"/>
          </a:xfrm>
          <a:prstGeom prst="rect">
            <a:avLst/>
          </a:prstGeom>
          <a:noFill/>
        </p:spPr>
        <p:txBody>
          <a:bodyPr wrap="square">
            <a:spAutoFit/>
          </a:bodyPr>
          <a:lstStyle/>
          <a:p>
            <a:r>
              <a:rPr lang="en-IN" b="1" i="0" dirty="0">
                <a:solidFill>
                  <a:srgbClr val="000000"/>
                </a:solidFill>
                <a:effectLst/>
                <a:latin typeface="Arial" panose="020B0604020202020204" pitchFamily="34" charset="0"/>
              </a:rPr>
              <a:t>Claude Shannon</a:t>
            </a:r>
            <a:endParaRPr lang="en-IN" dirty="0"/>
          </a:p>
        </p:txBody>
      </p:sp>
      <p:pic>
        <p:nvPicPr>
          <p:cNvPr id="1028" name="Picture 4" descr="Part 2: Information Theory | Statistics for Deep Learning | by Laxmi Vanam  | Deep Learning | Medium">
            <a:extLst>
              <a:ext uri="{FF2B5EF4-FFF2-40B4-BE49-F238E27FC236}">
                <a16:creationId xmlns:a16="http://schemas.microsoft.com/office/drawing/2014/main" id="{9B7BAF4A-EE53-4097-6D0F-F170B531AD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3904" y="863565"/>
            <a:ext cx="6051807" cy="59314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051656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A23194-CC8F-4C92-B9C6-FFE3D85B9F20}"/>
              </a:ext>
            </a:extLst>
          </p:cNvPr>
          <p:cNvSpPr>
            <a:spLocks noGrp="1"/>
          </p:cNvSpPr>
          <p:nvPr>
            <p:ph type="title"/>
          </p:nvPr>
        </p:nvSpPr>
        <p:spPr>
          <a:xfrm>
            <a:off x="838200" y="1"/>
            <a:ext cx="10515600" cy="988827"/>
          </a:xfrm>
        </p:spPr>
        <p:txBody>
          <a:bodyPr/>
          <a:lstStyle/>
          <a:p>
            <a:r>
              <a:rPr lang="en-IN" dirty="0"/>
              <a:t>What is Information</a:t>
            </a:r>
          </a:p>
        </p:txBody>
      </p:sp>
      <p:pic>
        <p:nvPicPr>
          <p:cNvPr id="7" name="Content Placeholder 6">
            <a:extLst>
              <a:ext uri="{FF2B5EF4-FFF2-40B4-BE49-F238E27FC236}">
                <a16:creationId xmlns:a16="http://schemas.microsoft.com/office/drawing/2014/main" id="{8BA929F7-FE1B-407C-9784-423A7B05320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989351"/>
            <a:ext cx="7010958" cy="4557009"/>
          </a:xfrm>
        </p:spPr>
      </p:pic>
      <p:sp>
        <p:nvSpPr>
          <p:cNvPr id="8" name="TextBox 7">
            <a:extLst>
              <a:ext uri="{FF2B5EF4-FFF2-40B4-BE49-F238E27FC236}">
                <a16:creationId xmlns:a16="http://schemas.microsoft.com/office/drawing/2014/main" id="{A19EF9AA-592C-4744-A5E3-D6C300146C2B}"/>
              </a:ext>
            </a:extLst>
          </p:cNvPr>
          <p:cNvSpPr txBox="1"/>
          <p:nvPr/>
        </p:nvSpPr>
        <p:spPr>
          <a:xfrm>
            <a:off x="8034727" y="1484026"/>
            <a:ext cx="3732551" cy="4893647"/>
          </a:xfrm>
          <a:prstGeom prst="rect">
            <a:avLst/>
          </a:prstGeom>
          <a:noFill/>
        </p:spPr>
        <p:txBody>
          <a:bodyPr wrap="square" rtlCol="0">
            <a:spAutoFit/>
          </a:bodyPr>
          <a:lstStyle/>
          <a:p>
            <a:r>
              <a:rPr lang="en-US" sz="2400" b="1" dirty="0"/>
              <a:t>Weather Forecast:</a:t>
            </a:r>
          </a:p>
          <a:p>
            <a:pPr marL="342900" indent="-342900">
              <a:buAutoNum type="alphaUcParenR"/>
            </a:pPr>
            <a:r>
              <a:rPr lang="en-US" sz="2400" dirty="0"/>
              <a:t>It would be hot and sunny.</a:t>
            </a:r>
          </a:p>
          <a:p>
            <a:pPr marL="342900" indent="-342900">
              <a:buAutoNum type="alphaUcParenR"/>
            </a:pPr>
            <a:r>
              <a:rPr lang="en-US" sz="2400" dirty="0"/>
              <a:t>There would be scattered rain.</a:t>
            </a:r>
          </a:p>
          <a:p>
            <a:pPr marL="342900" indent="-342900">
              <a:buAutoNum type="alphaUcParenR"/>
            </a:pPr>
            <a:r>
              <a:rPr lang="en-US" sz="2400" dirty="0"/>
              <a:t>There would be cyclone and thunderstorm.</a:t>
            </a:r>
          </a:p>
          <a:p>
            <a:pPr marL="342900" indent="-342900">
              <a:buAutoNum type="alphaUcParenR"/>
            </a:pPr>
            <a:endParaRPr lang="en-US" sz="2400" dirty="0"/>
          </a:p>
          <a:p>
            <a:endParaRPr lang="en-US" sz="2400" dirty="0"/>
          </a:p>
          <a:p>
            <a:r>
              <a:rPr lang="en-US" sz="2400" b="1" dirty="0"/>
              <a:t>Note: </a:t>
            </a:r>
            <a:r>
              <a:rPr lang="en-US" sz="2400" dirty="0"/>
              <a:t>Amount of information is related to probability of occurrence.</a:t>
            </a:r>
          </a:p>
          <a:p>
            <a:pPr marL="342900" indent="-342900">
              <a:buAutoNum type="alphaUcParenR"/>
            </a:pPr>
            <a:endParaRPr lang="en-US" sz="2400" dirty="0"/>
          </a:p>
        </p:txBody>
      </p:sp>
    </p:spTree>
    <p:extLst>
      <p:ext uri="{BB962C8B-B14F-4D97-AF65-F5344CB8AC3E}">
        <p14:creationId xmlns:p14="http://schemas.microsoft.com/office/powerpoint/2010/main" val="40869285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979B05-7CD5-4275-8BA0-B8B58EB5FBFD}"/>
              </a:ext>
            </a:extLst>
          </p:cNvPr>
          <p:cNvSpPr txBox="1">
            <a:spLocks/>
          </p:cNvSpPr>
          <p:nvPr/>
        </p:nvSpPr>
        <p:spPr>
          <a:xfrm>
            <a:off x="838200" y="1"/>
            <a:ext cx="10515600" cy="98882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a:t>What is Information</a:t>
            </a:r>
            <a:endParaRPr lang="en-IN" dirty="0"/>
          </a:p>
        </p:txBody>
      </p:sp>
      <p:sp>
        <p:nvSpPr>
          <p:cNvPr id="3" name="Content Placeholder 2">
            <a:extLst>
              <a:ext uri="{FF2B5EF4-FFF2-40B4-BE49-F238E27FC236}">
                <a16:creationId xmlns:a16="http://schemas.microsoft.com/office/drawing/2014/main" id="{3256EC90-55DA-4230-9BF7-A122B1A7EB3D}"/>
              </a:ext>
            </a:extLst>
          </p:cNvPr>
          <p:cNvSpPr txBox="1">
            <a:spLocks/>
          </p:cNvSpPr>
          <p:nvPr/>
        </p:nvSpPr>
        <p:spPr>
          <a:xfrm>
            <a:off x="1676400" y="988828"/>
            <a:ext cx="10515600" cy="556082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IN" dirty="0"/>
              <a:t>Let us consider the following statements:</a:t>
            </a:r>
          </a:p>
          <a:p>
            <a:pPr marL="514350" indent="-514350" algn="just">
              <a:buFont typeface="Arial" panose="020B0604020202020204" pitchFamily="34" charset="0"/>
              <a:buAutoNum type="alphaUcParenBoth"/>
            </a:pPr>
            <a:r>
              <a:rPr lang="en-IN" dirty="0"/>
              <a:t>Tomorrow, the sun will rise from the East.</a:t>
            </a:r>
          </a:p>
          <a:p>
            <a:pPr marL="514350" indent="-514350" algn="just">
              <a:buFont typeface="Arial" panose="020B0604020202020204" pitchFamily="34" charset="0"/>
              <a:buAutoNum type="alphaUcParenBoth"/>
            </a:pPr>
            <a:r>
              <a:rPr lang="en-IN" dirty="0"/>
              <a:t>The phone will ring in the next one hour.</a:t>
            </a:r>
          </a:p>
          <a:p>
            <a:pPr marL="514350" indent="-514350" algn="just">
              <a:buFont typeface="Arial" panose="020B0604020202020204" pitchFamily="34" charset="0"/>
              <a:buAutoNum type="alphaUcParenBoth"/>
            </a:pPr>
            <a:r>
              <a:rPr lang="en-IN" dirty="0"/>
              <a:t>It will snow in Delhi this winter.</a:t>
            </a:r>
          </a:p>
          <a:p>
            <a:pPr algn="just"/>
            <a:r>
              <a:rPr lang="en-IN" dirty="0"/>
              <a:t>From above statements, the amount of information is nothing to do with the length of the sentences.</a:t>
            </a:r>
          </a:p>
          <a:p>
            <a:pPr algn="just"/>
            <a:r>
              <a:rPr lang="en-IN" dirty="0"/>
              <a:t>Also, it is interesting to note that the amount of information carrying is inversely proportional to the probability of occurrences of the events.</a:t>
            </a:r>
          </a:p>
          <a:p>
            <a:pPr algn="just"/>
            <a:r>
              <a:rPr lang="en-IN" dirty="0"/>
              <a:t>Shannon gave the mathematical definition to quantify the amount of information through his published work titled “</a:t>
            </a:r>
            <a:r>
              <a:rPr lang="en-US" u="sng" dirty="0">
                <a:hlinkClick r:id="rId2"/>
              </a:rPr>
              <a:t>A Mathematical Theory of Communication</a:t>
            </a:r>
            <a:r>
              <a:rPr lang="en-IN" dirty="0"/>
              <a:t>”.</a:t>
            </a:r>
          </a:p>
          <a:p>
            <a:pPr algn="just"/>
            <a:endParaRPr lang="en-IN" dirty="0"/>
          </a:p>
        </p:txBody>
      </p:sp>
    </p:spTree>
    <p:extLst>
      <p:ext uri="{BB962C8B-B14F-4D97-AF65-F5344CB8AC3E}">
        <p14:creationId xmlns:p14="http://schemas.microsoft.com/office/powerpoint/2010/main" val="36784489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A23194-CC8F-4C92-B9C6-FFE3D85B9F20}"/>
              </a:ext>
            </a:extLst>
          </p:cNvPr>
          <p:cNvSpPr>
            <a:spLocks noGrp="1"/>
          </p:cNvSpPr>
          <p:nvPr>
            <p:ph type="title"/>
          </p:nvPr>
        </p:nvSpPr>
        <p:spPr>
          <a:xfrm>
            <a:off x="838200" y="1"/>
            <a:ext cx="10515600" cy="988827"/>
          </a:xfrm>
        </p:spPr>
        <p:txBody>
          <a:bodyPr/>
          <a:lstStyle/>
          <a:p>
            <a:r>
              <a:rPr lang="en-IN" dirty="0"/>
              <a:t>Uncertainty and Information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5C00457-5821-4ECA-A95D-0C3843CC94FF}"/>
                  </a:ext>
                </a:extLst>
              </p:cNvPr>
              <p:cNvSpPr>
                <a:spLocks noGrp="1"/>
              </p:cNvSpPr>
              <p:nvPr>
                <p:ph idx="1"/>
              </p:nvPr>
            </p:nvSpPr>
            <p:spPr>
              <a:xfrm>
                <a:off x="838200" y="1363377"/>
                <a:ext cx="10515600" cy="5081810"/>
              </a:xfrm>
            </p:spPr>
            <p:txBody>
              <a:bodyPr>
                <a:normAutofit/>
              </a:bodyPr>
              <a:lstStyle/>
              <a:p>
                <a:pPr algn="just"/>
                <a:r>
                  <a:rPr lang="en-IN" sz="2400" dirty="0">
                    <a:latin typeface="Arial" panose="020B0604020202020204" pitchFamily="34" charset="0"/>
                    <a:cs typeface="Arial" panose="020B0604020202020204" pitchFamily="34" charset="0"/>
                  </a:rPr>
                  <a:t>Suppose, an experiment involves the observation of the output. (Ex- Tossing a fair dice). Every time we throw a dice, the outcome belongs to be any one of the symbol </a:t>
                </a:r>
                <a14:m>
                  <m:oMath xmlns:m="http://schemas.openxmlformats.org/officeDocument/2006/math">
                    <m:r>
                      <a:rPr lang="en-IN" sz="2400" b="0" i="1" smtClean="0">
                        <a:latin typeface="Cambria Math" panose="02040503050406030204" pitchFamily="18" charset="0"/>
                        <a:ea typeface="Cambria Math" panose="02040503050406030204" pitchFamily="18" charset="0"/>
                      </a:rPr>
                      <m:t>𝒮</m:t>
                    </m:r>
                    <m:r>
                      <a:rPr lang="en-IN" sz="2400" b="0" i="1" smtClean="0">
                        <a:latin typeface="Cambria Math" panose="02040503050406030204" pitchFamily="18" charset="0"/>
                        <a:ea typeface="Cambria Math" panose="02040503050406030204" pitchFamily="18" charset="0"/>
                      </a:rPr>
                      <m:t>={</m:t>
                    </m:r>
                  </m:oMath>
                </a14:m>
                <a:r>
                  <a:rPr lang="en-IN" sz="2400" dirty="0">
                    <a:latin typeface="Arial" panose="020B0604020202020204" pitchFamily="34" charset="0"/>
                    <a:cs typeface="Arial" panose="020B0604020202020204" pitchFamily="34" charset="0"/>
                  </a:rPr>
                  <a:t>1, 2, 3, 4, 5, 6}.</a:t>
                </a:r>
              </a:p>
              <a:p>
                <a:pPr algn="just"/>
                <a:r>
                  <a:rPr lang="en-IN" sz="2400" dirty="0">
                    <a:latin typeface="Arial" panose="020B0604020202020204" pitchFamily="34" charset="0"/>
                    <a:cs typeface="Arial" panose="020B0604020202020204" pitchFamily="34" charset="0"/>
                  </a:rPr>
                  <a:t>Consider the event </a:t>
                </a:r>
                <a14:m>
                  <m:oMath xmlns:m="http://schemas.openxmlformats.org/officeDocument/2006/math">
                    <m:r>
                      <a:rPr lang="en-IN" sz="2400" b="0" i="1" smtClean="0">
                        <a:latin typeface="Cambria Math" panose="02040503050406030204" pitchFamily="18" charset="0"/>
                      </a:rPr>
                      <m:t>𝑆</m:t>
                    </m:r>
                    <m:r>
                      <a:rPr lang="en-IN" sz="2400" b="0" i="1" smtClean="0">
                        <a:latin typeface="Cambria Math" panose="02040503050406030204" pitchFamily="18" charset="0"/>
                      </a:rPr>
                      <m:t>=</m:t>
                    </m:r>
                    <m:sSub>
                      <m:sSubPr>
                        <m:ctrlPr>
                          <a:rPr lang="en-IN" sz="2400" b="0" i="1" smtClean="0">
                            <a:latin typeface="Cambria Math" panose="02040503050406030204" pitchFamily="18" charset="0"/>
                          </a:rPr>
                        </m:ctrlPr>
                      </m:sSubPr>
                      <m:e>
                        <m:r>
                          <a:rPr lang="en-IN" sz="2400" b="0" i="1" smtClean="0">
                            <a:latin typeface="Cambria Math" panose="02040503050406030204" pitchFamily="18" charset="0"/>
                          </a:rPr>
                          <m:t>𝑠</m:t>
                        </m:r>
                      </m:e>
                      <m:sub>
                        <m:r>
                          <a:rPr lang="en-IN" sz="2400" b="0" i="1" smtClean="0">
                            <a:latin typeface="Cambria Math" panose="02040503050406030204" pitchFamily="18" charset="0"/>
                          </a:rPr>
                          <m:t>𝑖</m:t>
                        </m:r>
                      </m:sub>
                    </m:sSub>
                  </m:oMath>
                </a14:m>
                <a:r>
                  <a:rPr lang="en-IN" sz="2400" dirty="0">
                    <a:latin typeface="Arial" panose="020B0604020202020204" pitchFamily="34" charset="0"/>
                    <a:cs typeface="Arial" panose="020B0604020202020204" pitchFamily="34" charset="0"/>
                  </a:rPr>
                  <a:t>. Before the event, there is an amount of uncertainty.</a:t>
                </a:r>
              </a:p>
              <a:p>
                <a:pPr algn="just"/>
                <a:r>
                  <a:rPr lang="en-IN" sz="2400" dirty="0">
                    <a:latin typeface="Arial" panose="020B0604020202020204" pitchFamily="34" charset="0"/>
                    <a:cs typeface="Arial" panose="020B0604020202020204" pitchFamily="34" charset="0"/>
                  </a:rPr>
                  <a:t>During the event, there is an amount of surprise. </a:t>
                </a:r>
              </a:p>
              <a:p>
                <a:pPr algn="just"/>
                <a:r>
                  <a:rPr lang="en-IN" sz="2400" dirty="0">
                    <a:latin typeface="Arial" panose="020B0604020202020204" pitchFamily="34" charset="0"/>
                    <a:cs typeface="Arial" panose="020B0604020202020204" pitchFamily="34" charset="0"/>
                  </a:rPr>
                  <a:t>After the occurrence of event there is a gain in the amount of information (which may be viewed as resolution of uncertainty).</a:t>
                </a:r>
              </a:p>
              <a:p>
                <a:pPr algn="just"/>
                <a:endParaRPr lang="en-IN" sz="2400" dirty="0">
                  <a:latin typeface="Arial" panose="020B0604020202020204" pitchFamily="34" charset="0"/>
                  <a:cs typeface="Arial" panose="020B0604020202020204" pitchFamily="34" charset="0"/>
                </a:endParaRPr>
              </a:p>
            </p:txBody>
          </p:sp>
        </mc:Choice>
        <mc:Fallback xmlns="">
          <p:sp>
            <p:nvSpPr>
              <p:cNvPr id="3" name="Content Placeholder 2">
                <a:extLst>
                  <a:ext uri="{FF2B5EF4-FFF2-40B4-BE49-F238E27FC236}">
                    <a16:creationId xmlns:a16="http://schemas.microsoft.com/office/drawing/2014/main" id="{65C00457-5821-4ECA-A95D-0C3843CC94FF}"/>
                  </a:ext>
                </a:extLst>
              </p:cNvPr>
              <p:cNvSpPr>
                <a:spLocks noGrp="1" noRot="1" noChangeAspect="1" noMove="1" noResize="1" noEditPoints="1" noAdjustHandles="1" noChangeArrowheads="1" noChangeShapeType="1" noTextEdit="1"/>
              </p:cNvSpPr>
              <p:nvPr>
                <p:ph idx="1"/>
              </p:nvPr>
            </p:nvSpPr>
            <p:spPr>
              <a:xfrm>
                <a:off x="838200" y="1363377"/>
                <a:ext cx="10515600" cy="5081810"/>
              </a:xfrm>
              <a:blipFill>
                <a:blip r:embed="rId2"/>
                <a:stretch>
                  <a:fillRect l="-812" t="-840" r="-870"/>
                </a:stretch>
              </a:blipFill>
            </p:spPr>
            <p:txBody>
              <a:bodyPr/>
              <a:lstStyle/>
              <a:p>
                <a:r>
                  <a:rPr lang="en-IN">
                    <a:noFill/>
                  </a:rPr>
                  <a:t> </a:t>
                </a:r>
              </a:p>
            </p:txBody>
          </p:sp>
        </mc:Fallback>
      </mc:AlternateContent>
    </p:spTree>
    <p:extLst>
      <p:ext uri="{BB962C8B-B14F-4D97-AF65-F5344CB8AC3E}">
        <p14:creationId xmlns:p14="http://schemas.microsoft.com/office/powerpoint/2010/main" val="31328570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B5EF7A-F2E8-4363-810A-A90E566B90F9}"/>
              </a:ext>
            </a:extLst>
          </p:cNvPr>
          <p:cNvSpPr>
            <a:spLocks noGrp="1"/>
          </p:cNvSpPr>
          <p:nvPr>
            <p:ph type="title"/>
          </p:nvPr>
        </p:nvSpPr>
        <p:spPr>
          <a:xfrm>
            <a:off x="838200" y="85061"/>
            <a:ext cx="10515600" cy="946297"/>
          </a:xfrm>
        </p:spPr>
        <p:txBody>
          <a:bodyPr/>
          <a:lstStyle/>
          <a:p>
            <a:r>
              <a:rPr lang="en-IN" dirty="0"/>
              <a:t>Information Sources</a:t>
            </a:r>
          </a:p>
        </p:txBody>
      </p:sp>
      <p:sp>
        <p:nvSpPr>
          <p:cNvPr id="3" name="Content Placeholder 2">
            <a:extLst>
              <a:ext uri="{FF2B5EF4-FFF2-40B4-BE49-F238E27FC236}">
                <a16:creationId xmlns:a16="http://schemas.microsoft.com/office/drawing/2014/main" id="{2A7A4AEF-A0F4-4F25-9F98-2E4458B01F7E}"/>
              </a:ext>
            </a:extLst>
          </p:cNvPr>
          <p:cNvSpPr>
            <a:spLocks noGrp="1"/>
          </p:cNvSpPr>
          <p:nvPr>
            <p:ph idx="1"/>
          </p:nvPr>
        </p:nvSpPr>
        <p:spPr>
          <a:xfrm>
            <a:off x="947928" y="1250814"/>
            <a:ext cx="10515600" cy="5145605"/>
          </a:xfrm>
        </p:spPr>
        <p:txBody>
          <a:bodyPr>
            <a:normAutofit/>
          </a:bodyPr>
          <a:lstStyle/>
          <a:p>
            <a:pPr algn="just"/>
            <a:r>
              <a:rPr lang="en-IN" dirty="0"/>
              <a:t>In communication system, it can be a device sending message, it can be continuous or discrete.</a:t>
            </a:r>
          </a:p>
          <a:p>
            <a:pPr algn="just"/>
            <a:r>
              <a:rPr lang="en-IN" dirty="0"/>
              <a:t>Continuous sources can be converted to discrete sources by sampling and quantization.</a:t>
            </a:r>
          </a:p>
          <a:p>
            <a:pPr algn="just"/>
            <a:r>
              <a:rPr lang="en-IN" dirty="0"/>
              <a:t>Therefore, discrete information source is a source which has only a finite set of symbols as possible output.</a:t>
            </a:r>
          </a:p>
          <a:p>
            <a:pPr algn="just"/>
            <a:endParaRPr lang="en-IN" dirty="0"/>
          </a:p>
          <a:p>
            <a:pPr algn="just"/>
            <a:endParaRPr lang="en-IN" dirty="0"/>
          </a:p>
          <a:p>
            <a:pPr algn="just"/>
            <a:endParaRPr lang="en-IN" dirty="0"/>
          </a:p>
          <a:p>
            <a:pPr algn="just"/>
            <a:endParaRPr lang="en-IN" dirty="0"/>
          </a:p>
          <a:p>
            <a:pPr algn="just"/>
            <a:r>
              <a:rPr lang="en-IN" dirty="0"/>
              <a:t>Ex: Mores Code: </a:t>
            </a:r>
          </a:p>
          <a:p>
            <a:pPr algn="just"/>
            <a:endParaRPr lang="en-IN" dirty="0"/>
          </a:p>
          <a:p>
            <a:pPr algn="just"/>
            <a:endParaRPr lang="en-IN" dirty="0"/>
          </a:p>
          <a:p>
            <a:pPr algn="just"/>
            <a:endParaRPr lang="en-IN" dirty="0"/>
          </a:p>
          <a:p>
            <a:pPr algn="just"/>
            <a:endParaRPr lang="en-IN" dirty="0"/>
          </a:p>
          <a:p>
            <a:pPr algn="just"/>
            <a:endParaRPr lang="en-IN" dirty="0"/>
          </a:p>
        </p:txBody>
      </p:sp>
      <p:pic>
        <p:nvPicPr>
          <p:cNvPr id="2050" name="Picture 2" descr="Learn Your Name In Morse Code Day (11th January) | Days Of The Year">
            <a:extLst>
              <a:ext uri="{FF2B5EF4-FFF2-40B4-BE49-F238E27FC236}">
                <a16:creationId xmlns:a16="http://schemas.microsoft.com/office/drawing/2014/main" id="{80431E93-8560-4F6F-AE76-D7646D9A7F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22296" y="3456248"/>
            <a:ext cx="5441430" cy="27207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901002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E5DB486-8CAD-49B4-8537-A004DD2FBFC8}"/>
                  </a:ext>
                </a:extLst>
              </p:cNvPr>
              <p:cNvSpPr txBox="1"/>
              <p:nvPr/>
            </p:nvSpPr>
            <p:spPr>
              <a:xfrm>
                <a:off x="594609" y="1275198"/>
                <a:ext cx="11002781" cy="3785652"/>
              </a:xfrm>
              <a:prstGeom prst="rect">
                <a:avLst/>
              </a:prstGeom>
              <a:noFill/>
            </p:spPr>
            <p:txBody>
              <a:bodyPr wrap="square">
                <a:spAutoFit/>
              </a:bodyPr>
              <a:lstStyle/>
              <a:p>
                <a:pPr algn="just"/>
                <a:r>
                  <a:rPr lang="en-IN" sz="2400" dirty="0"/>
                  <a:t>We assume that symbols emitted by the source during successive attempts are statistically independent (each symbol produced is independent of previous symbol). Such a source is called Discrete Memory less Source (DMS).</a:t>
                </a:r>
              </a:p>
              <a:p>
                <a:pPr algn="just"/>
                <a:endParaRPr lang="en-IN" sz="2400" dirty="0"/>
              </a:p>
              <a:p>
                <a:pPr algn="just"/>
                <a:endParaRPr lang="en-IN" sz="2400" dirty="0"/>
              </a:p>
              <a:p>
                <a:pPr algn="just"/>
                <a:r>
                  <a:rPr lang="en-IN" sz="2400" dirty="0"/>
                  <a:t>A source for which each symbol produced is independent of the previous symbols is called DMS.</a:t>
                </a:r>
              </a:p>
              <a:p>
                <a:pPr marL="0" indent="0" algn="ctr">
                  <a:buNone/>
                </a:pPr>
                <a:r>
                  <a:rPr lang="en-IN" sz="2400" dirty="0"/>
                  <a:t>Ex: </a:t>
                </a:r>
                <a14:m>
                  <m:oMath xmlns:m="http://schemas.openxmlformats.org/officeDocument/2006/math">
                    <m:r>
                      <a:rPr lang="en-IN" sz="2400" i="1">
                        <a:latin typeface="Cambria Math" panose="02040503050406030204" pitchFamily="18" charset="0"/>
                        <a:ea typeface="Cambria Math" panose="02040503050406030204" pitchFamily="18" charset="0"/>
                      </a:rPr>
                      <m:t>𝒮</m:t>
                    </m:r>
                    <m:r>
                      <a:rPr lang="en-IN" sz="2400" i="1">
                        <a:latin typeface="Cambria Math" panose="02040503050406030204" pitchFamily="18" charset="0"/>
                        <a:ea typeface="Cambria Math" panose="02040503050406030204" pitchFamily="18" charset="0"/>
                      </a:rPr>
                      <m:t>={</m:t>
                    </m:r>
                    <m:sSub>
                      <m:sSubPr>
                        <m:ctrlPr>
                          <a:rPr lang="en-IN" sz="2400" i="1">
                            <a:latin typeface="Cambria Math" panose="02040503050406030204" pitchFamily="18" charset="0"/>
                            <a:ea typeface="Cambria Math" panose="02040503050406030204" pitchFamily="18" charset="0"/>
                          </a:rPr>
                        </m:ctrlPr>
                      </m:sSubPr>
                      <m:e>
                        <m:r>
                          <a:rPr lang="en-IN" sz="2400" i="1">
                            <a:latin typeface="Cambria Math" panose="02040503050406030204" pitchFamily="18" charset="0"/>
                            <a:ea typeface="Cambria Math" panose="02040503050406030204" pitchFamily="18" charset="0"/>
                          </a:rPr>
                          <m:t>𝑠</m:t>
                        </m:r>
                      </m:e>
                      <m:sub>
                        <m:r>
                          <a:rPr lang="en-IN" sz="2400" i="1">
                            <a:latin typeface="Cambria Math" panose="02040503050406030204" pitchFamily="18" charset="0"/>
                            <a:ea typeface="Cambria Math" panose="02040503050406030204" pitchFamily="18" charset="0"/>
                          </a:rPr>
                          <m:t>1</m:t>
                        </m:r>
                      </m:sub>
                    </m:sSub>
                    <m:r>
                      <a:rPr lang="en-IN" sz="2400" i="1">
                        <a:latin typeface="Cambria Math" panose="02040503050406030204" pitchFamily="18" charset="0"/>
                        <a:ea typeface="Cambria Math" panose="02040503050406030204" pitchFamily="18" charset="0"/>
                      </a:rPr>
                      <m:t>, </m:t>
                    </m:r>
                    <m:sSub>
                      <m:sSubPr>
                        <m:ctrlPr>
                          <a:rPr lang="en-IN" sz="2400" i="1">
                            <a:latin typeface="Cambria Math" panose="02040503050406030204" pitchFamily="18" charset="0"/>
                            <a:ea typeface="Cambria Math" panose="02040503050406030204" pitchFamily="18" charset="0"/>
                          </a:rPr>
                        </m:ctrlPr>
                      </m:sSubPr>
                      <m:e>
                        <m:r>
                          <a:rPr lang="en-IN" sz="2400" i="1">
                            <a:latin typeface="Cambria Math" panose="02040503050406030204" pitchFamily="18" charset="0"/>
                            <a:ea typeface="Cambria Math" panose="02040503050406030204" pitchFamily="18" charset="0"/>
                          </a:rPr>
                          <m:t>𝑠</m:t>
                        </m:r>
                      </m:e>
                      <m:sub>
                        <m:r>
                          <a:rPr lang="en-IN" sz="2400" i="1">
                            <a:latin typeface="Cambria Math" panose="02040503050406030204" pitchFamily="18" charset="0"/>
                            <a:ea typeface="Cambria Math" panose="02040503050406030204" pitchFamily="18" charset="0"/>
                          </a:rPr>
                          <m:t>2</m:t>
                        </m:r>
                      </m:sub>
                    </m:sSub>
                    <m:r>
                      <a:rPr lang="en-IN" sz="2400" i="1">
                        <a:latin typeface="Cambria Math" panose="02040503050406030204" pitchFamily="18" charset="0"/>
                        <a:ea typeface="Cambria Math" panose="02040503050406030204" pitchFamily="18" charset="0"/>
                      </a:rPr>
                      <m:t>,….., </m:t>
                    </m:r>
                    <m:sSub>
                      <m:sSubPr>
                        <m:ctrlPr>
                          <a:rPr lang="en-IN" sz="2400" i="1">
                            <a:latin typeface="Cambria Math" panose="02040503050406030204" pitchFamily="18" charset="0"/>
                            <a:ea typeface="Cambria Math" panose="02040503050406030204" pitchFamily="18" charset="0"/>
                          </a:rPr>
                        </m:ctrlPr>
                      </m:sSubPr>
                      <m:e>
                        <m:r>
                          <a:rPr lang="en-IN" sz="2400" i="1">
                            <a:latin typeface="Cambria Math" panose="02040503050406030204" pitchFamily="18" charset="0"/>
                            <a:ea typeface="Cambria Math" panose="02040503050406030204" pitchFamily="18" charset="0"/>
                          </a:rPr>
                          <m:t>𝑠</m:t>
                        </m:r>
                      </m:e>
                      <m:sub>
                        <m:r>
                          <a:rPr lang="en-IN" sz="2400" i="1">
                            <a:latin typeface="Cambria Math" panose="02040503050406030204" pitchFamily="18" charset="0"/>
                            <a:ea typeface="Cambria Math" panose="02040503050406030204" pitchFamily="18" charset="0"/>
                          </a:rPr>
                          <m:t>𝐾</m:t>
                        </m:r>
                      </m:sub>
                    </m:sSub>
                    <m:r>
                      <a:rPr lang="en-IN" sz="2400" i="1">
                        <a:latin typeface="Cambria Math" panose="02040503050406030204" pitchFamily="18" charset="0"/>
                        <a:ea typeface="Cambria Math" panose="02040503050406030204" pitchFamily="18" charset="0"/>
                      </a:rPr>
                      <m:t>}</m:t>
                    </m:r>
                  </m:oMath>
                </a14:m>
                <a:endParaRPr lang="en-IN" sz="2400" dirty="0"/>
              </a:p>
              <a:p>
                <a:pPr algn="just"/>
                <a:r>
                  <a:rPr lang="en-IN" sz="2400" dirty="0"/>
                  <a:t>When the symbols are binary 1’s and 0’s then it is called </a:t>
                </a:r>
                <a:r>
                  <a:rPr lang="en-IN" sz="2400" b="1" dirty="0"/>
                  <a:t>binary memoryless source (BMS)</a:t>
                </a:r>
                <a:r>
                  <a:rPr lang="en-IN" sz="2400" dirty="0"/>
                  <a:t>.</a:t>
                </a:r>
                <a:endParaRPr lang="en-IN" sz="2400" b="1" dirty="0"/>
              </a:p>
            </p:txBody>
          </p:sp>
        </mc:Choice>
        <mc:Fallback xmlns="">
          <p:sp>
            <p:nvSpPr>
              <p:cNvPr id="3" name="TextBox 2">
                <a:extLst>
                  <a:ext uri="{FF2B5EF4-FFF2-40B4-BE49-F238E27FC236}">
                    <a16:creationId xmlns:a16="http://schemas.microsoft.com/office/drawing/2014/main" id="{CE5DB486-8CAD-49B4-8537-A004DD2FBFC8}"/>
                  </a:ext>
                </a:extLst>
              </p:cNvPr>
              <p:cNvSpPr txBox="1">
                <a:spLocks noRot="1" noChangeAspect="1" noMove="1" noResize="1" noEditPoints="1" noAdjustHandles="1" noChangeArrowheads="1" noChangeShapeType="1" noTextEdit="1"/>
              </p:cNvSpPr>
              <p:nvPr/>
            </p:nvSpPr>
            <p:spPr>
              <a:xfrm>
                <a:off x="594609" y="1275198"/>
                <a:ext cx="11002781" cy="3785652"/>
              </a:xfrm>
              <a:prstGeom prst="rect">
                <a:avLst/>
              </a:prstGeom>
              <a:blipFill>
                <a:blip r:embed="rId2"/>
                <a:stretch>
                  <a:fillRect l="-887" t="-1288" r="-887" b="-12399"/>
                </a:stretch>
              </a:blipFill>
            </p:spPr>
            <p:txBody>
              <a:bodyPr/>
              <a:lstStyle/>
              <a:p>
                <a:r>
                  <a:rPr lang="en-IN">
                    <a:noFill/>
                  </a:rPr>
                  <a:t> </a:t>
                </a:r>
              </a:p>
            </p:txBody>
          </p:sp>
        </mc:Fallback>
      </mc:AlternateContent>
      <p:sp>
        <p:nvSpPr>
          <p:cNvPr id="4" name="Title 1">
            <a:extLst>
              <a:ext uri="{FF2B5EF4-FFF2-40B4-BE49-F238E27FC236}">
                <a16:creationId xmlns:a16="http://schemas.microsoft.com/office/drawing/2014/main" id="{32C4B062-2808-447D-96B9-E172DADFE4FE}"/>
              </a:ext>
            </a:extLst>
          </p:cNvPr>
          <p:cNvSpPr txBox="1">
            <a:spLocks/>
          </p:cNvSpPr>
          <p:nvPr/>
        </p:nvSpPr>
        <p:spPr>
          <a:xfrm>
            <a:off x="838200" y="85061"/>
            <a:ext cx="10515600" cy="94629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t>Memoryless Sources</a:t>
            </a:r>
          </a:p>
        </p:txBody>
      </p:sp>
    </p:spTree>
    <p:extLst>
      <p:ext uri="{BB962C8B-B14F-4D97-AF65-F5344CB8AC3E}">
        <p14:creationId xmlns:p14="http://schemas.microsoft.com/office/powerpoint/2010/main" val="11498186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9605EC-088B-43A3-B037-E01F71497EA5}"/>
              </a:ext>
            </a:extLst>
          </p:cNvPr>
          <p:cNvSpPr>
            <a:spLocks noGrp="1"/>
          </p:cNvSpPr>
          <p:nvPr>
            <p:ph type="title"/>
          </p:nvPr>
        </p:nvSpPr>
        <p:spPr>
          <a:xfrm>
            <a:off x="838200" y="106327"/>
            <a:ext cx="10515600" cy="1116417"/>
          </a:xfrm>
        </p:spPr>
        <p:txBody>
          <a:bodyPr/>
          <a:lstStyle/>
          <a:p>
            <a:r>
              <a:rPr lang="en-IN" dirty="0"/>
              <a:t>Measure of Information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11123A7-D69C-4BCD-84E7-0AAE71969230}"/>
                  </a:ext>
                </a:extLst>
              </p:cNvPr>
              <p:cNvSpPr>
                <a:spLocks noGrp="1"/>
              </p:cNvSpPr>
              <p:nvPr>
                <p:ph idx="1"/>
              </p:nvPr>
            </p:nvSpPr>
            <p:spPr>
              <a:xfrm>
                <a:off x="838200" y="1137684"/>
                <a:ext cx="10515600" cy="5039279"/>
              </a:xfrm>
            </p:spPr>
            <p:txBody>
              <a:bodyPr/>
              <a:lstStyle/>
              <a:p>
                <a:pPr algn="just"/>
                <a:r>
                  <a:rPr lang="en-IN" dirty="0"/>
                  <a:t>For a source alphabet </a:t>
                </a:r>
                <a14:m>
                  <m:oMath xmlns:m="http://schemas.openxmlformats.org/officeDocument/2006/math">
                    <m:r>
                      <a:rPr lang="en-IN" i="1" smtClean="0">
                        <a:latin typeface="Cambria Math" panose="02040503050406030204" pitchFamily="18" charset="0"/>
                        <a:ea typeface="Cambria Math" panose="02040503050406030204" pitchFamily="18" charset="0"/>
                      </a:rPr>
                      <m:t>𝒮</m:t>
                    </m:r>
                    <m:r>
                      <a:rPr lang="en-IN" b="0" i="1" smtClean="0">
                        <a:latin typeface="Cambria Math" panose="02040503050406030204" pitchFamily="18" charset="0"/>
                        <a:ea typeface="Cambria Math" panose="02040503050406030204" pitchFamily="18" charset="0"/>
                      </a:rPr>
                      <m:t>={</m:t>
                    </m:r>
                    <m:sSub>
                      <m:sSubPr>
                        <m:ctrlPr>
                          <a:rPr lang="en-IN" b="0" i="1" smtClean="0">
                            <a:latin typeface="Cambria Math" panose="02040503050406030204" pitchFamily="18" charset="0"/>
                            <a:ea typeface="Cambria Math" panose="02040503050406030204" pitchFamily="18" charset="0"/>
                          </a:rPr>
                        </m:ctrlPr>
                      </m:sSubPr>
                      <m:e>
                        <m:r>
                          <a:rPr lang="en-IN" b="0" i="1" smtClean="0">
                            <a:latin typeface="Cambria Math" panose="02040503050406030204" pitchFamily="18" charset="0"/>
                            <a:ea typeface="Cambria Math" panose="02040503050406030204" pitchFamily="18" charset="0"/>
                          </a:rPr>
                          <m:t>𝑠</m:t>
                        </m:r>
                      </m:e>
                      <m:sub>
                        <m:r>
                          <a:rPr lang="en-IN" b="0" i="1" smtClean="0">
                            <a:latin typeface="Cambria Math" panose="02040503050406030204" pitchFamily="18" charset="0"/>
                            <a:ea typeface="Cambria Math" panose="02040503050406030204" pitchFamily="18" charset="0"/>
                          </a:rPr>
                          <m:t>1</m:t>
                        </m:r>
                      </m:sub>
                    </m:sSub>
                    <m:r>
                      <a:rPr lang="en-IN" b="0" i="1" smtClean="0">
                        <a:latin typeface="Cambria Math" panose="02040503050406030204" pitchFamily="18" charset="0"/>
                        <a:ea typeface="Cambria Math" panose="02040503050406030204" pitchFamily="18" charset="0"/>
                      </a:rPr>
                      <m:t>, </m:t>
                    </m:r>
                    <m:sSub>
                      <m:sSubPr>
                        <m:ctrlPr>
                          <a:rPr lang="en-IN" b="0" i="1" smtClean="0">
                            <a:latin typeface="Cambria Math" panose="02040503050406030204" pitchFamily="18" charset="0"/>
                            <a:ea typeface="Cambria Math" panose="02040503050406030204" pitchFamily="18" charset="0"/>
                          </a:rPr>
                        </m:ctrlPr>
                      </m:sSubPr>
                      <m:e>
                        <m:r>
                          <a:rPr lang="en-IN" b="0" i="1" smtClean="0">
                            <a:latin typeface="Cambria Math" panose="02040503050406030204" pitchFamily="18" charset="0"/>
                            <a:ea typeface="Cambria Math" panose="02040503050406030204" pitchFamily="18" charset="0"/>
                          </a:rPr>
                          <m:t>𝑠</m:t>
                        </m:r>
                      </m:e>
                      <m:sub>
                        <m:r>
                          <a:rPr lang="en-IN" b="0" i="1" smtClean="0">
                            <a:latin typeface="Cambria Math" panose="02040503050406030204" pitchFamily="18" charset="0"/>
                            <a:ea typeface="Cambria Math" panose="02040503050406030204" pitchFamily="18" charset="0"/>
                          </a:rPr>
                          <m:t>2</m:t>
                        </m:r>
                      </m:sub>
                    </m:sSub>
                    <m:r>
                      <a:rPr lang="en-IN" b="0" i="1" smtClean="0">
                        <a:latin typeface="Cambria Math" panose="02040503050406030204" pitchFamily="18" charset="0"/>
                        <a:ea typeface="Cambria Math" panose="02040503050406030204" pitchFamily="18" charset="0"/>
                      </a:rPr>
                      <m:t>,….., </m:t>
                    </m:r>
                    <m:sSub>
                      <m:sSubPr>
                        <m:ctrlPr>
                          <a:rPr lang="en-IN" b="0" i="1" smtClean="0">
                            <a:latin typeface="Cambria Math" panose="02040503050406030204" pitchFamily="18" charset="0"/>
                            <a:ea typeface="Cambria Math" panose="02040503050406030204" pitchFamily="18" charset="0"/>
                          </a:rPr>
                        </m:ctrlPr>
                      </m:sSubPr>
                      <m:e>
                        <m:r>
                          <a:rPr lang="en-IN" b="0" i="1" smtClean="0">
                            <a:latin typeface="Cambria Math" panose="02040503050406030204" pitchFamily="18" charset="0"/>
                            <a:ea typeface="Cambria Math" panose="02040503050406030204" pitchFamily="18" charset="0"/>
                          </a:rPr>
                          <m:t>𝑠</m:t>
                        </m:r>
                      </m:e>
                      <m:sub>
                        <m:r>
                          <a:rPr lang="en-IN" b="0" i="1" smtClean="0">
                            <a:latin typeface="Cambria Math" panose="02040503050406030204" pitchFamily="18" charset="0"/>
                            <a:ea typeface="Cambria Math" panose="02040503050406030204" pitchFamily="18" charset="0"/>
                          </a:rPr>
                          <m:t>𝐾</m:t>
                        </m:r>
                      </m:sub>
                    </m:sSub>
                    <m:r>
                      <a:rPr lang="en-IN" b="0" i="1" smtClean="0">
                        <a:latin typeface="Cambria Math" panose="02040503050406030204" pitchFamily="18" charset="0"/>
                        <a:ea typeface="Cambria Math" panose="02040503050406030204" pitchFamily="18" charset="0"/>
                      </a:rPr>
                      <m:t>}</m:t>
                    </m:r>
                  </m:oMath>
                </a14:m>
                <a:r>
                  <a:rPr lang="en-IN" dirty="0"/>
                  <a:t> where </a:t>
                </a:r>
                <a14:m>
                  <m:oMath xmlns:m="http://schemas.openxmlformats.org/officeDocument/2006/math">
                    <m:r>
                      <a:rPr lang="en-IN" i="1" dirty="0" smtClean="0">
                        <a:latin typeface="Cambria Math" panose="02040503050406030204" pitchFamily="18" charset="0"/>
                      </a:rPr>
                      <m:t>𝐾</m:t>
                    </m:r>
                  </m:oMath>
                </a14:m>
                <a:r>
                  <a:rPr lang="en-IN" dirty="0"/>
                  <a:t> is the number of symbols each with probability distribution </a:t>
                </a:r>
                <a14:m>
                  <m:oMath xmlns:m="http://schemas.openxmlformats.org/officeDocument/2006/math">
                    <m:r>
                      <a:rPr lang="en-IN" b="0" i="1" smtClean="0">
                        <a:latin typeface="Cambria Math" panose="02040503050406030204" pitchFamily="18" charset="0"/>
                      </a:rPr>
                      <m:t>𝑃</m:t>
                    </m:r>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𝑝</m:t>
                        </m:r>
                      </m:e>
                      <m:sub>
                        <m:r>
                          <a:rPr lang="en-IN" b="0" i="1" smtClean="0">
                            <a:latin typeface="Cambria Math" panose="02040503050406030204" pitchFamily="18" charset="0"/>
                          </a:rPr>
                          <m:t>1</m:t>
                        </m:r>
                      </m:sub>
                    </m:sSub>
                    <m:r>
                      <a:rPr lang="en-IN" b="0" i="1" smtClean="0">
                        <a:latin typeface="Cambria Math" panose="02040503050406030204" pitchFamily="18" charset="0"/>
                      </a:rPr>
                      <m:t>, </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𝑝</m:t>
                        </m:r>
                      </m:e>
                      <m:sub>
                        <m:r>
                          <a:rPr lang="en-IN" b="0" i="1" smtClean="0">
                            <a:latin typeface="Cambria Math" panose="02040503050406030204" pitchFamily="18" charset="0"/>
                          </a:rPr>
                          <m:t>2</m:t>
                        </m:r>
                      </m:sub>
                    </m:sSub>
                    <m:r>
                      <a:rPr lang="en-IN" b="0" i="1" smtClean="0">
                        <a:latin typeface="Cambria Math" panose="02040503050406030204" pitchFamily="18" charset="0"/>
                      </a:rPr>
                      <m:t>,….., </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𝑝</m:t>
                        </m:r>
                      </m:e>
                      <m:sub>
                        <m:r>
                          <a:rPr lang="en-IN" b="0" i="1" smtClean="0">
                            <a:latin typeface="Cambria Math" panose="02040503050406030204" pitchFamily="18" charset="0"/>
                          </a:rPr>
                          <m:t>𝐾</m:t>
                        </m:r>
                      </m:sub>
                    </m:sSub>
                    <m:r>
                      <a:rPr lang="en-IN" b="0" i="1" smtClean="0">
                        <a:latin typeface="Cambria Math" panose="02040503050406030204" pitchFamily="18" charset="0"/>
                      </a:rPr>
                      <m:t>}</m:t>
                    </m:r>
                  </m:oMath>
                </a14:m>
                <a:r>
                  <a:rPr lang="en-IN" dirty="0"/>
                  <a:t>. Then the information gained for the outcome </a:t>
                </a:r>
                <a14:m>
                  <m:oMath xmlns:m="http://schemas.openxmlformats.org/officeDocument/2006/math">
                    <m:r>
                      <a:rPr lang="en-IN" i="1" smtClean="0">
                        <a:latin typeface="Cambria Math" panose="02040503050406030204" pitchFamily="18" charset="0"/>
                        <a:ea typeface="Cambria Math" panose="02040503050406030204" pitchFamily="18" charset="0"/>
                      </a:rPr>
                      <m:t>𝒮</m:t>
                    </m:r>
                    <m:r>
                      <a:rPr lang="en-IN" b="0" i="1" smtClean="0">
                        <a:latin typeface="Cambria Math" panose="02040503050406030204" pitchFamily="18" charset="0"/>
                        <a:ea typeface="Cambria Math" panose="02040503050406030204" pitchFamily="18" charset="0"/>
                      </a:rPr>
                      <m:t>=</m:t>
                    </m:r>
                    <m:sSub>
                      <m:sSubPr>
                        <m:ctrlPr>
                          <a:rPr lang="en-IN" b="0" i="1" smtClean="0">
                            <a:latin typeface="Cambria Math" panose="02040503050406030204" pitchFamily="18" charset="0"/>
                            <a:ea typeface="Cambria Math" panose="02040503050406030204" pitchFamily="18" charset="0"/>
                          </a:rPr>
                        </m:ctrlPr>
                      </m:sSubPr>
                      <m:e>
                        <m:r>
                          <a:rPr lang="en-IN" b="0" i="1" smtClean="0">
                            <a:latin typeface="Cambria Math" panose="02040503050406030204" pitchFamily="18" charset="0"/>
                            <a:ea typeface="Cambria Math" panose="02040503050406030204" pitchFamily="18" charset="0"/>
                          </a:rPr>
                          <m:t>𝑠</m:t>
                        </m:r>
                      </m:e>
                      <m:sub>
                        <m:r>
                          <a:rPr lang="en-IN" b="0" i="1" smtClean="0">
                            <a:latin typeface="Cambria Math" panose="02040503050406030204" pitchFamily="18" charset="0"/>
                            <a:ea typeface="Cambria Math" panose="02040503050406030204" pitchFamily="18" charset="0"/>
                          </a:rPr>
                          <m:t>𝑖</m:t>
                        </m:r>
                      </m:sub>
                    </m:sSub>
                  </m:oMath>
                </a14:m>
                <a:r>
                  <a:rPr lang="en-IN" dirty="0"/>
                  <a:t> is</a:t>
                </a:r>
              </a:p>
              <a:p>
                <a:pPr algn="just"/>
                <a:endParaRPr lang="en-IN" dirty="0"/>
              </a:p>
              <a:p>
                <a:pPr marL="0" indent="0" algn="just">
                  <a:buNone/>
                </a:pPr>
                <a14:m>
                  <m:oMathPara xmlns:m="http://schemas.openxmlformats.org/officeDocument/2006/math">
                    <m:oMathParaPr>
                      <m:jc m:val="centerGroup"/>
                    </m:oMathParaPr>
                    <m:oMath xmlns:m="http://schemas.openxmlformats.org/officeDocument/2006/math">
                      <m:r>
                        <a:rPr lang="en-IN" b="1" i="1" smtClean="0">
                          <a:latin typeface="Cambria Math" panose="02040503050406030204" pitchFamily="18" charset="0"/>
                        </a:rPr>
                        <m:t>𝑰</m:t>
                      </m:r>
                      <m:d>
                        <m:dPr>
                          <m:ctrlPr>
                            <a:rPr lang="en-IN" b="1" i="1" smtClean="0">
                              <a:latin typeface="Cambria Math" panose="02040503050406030204" pitchFamily="18" charset="0"/>
                            </a:rPr>
                          </m:ctrlPr>
                        </m:dPr>
                        <m:e>
                          <m:sSub>
                            <m:sSubPr>
                              <m:ctrlPr>
                                <a:rPr lang="en-IN" b="1" i="1" smtClean="0">
                                  <a:latin typeface="Cambria Math" panose="02040503050406030204" pitchFamily="18" charset="0"/>
                                </a:rPr>
                              </m:ctrlPr>
                            </m:sSubPr>
                            <m:e>
                              <m:r>
                                <a:rPr lang="en-IN" b="1" i="1" smtClean="0">
                                  <a:latin typeface="Cambria Math" panose="02040503050406030204" pitchFamily="18" charset="0"/>
                                  <a:ea typeface="Cambria Math" panose="02040503050406030204" pitchFamily="18" charset="0"/>
                                </a:rPr>
                                <m:t>𝓢</m:t>
                              </m:r>
                              <m:r>
                                <a:rPr lang="en-IN" b="1" i="1" smtClean="0">
                                  <a:latin typeface="Cambria Math" panose="02040503050406030204" pitchFamily="18" charset="0"/>
                                  <a:ea typeface="Cambria Math" panose="02040503050406030204" pitchFamily="18" charset="0"/>
                                </a:rPr>
                                <m:t>=</m:t>
                              </m:r>
                              <m:r>
                                <a:rPr lang="en-IN" b="1" i="1" smtClean="0">
                                  <a:latin typeface="Cambria Math" panose="02040503050406030204" pitchFamily="18" charset="0"/>
                                </a:rPr>
                                <m:t>𝒔</m:t>
                              </m:r>
                            </m:e>
                            <m:sub>
                              <m:r>
                                <a:rPr lang="en-IN" b="1" i="1" smtClean="0">
                                  <a:latin typeface="Cambria Math" panose="02040503050406030204" pitchFamily="18" charset="0"/>
                                </a:rPr>
                                <m:t>𝒊</m:t>
                              </m:r>
                            </m:sub>
                          </m:sSub>
                        </m:e>
                      </m:d>
                      <m:r>
                        <a:rPr lang="en-IN" b="1" i="1" smtClean="0">
                          <a:latin typeface="Cambria Math" panose="02040503050406030204" pitchFamily="18" charset="0"/>
                        </a:rPr>
                        <m:t>=−</m:t>
                      </m:r>
                      <m:func>
                        <m:funcPr>
                          <m:ctrlPr>
                            <a:rPr lang="en-IN" b="1" i="1" smtClean="0">
                              <a:latin typeface="Cambria Math" panose="02040503050406030204" pitchFamily="18" charset="0"/>
                            </a:rPr>
                          </m:ctrlPr>
                        </m:funcPr>
                        <m:fName>
                          <m:sSub>
                            <m:sSubPr>
                              <m:ctrlPr>
                                <a:rPr lang="en-IN" b="1" i="1" smtClean="0">
                                  <a:latin typeface="Cambria Math" panose="02040503050406030204" pitchFamily="18" charset="0"/>
                                </a:rPr>
                              </m:ctrlPr>
                            </m:sSubPr>
                            <m:e>
                              <m:r>
                                <a:rPr lang="en-IN" b="1" i="0" smtClean="0">
                                  <a:latin typeface="Cambria Math" panose="02040503050406030204" pitchFamily="18" charset="0"/>
                                </a:rPr>
                                <m:t>𝐥𝐨𝐠</m:t>
                              </m:r>
                            </m:e>
                            <m:sub>
                              <m:r>
                                <a:rPr lang="en-IN" b="1" i="1" smtClean="0">
                                  <a:latin typeface="Cambria Math" panose="02040503050406030204" pitchFamily="18" charset="0"/>
                                </a:rPr>
                                <m:t>𝒃</m:t>
                              </m:r>
                            </m:sub>
                          </m:sSub>
                        </m:fName>
                        <m:e>
                          <m:sSub>
                            <m:sSubPr>
                              <m:ctrlPr>
                                <a:rPr lang="en-IN" b="1" i="1" smtClean="0">
                                  <a:latin typeface="Cambria Math" panose="02040503050406030204" pitchFamily="18" charset="0"/>
                                </a:rPr>
                              </m:ctrlPr>
                            </m:sSubPr>
                            <m:e>
                              <m:r>
                                <a:rPr lang="en-IN" b="1" i="1" smtClean="0">
                                  <a:latin typeface="Cambria Math" panose="02040503050406030204" pitchFamily="18" charset="0"/>
                                </a:rPr>
                                <m:t>𝒑</m:t>
                              </m:r>
                            </m:e>
                            <m:sub>
                              <m:r>
                                <a:rPr lang="en-IN" b="1" i="1" smtClean="0">
                                  <a:latin typeface="Cambria Math" panose="02040503050406030204" pitchFamily="18" charset="0"/>
                                </a:rPr>
                                <m:t>𝒊</m:t>
                              </m:r>
                            </m:sub>
                          </m:sSub>
                        </m:e>
                      </m:func>
                    </m:oMath>
                  </m:oMathPara>
                </a14:m>
                <a:endParaRPr lang="en-IN" b="1" dirty="0"/>
              </a:p>
              <a:p>
                <a:pPr algn="just"/>
                <a14:m>
                  <m:oMath xmlns:m="http://schemas.openxmlformats.org/officeDocument/2006/math">
                    <m:r>
                      <a:rPr lang="en-IN" b="0" i="1" smtClean="0">
                        <a:latin typeface="Cambria Math" panose="02040503050406030204" pitchFamily="18" charset="0"/>
                      </a:rPr>
                      <m:t>𝐼</m:t>
                    </m:r>
                    <m:d>
                      <m:dPr>
                        <m:ctrlPr>
                          <a:rPr lang="en-IN" b="0" i="1" smtClean="0">
                            <a:latin typeface="Cambria Math" panose="02040503050406030204" pitchFamily="18" charset="0"/>
                          </a:rPr>
                        </m:ctrlPr>
                      </m:dPr>
                      <m:e>
                        <m:sSub>
                          <m:sSubPr>
                            <m:ctrlPr>
                              <a:rPr lang="en-IN" b="0" i="1" smtClean="0">
                                <a:latin typeface="Cambria Math" panose="02040503050406030204" pitchFamily="18" charset="0"/>
                              </a:rPr>
                            </m:ctrlPr>
                          </m:sSubPr>
                          <m:e>
                            <m:r>
                              <a:rPr lang="en-IN" b="0" i="1" smtClean="0">
                                <a:latin typeface="Cambria Math" panose="02040503050406030204" pitchFamily="18" charset="0"/>
                              </a:rPr>
                              <m:t>𝑠</m:t>
                            </m:r>
                          </m:e>
                          <m:sub>
                            <m:r>
                              <a:rPr lang="en-IN" b="0" i="1" smtClean="0">
                                <a:latin typeface="Cambria Math" panose="02040503050406030204" pitchFamily="18" charset="0"/>
                              </a:rPr>
                              <m:t>𝑖</m:t>
                            </m:r>
                          </m:sub>
                        </m:sSub>
                      </m:e>
                    </m:d>
                  </m:oMath>
                </a14:m>
                <a:r>
                  <a:rPr lang="en-US" b="0" i="1" dirty="0">
                    <a:latin typeface="Cambria Math" panose="02040503050406030204" pitchFamily="18" charset="0"/>
                  </a:rPr>
                  <a:t>=0 for   </a:t>
                </a:r>
                <a14:m>
                  <m:oMath xmlns:m="http://schemas.openxmlformats.org/officeDocument/2006/math">
                    <m:sSub>
                      <m:sSubPr>
                        <m:ctrlPr>
                          <a:rPr lang="en-IN" i="1">
                            <a:latin typeface="Cambria Math" panose="02040503050406030204" pitchFamily="18" charset="0"/>
                          </a:rPr>
                        </m:ctrlPr>
                      </m:sSubPr>
                      <m:e>
                        <m:r>
                          <a:rPr lang="en-IN" i="1">
                            <a:latin typeface="Cambria Math" panose="02040503050406030204" pitchFamily="18" charset="0"/>
                          </a:rPr>
                          <m:t>𝑝</m:t>
                        </m:r>
                      </m:e>
                      <m:sub>
                        <m:r>
                          <a:rPr lang="en-IN" i="1">
                            <a:latin typeface="Cambria Math" panose="02040503050406030204" pitchFamily="18" charset="0"/>
                          </a:rPr>
                          <m:t>𝑖</m:t>
                        </m:r>
                      </m:sub>
                    </m:sSub>
                  </m:oMath>
                </a14:m>
                <a:r>
                  <a:rPr lang="en-US" b="0" i="1" dirty="0">
                    <a:latin typeface="Cambria Math" panose="02040503050406030204" pitchFamily="18" charset="0"/>
                  </a:rPr>
                  <a:t> =1 </a:t>
                </a:r>
              </a:p>
              <a:p>
                <a:pPr algn="just"/>
                <a14:m>
                  <m:oMath xmlns:m="http://schemas.openxmlformats.org/officeDocument/2006/math">
                    <m:r>
                      <a:rPr lang="en-IN" b="0" i="1" smtClean="0">
                        <a:latin typeface="Cambria Math" panose="02040503050406030204" pitchFamily="18" charset="0"/>
                      </a:rPr>
                      <m:t>0≤</m:t>
                    </m:r>
                    <m:r>
                      <a:rPr lang="en-IN" b="0" i="1" smtClean="0">
                        <a:latin typeface="Cambria Math" panose="02040503050406030204" pitchFamily="18" charset="0"/>
                      </a:rPr>
                      <m:t>𝐼</m:t>
                    </m:r>
                    <m:d>
                      <m:dPr>
                        <m:ctrlPr>
                          <a:rPr lang="en-IN" b="0" i="1" smtClean="0">
                            <a:latin typeface="Cambria Math" panose="02040503050406030204" pitchFamily="18" charset="0"/>
                          </a:rPr>
                        </m:ctrlPr>
                      </m:dPr>
                      <m:e>
                        <m:sSub>
                          <m:sSubPr>
                            <m:ctrlPr>
                              <a:rPr lang="en-IN" b="0" i="1" smtClean="0">
                                <a:latin typeface="Cambria Math" panose="02040503050406030204" pitchFamily="18" charset="0"/>
                              </a:rPr>
                            </m:ctrlPr>
                          </m:sSubPr>
                          <m:e>
                            <m:r>
                              <a:rPr lang="en-IN" b="0" i="1" smtClean="0">
                                <a:latin typeface="Cambria Math" panose="02040503050406030204" pitchFamily="18" charset="0"/>
                              </a:rPr>
                              <m:t>𝑠</m:t>
                            </m:r>
                          </m:e>
                          <m:sub>
                            <m:r>
                              <a:rPr lang="en-IN" b="0" i="1" smtClean="0">
                                <a:latin typeface="Cambria Math" panose="02040503050406030204" pitchFamily="18" charset="0"/>
                              </a:rPr>
                              <m:t>𝑖</m:t>
                            </m:r>
                          </m:sub>
                        </m:sSub>
                      </m:e>
                    </m:d>
                    <m:r>
                      <a:rPr lang="en-IN" b="0" i="1" smtClean="0">
                        <a:latin typeface="Cambria Math" panose="02040503050406030204" pitchFamily="18" charset="0"/>
                      </a:rPr>
                      <m:t>≤∞</m:t>
                    </m:r>
                  </m:oMath>
                </a14:m>
                <a:endParaRPr lang="en-IN" dirty="0"/>
              </a:p>
              <a:p>
                <a:pPr algn="just"/>
                <a14:m>
                  <m:oMath xmlns:m="http://schemas.openxmlformats.org/officeDocument/2006/math">
                    <m:r>
                      <a:rPr lang="en-IN" b="0" i="1" smtClean="0">
                        <a:latin typeface="Cambria Math" panose="02040503050406030204" pitchFamily="18" charset="0"/>
                      </a:rPr>
                      <m:t>𝐼</m:t>
                    </m:r>
                    <m:d>
                      <m:dPr>
                        <m:ctrlPr>
                          <a:rPr lang="en-IN" b="0" i="1" smtClean="0">
                            <a:latin typeface="Cambria Math" panose="02040503050406030204" pitchFamily="18" charset="0"/>
                          </a:rPr>
                        </m:ctrlPr>
                      </m:dPr>
                      <m:e>
                        <m:sSub>
                          <m:sSubPr>
                            <m:ctrlPr>
                              <a:rPr lang="en-IN" b="0" i="1" smtClean="0">
                                <a:latin typeface="Cambria Math" panose="02040503050406030204" pitchFamily="18" charset="0"/>
                              </a:rPr>
                            </m:ctrlPr>
                          </m:sSubPr>
                          <m:e>
                            <m:r>
                              <a:rPr lang="en-IN" b="0" i="1" smtClean="0">
                                <a:latin typeface="Cambria Math" panose="02040503050406030204" pitchFamily="18" charset="0"/>
                              </a:rPr>
                              <m:t>𝑠</m:t>
                            </m:r>
                          </m:e>
                          <m:sub>
                            <m:r>
                              <a:rPr lang="en-IN" b="0" i="1" smtClean="0">
                                <a:latin typeface="Cambria Math" panose="02040503050406030204" pitchFamily="18" charset="0"/>
                              </a:rPr>
                              <m:t>𝑖</m:t>
                            </m:r>
                          </m:sub>
                        </m:sSub>
                      </m:e>
                    </m:d>
                    <m:r>
                      <a:rPr lang="en-IN" b="0" i="1" smtClean="0">
                        <a:latin typeface="Cambria Math" panose="02040503050406030204" pitchFamily="18" charset="0"/>
                      </a:rPr>
                      <m:t>≥</m:t>
                    </m:r>
                    <m:r>
                      <a:rPr lang="en-IN" b="0" i="1" smtClean="0">
                        <a:latin typeface="Cambria Math" panose="02040503050406030204" pitchFamily="18" charset="0"/>
                      </a:rPr>
                      <m:t>𝐼</m:t>
                    </m:r>
                    <m:d>
                      <m:dPr>
                        <m:ctrlPr>
                          <a:rPr lang="en-IN" b="0" i="1" smtClean="0">
                            <a:latin typeface="Cambria Math" panose="02040503050406030204" pitchFamily="18" charset="0"/>
                          </a:rPr>
                        </m:ctrlPr>
                      </m:dPr>
                      <m:e>
                        <m:sSub>
                          <m:sSubPr>
                            <m:ctrlPr>
                              <a:rPr lang="en-IN" b="0" i="1" smtClean="0">
                                <a:latin typeface="Cambria Math" panose="02040503050406030204" pitchFamily="18" charset="0"/>
                              </a:rPr>
                            </m:ctrlPr>
                          </m:sSubPr>
                          <m:e>
                            <m:r>
                              <a:rPr lang="en-IN" b="0" i="1" smtClean="0">
                                <a:latin typeface="Cambria Math" panose="02040503050406030204" pitchFamily="18" charset="0"/>
                              </a:rPr>
                              <m:t>𝑠</m:t>
                            </m:r>
                          </m:e>
                          <m:sub>
                            <m:r>
                              <a:rPr lang="en-IN" b="0" i="1" smtClean="0">
                                <a:latin typeface="Cambria Math" panose="02040503050406030204" pitchFamily="18" charset="0"/>
                              </a:rPr>
                              <m:t>𝑗</m:t>
                            </m:r>
                          </m:sub>
                        </m:sSub>
                      </m:e>
                    </m:d>
                    <m:r>
                      <a:rPr lang="en-IN" b="0" i="1" smtClean="0">
                        <a:latin typeface="Cambria Math" panose="02040503050406030204" pitchFamily="18" charset="0"/>
                      </a:rPr>
                      <m:t> </m:t>
                    </m:r>
                    <m:r>
                      <a:rPr lang="en-IN" b="0" i="1" smtClean="0">
                        <a:latin typeface="Cambria Math" panose="02040503050406030204" pitchFamily="18" charset="0"/>
                        <a:ea typeface="Cambria Math" panose="02040503050406030204" pitchFamily="18" charset="0"/>
                      </a:rPr>
                      <m:t>⇔</m:t>
                    </m:r>
                    <m:r>
                      <a:rPr lang="en-IN" b="0" i="1" smtClean="0">
                        <a:latin typeface="Cambria Math" panose="02040503050406030204" pitchFamily="18" charset="0"/>
                        <a:ea typeface="Cambria Math" panose="02040503050406030204" pitchFamily="18" charset="0"/>
                      </a:rPr>
                      <m:t>𝑝</m:t>
                    </m:r>
                    <m:d>
                      <m:dPr>
                        <m:ctrlPr>
                          <a:rPr lang="en-IN" b="0" i="1" smtClean="0">
                            <a:latin typeface="Cambria Math" panose="02040503050406030204" pitchFamily="18" charset="0"/>
                            <a:ea typeface="Cambria Math" panose="02040503050406030204" pitchFamily="18" charset="0"/>
                          </a:rPr>
                        </m:ctrlPr>
                      </m:dPr>
                      <m:e>
                        <m:sSub>
                          <m:sSubPr>
                            <m:ctrlPr>
                              <a:rPr lang="en-IN" b="0" i="1" smtClean="0">
                                <a:latin typeface="Cambria Math" panose="02040503050406030204" pitchFamily="18" charset="0"/>
                                <a:ea typeface="Cambria Math" panose="02040503050406030204" pitchFamily="18" charset="0"/>
                              </a:rPr>
                            </m:ctrlPr>
                          </m:sSubPr>
                          <m:e>
                            <m:r>
                              <a:rPr lang="en-IN" b="0" i="1" smtClean="0">
                                <a:latin typeface="Cambria Math" panose="02040503050406030204" pitchFamily="18" charset="0"/>
                                <a:ea typeface="Cambria Math" panose="02040503050406030204" pitchFamily="18" charset="0"/>
                              </a:rPr>
                              <m:t>𝑠</m:t>
                            </m:r>
                          </m:e>
                          <m:sub>
                            <m:r>
                              <a:rPr lang="en-IN" b="0" i="1" smtClean="0">
                                <a:latin typeface="Cambria Math" panose="02040503050406030204" pitchFamily="18" charset="0"/>
                                <a:ea typeface="Cambria Math" panose="02040503050406030204" pitchFamily="18" charset="0"/>
                              </a:rPr>
                              <m:t>𝑖</m:t>
                            </m:r>
                          </m:sub>
                        </m:sSub>
                      </m:e>
                    </m:d>
                    <m:r>
                      <a:rPr lang="en-IN" b="0" i="1" smtClean="0">
                        <a:latin typeface="Cambria Math" panose="02040503050406030204" pitchFamily="18" charset="0"/>
                        <a:ea typeface="Cambria Math" panose="02040503050406030204" pitchFamily="18" charset="0"/>
                      </a:rPr>
                      <m:t>≤</m:t>
                    </m:r>
                    <m:r>
                      <a:rPr lang="en-IN" b="0" i="1" smtClean="0">
                        <a:latin typeface="Cambria Math" panose="02040503050406030204" pitchFamily="18" charset="0"/>
                        <a:ea typeface="Cambria Math" panose="02040503050406030204" pitchFamily="18" charset="0"/>
                      </a:rPr>
                      <m:t>𝑝</m:t>
                    </m:r>
                    <m:r>
                      <a:rPr lang="en-IN" b="0" i="1" smtClean="0">
                        <a:latin typeface="Cambria Math" panose="02040503050406030204" pitchFamily="18" charset="0"/>
                        <a:ea typeface="Cambria Math" panose="02040503050406030204" pitchFamily="18" charset="0"/>
                      </a:rPr>
                      <m:t>(</m:t>
                    </m:r>
                    <m:sSub>
                      <m:sSubPr>
                        <m:ctrlPr>
                          <a:rPr lang="en-IN" b="0" i="1" smtClean="0">
                            <a:latin typeface="Cambria Math" panose="02040503050406030204" pitchFamily="18" charset="0"/>
                            <a:ea typeface="Cambria Math" panose="02040503050406030204" pitchFamily="18" charset="0"/>
                          </a:rPr>
                        </m:ctrlPr>
                      </m:sSubPr>
                      <m:e>
                        <m:r>
                          <a:rPr lang="en-IN" b="0" i="1" smtClean="0">
                            <a:latin typeface="Cambria Math" panose="02040503050406030204" pitchFamily="18" charset="0"/>
                            <a:ea typeface="Cambria Math" panose="02040503050406030204" pitchFamily="18" charset="0"/>
                          </a:rPr>
                          <m:t>𝑠</m:t>
                        </m:r>
                      </m:e>
                      <m:sub>
                        <m:r>
                          <a:rPr lang="en-IN" b="0" i="1" smtClean="0">
                            <a:latin typeface="Cambria Math" panose="02040503050406030204" pitchFamily="18" charset="0"/>
                            <a:ea typeface="Cambria Math" panose="02040503050406030204" pitchFamily="18" charset="0"/>
                          </a:rPr>
                          <m:t>𝑗</m:t>
                        </m:r>
                      </m:sub>
                    </m:sSub>
                    <m:r>
                      <a:rPr lang="en-IN" b="0" i="1" smtClean="0">
                        <a:latin typeface="Cambria Math" panose="02040503050406030204" pitchFamily="18" charset="0"/>
                        <a:ea typeface="Cambria Math" panose="02040503050406030204" pitchFamily="18" charset="0"/>
                      </a:rPr>
                      <m:t>)</m:t>
                    </m:r>
                  </m:oMath>
                </a14:m>
                <a:endParaRPr lang="en-IN" dirty="0"/>
              </a:p>
              <a:p>
                <a:pPr algn="just"/>
                <a14:m>
                  <m:oMath xmlns:m="http://schemas.openxmlformats.org/officeDocument/2006/math">
                    <m:r>
                      <a:rPr lang="en-IN" b="0" i="1" smtClean="0">
                        <a:latin typeface="Cambria Math" panose="02040503050406030204" pitchFamily="18" charset="0"/>
                      </a:rPr>
                      <m:t>𝐼</m:t>
                    </m:r>
                    <m:d>
                      <m:dPr>
                        <m:ctrlPr>
                          <a:rPr lang="en-IN" b="0" i="1" smtClean="0">
                            <a:latin typeface="Cambria Math" panose="02040503050406030204" pitchFamily="18" charset="0"/>
                          </a:rPr>
                        </m:ctrlPr>
                      </m:dPr>
                      <m:e>
                        <m:r>
                          <a:rPr lang="en-IN" b="0" i="1" smtClean="0">
                            <a:latin typeface="Cambria Math" panose="02040503050406030204" pitchFamily="18" charset="0"/>
                          </a:rPr>
                          <m:t>𝑥</m:t>
                        </m:r>
                        <m:r>
                          <a:rPr lang="en-IN" b="0" i="1" smtClean="0">
                            <a:latin typeface="Cambria Math" panose="02040503050406030204" pitchFamily="18" charset="0"/>
                          </a:rPr>
                          <m:t>,</m:t>
                        </m:r>
                        <m:r>
                          <a:rPr lang="en-IN" b="0" i="1" smtClean="0">
                            <a:latin typeface="Cambria Math" panose="02040503050406030204" pitchFamily="18" charset="0"/>
                          </a:rPr>
                          <m:t>𝑦</m:t>
                        </m:r>
                      </m:e>
                    </m:d>
                    <m:r>
                      <a:rPr lang="en-IN" b="0" i="1" smtClean="0">
                        <a:latin typeface="Cambria Math" panose="02040503050406030204" pitchFamily="18" charset="0"/>
                      </a:rPr>
                      <m:t>=</m:t>
                    </m:r>
                    <m:r>
                      <a:rPr lang="en-IN" b="0" i="1" smtClean="0">
                        <a:latin typeface="Cambria Math" panose="02040503050406030204" pitchFamily="18" charset="0"/>
                      </a:rPr>
                      <m:t>𝐼</m:t>
                    </m:r>
                    <m:d>
                      <m:dPr>
                        <m:ctrlPr>
                          <a:rPr lang="en-IN" b="0" i="1" smtClean="0">
                            <a:latin typeface="Cambria Math" panose="02040503050406030204" pitchFamily="18" charset="0"/>
                          </a:rPr>
                        </m:ctrlPr>
                      </m:dPr>
                      <m:e>
                        <m:r>
                          <a:rPr lang="en-IN" b="0" i="1" smtClean="0">
                            <a:latin typeface="Cambria Math" panose="02040503050406030204" pitchFamily="18" charset="0"/>
                          </a:rPr>
                          <m:t>𝑥</m:t>
                        </m:r>
                      </m:e>
                    </m:d>
                    <m:r>
                      <a:rPr lang="en-IN" b="0" i="1" smtClean="0">
                        <a:latin typeface="Cambria Math" panose="02040503050406030204" pitchFamily="18" charset="0"/>
                      </a:rPr>
                      <m:t>+</m:t>
                    </m:r>
                    <m:r>
                      <a:rPr lang="en-IN" b="0" i="1" smtClean="0">
                        <a:latin typeface="Cambria Math" panose="02040503050406030204" pitchFamily="18" charset="0"/>
                      </a:rPr>
                      <m:t>𝐼</m:t>
                    </m:r>
                    <m:d>
                      <m:dPr>
                        <m:ctrlPr>
                          <a:rPr lang="en-IN" b="0" i="1" smtClean="0">
                            <a:latin typeface="Cambria Math" panose="02040503050406030204" pitchFamily="18" charset="0"/>
                          </a:rPr>
                        </m:ctrlPr>
                      </m:dPr>
                      <m:e>
                        <m:r>
                          <a:rPr lang="en-IN" b="0" i="1" smtClean="0">
                            <a:latin typeface="Cambria Math" panose="02040503050406030204" pitchFamily="18" charset="0"/>
                          </a:rPr>
                          <m:t>𝑦</m:t>
                        </m:r>
                      </m:e>
                    </m:d>
                    <m:r>
                      <a:rPr lang="en-IN" b="0" i="1" smtClean="0">
                        <a:latin typeface="Cambria Math" panose="02040503050406030204" pitchFamily="18" charset="0"/>
                      </a:rPr>
                      <m:t>⇔ </m:t>
                    </m:r>
                  </m:oMath>
                </a14:m>
                <a:r>
                  <a:rPr lang="en-IN" dirty="0"/>
                  <a:t>the random variables </a:t>
                </a:r>
                <a14:m>
                  <m:oMath xmlns:m="http://schemas.openxmlformats.org/officeDocument/2006/math">
                    <m:r>
                      <a:rPr lang="en-IN" b="0" i="1" smtClean="0">
                        <a:latin typeface="Cambria Math" panose="02040503050406030204" pitchFamily="18" charset="0"/>
                      </a:rPr>
                      <m:t>𝑋</m:t>
                    </m:r>
                  </m:oMath>
                </a14:m>
                <a:r>
                  <a:rPr lang="en-IN" dirty="0"/>
                  <a:t> and </a:t>
                </a:r>
                <a14:m>
                  <m:oMath xmlns:m="http://schemas.openxmlformats.org/officeDocument/2006/math">
                    <m:r>
                      <a:rPr lang="en-IN" b="0" i="1" smtClean="0">
                        <a:latin typeface="Cambria Math" panose="02040503050406030204" pitchFamily="18" charset="0"/>
                      </a:rPr>
                      <m:t>𝑌</m:t>
                    </m:r>
                  </m:oMath>
                </a14:m>
                <a:r>
                  <a:rPr lang="en-IN" dirty="0"/>
                  <a:t> are statistically independent.</a:t>
                </a:r>
              </a:p>
            </p:txBody>
          </p:sp>
        </mc:Choice>
        <mc:Fallback xmlns="">
          <p:sp>
            <p:nvSpPr>
              <p:cNvPr id="3" name="Content Placeholder 2">
                <a:extLst>
                  <a:ext uri="{FF2B5EF4-FFF2-40B4-BE49-F238E27FC236}">
                    <a16:creationId xmlns:a16="http://schemas.microsoft.com/office/drawing/2014/main" id="{711123A7-D69C-4BCD-84E7-0AAE71969230}"/>
                  </a:ext>
                </a:extLst>
              </p:cNvPr>
              <p:cNvSpPr>
                <a:spLocks noGrp="1" noRot="1" noChangeAspect="1" noMove="1" noResize="1" noEditPoints="1" noAdjustHandles="1" noChangeArrowheads="1" noChangeShapeType="1" noTextEdit="1"/>
              </p:cNvSpPr>
              <p:nvPr>
                <p:ph idx="1"/>
              </p:nvPr>
            </p:nvSpPr>
            <p:spPr>
              <a:xfrm>
                <a:off x="838200" y="1137684"/>
                <a:ext cx="10515600" cy="5039279"/>
              </a:xfrm>
              <a:blipFill>
                <a:blip r:embed="rId2"/>
                <a:stretch>
                  <a:fillRect l="-1043" t="-2058" r="-1159"/>
                </a:stretch>
              </a:blipFill>
            </p:spPr>
            <p:txBody>
              <a:bodyPr/>
              <a:lstStyle/>
              <a:p>
                <a:r>
                  <a:rPr lang="en-US">
                    <a:noFill/>
                  </a:rPr>
                  <a:t> </a:t>
                </a:r>
              </a:p>
            </p:txBody>
          </p:sp>
        </mc:Fallback>
      </mc:AlternateContent>
    </p:spTree>
    <p:extLst>
      <p:ext uri="{BB962C8B-B14F-4D97-AF65-F5344CB8AC3E}">
        <p14:creationId xmlns:p14="http://schemas.microsoft.com/office/powerpoint/2010/main" val="25287681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123A24-1380-42CA-B028-546CE4607D5F}"/>
              </a:ext>
            </a:extLst>
          </p:cNvPr>
          <p:cNvSpPr txBox="1">
            <a:spLocks/>
          </p:cNvSpPr>
          <p:nvPr/>
        </p:nvSpPr>
        <p:spPr>
          <a:xfrm>
            <a:off x="613347" y="122828"/>
            <a:ext cx="10515600" cy="111641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t>Measure of Information</a:t>
            </a:r>
          </a:p>
        </p:txBody>
      </p:sp>
      <p:sp>
        <p:nvSpPr>
          <p:cNvPr id="3" name="Content Placeholder 2">
            <a:extLst>
              <a:ext uri="{FF2B5EF4-FFF2-40B4-BE49-F238E27FC236}">
                <a16:creationId xmlns:a16="http://schemas.microsoft.com/office/drawing/2014/main" id="{6B1EE0B5-D15A-4F05-B85C-246B10D0F00B}"/>
              </a:ext>
            </a:extLst>
          </p:cNvPr>
          <p:cNvSpPr txBox="1">
            <a:spLocks/>
          </p:cNvSpPr>
          <p:nvPr/>
        </p:nvSpPr>
        <p:spPr>
          <a:xfrm>
            <a:off x="838200" y="1239244"/>
            <a:ext cx="10515600" cy="503927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u="sng" dirty="0"/>
              <a:t>Unit:</a:t>
            </a:r>
          </a:p>
          <a:p>
            <a:pPr algn="just"/>
            <a:r>
              <a:rPr lang="en-US" dirty="0"/>
              <a:t>bits if b=2,</a:t>
            </a:r>
          </a:p>
          <a:p>
            <a:pPr algn="just"/>
            <a:r>
              <a:rPr lang="en-US" dirty="0"/>
              <a:t>Hartley or  </a:t>
            </a:r>
            <a:r>
              <a:rPr lang="en-US" dirty="0" err="1"/>
              <a:t>decit</a:t>
            </a:r>
            <a:r>
              <a:rPr lang="en-US" dirty="0"/>
              <a:t> if b =10,</a:t>
            </a:r>
          </a:p>
          <a:p>
            <a:pPr algn="just"/>
            <a:r>
              <a:rPr lang="en-US" dirty="0" err="1"/>
              <a:t>nat</a:t>
            </a:r>
            <a:r>
              <a:rPr lang="en-US" dirty="0"/>
              <a:t> (natural unit) if b = e.</a:t>
            </a:r>
          </a:p>
          <a:p>
            <a:pPr marL="0" indent="0" algn="just">
              <a:buNone/>
            </a:pPr>
            <a:endParaRPr lang="en-US" dirty="0"/>
          </a:p>
          <a:p>
            <a:pPr algn="just"/>
            <a:endParaRPr lang="en-IN" dirty="0"/>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6A755781-20FE-4899-88CF-7D7B19DC5CEA}"/>
                  </a:ext>
                </a:extLst>
              </p:cNvPr>
              <p:cNvSpPr txBox="1"/>
              <p:nvPr/>
            </p:nvSpPr>
            <p:spPr>
              <a:xfrm>
                <a:off x="5531370" y="1239244"/>
                <a:ext cx="6906718" cy="369332"/>
              </a:xfrm>
              <a:prstGeom prst="rect">
                <a:avLst/>
              </a:prstGeom>
              <a:noFill/>
            </p:spPr>
            <p:txBody>
              <a:bodyPr wrap="square">
                <a:spAutoFit/>
              </a:bodyPr>
              <a:lstStyle/>
              <a:p>
                <a:pPr marL="0" indent="0" algn="just">
                  <a:buNone/>
                </a:pPr>
                <a14:m>
                  <m:oMathPara xmlns:m="http://schemas.openxmlformats.org/officeDocument/2006/math">
                    <m:oMathParaPr>
                      <m:jc m:val="centerGroup"/>
                    </m:oMathParaPr>
                    <m:oMath xmlns:m="http://schemas.openxmlformats.org/officeDocument/2006/math">
                      <m:r>
                        <a:rPr lang="en-IN" b="0" i="1" smtClean="0">
                          <a:latin typeface="Cambria Math" panose="02040503050406030204" pitchFamily="18" charset="0"/>
                        </a:rPr>
                        <m:t>𝐼</m:t>
                      </m:r>
                      <m:d>
                        <m:dPr>
                          <m:ctrlPr>
                            <a:rPr lang="en-IN" b="0" i="1" smtClean="0">
                              <a:latin typeface="Cambria Math" panose="02040503050406030204" pitchFamily="18" charset="0"/>
                            </a:rPr>
                          </m:ctrlPr>
                        </m:dPr>
                        <m:e>
                          <m:sSub>
                            <m:sSubPr>
                              <m:ctrlPr>
                                <a:rPr lang="en-IN" b="0" i="1" smtClean="0">
                                  <a:latin typeface="Cambria Math" panose="02040503050406030204" pitchFamily="18" charset="0"/>
                                </a:rPr>
                              </m:ctrlPr>
                            </m:sSubPr>
                            <m:e>
                              <m:r>
                                <a:rPr lang="en-IN" b="0" i="1" smtClean="0">
                                  <a:latin typeface="Cambria Math" panose="02040503050406030204" pitchFamily="18" charset="0"/>
                                  <a:ea typeface="Cambria Math" panose="02040503050406030204" pitchFamily="18" charset="0"/>
                                </a:rPr>
                                <m:t>𝒮</m:t>
                              </m:r>
                              <m:r>
                                <a:rPr lang="en-IN" b="0" i="1" smtClean="0">
                                  <a:latin typeface="Cambria Math" panose="02040503050406030204" pitchFamily="18" charset="0"/>
                                  <a:ea typeface="Cambria Math" panose="02040503050406030204" pitchFamily="18" charset="0"/>
                                </a:rPr>
                                <m:t>=</m:t>
                              </m:r>
                              <m:r>
                                <a:rPr lang="en-IN" b="0" i="1" smtClean="0">
                                  <a:latin typeface="Cambria Math" panose="02040503050406030204" pitchFamily="18" charset="0"/>
                                </a:rPr>
                                <m:t>𝑠</m:t>
                              </m:r>
                            </m:e>
                            <m:sub>
                              <m:r>
                                <a:rPr lang="en-IN" b="0" i="1" smtClean="0">
                                  <a:latin typeface="Cambria Math" panose="02040503050406030204" pitchFamily="18" charset="0"/>
                                </a:rPr>
                                <m:t>𝑖</m:t>
                              </m:r>
                            </m:sub>
                          </m:sSub>
                        </m:e>
                      </m:d>
                      <m:r>
                        <a:rPr lang="en-IN" b="0" i="1" smtClean="0">
                          <a:latin typeface="Cambria Math" panose="02040503050406030204" pitchFamily="18" charset="0"/>
                        </a:rPr>
                        <m:t>=−</m:t>
                      </m:r>
                      <m:func>
                        <m:funcPr>
                          <m:ctrlPr>
                            <a:rPr lang="en-IN" b="0" i="1" smtClean="0">
                              <a:latin typeface="Cambria Math" panose="02040503050406030204" pitchFamily="18" charset="0"/>
                            </a:rPr>
                          </m:ctrlPr>
                        </m:funcPr>
                        <m:fName>
                          <m:sSub>
                            <m:sSubPr>
                              <m:ctrlPr>
                                <a:rPr lang="en-IN" b="0" i="1" smtClean="0">
                                  <a:latin typeface="Cambria Math" panose="02040503050406030204" pitchFamily="18" charset="0"/>
                                </a:rPr>
                              </m:ctrlPr>
                            </m:sSubPr>
                            <m:e>
                              <m:r>
                                <m:rPr>
                                  <m:sty m:val="p"/>
                                </m:rPr>
                                <a:rPr lang="en-IN" b="0" i="0" smtClean="0">
                                  <a:latin typeface="Cambria Math" panose="02040503050406030204" pitchFamily="18" charset="0"/>
                                </a:rPr>
                                <m:t>log</m:t>
                              </m:r>
                            </m:e>
                            <m:sub>
                              <m:r>
                                <a:rPr lang="en-IN" b="0" i="1" smtClean="0">
                                  <a:latin typeface="Cambria Math" panose="02040503050406030204" pitchFamily="18" charset="0"/>
                                </a:rPr>
                                <m:t>𝑏</m:t>
                              </m:r>
                            </m:sub>
                          </m:sSub>
                        </m:fName>
                        <m:e>
                          <m:sSub>
                            <m:sSubPr>
                              <m:ctrlPr>
                                <a:rPr lang="en-IN" b="0" i="1" smtClean="0">
                                  <a:latin typeface="Cambria Math" panose="02040503050406030204" pitchFamily="18" charset="0"/>
                                </a:rPr>
                              </m:ctrlPr>
                            </m:sSubPr>
                            <m:e>
                              <m:r>
                                <a:rPr lang="en-IN" b="0" i="1" smtClean="0">
                                  <a:latin typeface="Cambria Math" panose="02040503050406030204" pitchFamily="18" charset="0"/>
                                </a:rPr>
                                <m:t>𝑝</m:t>
                              </m:r>
                            </m:e>
                            <m:sub>
                              <m:r>
                                <a:rPr lang="en-IN" b="0" i="1" smtClean="0">
                                  <a:latin typeface="Cambria Math" panose="02040503050406030204" pitchFamily="18" charset="0"/>
                                </a:rPr>
                                <m:t>𝑖</m:t>
                              </m:r>
                            </m:sub>
                          </m:sSub>
                        </m:e>
                      </m:func>
                    </m:oMath>
                  </m:oMathPara>
                </a14:m>
                <a:endParaRPr lang="en-IN" dirty="0"/>
              </a:p>
            </p:txBody>
          </p:sp>
        </mc:Choice>
        <mc:Fallback xmlns="">
          <p:sp>
            <p:nvSpPr>
              <p:cNvPr id="5" name="TextBox 4">
                <a:extLst>
                  <a:ext uri="{FF2B5EF4-FFF2-40B4-BE49-F238E27FC236}">
                    <a16:creationId xmlns:a16="http://schemas.microsoft.com/office/drawing/2014/main" id="{6A755781-20FE-4899-88CF-7D7B19DC5CEA}"/>
                  </a:ext>
                </a:extLst>
              </p:cNvPr>
              <p:cNvSpPr txBox="1">
                <a:spLocks noRot="1" noChangeAspect="1" noMove="1" noResize="1" noEditPoints="1" noAdjustHandles="1" noChangeArrowheads="1" noChangeShapeType="1" noTextEdit="1"/>
              </p:cNvSpPr>
              <p:nvPr/>
            </p:nvSpPr>
            <p:spPr>
              <a:xfrm>
                <a:off x="5531370" y="1239244"/>
                <a:ext cx="6906718" cy="369332"/>
              </a:xfrm>
              <a:prstGeom prst="rect">
                <a:avLst/>
              </a:prstGeom>
              <a:blipFill>
                <a:blip r:embed="rId2"/>
                <a:stretch>
                  <a:fillRect b="-13115"/>
                </a:stretch>
              </a:blipFill>
            </p:spPr>
            <p:txBody>
              <a:bodyPr/>
              <a:lstStyle/>
              <a:p>
                <a:r>
                  <a:rPr lang="en-US">
                    <a:noFill/>
                  </a:rPr>
                  <a:t> </a:t>
                </a:r>
              </a:p>
            </p:txBody>
          </p:sp>
        </mc:Fallback>
      </mc:AlternateContent>
    </p:spTree>
    <p:extLst>
      <p:ext uri="{BB962C8B-B14F-4D97-AF65-F5344CB8AC3E}">
        <p14:creationId xmlns:p14="http://schemas.microsoft.com/office/powerpoint/2010/main" val="19367126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6D6D5C-7EAF-487C-AAB7-5335C3E6A052}"/>
              </a:ext>
            </a:extLst>
          </p:cNvPr>
          <p:cNvSpPr txBox="1">
            <a:spLocks/>
          </p:cNvSpPr>
          <p:nvPr/>
        </p:nvSpPr>
        <p:spPr>
          <a:xfrm>
            <a:off x="598356" y="0"/>
            <a:ext cx="10515600" cy="111641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Example on Information content</a:t>
            </a:r>
            <a:endParaRPr lang="en-IN" dirty="0"/>
          </a:p>
        </p:txBody>
      </p:sp>
      <p:sp>
        <p:nvSpPr>
          <p:cNvPr id="4" name="TextBox 3">
            <a:extLst>
              <a:ext uri="{FF2B5EF4-FFF2-40B4-BE49-F238E27FC236}">
                <a16:creationId xmlns:a16="http://schemas.microsoft.com/office/drawing/2014/main" id="{7365E97B-52D5-4A5B-BCC7-375BFD7C4812}"/>
              </a:ext>
            </a:extLst>
          </p:cNvPr>
          <p:cNvSpPr txBox="1"/>
          <p:nvPr/>
        </p:nvSpPr>
        <p:spPr>
          <a:xfrm>
            <a:off x="598356" y="1116417"/>
            <a:ext cx="11002781" cy="1569660"/>
          </a:xfrm>
          <a:prstGeom prst="rect">
            <a:avLst/>
          </a:prstGeom>
          <a:noFill/>
        </p:spPr>
        <p:txBody>
          <a:bodyPr wrap="square">
            <a:spAutoFit/>
          </a:bodyPr>
          <a:lstStyle/>
          <a:p>
            <a:pPr algn="just"/>
            <a:r>
              <a:rPr lang="en-IN" sz="2400" dirty="0"/>
              <a:t>Q: A source produces one of  four possible symbols, having probability P(x</a:t>
            </a:r>
            <a:r>
              <a:rPr lang="en-IN" sz="2400" baseline="-25000" dirty="0"/>
              <a:t>1</a:t>
            </a:r>
            <a:r>
              <a:rPr lang="en-IN" sz="2400" dirty="0"/>
              <a:t>)= ½, P(x</a:t>
            </a:r>
            <a:r>
              <a:rPr lang="en-IN" sz="2400" baseline="-25000" dirty="0"/>
              <a:t>2</a:t>
            </a:r>
            <a:r>
              <a:rPr lang="en-IN" sz="2400" dirty="0"/>
              <a:t>)= ¼,  P(x</a:t>
            </a:r>
            <a:r>
              <a:rPr lang="en-IN" sz="2400" baseline="-25000" dirty="0"/>
              <a:t>3</a:t>
            </a:r>
            <a:r>
              <a:rPr lang="en-IN" sz="2400" dirty="0"/>
              <a:t>)= P(x</a:t>
            </a:r>
            <a:r>
              <a:rPr lang="en-IN" sz="2400" baseline="-25000" dirty="0"/>
              <a:t>4</a:t>
            </a:r>
            <a:r>
              <a:rPr lang="en-IN" sz="2400" dirty="0"/>
              <a:t>)=1/8. Obtain the information content of each of these symbol.</a:t>
            </a:r>
          </a:p>
          <a:p>
            <a:pPr algn="just"/>
            <a:endParaRPr lang="en-IN" sz="2400" dirty="0"/>
          </a:p>
          <a:p>
            <a:pPr algn="just"/>
            <a:r>
              <a:rPr lang="en-IN" sz="2400" dirty="0"/>
              <a:t>Ans:</a:t>
            </a:r>
          </a:p>
        </p:txBody>
      </p:sp>
      <p:pic>
        <p:nvPicPr>
          <p:cNvPr id="9" name="Picture 8" descr="A picture containing screenshot&#10;&#10;Description automatically generated">
            <a:extLst>
              <a:ext uri="{FF2B5EF4-FFF2-40B4-BE49-F238E27FC236}">
                <a16:creationId xmlns:a16="http://schemas.microsoft.com/office/drawing/2014/main" id="{8AB4B69F-9EB9-434C-A416-B7EC2A33C5C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5006" y="3285873"/>
            <a:ext cx="10692384" cy="2999232"/>
          </a:xfrm>
          <a:prstGeom prst="rect">
            <a:avLst/>
          </a:prstGeom>
        </p:spPr>
      </p:pic>
    </p:spTree>
    <p:extLst>
      <p:ext uri="{BB962C8B-B14F-4D97-AF65-F5344CB8AC3E}">
        <p14:creationId xmlns:p14="http://schemas.microsoft.com/office/powerpoint/2010/main" val="15659588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BE759E-A091-4478-B7D7-CF1B2C8FCAF0}"/>
              </a:ext>
            </a:extLst>
          </p:cNvPr>
          <p:cNvSpPr txBox="1">
            <a:spLocks/>
          </p:cNvSpPr>
          <p:nvPr/>
        </p:nvSpPr>
        <p:spPr>
          <a:xfrm>
            <a:off x="598356" y="0"/>
            <a:ext cx="10515600" cy="111641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Example on Information content</a:t>
            </a:r>
            <a:endParaRPr lang="en-IN" dirty="0"/>
          </a:p>
        </p:txBody>
      </p:sp>
      <p:sp>
        <p:nvSpPr>
          <p:cNvPr id="3" name="TextBox 2">
            <a:extLst>
              <a:ext uri="{FF2B5EF4-FFF2-40B4-BE49-F238E27FC236}">
                <a16:creationId xmlns:a16="http://schemas.microsoft.com/office/drawing/2014/main" id="{412B6FA3-B767-4430-9E6A-028CABAD187B}"/>
              </a:ext>
            </a:extLst>
          </p:cNvPr>
          <p:cNvSpPr txBox="1"/>
          <p:nvPr/>
        </p:nvSpPr>
        <p:spPr>
          <a:xfrm>
            <a:off x="598356" y="1202046"/>
            <a:ext cx="11002781" cy="1200329"/>
          </a:xfrm>
          <a:prstGeom prst="rect">
            <a:avLst/>
          </a:prstGeom>
          <a:noFill/>
        </p:spPr>
        <p:txBody>
          <a:bodyPr wrap="square">
            <a:spAutoFit/>
          </a:bodyPr>
          <a:lstStyle/>
          <a:p>
            <a:pPr algn="just"/>
            <a:r>
              <a:rPr lang="en-IN" sz="2400" dirty="0"/>
              <a:t>Q: In a binary channel, of ‘0’  occurs with probability ¼ and ‘1’ occurs with probability of ¾. Then, calculate the  amount of information carried by each binit.</a:t>
            </a:r>
          </a:p>
          <a:p>
            <a:pPr algn="just"/>
            <a:endParaRPr lang="en-IN" sz="2400" dirty="0"/>
          </a:p>
        </p:txBody>
      </p:sp>
      <p:pic>
        <p:nvPicPr>
          <p:cNvPr id="5" name="Picture 4" descr="A screenshot of a cell phone&#10;&#10;Description automatically generated">
            <a:extLst>
              <a:ext uri="{FF2B5EF4-FFF2-40B4-BE49-F238E27FC236}">
                <a16:creationId xmlns:a16="http://schemas.microsoft.com/office/drawing/2014/main" id="{518634AC-7D00-46A6-BCAA-6E5AE591301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4479" y="2664541"/>
            <a:ext cx="10802911" cy="3955139"/>
          </a:xfrm>
          <a:prstGeom prst="rect">
            <a:avLst/>
          </a:prstGeom>
        </p:spPr>
      </p:pic>
    </p:spTree>
    <p:extLst>
      <p:ext uri="{BB962C8B-B14F-4D97-AF65-F5344CB8AC3E}">
        <p14:creationId xmlns:p14="http://schemas.microsoft.com/office/powerpoint/2010/main" val="8631139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71ED6C-F81A-496B-B451-47B3898C191B}"/>
              </a:ext>
            </a:extLst>
          </p:cNvPr>
          <p:cNvSpPr txBox="1">
            <a:spLocks/>
          </p:cNvSpPr>
          <p:nvPr/>
        </p:nvSpPr>
        <p:spPr>
          <a:xfrm>
            <a:off x="598356" y="0"/>
            <a:ext cx="10515600" cy="111641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Example on Information content</a:t>
            </a:r>
            <a:endParaRPr lang="en-IN" dirty="0"/>
          </a:p>
        </p:txBody>
      </p:sp>
      <p:sp>
        <p:nvSpPr>
          <p:cNvPr id="3" name="TextBox 2">
            <a:extLst>
              <a:ext uri="{FF2B5EF4-FFF2-40B4-BE49-F238E27FC236}">
                <a16:creationId xmlns:a16="http://schemas.microsoft.com/office/drawing/2014/main" id="{2C5F3256-FCC9-4957-8F16-60E73FF33E65}"/>
              </a:ext>
            </a:extLst>
          </p:cNvPr>
          <p:cNvSpPr txBox="1"/>
          <p:nvPr/>
        </p:nvSpPr>
        <p:spPr>
          <a:xfrm>
            <a:off x="692145" y="1200773"/>
            <a:ext cx="11002781" cy="2308324"/>
          </a:xfrm>
          <a:prstGeom prst="rect">
            <a:avLst/>
          </a:prstGeom>
          <a:noFill/>
        </p:spPr>
        <p:txBody>
          <a:bodyPr wrap="square">
            <a:spAutoFit/>
          </a:bodyPr>
          <a:lstStyle/>
          <a:p>
            <a:pPr algn="just"/>
            <a:r>
              <a:rPr lang="en-IN" sz="2400" dirty="0"/>
              <a:t>Q: If there are M equally likely and independent symbols, then prove that amount of information carried by each symbol will be:</a:t>
            </a:r>
          </a:p>
          <a:p>
            <a:pPr algn="just"/>
            <a:endParaRPr lang="en-IN" sz="2400" dirty="0"/>
          </a:p>
          <a:p>
            <a:pPr algn="ctr"/>
            <a:r>
              <a:rPr lang="en-IN" sz="2400" dirty="0"/>
              <a:t>I (</a:t>
            </a:r>
            <a:r>
              <a:rPr lang="en-IN" sz="2400" dirty="0" err="1"/>
              <a:t>si</a:t>
            </a:r>
            <a:r>
              <a:rPr lang="en-IN" sz="2400" dirty="0"/>
              <a:t>)=N bits.</a:t>
            </a:r>
          </a:p>
          <a:p>
            <a:pPr algn="just"/>
            <a:r>
              <a:rPr lang="en-IN" sz="2400" dirty="0"/>
              <a:t>Where, M = 2</a:t>
            </a:r>
            <a:r>
              <a:rPr lang="en-IN" sz="2400" baseline="30000" dirty="0"/>
              <a:t>N </a:t>
            </a:r>
            <a:r>
              <a:rPr lang="en-IN" sz="2400" dirty="0"/>
              <a:t>and N is an integer. </a:t>
            </a:r>
          </a:p>
          <a:p>
            <a:pPr algn="just"/>
            <a:endParaRPr lang="en-IN" sz="2400" dirty="0"/>
          </a:p>
        </p:txBody>
      </p:sp>
      <p:sp>
        <p:nvSpPr>
          <p:cNvPr id="5" name="TextBox 4">
            <a:extLst>
              <a:ext uri="{FF2B5EF4-FFF2-40B4-BE49-F238E27FC236}">
                <a16:creationId xmlns:a16="http://schemas.microsoft.com/office/drawing/2014/main" id="{856317BE-3D68-4625-8C0F-447F3BA718E9}"/>
              </a:ext>
            </a:extLst>
          </p:cNvPr>
          <p:cNvSpPr txBox="1"/>
          <p:nvPr/>
        </p:nvSpPr>
        <p:spPr>
          <a:xfrm>
            <a:off x="594609" y="3244334"/>
            <a:ext cx="6093500" cy="369332"/>
          </a:xfrm>
          <a:prstGeom prst="rect">
            <a:avLst/>
          </a:prstGeom>
          <a:noFill/>
        </p:spPr>
        <p:txBody>
          <a:bodyPr wrap="square">
            <a:spAutoFit/>
          </a:bodyPr>
          <a:lstStyle/>
          <a:p>
            <a:pPr algn="just"/>
            <a:r>
              <a:rPr lang="en-IN" b="0" dirty="0"/>
              <a:t>(</a:t>
            </a:r>
            <a:r>
              <a:rPr lang="en-IN" b="0" dirty="0">
                <a:solidFill>
                  <a:srgbClr val="FF0000"/>
                </a:solidFill>
              </a:rPr>
              <a:t>Prove This</a:t>
            </a:r>
            <a:r>
              <a:rPr lang="en-IN" b="0" dirty="0"/>
              <a:t>)</a:t>
            </a:r>
          </a:p>
        </p:txBody>
      </p:sp>
    </p:spTree>
    <p:extLst>
      <p:ext uri="{BB962C8B-B14F-4D97-AF65-F5344CB8AC3E}">
        <p14:creationId xmlns:p14="http://schemas.microsoft.com/office/powerpoint/2010/main" val="31703116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1BD2C5-1A99-4AB6-8C35-F2987D487C11}"/>
              </a:ext>
            </a:extLst>
          </p:cNvPr>
          <p:cNvSpPr>
            <a:spLocks noGrp="1"/>
          </p:cNvSpPr>
          <p:nvPr>
            <p:ph type="title"/>
          </p:nvPr>
        </p:nvSpPr>
        <p:spPr>
          <a:xfrm>
            <a:off x="838200" y="1"/>
            <a:ext cx="10515600" cy="893134"/>
          </a:xfrm>
        </p:spPr>
        <p:txBody>
          <a:bodyPr/>
          <a:lstStyle/>
          <a:p>
            <a:r>
              <a:rPr lang="en-IN" dirty="0"/>
              <a:t>Entropy (Average Information per symbol)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5BF2A22-7AE8-4BF8-AB40-0799DA5D81CB}"/>
                  </a:ext>
                </a:extLst>
              </p:cNvPr>
              <p:cNvSpPr>
                <a:spLocks noGrp="1"/>
              </p:cNvSpPr>
              <p:nvPr>
                <p:ph idx="1"/>
              </p:nvPr>
            </p:nvSpPr>
            <p:spPr>
              <a:xfrm>
                <a:off x="838200" y="1350889"/>
                <a:ext cx="10515600" cy="5060544"/>
              </a:xfrm>
            </p:spPr>
            <p:txBody>
              <a:bodyPr>
                <a:normAutofit/>
              </a:bodyPr>
              <a:lstStyle/>
              <a:p>
                <a:pPr algn="just"/>
                <a:r>
                  <a:rPr lang="en-IN" dirty="0"/>
                  <a:t>In practical communication, we transmit long sequences of symbols.</a:t>
                </a:r>
              </a:p>
              <a:p>
                <a:pPr algn="just"/>
                <a:r>
                  <a:rPr lang="en-IN" dirty="0"/>
                  <a:t>Let </a:t>
                </a:r>
                <a14:m>
                  <m:oMath xmlns:m="http://schemas.openxmlformats.org/officeDocument/2006/math">
                    <m:r>
                      <a:rPr lang="en-IN" i="1">
                        <a:latin typeface="Cambria Math" panose="02040503050406030204" pitchFamily="18" charset="0"/>
                      </a:rPr>
                      <m:t>𝑃</m:t>
                    </m:r>
                    <m:r>
                      <a:rPr lang="en-IN" i="1">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𝑝</m:t>
                        </m:r>
                      </m:e>
                      <m:sub>
                        <m:r>
                          <a:rPr lang="en-IN" i="1">
                            <a:latin typeface="Cambria Math" panose="02040503050406030204" pitchFamily="18" charset="0"/>
                          </a:rPr>
                          <m:t>1</m:t>
                        </m:r>
                      </m:sub>
                    </m:sSub>
                    <m:r>
                      <a:rPr lang="en-IN" i="1">
                        <a:latin typeface="Cambria Math" panose="02040503050406030204" pitchFamily="18" charset="0"/>
                      </a:rPr>
                      <m:t>, </m:t>
                    </m:r>
                    <m:sSub>
                      <m:sSubPr>
                        <m:ctrlPr>
                          <a:rPr lang="en-IN" i="1">
                            <a:latin typeface="Cambria Math" panose="02040503050406030204" pitchFamily="18" charset="0"/>
                          </a:rPr>
                        </m:ctrlPr>
                      </m:sSubPr>
                      <m:e>
                        <m:r>
                          <a:rPr lang="en-IN" i="1">
                            <a:latin typeface="Cambria Math" panose="02040503050406030204" pitchFamily="18" charset="0"/>
                          </a:rPr>
                          <m:t>𝑝</m:t>
                        </m:r>
                      </m:e>
                      <m:sub>
                        <m:r>
                          <a:rPr lang="en-IN" i="1">
                            <a:latin typeface="Cambria Math" panose="02040503050406030204" pitchFamily="18" charset="0"/>
                          </a:rPr>
                          <m:t>2</m:t>
                        </m:r>
                      </m:sub>
                    </m:sSub>
                    <m:r>
                      <a:rPr lang="en-IN" i="1">
                        <a:latin typeface="Cambria Math" panose="02040503050406030204" pitchFamily="18" charset="0"/>
                      </a:rPr>
                      <m:t>,….., </m:t>
                    </m:r>
                    <m:sSub>
                      <m:sSubPr>
                        <m:ctrlPr>
                          <a:rPr lang="en-IN" i="1">
                            <a:latin typeface="Cambria Math" panose="02040503050406030204" pitchFamily="18" charset="0"/>
                          </a:rPr>
                        </m:ctrlPr>
                      </m:sSubPr>
                      <m:e>
                        <m:r>
                          <a:rPr lang="en-IN" i="1">
                            <a:latin typeface="Cambria Math" panose="02040503050406030204" pitchFamily="18" charset="0"/>
                          </a:rPr>
                          <m:t>𝑝</m:t>
                        </m:r>
                      </m:e>
                      <m:sub>
                        <m:r>
                          <a:rPr lang="en-IN" i="1">
                            <a:latin typeface="Cambria Math" panose="02040503050406030204" pitchFamily="18" charset="0"/>
                          </a:rPr>
                          <m:t>𝐾</m:t>
                        </m:r>
                      </m:sub>
                    </m:sSub>
                    <m:r>
                      <a:rPr lang="en-IN" i="1">
                        <a:latin typeface="Cambria Math" panose="02040503050406030204" pitchFamily="18" charset="0"/>
                      </a:rPr>
                      <m:t>}</m:t>
                    </m:r>
                  </m:oMath>
                </a14:m>
                <a:r>
                  <a:rPr lang="en-IN" dirty="0"/>
                  <a:t> is the probability distribution of symbols defined over the source alphabet </a:t>
                </a:r>
                <a14:m>
                  <m:oMath xmlns:m="http://schemas.openxmlformats.org/officeDocument/2006/math">
                    <m:r>
                      <a:rPr lang="en-IN" i="1">
                        <a:latin typeface="Cambria Math" panose="02040503050406030204" pitchFamily="18" charset="0"/>
                        <a:ea typeface="Cambria Math" panose="02040503050406030204" pitchFamily="18" charset="0"/>
                      </a:rPr>
                      <m:t>𝒮</m:t>
                    </m:r>
                    <m:r>
                      <a:rPr lang="en-IN" i="1">
                        <a:latin typeface="Cambria Math" panose="02040503050406030204" pitchFamily="18" charset="0"/>
                        <a:ea typeface="Cambria Math" panose="02040503050406030204" pitchFamily="18" charset="0"/>
                      </a:rPr>
                      <m:t>=</m:t>
                    </m:r>
                    <m:d>
                      <m:dPr>
                        <m:begChr m:val="{"/>
                        <m:endChr m:val="}"/>
                        <m:ctrlPr>
                          <a:rPr lang="en-IN" i="1">
                            <a:latin typeface="Cambria Math" panose="02040503050406030204" pitchFamily="18" charset="0"/>
                            <a:ea typeface="Cambria Math" panose="02040503050406030204" pitchFamily="18" charset="0"/>
                          </a:rPr>
                        </m:ctrlPr>
                      </m:dPr>
                      <m:e>
                        <m:sSub>
                          <m:sSubPr>
                            <m:ctrlPr>
                              <a:rPr lang="en-IN" i="1">
                                <a:latin typeface="Cambria Math" panose="02040503050406030204" pitchFamily="18" charset="0"/>
                                <a:ea typeface="Cambria Math" panose="02040503050406030204" pitchFamily="18" charset="0"/>
                              </a:rPr>
                            </m:ctrlPr>
                          </m:sSubPr>
                          <m:e>
                            <m:r>
                              <a:rPr lang="en-IN" i="1">
                                <a:latin typeface="Cambria Math" panose="02040503050406030204" pitchFamily="18" charset="0"/>
                                <a:ea typeface="Cambria Math" panose="02040503050406030204" pitchFamily="18" charset="0"/>
                              </a:rPr>
                              <m:t>𝑠</m:t>
                            </m:r>
                          </m:e>
                          <m:sub>
                            <m:r>
                              <a:rPr lang="en-IN" i="1">
                                <a:latin typeface="Cambria Math" panose="02040503050406030204" pitchFamily="18" charset="0"/>
                                <a:ea typeface="Cambria Math" panose="02040503050406030204" pitchFamily="18" charset="0"/>
                              </a:rPr>
                              <m:t>1</m:t>
                            </m:r>
                          </m:sub>
                        </m:sSub>
                        <m:r>
                          <a:rPr lang="en-IN" i="1">
                            <a:latin typeface="Cambria Math" panose="02040503050406030204" pitchFamily="18" charset="0"/>
                            <a:ea typeface="Cambria Math" panose="02040503050406030204" pitchFamily="18" charset="0"/>
                          </a:rPr>
                          <m:t>, </m:t>
                        </m:r>
                        <m:sSub>
                          <m:sSubPr>
                            <m:ctrlPr>
                              <a:rPr lang="en-IN" i="1">
                                <a:latin typeface="Cambria Math" panose="02040503050406030204" pitchFamily="18" charset="0"/>
                                <a:ea typeface="Cambria Math" panose="02040503050406030204" pitchFamily="18" charset="0"/>
                              </a:rPr>
                            </m:ctrlPr>
                          </m:sSubPr>
                          <m:e>
                            <m:r>
                              <a:rPr lang="en-IN" i="1">
                                <a:latin typeface="Cambria Math" panose="02040503050406030204" pitchFamily="18" charset="0"/>
                                <a:ea typeface="Cambria Math" panose="02040503050406030204" pitchFamily="18" charset="0"/>
                              </a:rPr>
                              <m:t>𝑠</m:t>
                            </m:r>
                          </m:e>
                          <m:sub>
                            <m:r>
                              <a:rPr lang="en-IN" i="1">
                                <a:latin typeface="Cambria Math" panose="02040503050406030204" pitchFamily="18" charset="0"/>
                                <a:ea typeface="Cambria Math" panose="02040503050406030204" pitchFamily="18" charset="0"/>
                              </a:rPr>
                              <m:t>2</m:t>
                            </m:r>
                          </m:sub>
                        </m:sSub>
                        <m:r>
                          <a:rPr lang="en-IN" i="1">
                            <a:latin typeface="Cambria Math" panose="02040503050406030204" pitchFamily="18" charset="0"/>
                            <a:ea typeface="Cambria Math" panose="02040503050406030204" pitchFamily="18" charset="0"/>
                          </a:rPr>
                          <m:t>,….., </m:t>
                        </m:r>
                        <m:sSub>
                          <m:sSubPr>
                            <m:ctrlPr>
                              <a:rPr lang="en-IN" i="1">
                                <a:latin typeface="Cambria Math" panose="02040503050406030204" pitchFamily="18" charset="0"/>
                                <a:ea typeface="Cambria Math" panose="02040503050406030204" pitchFamily="18" charset="0"/>
                              </a:rPr>
                            </m:ctrlPr>
                          </m:sSubPr>
                          <m:e>
                            <m:r>
                              <a:rPr lang="en-IN" i="1">
                                <a:latin typeface="Cambria Math" panose="02040503050406030204" pitchFamily="18" charset="0"/>
                                <a:ea typeface="Cambria Math" panose="02040503050406030204" pitchFamily="18" charset="0"/>
                              </a:rPr>
                              <m:t>𝑠</m:t>
                            </m:r>
                          </m:e>
                          <m:sub>
                            <m:r>
                              <a:rPr lang="en-IN" i="1">
                                <a:latin typeface="Cambria Math" panose="02040503050406030204" pitchFamily="18" charset="0"/>
                                <a:ea typeface="Cambria Math" panose="02040503050406030204" pitchFamily="18" charset="0"/>
                              </a:rPr>
                              <m:t>𝐾</m:t>
                            </m:r>
                          </m:sub>
                        </m:sSub>
                      </m:e>
                    </m:d>
                    <m:r>
                      <a:rPr lang="en-IN" b="0" i="0" smtClean="0">
                        <a:latin typeface="Cambria Math" panose="02040503050406030204" pitchFamily="18" charset="0"/>
                        <a:ea typeface="Cambria Math" panose="02040503050406030204" pitchFamily="18" charset="0"/>
                      </a:rPr>
                      <m:t>.</m:t>
                    </m:r>
                  </m:oMath>
                </a14:m>
                <a:r>
                  <a:rPr lang="en-IN" dirty="0"/>
                  <a:t> The average information is defined as </a:t>
                </a:r>
              </a:p>
              <a:p>
                <a:pPr marL="0" indent="0" algn="just">
                  <a:buNone/>
                </a:pPr>
                <a14:m>
                  <m:oMathPara xmlns:m="http://schemas.openxmlformats.org/officeDocument/2006/math">
                    <m:oMathParaPr>
                      <m:jc m:val="centerGroup"/>
                    </m:oMathParaPr>
                    <m:oMath xmlns:m="http://schemas.openxmlformats.org/officeDocument/2006/math">
                      <m:r>
                        <a:rPr lang="en-IN" b="0" i="1" smtClean="0">
                          <a:latin typeface="Cambria Math" panose="02040503050406030204" pitchFamily="18" charset="0"/>
                        </a:rPr>
                        <m:t>𝐻</m:t>
                      </m:r>
                      <m:r>
                        <a:rPr lang="en-IN" b="0" i="1" smtClean="0">
                          <a:latin typeface="Cambria Math" panose="02040503050406030204" pitchFamily="18" charset="0"/>
                        </a:rPr>
                        <m:t>(</m:t>
                      </m:r>
                      <m:r>
                        <a:rPr lang="en-IN" i="1">
                          <a:latin typeface="Cambria Math" panose="02040503050406030204" pitchFamily="18" charset="0"/>
                        </a:rPr>
                        <m:t>𝑃</m:t>
                      </m:r>
                      <m:r>
                        <a:rPr lang="en-IN" b="0" i="1" smtClean="0">
                          <a:latin typeface="Cambria Math" panose="02040503050406030204" pitchFamily="18" charset="0"/>
                        </a:rPr>
                        <m:t>)=</m:t>
                      </m:r>
                      <m:r>
                        <a:rPr lang="en-IN" b="0" i="1" smtClean="0">
                          <a:latin typeface="Cambria Math" panose="02040503050406030204" pitchFamily="18" charset="0"/>
                        </a:rPr>
                        <m:t>𝐸</m:t>
                      </m:r>
                      <m:d>
                        <m:dPr>
                          <m:begChr m:val="["/>
                          <m:endChr m:val="]"/>
                          <m:ctrlPr>
                            <a:rPr lang="en-IN" b="0" i="1" smtClean="0">
                              <a:latin typeface="Cambria Math" panose="02040503050406030204" pitchFamily="18" charset="0"/>
                            </a:rPr>
                          </m:ctrlPr>
                        </m:dPr>
                        <m:e>
                          <m:r>
                            <a:rPr lang="en-IN" b="0" i="1" smtClean="0">
                              <a:latin typeface="Cambria Math" panose="02040503050406030204" pitchFamily="18" charset="0"/>
                            </a:rPr>
                            <m:t>𝐼</m:t>
                          </m:r>
                          <m:d>
                            <m:dPr>
                              <m:ctrlPr>
                                <a:rPr lang="en-IN" b="0" i="1" smtClean="0">
                                  <a:latin typeface="Cambria Math" panose="02040503050406030204" pitchFamily="18" charset="0"/>
                                </a:rPr>
                              </m:ctrlPr>
                            </m:dPr>
                            <m:e>
                              <m:sSub>
                                <m:sSubPr>
                                  <m:ctrlPr>
                                    <a:rPr lang="en-IN" b="0" i="1" smtClean="0">
                                      <a:latin typeface="Cambria Math" panose="02040503050406030204" pitchFamily="18" charset="0"/>
                                    </a:rPr>
                                  </m:ctrlPr>
                                </m:sSubPr>
                                <m:e>
                                  <m:r>
                                    <a:rPr lang="en-IN" b="0" i="1" smtClean="0">
                                      <a:latin typeface="Cambria Math" panose="02040503050406030204" pitchFamily="18" charset="0"/>
                                    </a:rPr>
                                    <m:t>𝑠</m:t>
                                  </m:r>
                                </m:e>
                                <m:sub>
                                  <m:r>
                                    <a:rPr lang="en-IN" b="0" i="1" smtClean="0">
                                      <a:latin typeface="Cambria Math" panose="02040503050406030204" pitchFamily="18" charset="0"/>
                                    </a:rPr>
                                    <m:t>𝑖</m:t>
                                  </m:r>
                                </m:sub>
                              </m:sSub>
                            </m:e>
                          </m:d>
                        </m:e>
                      </m:d>
                      <m:r>
                        <a:rPr lang="en-IN" b="0" i="1" smtClean="0">
                          <a:latin typeface="Cambria Math" panose="02040503050406030204" pitchFamily="18" charset="0"/>
                        </a:rPr>
                        <m:t>                </m:t>
                      </m:r>
                    </m:oMath>
                  </m:oMathPara>
                </a14:m>
                <a:endParaRPr lang="en-IN" b="0" dirty="0"/>
              </a:p>
              <a:p>
                <a:pPr marL="0" indent="0" algn="just">
                  <a:buNone/>
                </a:pPr>
                <a14:m>
                  <m:oMathPara xmlns:m="http://schemas.openxmlformats.org/officeDocument/2006/math">
                    <m:oMathParaPr>
                      <m:jc m:val="centerGroup"/>
                    </m:oMathParaPr>
                    <m:oMath xmlns:m="http://schemas.openxmlformats.org/officeDocument/2006/math">
                      <m:r>
                        <a:rPr lang="en-IN" b="0" i="1" smtClean="0">
                          <a:latin typeface="Cambria Math" panose="02040503050406030204" pitchFamily="18" charset="0"/>
                        </a:rPr>
                        <m:t>=</m:t>
                      </m:r>
                      <m:nary>
                        <m:naryPr>
                          <m:chr m:val="∑"/>
                          <m:ctrlPr>
                            <a:rPr lang="en-IN" b="0" i="1" smtClean="0">
                              <a:latin typeface="Cambria Math" panose="02040503050406030204" pitchFamily="18" charset="0"/>
                            </a:rPr>
                          </m:ctrlPr>
                        </m:naryPr>
                        <m:sub>
                          <m:r>
                            <a:rPr lang="en-IN" b="0" i="1" smtClean="0">
                              <a:latin typeface="Cambria Math" panose="02040503050406030204" pitchFamily="18" charset="0"/>
                            </a:rPr>
                            <m:t>𝑖</m:t>
                          </m:r>
                          <m:r>
                            <a:rPr lang="en-IN" b="0" i="1" smtClean="0">
                              <a:latin typeface="Cambria Math" panose="02040503050406030204" pitchFamily="18" charset="0"/>
                            </a:rPr>
                            <m:t>=1</m:t>
                          </m:r>
                        </m:sub>
                        <m:sup>
                          <m:r>
                            <a:rPr lang="en-IN" b="0" i="1" smtClean="0">
                              <a:latin typeface="Cambria Math" panose="02040503050406030204" pitchFamily="18" charset="0"/>
                            </a:rPr>
                            <m:t>𝐾</m:t>
                          </m:r>
                        </m:sup>
                        <m:e>
                          <m:sSub>
                            <m:sSubPr>
                              <m:ctrlPr>
                                <a:rPr lang="en-IN" b="0" i="1" smtClean="0">
                                  <a:latin typeface="Cambria Math" panose="02040503050406030204" pitchFamily="18" charset="0"/>
                                </a:rPr>
                              </m:ctrlPr>
                            </m:sSubPr>
                            <m:e>
                              <m:r>
                                <a:rPr lang="en-IN" b="0" i="1" smtClean="0">
                                  <a:latin typeface="Cambria Math" panose="02040503050406030204" pitchFamily="18" charset="0"/>
                                </a:rPr>
                                <m:t>𝑝</m:t>
                              </m:r>
                            </m:e>
                            <m:sub>
                              <m:r>
                                <a:rPr lang="en-IN" b="0" i="1" smtClean="0">
                                  <a:latin typeface="Cambria Math" panose="02040503050406030204" pitchFamily="18" charset="0"/>
                                </a:rPr>
                                <m:t>𝑖</m:t>
                              </m:r>
                            </m:sub>
                          </m:sSub>
                          <m:r>
                            <a:rPr lang="en-IN" b="0" i="1" smtClean="0">
                              <a:latin typeface="Cambria Math" panose="02040503050406030204" pitchFamily="18" charset="0"/>
                            </a:rPr>
                            <m:t>𝐼</m:t>
                          </m:r>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𝑠</m:t>
                              </m:r>
                            </m:e>
                            <m:sub>
                              <m:r>
                                <a:rPr lang="en-IN" b="0" i="1" smtClean="0">
                                  <a:latin typeface="Cambria Math" panose="02040503050406030204" pitchFamily="18" charset="0"/>
                                </a:rPr>
                                <m:t>𝑖</m:t>
                              </m:r>
                            </m:sub>
                          </m:sSub>
                          <m:r>
                            <a:rPr lang="en-IN" b="0" i="1" smtClean="0">
                              <a:latin typeface="Cambria Math" panose="02040503050406030204" pitchFamily="18" charset="0"/>
                            </a:rPr>
                            <m:t>)</m:t>
                          </m:r>
                        </m:e>
                      </m:nary>
                    </m:oMath>
                  </m:oMathPara>
                </a14:m>
                <a:endParaRPr lang="en-IN" b="0" dirty="0"/>
              </a:p>
              <a:p>
                <a:pPr marL="0" indent="0" algn="just">
                  <a:buNone/>
                </a:pPr>
                <a:r>
                  <a:rPr lang="en-IN" dirty="0"/>
                  <a:t>                                  	       </a:t>
                </a:r>
                <a14:m>
                  <m:oMath xmlns:m="http://schemas.openxmlformats.org/officeDocument/2006/math">
                    <m:r>
                      <a:rPr lang="en-IN" b="0" i="1" smtClean="0">
                        <a:latin typeface="Cambria Math" panose="02040503050406030204" pitchFamily="18" charset="0"/>
                      </a:rPr>
                      <m:t>=−</m:t>
                    </m:r>
                    <m:nary>
                      <m:naryPr>
                        <m:chr m:val="∑"/>
                        <m:ctrlPr>
                          <a:rPr lang="en-IN" i="1" smtClean="0">
                            <a:latin typeface="Cambria Math" panose="02040503050406030204" pitchFamily="18" charset="0"/>
                          </a:rPr>
                        </m:ctrlPr>
                      </m:naryPr>
                      <m:sub>
                        <m:r>
                          <a:rPr lang="en-IN" i="1">
                            <a:latin typeface="Cambria Math" panose="02040503050406030204" pitchFamily="18" charset="0"/>
                          </a:rPr>
                          <m:t>𝑖</m:t>
                        </m:r>
                        <m:r>
                          <a:rPr lang="en-IN" i="1">
                            <a:latin typeface="Cambria Math" panose="02040503050406030204" pitchFamily="18" charset="0"/>
                          </a:rPr>
                          <m:t>=1</m:t>
                        </m:r>
                      </m:sub>
                      <m:sup>
                        <m:r>
                          <a:rPr lang="en-IN" i="1">
                            <a:latin typeface="Cambria Math" panose="02040503050406030204" pitchFamily="18" charset="0"/>
                          </a:rPr>
                          <m:t>𝐾</m:t>
                        </m:r>
                      </m:sup>
                      <m:e>
                        <m:sSub>
                          <m:sSubPr>
                            <m:ctrlPr>
                              <a:rPr lang="en-IN" i="1">
                                <a:latin typeface="Cambria Math" panose="02040503050406030204" pitchFamily="18" charset="0"/>
                              </a:rPr>
                            </m:ctrlPr>
                          </m:sSubPr>
                          <m:e>
                            <m:r>
                              <a:rPr lang="en-IN" i="1">
                                <a:latin typeface="Cambria Math" panose="02040503050406030204" pitchFamily="18" charset="0"/>
                              </a:rPr>
                              <m:t>𝑝</m:t>
                            </m:r>
                          </m:e>
                          <m:sub>
                            <m:r>
                              <a:rPr lang="en-IN" i="1">
                                <a:latin typeface="Cambria Math" panose="02040503050406030204" pitchFamily="18" charset="0"/>
                              </a:rPr>
                              <m:t>𝑖</m:t>
                            </m:r>
                          </m:sub>
                        </m:sSub>
                      </m:e>
                    </m:nary>
                    <m:sSub>
                      <m:sSubPr>
                        <m:ctrlPr>
                          <a:rPr lang="en-IN" b="0" i="1" smtClean="0">
                            <a:latin typeface="Cambria Math" panose="02040503050406030204" pitchFamily="18" charset="0"/>
                          </a:rPr>
                        </m:ctrlPr>
                      </m:sSubPr>
                      <m:e>
                        <m:r>
                          <m:rPr>
                            <m:sty m:val="p"/>
                          </m:rPr>
                          <a:rPr lang="en-IN" b="0" i="0" smtClean="0">
                            <a:latin typeface="Cambria Math" panose="02040503050406030204" pitchFamily="18" charset="0"/>
                          </a:rPr>
                          <m:t>log</m:t>
                        </m:r>
                      </m:e>
                      <m:sub>
                        <m:r>
                          <a:rPr lang="en-IN" b="0" i="0" smtClean="0">
                            <a:latin typeface="Cambria Math" panose="02040503050406030204" pitchFamily="18" charset="0"/>
                          </a:rPr>
                          <m:t>2</m:t>
                        </m:r>
                      </m:sub>
                    </m:sSub>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𝑝</m:t>
                        </m:r>
                      </m:e>
                      <m:sub>
                        <m:r>
                          <a:rPr lang="en-IN" b="0" i="1" smtClean="0">
                            <a:latin typeface="Cambria Math" panose="02040503050406030204" pitchFamily="18" charset="0"/>
                          </a:rPr>
                          <m:t>𝑖</m:t>
                        </m:r>
                      </m:sub>
                    </m:sSub>
                    <m:r>
                      <a:rPr lang="en-IN" b="0" i="1" smtClean="0">
                        <a:latin typeface="Cambria Math" panose="02040503050406030204" pitchFamily="18" charset="0"/>
                      </a:rPr>
                      <m:t>)</m:t>
                    </m:r>
                  </m:oMath>
                </a14:m>
                <a:endParaRPr lang="en-IN" dirty="0"/>
              </a:p>
              <a:p>
                <a:pPr marL="0" indent="0" algn="just">
                  <a:buNone/>
                </a:pPr>
                <a:r>
                  <a:rPr lang="en-IN" dirty="0"/>
                  <a:t>The units of </a:t>
                </a:r>
                <a14:m>
                  <m:oMath xmlns:m="http://schemas.openxmlformats.org/officeDocument/2006/math">
                    <m:r>
                      <a:rPr lang="en-IN" b="0" i="1" smtClean="0">
                        <a:latin typeface="Cambria Math" panose="02040503050406030204" pitchFamily="18" charset="0"/>
                      </a:rPr>
                      <m:t>𝐻</m:t>
                    </m:r>
                  </m:oMath>
                </a14:m>
                <a:r>
                  <a:rPr lang="en-IN" dirty="0"/>
                  <a:t> are bits/symbol.</a:t>
                </a:r>
              </a:p>
              <a:p>
                <a:pPr algn="just"/>
                <a14:m>
                  <m:oMath xmlns:m="http://schemas.openxmlformats.org/officeDocument/2006/math">
                    <m:r>
                      <a:rPr lang="en-IN" b="0" i="1" smtClean="0">
                        <a:latin typeface="Cambria Math" panose="02040503050406030204" pitchFamily="18" charset="0"/>
                      </a:rPr>
                      <m:t>0≤</m:t>
                    </m:r>
                    <m:r>
                      <a:rPr lang="en-IN" b="0" i="1" smtClean="0">
                        <a:latin typeface="Cambria Math" panose="02040503050406030204" pitchFamily="18" charset="0"/>
                      </a:rPr>
                      <m:t>𝐻</m:t>
                    </m:r>
                    <m:d>
                      <m:dPr>
                        <m:ctrlPr>
                          <a:rPr lang="en-IN" b="0" i="1" smtClean="0">
                            <a:latin typeface="Cambria Math" panose="02040503050406030204" pitchFamily="18" charset="0"/>
                          </a:rPr>
                        </m:ctrlPr>
                      </m:dPr>
                      <m:e>
                        <m:r>
                          <a:rPr lang="en-IN" i="1">
                            <a:latin typeface="Cambria Math" panose="02040503050406030204" pitchFamily="18" charset="0"/>
                          </a:rPr>
                          <m:t>𝑃</m:t>
                        </m:r>
                      </m:e>
                    </m:d>
                    <m:r>
                      <a:rPr lang="en-IN" b="0" i="1" smtClean="0">
                        <a:latin typeface="Cambria Math" panose="02040503050406030204" pitchFamily="18" charset="0"/>
                      </a:rPr>
                      <m:t>≤</m:t>
                    </m:r>
                    <m:func>
                      <m:funcPr>
                        <m:ctrlPr>
                          <a:rPr lang="en-IN" b="0" i="1" smtClean="0">
                            <a:latin typeface="Cambria Math" panose="02040503050406030204" pitchFamily="18" charset="0"/>
                          </a:rPr>
                        </m:ctrlPr>
                      </m:funcPr>
                      <m:fName>
                        <m:r>
                          <m:rPr>
                            <m:sty m:val="p"/>
                          </m:rPr>
                          <a:rPr lang="en-IN" b="0" i="0" smtClean="0">
                            <a:latin typeface="Cambria Math" panose="02040503050406030204" pitchFamily="18" charset="0"/>
                          </a:rPr>
                          <m:t>log</m:t>
                        </m:r>
                      </m:fName>
                      <m:e>
                        <m:r>
                          <a:rPr lang="en-IN" b="0" i="1" smtClean="0">
                            <a:latin typeface="Cambria Math" panose="02040503050406030204" pitchFamily="18" charset="0"/>
                          </a:rPr>
                          <m:t>𝐾</m:t>
                        </m:r>
                      </m:e>
                    </m:func>
                  </m:oMath>
                </a14:m>
                <a:r>
                  <a:rPr lang="en-IN" b="0" dirty="0"/>
                  <a:t> (</a:t>
                </a:r>
                <a:r>
                  <a:rPr lang="en-IN" b="0" dirty="0">
                    <a:solidFill>
                      <a:srgbClr val="FF0000"/>
                    </a:solidFill>
                  </a:rPr>
                  <a:t>Prove This</a:t>
                </a:r>
                <a:r>
                  <a:rPr lang="en-IN" b="0" dirty="0"/>
                  <a:t>)</a:t>
                </a:r>
              </a:p>
              <a:p>
                <a:pPr algn="just"/>
                <a14:m>
                  <m:oMath xmlns:m="http://schemas.openxmlformats.org/officeDocument/2006/math">
                    <m:r>
                      <a:rPr lang="en-IN" i="1">
                        <a:latin typeface="Cambria Math" panose="02040503050406030204" pitchFamily="18" charset="0"/>
                      </a:rPr>
                      <m:t>𝐻</m:t>
                    </m:r>
                    <m:d>
                      <m:dPr>
                        <m:ctrlPr>
                          <a:rPr lang="en-IN" i="1">
                            <a:latin typeface="Cambria Math" panose="02040503050406030204" pitchFamily="18" charset="0"/>
                          </a:rPr>
                        </m:ctrlPr>
                      </m:dPr>
                      <m:e>
                        <m:r>
                          <a:rPr lang="en-IN" i="1">
                            <a:latin typeface="Cambria Math" panose="02040503050406030204" pitchFamily="18" charset="0"/>
                          </a:rPr>
                          <m:t>𝑃</m:t>
                        </m:r>
                      </m:e>
                    </m:d>
                    <m:r>
                      <a:rPr lang="en-IN" b="0" i="1" smtClean="0">
                        <a:latin typeface="Cambria Math" panose="02040503050406030204" pitchFamily="18" charset="0"/>
                      </a:rPr>
                      <m:t>=0⇔</m:t>
                    </m:r>
                    <m:r>
                      <a:rPr lang="en-IN" b="0" i="0" smtClean="0">
                        <a:latin typeface="Cambria Math" panose="02040503050406030204" pitchFamily="18" charset="0"/>
                      </a:rPr>
                      <m:t> </m:t>
                    </m:r>
                    <m:r>
                      <a:rPr lang="en-IN" b="0" i="1" smtClean="0">
                        <a:latin typeface="Cambria Math" panose="02040503050406030204" pitchFamily="18" charset="0"/>
                      </a:rPr>
                      <m:t>𝑝</m:t>
                    </m:r>
                    <m:d>
                      <m:dPr>
                        <m:ctrlPr>
                          <a:rPr lang="en-IN" b="0" i="1" smtClean="0">
                            <a:latin typeface="Cambria Math" panose="02040503050406030204" pitchFamily="18" charset="0"/>
                          </a:rPr>
                        </m:ctrlPr>
                      </m:dPr>
                      <m:e>
                        <m:sSub>
                          <m:sSubPr>
                            <m:ctrlPr>
                              <a:rPr lang="en-IN" b="0" i="1" smtClean="0">
                                <a:latin typeface="Cambria Math" panose="02040503050406030204" pitchFamily="18" charset="0"/>
                              </a:rPr>
                            </m:ctrlPr>
                          </m:sSubPr>
                          <m:e>
                            <m:r>
                              <a:rPr lang="en-IN" b="0" i="1" smtClean="0">
                                <a:latin typeface="Cambria Math" panose="02040503050406030204" pitchFamily="18" charset="0"/>
                              </a:rPr>
                              <m:t>𝑠</m:t>
                            </m:r>
                          </m:e>
                          <m:sub>
                            <m:r>
                              <a:rPr lang="en-IN" b="0" i="1" smtClean="0">
                                <a:latin typeface="Cambria Math" panose="02040503050406030204" pitchFamily="18" charset="0"/>
                              </a:rPr>
                              <m:t>𝑖</m:t>
                            </m:r>
                          </m:sub>
                        </m:sSub>
                      </m:e>
                    </m:d>
                    <m:r>
                      <a:rPr lang="en-IN" b="0" i="1" smtClean="0">
                        <a:latin typeface="Cambria Math" panose="02040503050406030204" pitchFamily="18" charset="0"/>
                      </a:rPr>
                      <m:t>=1</m:t>
                    </m:r>
                  </m:oMath>
                </a14:m>
                <a:r>
                  <a:rPr lang="en-IN" dirty="0"/>
                  <a:t> and </a:t>
                </a:r>
                <a14:m>
                  <m:oMath xmlns:m="http://schemas.openxmlformats.org/officeDocument/2006/math">
                    <m:r>
                      <a:rPr lang="en-IN" b="0" i="1" smtClean="0">
                        <a:latin typeface="Cambria Math" panose="02040503050406030204" pitchFamily="18" charset="0"/>
                      </a:rPr>
                      <m:t>∀</m:t>
                    </m:r>
                    <m:r>
                      <a:rPr lang="en-IN" b="0" i="1" smtClean="0">
                        <a:latin typeface="Cambria Math" panose="02040503050406030204" pitchFamily="18" charset="0"/>
                      </a:rPr>
                      <m:t>𝑗</m:t>
                    </m:r>
                    <m:r>
                      <a:rPr lang="en-IN" b="0" i="1" smtClean="0">
                        <a:latin typeface="Cambria Math" panose="02040503050406030204" pitchFamily="18" charset="0"/>
                      </a:rPr>
                      <m:t>≠</m:t>
                    </m:r>
                    <m:r>
                      <a:rPr lang="en-IN" b="0" i="1" smtClean="0">
                        <a:latin typeface="Cambria Math" panose="02040503050406030204" pitchFamily="18" charset="0"/>
                      </a:rPr>
                      <m:t>𝑖</m:t>
                    </m:r>
                  </m:oMath>
                </a14:m>
                <a:r>
                  <a:rPr lang="en-IN" dirty="0"/>
                  <a:t>, </a:t>
                </a:r>
                <a14:m>
                  <m:oMath xmlns:m="http://schemas.openxmlformats.org/officeDocument/2006/math">
                    <m:r>
                      <a:rPr lang="en-IN" i="1">
                        <a:latin typeface="Cambria Math" panose="02040503050406030204" pitchFamily="18" charset="0"/>
                      </a:rPr>
                      <m:t>𝑝</m:t>
                    </m:r>
                    <m:d>
                      <m:dPr>
                        <m:ctrlPr>
                          <a:rPr lang="en-IN" i="1">
                            <a:latin typeface="Cambria Math" panose="02040503050406030204" pitchFamily="18" charset="0"/>
                          </a:rPr>
                        </m:ctrlPr>
                      </m:dPr>
                      <m:e>
                        <m:sSub>
                          <m:sSubPr>
                            <m:ctrlPr>
                              <a:rPr lang="en-IN" i="1">
                                <a:latin typeface="Cambria Math" panose="02040503050406030204" pitchFamily="18" charset="0"/>
                              </a:rPr>
                            </m:ctrlPr>
                          </m:sSubPr>
                          <m:e>
                            <m:r>
                              <a:rPr lang="en-IN" i="1">
                                <a:latin typeface="Cambria Math" panose="02040503050406030204" pitchFamily="18" charset="0"/>
                              </a:rPr>
                              <m:t>𝑠</m:t>
                            </m:r>
                          </m:e>
                          <m:sub>
                            <m:r>
                              <a:rPr lang="en-IN" b="0" i="1" smtClean="0">
                                <a:latin typeface="Cambria Math" panose="02040503050406030204" pitchFamily="18" charset="0"/>
                              </a:rPr>
                              <m:t>𝑗</m:t>
                            </m:r>
                          </m:sub>
                        </m:sSub>
                      </m:e>
                    </m:d>
                    <m:r>
                      <a:rPr lang="en-IN" i="1">
                        <a:latin typeface="Cambria Math" panose="02040503050406030204" pitchFamily="18" charset="0"/>
                      </a:rPr>
                      <m:t>=</m:t>
                    </m:r>
                    <m:r>
                      <a:rPr lang="en-IN" b="0" i="1" smtClean="0">
                        <a:latin typeface="Cambria Math" panose="02040503050406030204" pitchFamily="18" charset="0"/>
                      </a:rPr>
                      <m:t>0</m:t>
                    </m:r>
                  </m:oMath>
                </a14:m>
                <a:r>
                  <a:rPr lang="en-IN" dirty="0"/>
                  <a:t> .</a:t>
                </a:r>
              </a:p>
              <a:p>
                <a:pPr algn="just"/>
                <a14:m>
                  <m:oMath xmlns:m="http://schemas.openxmlformats.org/officeDocument/2006/math">
                    <m:r>
                      <a:rPr lang="en-IN" i="1">
                        <a:latin typeface="Cambria Math" panose="02040503050406030204" pitchFamily="18" charset="0"/>
                      </a:rPr>
                      <m:t>𝐻</m:t>
                    </m:r>
                    <m:d>
                      <m:dPr>
                        <m:ctrlPr>
                          <a:rPr lang="en-IN" i="1">
                            <a:latin typeface="Cambria Math" panose="02040503050406030204" pitchFamily="18" charset="0"/>
                          </a:rPr>
                        </m:ctrlPr>
                      </m:dPr>
                      <m:e>
                        <m:r>
                          <a:rPr lang="en-IN" i="1">
                            <a:latin typeface="Cambria Math" panose="02040503050406030204" pitchFamily="18" charset="0"/>
                          </a:rPr>
                          <m:t>𝑃</m:t>
                        </m:r>
                      </m:e>
                    </m:d>
                    <m:r>
                      <a:rPr lang="en-IN" i="1">
                        <a:latin typeface="Cambria Math" panose="02040503050406030204" pitchFamily="18" charset="0"/>
                      </a:rPr>
                      <m:t>=</m:t>
                    </m:r>
                    <m:func>
                      <m:funcPr>
                        <m:ctrlPr>
                          <a:rPr lang="en-IN" b="0" i="1" smtClean="0">
                            <a:latin typeface="Cambria Math" panose="02040503050406030204" pitchFamily="18" charset="0"/>
                          </a:rPr>
                        </m:ctrlPr>
                      </m:funcPr>
                      <m:fName>
                        <m:sSub>
                          <m:sSubPr>
                            <m:ctrlPr>
                              <a:rPr lang="en-IN" b="0" i="1" smtClean="0">
                                <a:latin typeface="Cambria Math" panose="02040503050406030204" pitchFamily="18" charset="0"/>
                              </a:rPr>
                            </m:ctrlPr>
                          </m:sSubPr>
                          <m:e>
                            <m:r>
                              <m:rPr>
                                <m:sty m:val="p"/>
                              </m:rPr>
                              <a:rPr lang="en-IN" b="0" i="0" smtClean="0">
                                <a:latin typeface="Cambria Math" panose="02040503050406030204" pitchFamily="18" charset="0"/>
                              </a:rPr>
                              <m:t>log</m:t>
                            </m:r>
                          </m:e>
                          <m:sub>
                            <m:r>
                              <a:rPr lang="en-IN" b="0" i="1" smtClean="0">
                                <a:latin typeface="Cambria Math" panose="02040503050406030204" pitchFamily="18" charset="0"/>
                              </a:rPr>
                              <m:t>2</m:t>
                            </m:r>
                          </m:sub>
                        </m:sSub>
                      </m:fName>
                      <m:e>
                        <m:r>
                          <a:rPr lang="en-IN" b="0" i="1" smtClean="0">
                            <a:latin typeface="Cambria Math" panose="02040503050406030204" pitchFamily="18" charset="0"/>
                          </a:rPr>
                          <m:t>𝐾</m:t>
                        </m:r>
                      </m:e>
                    </m:func>
                    <m:r>
                      <a:rPr lang="en-IN" i="1">
                        <a:latin typeface="Cambria Math" panose="02040503050406030204" pitchFamily="18" charset="0"/>
                      </a:rPr>
                      <m:t>⇔</m:t>
                    </m:r>
                  </m:oMath>
                </a14:m>
                <a:r>
                  <a:rPr lang="en-IN" dirty="0"/>
                  <a:t> </a:t>
                </a:r>
                <a14:m>
                  <m:oMath xmlns:m="http://schemas.openxmlformats.org/officeDocument/2006/math">
                    <m:r>
                      <a:rPr lang="en-IN" b="0" i="1" dirty="0" smtClean="0">
                        <a:latin typeface="Cambria Math" panose="02040503050406030204" pitchFamily="18" charset="0"/>
                      </a:rPr>
                      <m:t>∀</m:t>
                    </m:r>
                    <m:r>
                      <a:rPr lang="en-IN" b="0" i="1" dirty="0" smtClean="0">
                        <a:latin typeface="Cambria Math" panose="02040503050406030204" pitchFamily="18" charset="0"/>
                      </a:rPr>
                      <m:t>𝑖</m:t>
                    </m:r>
                    <m:r>
                      <a:rPr lang="en-IN" b="0" i="1" dirty="0" smtClean="0">
                        <a:latin typeface="Cambria Math" panose="02040503050406030204" pitchFamily="18" charset="0"/>
                      </a:rPr>
                      <m:t>,  </m:t>
                    </m:r>
                    <m:r>
                      <a:rPr lang="en-IN" b="0" i="1" dirty="0" smtClean="0">
                        <a:latin typeface="Cambria Math" panose="02040503050406030204" pitchFamily="18" charset="0"/>
                      </a:rPr>
                      <m:t>𝑝</m:t>
                    </m:r>
                    <m:d>
                      <m:dPr>
                        <m:ctrlPr>
                          <a:rPr lang="en-IN" b="0" i="1" dirty="0" smtClean="0">
                            <a:latin typeface="Cambria Math" panose="02040503050406030204" pitchFamily="18" charset="0"/>
                          </a:rPr>
                        </m:ctrlPr>
                      </m:dPr>
                      <m:e>
                        <m:sSub>
                          <m:sSubPr>
                            <m:ctrlPr>
                              <a:rPr lang="en-IN" b="0" i="1" dirty="0" smtClean="0">
                                <a:latin typeface="Cambria Math" panose="02040503050406030204" pitchFamily="18" charset="0"/>
                              </a:rPr>
                            </m:ctrlPr>
                          </m:sSubPr>
                          <m:e>
                            <m:r>
                              <a:rPr lang="en-IN" b="0" i="1" dirty="0" smtClean="0">
                                <a:latin typeface="Cambria Math" panose="02040503050406030204" pitchFamily="18" charset="0"/>
                              </a:rPr>
                              <m:t>𝑠</m:t>
                            </m:r>
                          </m:e>
                          <m:sub>
                            <m:r>
                              <a:rPr lang="en-IN" b="0" i="1" dirty="0" smtClean="0">
                                <a:latin typeface="Cambria Math" panose="02040503050406030204" pitchFamily="18" charset="0"/>
                              </a:rPr>
                              <m:t>𝑖</m:t>
                            </m:r>
                          </m:sub>
                        </m:sSub>
                      </m:e>
                    </m:d>
                    <m:r>
                      <a:rPr lang="en-IN" b="0" i="1" dirty="0" smtClean="0">
                        <a:latin typeface="Cambria Math" panose="02040503050406030204" pitchFamily="18" charset="0"/>
                      </a:rPr>
                      <m:t>=</m:t>
                    </m:r>
                    <m:f>
                      <m:fPr>
                        <m:ctrlPr>
                          <a:rPr lang="en-IN" b="0" i="1" dirty="0" smtClean="0">
                            <a:latin typeface="Cambria Math" panose="02040503050406030204" pitchFamily="18" charset="0"/>
                          </a:rPr>
                        </m:ctrlPr>
                      </m:fPr>
                      <m:num>
                        <m:r>
                          <a:rPr lang="en-IN" b="0" i="1" dirty="0" smtClean="0">
                            <a:latin typeface="Cambria Math" panose="02040503050406030204" pitchFamily="18" charset="0"/>
                          </a:rPr>
                          <m:t>1</m:t>
                        </m:r>
                      </m:num>
                      <m:den>
                        <m:r>
                          <a:rPr lang="en-IN" b="0" i="1" dirty="0" smtClean="0">
                            <a:latin typeface="Cambria Math" panose="02040503050406030204" pitchFamily="18" charset="0"/>
                          </a:rPr>
                          <m:t>𝐾</m:t>
                        </m:r>
                      </m:den>
                    </m:f>
                  </m:oMath>
                </a14:m>
                <a:endParaRPr lang="en-IN" dirty="0"/>
              </a:p>
            </p:txBody>
          </p:sp>
        </mc:Choice>
        <mc:Fallback xmlns="">
          <p:sp>
            <p:nvSpPr>
              <p:cNvPr id="3" name="Content Placeholder 2">
                <a:extLst>
                  <a:ext uri="{FF2B5EF4-FFF2-40B4-BE49-F238E27FC236}">
                    <a16:creationId xmlns:a16="http://schemas.microsoft.com/office/drawing/2014/main" id="{05BF2A22-7AE8-4BF8-AB40-0799DA5D81CB}"/>
                  </a:ext>
                </a:extLst>
              </p:cNvPr>
              <p:cNvSpPr>
                <a:spLocks noGrp="1" noRot="1" noChangeAspect="1" noMove="1" noResize="1" noEditPoints="1" noAdjustHandles="1" noChangeArrowheads="1" noChangeShapeType="1" noTextEdit="1"/>
              </p:cNvSpPr>
              <p:nvPr>
                <p:ph idx="1"/>
              </p:nvPr>
            </p:nvSpPr>
            <p:spPr>
              <a:xfrm>
                <a:off x="838200" y="1350889"/>
                <a:ext cx="10515600" cy="5060544"/>
              </a:xfrm>
              <a:blipFill>
                <a:blip r:embed="rId2"/>
                <a:stretch>
                  <a:fillRect l="-522" t="-723" r="-464"/>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3380605D-EC27-4C7A-9268-755D06703E0C}"/>
                  </a:ext>
                </a:extLst>
              </p:cNvPr>
              <p:cNvSpPr txBox="1"/>
              <p:nvPr/>
            </p:nvSpPr>
            <p:spPr>
              <a:xfrm>
                <a:off x="1275907" y="6411433"/>
                <a:ext cx="5199321" cy="369332"/>
              </a:xfrm>
              <a:prstGeom prst="rect">
                <a:avLst/>
              </a:prstGeom>
              <a:noFill/>
            </p:spPr>
            <p:txBody>
              <a:bodyPr wrap="square" rtlCol="0">
                <a:spAutoFit/>
              </a:bodyPr>
              <a:lstStyle/>
              <a:p>
                <a:r>
                  <a:rPr lang="en-IN" b="0" dirty="0"/>
                  <a:t>Note: </a:t>
                </a:r>
                <a14:m>
                  <m:oMath xmlns:m="http://schemas.openxmlformats.org/officeDocument/2006/math">
                    <m:r>
                      <a:rPr lang="en-IN" b="0" i="1" smtClean="0">
                        <a:latin typeface="Cambria Math" panose="02040503050406030204" pitchFamily="18" charset="0"/>
                      </a:rPr>
                      <m:t>⇔</m:t>
                    </m:r>
                  </m:oMath>
                </a14:m>
                <a:r>
                  <a:rPr lang="en-IN" dirty="0"/>
                  <a:t> indicates if and only if</a:t>
                </a:r>
              </a:p>
            </p:txBody>
          </p:sp>
        </mc:Choice>
        <mc:Fallback xmlns="">
          <p:sp>
            <p:nvSpPr>
              <p:cNvPr id="4" name="TextBox 3">
                <a:extLst>
                  <a:ext uri="{FF2B5EF4-FFF2-40B4-BE49-F238E27FC236}">
                    <a16:creationId xmlns:a16="http://schemas.microsoft.com/office/drawing/2014/main" id="{3380605D-EC27-4C7A-9268-755D06703E0C}"/>
                  </a:ext>
                </a:extLst>
              </p:cNvPr>
              <p:cNvSpPr txBox="1">
                <a:spLocks noRot="1" noChangeAspect="1" noMove="1" noResize="1" noEditPoints="1" noAdjustHandles="1" noChangeArrowheads="1" noChangeShapeType="1" noTextEdit="1"/>
              </p:cNvSpPr>
              <p:nvPr/>
            </p:nvSpPr>
            <p:spPr>
              <a:xfrm>
                <a:off x="1275907" y="6411433"/>
                <a:ext cx="5199321" cy="369332"/>
              </a:xfrm>
              <a:prstGeom prst="rect">
                <a:avLst/>
              </a:prstGeom>
              <a:blipFill>
                <a:blip r:embed="rId3"/>
                <a:stretch>
                  <a:fillRect l="-938" t="-10000" b="-26667"/>
                </a:stretch>
              </a:blipFill>
            </p:spPr>
            <p:txBody>
              <a:bodyPr/>
              <a:lstStyle/>
              <a:p>
                <a:r>
                  <a:rPr lang="en-IN">
                    <a:noFill/>
                  </a:rPr>
                  <a:t> </a:t>
                </a:r>
              </a:p>
            </p:txBody>
          </p:sp>
        </mc:Fallback>
      </mc:AlternateContent>
    </p:spTree>
    <p:extLst>
      <p:ext uri="{BB962C8B-B14F-4D97-AF65-F5344CB8AC3E}">
        <p14:creationId xmlns:p14="http://schemas.microsoft.com/office/powerpoint/2010/main" val="32275147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94F3E-9DAC-412B-AFCF-1703A4477075}"/>
              </a:ext>
            </a:extLst>
          </p:cNvPr>
          <p:cNvSpPr>
            <a:spLocks noGrp="1"/>
          </p:cNvSpPr>
          <p:nvPr>
            <p:ph type="title"/>
          </p:nvPr>
        </p:nvSpPr>
        <p:spPr>
          <a:xfrm>
            <a:off x="838200" y="1"/>
            <a:ext cx="10515600" cy="1052622"/>
          </a:xfrm>
        </p:spPr>
        <p:txBody>
          <a:bodyPr/>
          <a:lstStyle/>
          <a:p>
            <a:r>
              <a:rPr lang="en-IN" dirty="0"/>
              <a:t>Entropy of BMS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02DFDD7-EB8F-409E-8F57-5F2A02FA83F8}"/>
                  </a:ext>
                </a:extLst>
              </p:cNvPr>
              <p:cNvSpPr>
                <a:spLocks noGrp="1"/>
              </p:cNvSpPr>
              <p:nvPr>
                <p:ph idx="1"/>
              </p:nvPr>
            </p:nvSpPr>
            <p:spPr>
              <a:xfrm>
                <a:off x="838200" y="1430574"/>
                <a:ext cx="10515600" cy="5805377"/>
              </a:xfrm>
            </p:spPr>
            <p:txBody>
              <a:bodyPr>
                <a:normAutofit/>
              </a:bodyPr>
              <a:lstStyle/>
              <a:p>
                <a:pPr algn="just"/>
                <a:r>
                  <a:rPr lang="en-IN" dirty="0"/>
                  <a:t>Let </a:t>
                </a:r>
                <a14:m>
                  <m:oMath xmlns:m="http://schemas.openxmlformats.org/officeDocument/2006/math">
                    <m:r>
                      <a:rPr lang="en-IN" b="0" i="1" smtClean="0">
                        <a:latin typeface="Cambria Math" panose="02040503050406030204" pitchFamily="18" charset="0"/>
                      </a:rPr>
                      <m:t>𝒮</m:t>
                    </m:r>
                    <m:r>
                      <a:rPr lang="en-IN" b="0" i="1" smtClean="0">
                        <a:latin typeface="Cambria Math" panose="02040503050406030204" pitchFamily="18" charset="0"/>
                      </a:rPr>
                      <m:t>={0,1}</m:t>
                    </m:r>
                  </m:oMath>
                </a14:m>
                <a:r>
                  <a:rPr lang="en-IN" dirty="0"/>
                  <a:t> be the BMS with probability distribution function as </a:t>
                </a:r>
                <a14:m>
                  <m:oMath xmlns:m="http://schemas.openxmlformats.org/officeDocument/2006/math">
                    <m:r>
                      <a:rPr lang="en-IN" b="0" i="1" smtClean="0">
                        <a:latin typeface="Cambria Math" panose="02040503050406030204" pitchFamily="18" charset="0"/>
                      </a:rPr>
                      <m:t>𝑃</m:t>
                    </m:r>
                    <m:r>
                      <a:rPr lang="en-IN" b="0" i="1" smtClean="0">
                        <a:latin typeface="Cambria Math" panose="02040503050406030204" pitchFamily="18" charset="0"/>
                      </a:rPr>
                      <m:t>={</m:t>
                    </m:r>
                    <m:r>
                      <a:rPr lang="en-IN" b="0" i="1" smtClean="0">
                        <a:latin typeface="Cambria Math" panose="02040503050406030204" pitchFamily="18" charset="0"/>
                      </a:rPr>
                      <m:t>𝑝</m:t>
                    </m:r>
                    <m:r>
                      <a:rPr lang="en-IN" b="0" i="1" smtClean="0">
                        <a:latin typeface="Cambria Math" panose="02040503050406030204" pitchFamily="18" charset="0"/>
                      </a:rPr>
                      <m:t>,1−</m:t>
                    </m:r>
                    <m:r>
                      <a:rPr lang="en-IN" b="0" i="1" smtClean="0">
                        <a:latin typeface="Cambria Math" panose="02040503050406030204" pitchFamily="18" charset="0"/>
                      </a:rPr>
                      <m:t>𝑝</m:t>
                    </m:r>
                    <m:r>
                      <a:rPr lang="en-IN" b="0" i="1" smtClean="0">
                        <a:latin typeface="Cambria Math" panose="02040503050406030204" pitchFamily="18" charset="0"/>
                      </a:rPr>
                      <m:t>}</m:t>
                    </m:r>
                  </m:oMath>
                </a14:m>
                <a:r>
                  <a:rPr lang="en-IN" dirty="0"/>
                  <a:t>. Then the entropy of BMS is:</a:t>
                </a:r>
              </a:p>
              <a:p>
                <a:pPr marL="0" indent="0">
                  <a:buNone/>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𝐻</m:t>
                      </m:r>
                      <m:d>
                        <m:dPr>
                          <m:ctrlPr>
                            <a:rPr lang="en-IN" i="1">
                              <a:latin typeface="Cambria Math" panose="02040503050406030204" pitchFamily="18" charset="0"/>
                            </a:rPr>
                          </m:ctrlPr>
                        </m:dPr>
                        <m:e>
                          <m:r>
                            <a:rPr lang="en-IN" i="1">
                              <a:latin typeface="Cambria Math" panose="02040503050406030204" pitchFamily="18" charset="0"/>
                            </a:rPr>
                            <m:t>𝑃</m:t>
                          </m:r>
                        </m:e>
                      </m:d>
                      <m:r>
                        <a:rPr lang="en-IN" b="0" i="1" smtClean="0">
                          <a:latin typeface="Cambria Math" panose="02040503050406030204" pitchFamily="18" charset="0"/>
                        </a:rPr>
                        <m:t>=−</m:t>
                      </m:r>
                      <m:r>
                        <a:rPr lang="en-IN" b="0" i="1" smtClean="0">
                          <a:latin typeface="Cambria Math" panose="02040503050406030204" pitchFamily="18" charset="0"/>
                        </a:rPr>
                        <m:t>𝑝</m:t>
                      </m:r>
                      <m:func>
                        <m:funcPr>
                          <m:ctrlPr>
                            <a:rPr lang="en-IN" b="0" i="1" smtClean="0">
                              <a:latin typeface="Cambria Math" panose="02040503050406030204" pitchFamily="18" charset="0"/>
                            </a:rPr>
                          </m:ctrlPr>
                        </m:funcPr>
                        <m:fName>
                          <m:r>
                            <m:rPr>
                              <m:sty m:val="p"/>
                            </m:rPr>
                            <a:rPr lang="en-IN" b="0" i="0" smtClean="0">
                              <a:latin typeface="Cambria Math" panose="02040503050406030204" pitchFamily="18" charset="0"/>
                            </a:rPr>
                            <m:t>log</m:t>
                          </m:r>
                        </m:fName>
                        <m:e>
                          <m:r>
                            <a:rPr lang="en-IN" b="0" i="1" smtClean="0">
                              <a:latin typeface="Cambria Math" panose="02040503050406030204" pitchFamily="18" charset="0"/>
                            </a:rPr>
                            <m:t>𝑝</m:t>
                          </m:r>
                        </m:e>
                      </m:func>
                      <m:r>
                        <a:rPr lang="en-IN" b="0" i="1" smtClean="0">
                          <a:latin typeface="Cambria Math" panose="02040503050406030204" pitchFamily="18" charset="0"/>
                        </a:rPr>
                        <m:t>−</m:t>
                      </m:r>
                      <m:d>
                        <m:dPr>
                          <m:ctrlPr>
                            <a:rPr lang="en-IN" b="0" i="1" smtClean="0">
                              <a:latin typeface="Cambria Math" panose="02040503050406030204" pitchFamily="18" charset="0"/>
                            </a:rPr>
                          </m:ctrlPr>
                        </m:dPr>
                        <m:e>
                          <m:r>
                            <a:rPr lang="en-IN" b="0" i="1" smtClean="0">
                              <a:latin typeface="Cambria Math" panose="02040503050406030204" pitchFamily="18" charset="0"/>
                            </a:rPr>
                            <m:t>1−</m:t>
                          </m:r>
                          <m:r>
                            <a:rPr lang="en-IN" b="0" i="1" smtClean="0">
                              <a:latin typeface="Cambria Math" panose="02040503050406030204" pitchFamily="18" charset="0"/>
                            </a:rPr>
                            <m:t>𝑝</m:t>
                          </m:r>
                        </m:e>
                      </m:d>
                      <m:func>
                        <m:funcPr>
                          <m:ctrlPr>
                            <a:rPr lang="en-IN" b="0" i="1" smtClean="0">
                              <a:latin typeface="Cambria Math" panose="02040503050406030204" pitchFamily="18" charset="0"/>
                            </a:rPr>
                          </m:ctrlPr>
                        </m:funcPr>
                        <m:fName>
                          <m:r>
                            <m:rPr>
                              <m:sty m:val="p"/>
                            </m:rPr>
                            <a:rPr lang="en-IN" b="0" i="0" smtClean="0">
                              <a:latin typeface="Cambria Math" panose="02040503050406030204" pitchFamily="18" charset="0"/>
                            </a:rPr>
                            <m:t>log</m:t>
                          </m:r>
                        </m:fName>
                        <m:e>
                          <m:d>
                            <m:dPr>
                              <m:ctrlPr>
                                <a:rPr lang="en-IN" b="0" i="1" smtClean="0">
                                  <a:latin typeface="Cambria Math" panose="02040503050406030204" pitchFamily="18" charset="0"/>
                                </a:rPr>
                              </m:ctrlPr>
                            </m:dPr>
                            <m:e>
                              <m:r>
                                <a:rPr lang="en-IN" b="0" i="1" smtClean="0">
                                  <a:latin typeface="Cambria Math" panose="02040503050406030204" pitchFamily="18" charset="0"/>
                                </a:rPr>
                                <m:t>1−</m:t>
                              </m:r>
                              <m:r>
                                <a:rPr lang="en-IN" b="0" i="1" smtClean="0">
                                  <a:latin typeface="Cambria Math" panose="02040503050406030204" pitchFamily="18" charset="0"/>
                                </a:rPr>
                                <m:t>𝑝</m:t>
                              </m:r>
                            </m:e>
                          </m:d>
                        </m:e>
                      </m:func>
                    </m:oMath>
                  </m:oMathPara>
                </a14:m>
                <a:endParaRPr lang="en-IN" b="0" dirty="0"/>
              </a:p>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lgn="ctr">
                  <a:buNone/>
                </a:pPr>
                <a:endParaRPr lang="en-IN" dirty="0"/>
              </a:p>
              <a:p>
                <a:pPr marL="0" indent="0" algn="ctr">
                  <a:buNone/>
                </a:pPr>
                <a:r>
                  <a:rPr lang="en-IN" dirty="0"/>
                  <a:t> </a:t>
                </a:r>
                <a14:m>
                  <m:oMath xmlns:m="http://schemas.openxmlformats.org/officeDocument/2006/math">
                    <m:r>
                      <a:rPr lang="en-IN" sz="1700" b="0" i="1" smtClean="0">
                        <a:latin typeface="Cambria Math" panose="02040503050406030204" pitchFamily="18" charset="0"/>
                      </a:rPr>
                      <m:t>𝐻</m:t>
                    </m:r>
                    <m:d>
                      <m:dPr>
                        <m:ctrlPr>
                          <a:rPr lang="en-IN" sz="1700" b="0" i="1" smtClean="0">
                            <a:latin typeface="Cambria Math" panose="02040503050406030204" pitchFamily="18" charset="0"/>
                          </a:rPr>
                        </m:ctrlPr>
                      </m:dPr>
                      <m:e>
                        <m:r>
                          <a:rPr lang="en-IN" sz="1700" b="0" i="1" smtClean="0">
                            <a:latin typeface="Cambria Math" panose="02040503050406030204" pitchFamily="18" charset="0"/>
                          </a:rPr>
                          <m:t>𝑃</m:t>
                        </m:r>
                      </m:e>
                    </m:d>
                  </m:oMath>
                </a14:m>
                <a:r>
                  <a:rPr lang="en-IN" sz="1700" b="0" i="0" dirty="0">
                    <a:latin typeface="+mj-lt"/>
                  </a:rPr>
                  <a:t>vs</a:t>
                </a:r>
                <a14:m>
                  <m:oMath xmlns:m="http://schemas.openxmlformats.org/officeDocument/2006/math">
                    <m:r>
                      <a:rPr lang="en-IN" sz="1700" b="0" i="1" smtClean="0">
                        <a:latin typeface="Cambria Math" panose="02040503050406030204" pitchFamily="18" charset="0"/>
                      </a:rPr>
                      <m:t> </m:t>
                    </m:r>
                    <m:r>
                      <a:rPr lang="en-IN" sz="1700" b="0" i="1" smtClean="0">
                        <a:latin typeface="Cambria Math" panose="02040503050406030204" pitchFamily="18" charset="0"/>
                      </a:rPr>
                      <m:t>𝑝</m:t>
                    </m:r>
                  </m:oMath>
                </a14:m>
                <a:endParaRPr lang="en-IN" sz="1700" dirty="0"/>
              </a:p>
              <a:p>
                <a:pPr marL="0" indent="0" algn="ctr">
                  <a:buNone/>
                </a:pPr>
                <a:endParaRPr lang="en-IN" sz="1700" dirty="0"/>
              </a:p>
            </p:txBody>
          </p:sp>
        </mc:Choice>
        <mc:Fallback xmlns="">
          <p:sp>
            <p:nvSpPr>
              <p:cNvPr id="3" name="Content Placeholder 2">
                <a:extLst>
                  <a:ext uri="{FF2B5EF4-FFF2-40B4-BE49-F238E27FC236}">
                    <a16:creationId xmlns:a16="http://schemas.microsoft.com/office/drawing/2014/main" id="{802DFDD7-EB8F-409E-8F57-5F2A02FA83F8}"/>
                  </a:ext>
                </a:extLst>
              </p:cNvPr>
              <p:cNvSpPr>
                <a:spLocks noGrp="1" noRot="1" noChangeAspect="1" noMove="1" noResize="1" noEditPoints="1" noAdjustHandles="1" noChangeArrowheads="1" noChangeShapeType="1" noTextEdit="1"/>
              </p:cNvSpPr>
              <p:nvPr>
                <p:ph idx="1"/>
              </p:nvPr>
            </p:nvSpPr>
            <p:spPr>
              <a:xfrm>
                <a:off x="838200" y="1430574"/>
                <a:ext cx="10515600" cy="5805377"/>
              </a:xfrm>
              <a:blipFill>
                <a:blip r:embed="rId2"/>
                <a:stretch>
                  <a:fillRect l="-406" t="-630" r="-464"/>
                </a:stretch>
              </a:blipFill>
            </p:spPr>
            <p:txBody>
              <a:bodyPr/>
              <a:lstStyle/>
              <a:p>
                <a:r>
                  <a:rPr lang="en-IN">
                    <a:noFill/>
                  </a:rPr>
                  <a:t> </a:t>
                </a:r>
              </a:p>
            </p:txBody>
          </p:sp>
        </mc:Fallback>
      </mc:AlternateContent>
      <p:pic>
        <p:nvPicPr>
          <p:cNvPr id="4" name="Picture 3">
            <a:extLst>
              <a:ext uri="{FF2B5EF4-FFF2-40B4-BE49-F238E27FC236}">
                <a16:creationId xmlns:a16="http://schemas.microsoft.com/office/drawing/2014/main" id="{BD28382C-F1A8-44BF-BCF9-0AE53B010EFB}"/>
              </a:ext>
            </a:extLst>
          </p:cNvPr>
          <p:cNvPicPr>
            <a:picLocks noChangeAspect="1"/>
          </p:cNvPicPr>
          <p:nvPr/>
        </p:nvPicPr>
        <p:blipFill>
          <a:blip r:embed="rId3"/>
          <a:stretch>
            <a:fillRect/>
          </a:stretch>
        </p:blipFill>
        <p:spPr>
          <a:xfrm>
            <a:off x="3830290" y="2286422"/>
            <a:ext cx="5296105" cy="3787881"/>
          </a:xfrm>
          <a:prstGeom prst="rect">
            <a:avLst/>
          </a:prstGeom>
        </p:spPr>
      </p:pic>
      <p:sp>
        <p:nvSpPr>
          <p:cNvPr id="6" name="TextBox 5">
            <a:extLst>
              <a:ext uri="{FF2B5EF4-FFF2-40B4-BE49-F238E27FC236}">
                <a16:creationId xmlns:a16="http://schemas.microsoft.com/office/drawing/2014/main" id="{08825386-CB2D-4852-A3AB-9AAB9FF3EAEF}"/>
              </a:ext>
            </a:extLst>
          </p:cNvPr>
          <p:cNvSpPr txBox="1"/>
          <p:nvPr/>
        </p:nvSpPr>
        <p:spPr>
          <a:xfrm>
            <a:off x="8912902" y="5104807"/>
            <a:ext cx="3279098" cy="646331"/>
          </a:xfrm>
          <a:prstGeom prst="rect">
            <a:avLst/>
          </a:prstGeom>
          <a:noFill/>
        </p:spPr>
        <p:txBody>
          <a:bodyPr wrap="square">
            <a:spAutoFit/>
          </a:bodyPr>
          <a:lstStyle/>
          <a:p>
            <a:pPr marL="0" indent="0">
              <a:buNone/>
            </a:pPr>
            <a:r>
              <a:rPr lang="en-IN" b="0" dirty="0"/>
              <a:t>(</a:t>
            </a:r>
            <a:r>
              <a:rPr lang="en-IN" b="0" dirty="0">
                <a:solidFill>
                  <a:srgbClr val="FF0000"/>
                </a:solidFill>
              </a:rPr>
              <a:t>Make a MATLAB program to prove this curve</a:t>
            </a:r>
            <a:r>
              <a:rPr lang="en-IN" b="0" dirty="0"/>
              <a:t>)</a:t>
            </a:r>
          </a:p>
        </p:txBody>
      </p:sp>
    </p:spTree>
    <p:extLst>
      <p:ext uri="{BB962C8B-B14F-4D97-AF65-F5344CB8AC3E}">
        <p14:creationId xmlns:p14="http://schemas.microsoft.com/office/powerpoint/2010/main" val="18415661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8A7E3E-6A23-4608-AA31-41FE015614B2}"/>
              </a:ext>
            </a:extLst>
          </p:cNvPr>
          <p:cNvSpPr>
            <a:spLocks noGrp="1"/>
          </p:cNvSpPr>
          <p:nvPr>
            <p:ph type="title"/>
          </p:nvPr>
        </p:nvSpPr>
        <p:spPr>
          <a:xfrm>
            <a:off x="838200" y="1"/>
            <a:ext cx="10515600" cy="1010092"/>
          </a:xfrm>
        </p:spPr>
        <p:txBody>
          <a:bodyPr/>
          <a:lstStyle/>
          <a:p>
            <a:r>
              <a:rPr lang="en-IN" dirty="0"/>
              <a:t>Information Rate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CF99291-8EC1-4485-8847-70439B922FD7}"/>
                  </a:ext>
                </a:extLst>
              </p:cNvPr>
              <p:cNvSpPr>
                <a:spLocks noGrp="1"/>
              </p:cNvSpPr>
              <p:nvPr>
                <p:ph idx="1"/>
              </p:nvPr>
            </p:nvSpPr>
            <p:spPr>
              <a:xfrm>
                <a:off x="922090" y="1539672"/>
                <a:ext cx="10515600" cy="5241298"/>
              </a:xfrm>
            </p:spPr>
            <p:txBody>
              <a:bodyPr/>
              <a:lstStyle/>
              <a:p>
                <a:pPr algn="just"/>
                <a:r>
                  <a:rPr lang="en-IN" dirty="0"/>
                  <a:t>If the time rate at which </a:t>
                </a:r>
                <a14:m>
                  <m:oMath xmlns:m="http://schemas.openxmlformats.org/officeDocument/2006/math">
                    <m:r>
                      <a:rPr lang="en-IN" b="0" i="1" smtClean="0">
                        <a:latin typeface="Cambria Math" panose="02040503050406030204" pitchFamily="18" charset="0"/>
                      </a:rPr>
                      <m:t>𝒮</m:t>
                    </m:r>
                  </m:oMath>
                </a14:m>
                <a:r>
                  <a:rPr lang="en-IN" dirty="0"/>
                  <a:t> emits symbols is </a:t>
                </a:r>
                <a14:m>
                  <m:oMath xmlns:m="http://schemas.openxmlformats.org/officeDocument/2006/math">
                    <m:r>
                      <a:rPr lang="en-IN" b="0" i="1" smtClean="0">
                        <a:latin typeface="Cambria Math" panose="02040503050406030204" pitchFamily="18" charset="0"/>
                      </a:rPr>
                      <m:t>𝑟</m:t>
                    </m:r>
                  </m:oMath>
                </a14:m>
                <a:r>
                  <a:rPr lang="en-IN" dirty="0"/>
                  <a:t> (symbols/sec), then the information rate </a:t>
                </a:r>
                <a14:m>
                  <m:oMath xmlns:m="http://schemas.openxmlformats.org/officeDocument/2006/math">
                    <m:r>
                      <a:rPr lang="en-IN" b="0" i="1" smtClean="0">
                        <a:latin typeface="Cambria Math" panose="02040503050406030204" pitchFamily="18" charset="0"/>
                      </a:rPr>
                      <m:t>𝑅</m:t>
                    </m:r>
                  </m:oMath>
                </a14:m>
                <a:r>
                  <a:rPr lang="en-IN" dirty="0"/>
                  <a:t> of the source is given by </a:t>
                </a:r>
              </a:p>
              <a:p>
                <a:pPr marL="0" indent="0" algn="ctr">
                  <a:buNone/>
                </a:pPr>
                <a14:m>
                  <m:oMath xmlns:m="http://schemas.openxmlformats.org/officeDocument/2006/math">
                    <m:r>
                      <a:rPr lang="en-IN" b="0" i="1" smtClean="0">
                        <a:latin typeface="Cambria Math" panose="02040503050406030204" pitchFamily="18" charset="0"/>
                      </a:rPr>
                      <m:t>𝑅</m:t>
                    </m:r>
                    <m:r>
                      <a:rPr lang="en-IN" b="0" i="1" smtClean="0">
                        <a:latin typeface="Cambria Math" panose="02040503050406030204" pitchFamily="18" charset="0"/>
                      </a:rPr>
                      <m:t>=</m:t>
                    </m:r>
                    <m:r>
                      <a:rPr lang="en-IN" b="0" i="1" smtClean="0">
                        <a:latin typeface="Cambria Math" panose="02040503050406030204" pitchFamily="18" charset="0"/>
                      </a:rPr>
                      <m:t>𝑟𝐻</m:t>
                    </m:r>
                    <m:r>
                      <a:rPr lang="en-IN" b="0" i="1" smtClean="0">
                        <a:latin typeface="Cambria Math" panose="02040503050406030204" pitchFamily="18" charset="0"/>
                      </a:rPr>
                      <m:t>(</m:t>
                    </m:r>
                    <m:r>
                      <a:rPr lang="en-IN" i="1">
                        <a:latin typeface="Cambria Math" panose="02040503050406030204" pitchFamily="18" charset="0"/>
                      </a:rPr>
                      <m:t>𝑃</m:t>
                    </m:r>
                    <m:r>
                      <a:rPr lang="en-IN" b="0" i="1" smtClean="0">
                        <a:latin typeface="Cambria Math" panose="02040503050406030204" pitchFamily="18" charset="0"/>
                      </a:rPr>
                      <m:t>)</m:t>
                    </m:r>
                  </m:oMath>
                </a14:m>
                <a:r>
                  <a:rPr lang="en-IN" dirty="0"/>
                  <a:t> bits/second</a:t>
                </a:r>
              </a:p>
              <a:p>
                <a:pPr marL="0" indent="0">
                  <a:buNone/>
                </a:pPr>
                <a:r>
                  <a:rPr lang="en-IN" dirty="0"/>
                  <a:t>H(P) is entropy or average information. </a:t>
                </a:r>
              </a:p>
              <a:p>
                <a:pPr marL="0" indent="0">
                  <a:buNone/>
                </a:pPr>
                <a:r>
                  <a:rPr lang="en-IN" dirty="0"/>
                  <a:t>r is rate at symbols are generated.</a:t>
                </a:r>
              </a:p>
              <a:p>
                <a:pPr marL="0" indent="0">
                  <a:buNone/>
                </a:pPr>
                <a:endParaRPr lang="en-IN" dirty="0"/>
              </a:p>
            </p:txBody>
          </p:sp>
        </mc:Choice>
        <mc:Fallback xmlns="">
          <p:sp>
            <p:nvSpPr>
              <p:cNvPr id="3" name="Content Placeholder 2">
                <a:extLst>
                  <a:ext uri="{FF2B5EF4-FFF2-40B4-BE49-F238E27FC236}">
                    <a16:creationId xmlns:a16="http://schemas.microsoft.com/office/drawing/2014/main" id="{7CF99291-8EC1-4485-8847-70439B922FD7}"/>
                  </a:ext>
                </a:extLst>
              </p:cNvPr>
              <p:cNvSpPr>
                <a:spLocks noGrp="1" noRot="1" noChangeAspect="1" noMove="1" noResize="1" noEditPoints="1" noAdjustHandles="1" noChangeArrowheads="1" noChangeShapeType="1" noTextEdit="1"/>
              </p:cNvSpPr>
              <p:nvPr>
                <p:ph idx="1"/>
              </p:nvPr>
            </p:nvSpPr>
            <p:spPr>
              <a:xfrm>
                <a:off x="922090" y="1539672"/>
                <a:ext cx="10515600" cy="5241298"/>
              </a:xfrm>
              <a:blipFill>
                <a:blip r:embed="rId2"/>
                <a:stretch>
                  <a:fillRect l="-464" t="-698" r="-522"/>
                </a:stretch>
              </a:blipFill>
            </p:spPr>
            <p:txBody>
              <a:bodyPr/>
              <a:lstStyle/>
              <a:p>
                <a:r>
                  <a:rPr lang="en-IN">
                    <a:noFill/>
                  </a:rPr>
                  <a:t> </a:t>
                </a:r>
              </a:p>
            </p:txBody>
          </p:sp>
        </mc:Fallback>
      </mc:AlternateContent>
    </p:spTree>
    <p:extLst>
      <p:ext uri="{BB962C8B-B14F-4D97-AF65-F5344CB8AC3E}">
        <p14:creationId xmlns:p14="http://schemas.microsoft.com/office/powerpoint/2010/main" val="32951669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2B71E3-4416-4008-BFC8-6C289F1491AB}"/>
              </a:ext>
            </a:extLst>
          </p:cNvPr>
          <p:cNvSpPr>
            <a:spLocks noGrp="1"/>
          </p:cNvSpPr>
          <p:nvPr>
            <p:ph type="title"/>
          </p:nvPr>
        </p:nvSpPr>
        <p:spPr>
          <a:xfrm>
            <a:off x="838200" y="1"/>
            <a:ext cx="10515600" cy="914399"/>
          </a:xfrm>
        </p:spPr>
        <p:txBody>
          <a:bodyPr/>
          <a:lstStyle/>
          <a:p>
            <a:r>
              <a:rPr lang="en-IN" dirty="0"/>
              <a:t>Examples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423E2D1-FA8A-4568-A6D4-2F1B2F6E3C00}"/>
                  </a:ext>
                </a:extLst>
              </p:cNvPr>
              <p:cNvSpPr>
                <a:spLocks noGrp="1"/>
              </p:cNvSpPr>
              <p:nvPr>
                <p:ph idx="1"/>
              </p:nvPr>
            </p:nvSpPr>
            <p:spPr>
              <a:xfrm>
                <a:off x="1568042" y="601276"/>
                <a:ext cx="10515600" cy="5616644"/>
              </a:xfrm>
            </p:spPr>
            <p:txBody>
              <a:bodyPr>
                <a:normAutofit lnSpcReduction="10000"/>
              </a:bodyPr>
              <a:lstStyle/>
              <a:p>
                <a:pPr algn="just"/>
                <a:r>
                  <a:rPr lang="en-IN" dirty="0"/>
                  <a:t>1Q: A high resolution black and white TV picture consists of about </a:t>
                </a:r>
                <a14:m>
                  <m:oMath xmlns:m="http://schemas.openxmlformats.org/officeDocument/2006/math">
                    <m:r>
                      <a:rPr lang="en-IN" b="0" i="1" smtClean="0">
                        <a:latin typeface="Cambria Math" panose="02040503050406030204" pitchFamily="18" charset="0"/>
                      </a:rPr>
                      <m:t>2×</m:t>
                    </m:r>
                    <m:sSup>
                      <m:sSupPr>
                        <m:ctrlPr>
                          <a:rPr lang="en-IN" b="0" i="1" smtClean="0">
                            <a:latin typeface="Cambria Math" panose="02040503050406030204" pitchFamily="18" charset="0"/>
                          </a:rPr>
                        </m:ctrlPr>
                      </m:sSupPr>
                      <m:e>
                        <m:r>
                          <a:rPr lang="en-IN" b="0" i="1" smtClean="0">
                            <a:latin typeface="Cambria Math" panose="02040503050406030204" pitchFamily="18" charset="0"/>
                          </a:rPr>
                          <m:t>10</m:t>
                        </m:r>
                      </m:e>
                      <m:sup>
                        <m:r>
                          <a:rPr lang="en-IN" b="0" i="1" smtClean="0">
                            <a:latin typeface="Cambria Math" panose="02040503050406030204" pitchFamily="18" charset="0"/>
                          </a:rPr>
                          <m:t>6</m:t>
                        </m:r>
                      </m:sup>
                    </m:sSup>
                  </m:oMath>
                </a14:m>
                <a:r>
                  <a:rPr lang="en-IN" dirty="0"/>
                  <a:t> picture elements and </a:t>
                </a:r>
                <a14:m>
                  <m:oMath xmlns:m="http://schemas.openxmlformats.org/officeDocument/2006/math">
                    <m:r>
                      <a:rPr lang="en-IN" i="1" dirty="0" smtClean="0">
                        <a:latin typeface="Cambria Math" panose="02040503050406030204" pitchFamily="18" charset="0"/>
                      </a:rPr>
                      <m:t>16</m:t>
                    </m:r>
                  </m:oMath>
                </a14:m>
                <a:r>
                  <a:rPr lang="en-IN" dirty="0"/>
                  <a:t> different brightness level. Pictures are repeated at the rate of </a:t>
                </a:r>
                <a14:m>
                  <m:oMath xmlns:m="http://schemas.openxmlformats.org/officeDocument/2006/math">
                    <m:r>
                      <a:rPr lang="en-IN" i="1" dirty="0" smtClean="0">
                        <a:latin typeface="Cambria Math" panose="02040503050406030204" pitchFamily="18" charset="0"/>
                      </a:rPr>
                      <m:t>32</m:t>
                    </m:r>
                  </m:oMath>
                </a14:m>
                <a:r>
                  <a:rPr lang="en-IN" dirty="0"/>
                  <a:t> frames per second. All picture elements are assumed to be independent and all levels have equal likelihood of occurrence. Calculate the average rate of information conveyed by this TV picture source.</a:t>
                </a:r>
              </a:p>
              <a:p>
                <a:pPr algn="just"/>
                <a:r>
                  <a:rPr lang="en-IN" dirty="0"/>
                  <a:t>Ans: </a:t>
                </a:r>
                <a14:m>
                  <m:oMath xmlns:m="http://schemas.openxmlformats.org/officeDocument/2006/math">
                    <m:r>
                      <a:rPr lang="en-IN" b="0" i="1" smtClean="0">
                        <a:latin typeface="Cambria Math" panose="02040503050406030204" pitchFamily="18" charset="0"/>
                      </a:rPr>
                      <m:t>𝑅</m:t>
                    </m:r>
                    <m:r>
                      <a:rPr lang="en-IN" b="0" i="1" smtClean="0">
                        <a:latin typeface="Cambria Math" panose="02040503050406030204" pitchFamily="18" charset="0"/>
                      </a:rPr>
                      <m:t>=256 </m:t>
                    </m:r>
                  </m:oMath>
                </a14:m>
                <a:r>
                  <a:rPr lang="en-IN" dirty="0"/>
                  <a:t>Mbps</a:t>
                </a:r>
              </a:p>
              <a:p>
                <a:pPr algn="just"/>
                <a:endParaRPr lang="en-IN" dirty="0"/>
              </a:p>
              <a:p>
                <a:pPr algn="just"/>
                <a:r>
                  <a:rPr lang="en-IN" dirty="0"/>
                  <a:t>2Q: Given a telegraph source having two symbols, dot and dash. The dot duration is </a:t>
                </a:r>
                <a14:m>
                  <m:oMath xmlns:m="http://schemas.openxmlformats.org/officeDocument/2006/math">
                    <m:r>
                      <a:rPr lang="en-IN" i="1" dirty="0">
                        <a:latin typeface="Cambria Math" panose="02040503050406030204" pitchFamily="18" charset="0"/>
                      </a:rPr>
                      <m:t>0.2</m:t>
                    </m:r>
                  </m:oMath>
                </a14:m>
                <a:r>
                  <a:rPr lang="en-IN" dirty="0"/>
                  <a:t>s. The dash duration is </a:t>
                </a:r>
                <a14:m>
                  <m:oMath xmlns:m="http://schemas.openxmlformats.org/officeDocument/2006/math">
                    <m:r>
                      <a:rPr lang="en-IN" i="1" dirty="0">
                        <a:latin typeface="Cambria Math" panose="02040503050406030204" pitchFamily="18" charset="0"/>
                      </a:rPr>
                      <m:t>3</m:t>
                    </m:r>
                  </m:oMath>
                </a14:m>
                <a:r>
                  <a:rPr lang="en-IN" dirty="0"/>
                  <a:t> times the dot duration. The probability  of the dot’s occurring is twice that of the dash and the time between symbols is </a:t>
                </a:r>
                <a14:m>
                  <m:oMath xmlns:m="http://schemas.openxmlformats.org/officeDocument/2006/math">
                    <m:r>
                      <a:rPr lang="en-IN" i="1" dirty="0">
                        <a:latin typeface="Cambria Math" panose="02040503050406030204" pitchFamily="18" charset="0"/>
                      </a:rPr>
                      <m:t>0.2</m:t>
                    </m:r>
                  </m:oMath>
                </a14:m>
                <a:r>
                  <a:rPr lang="en-IN" dirty="0"/>
                  <a:t>s. Calculate the average information per symbol of the telegraph source.</a:t>
                </a:r>
              </a:p>
              <a:p>
                <a:r>
                  <a:rPr lang="en-IN" dirty="0"/>
                  <a:t>Ans: </a:t>
                </a:r>
                <a14:m>
                  <m:oMath xmlns:m="http://schemas.openxmlformats.org/officeDocument/2006/math">
                    <m:r>
                      <a:rPr lang="en-IN" i="1">
                        <a:latin typeface="Cambria Math" panose="02040503050406030204" pitchFamily="18" charset="0"/>
                      </a:rPr>
                      <m:t>𝑅</m:t>
                    </m:r>
                    <m:r>
                      <a:rPr lang="en-IN" i="1">
                        <a:latin typeface="Cambria Math" panose="02040503050406030204" pitchFamily="18" charset="0"/>
                      </a:rPr>
                      <m:t>=0.92</m:t>
                    </m:r>
                  </m:oMath>
                </a14:m>
                <a:r>
                  <a:rPr lang="en-IN" dirty="0"/>
                  <a:t> bits/symbol.</a:t>
                </a:r>
              </a:p>
              <a:p>
                <a:pPr marL="0" indent="0">
                  <a:buNone/>
                </a:pPr>
                <a:endParaRPr lang="en-IN" dirty="0"/>
              </a:p>
              <a:p>
                <a:pPr algn="just"/>
                <a:r>
                  <a:rPr lang="en-IN" dirty="0"/>
                  <a:t>3Q:An </a:t>
                </a:r>
                <a:r>
                  <a:rPr lang="en-IN" dirty="0" err="1"/>
                  <a:t>analog</a:t>
                </a:r>
                <a:r>
                  <a:rPr lang="en-IN" dirty="0"/>
                  <a:t> signal is band limited to </a:t>
                </a:r>
                <a14:m>
                  <m:oMath xmlns:m="http://schemas.openxmlformats.org/officeDocument/2006/math">
                    <m:sSub>
                      <m:sSubPr>
                        <m:ctrlPr>
                          <a:rPr lang="en-IN" i="1">
                            <a:latin typeface="Cambria Math" panose="02040503050406030204" pitchFamily="18" charset="0"/>
                          </a:rPr>
                        </m:ctrlPr>
                      </m:sSubPr>
                      <m:e>
                        <m:r>
                          <a:rPr lang="en-IN" i="1">
                            <a:latin typeface="Cambria Math" panose="02040503050406030204" pitchFamily="18" charset="0"/>
                          </a:rPr>
                          <m:t>𝑓</m:t>
                        </m:r>
                      </m:e>
                      <m:sub>
                        <m:r>
                          <a:rPr lang="en-IN" i="1">
                            <a:latin typeface="Cambria Math" panose="02040503050406030204" pitchFamily="18" charset="0"/>
                          </a:rPr>
                          <m:t>𝑚</m:t>
                        </m:r>
                      </m:sub>
                    </m:sSub>
                  </m:oMath>
                </a14:m>
                <a:r>
                  <a:rPr lang="en-IN" dirty="0"/>
                  <a:t> Hz and sampled at Nyquist Rate. The samples are quantized into 4 levels. Each level represents one symbols. Thus there are 4 symbols. The probabilities of occurrence of these 4 levels are </a:t>
                </a:r>
                <a14:m>
                  <m:oMath xmlns:m="http://schemas.openxmlformats.org/officeDocument/2006/math">
                    <m:f>
                      <m:fPr>
                        <m:ctrlPr>
                          <a:rPr lang="en-IN" i="1">
                            <a:latin typeface="Cambria Math" panose="02040503050406030204" pitchFamily="18" charset="0"/>
                          </a:rPr>
                        </m:ctrlPr>
                      </m:fPr>
                      <m:num>
                        <m:r>
                          <a:rPr lang="en-IN" i="1">
                            <a:latin typeface="Cambria Math" panose="02040503050406030204" pitchFamily="18" charset="0"/>
                          </a:rPr>
                          <m:t>1</m:t>
                        </m:r>
                      </m:num>
                      <m:den>
                        <m:r>
                          <a:rPr lang="en-IN" i="1">
                            <a:latin typeface="Cambria Math" panose="02040503050406030204" pitchFamily="18" charset="0"/>
                          </a:rPr>
                          <m:t>8</m:t>
                        </m:r>
                      </m:den>
                    </m:f>
                    <m:r>
                      <a:rPr lang="en-IN" i="1">
                        <a:latin typeface="Cambria Math" panose="02040503050406030204" pitchFamily="18" charset="0"/>
                      </a:rPr>
                      <m:t>,</m:t>
                    </m:r>
                    <m:f>
                      <m:fPr>
                        <m:ctrlPr>
                          <a:rPr lang="en-IN" i="1">
                            <a:latin typeface="Cambria Math" panose="02040503050406030204" pitchFamily="18" charset="0"/>
                          </a:rPr>
                        </m:ctrlPr>
                      </m:fPr>
                      <m:num>
                        <m:r>
                          <a:rPr lang="en-IN" i="1">
                            <a:latin typeface="Cambria Math" panose="02040503050406030204" pitchFamily="18" charset="0"/>
                          </a:rPr>
                          <m:t>3</m:t>
                        </m:r>
                      </m:num>
                      <m:den>
                        <m:r>
                          <a:rPr lang="en-IN" i="1">
                            <a:latin typeface="Cambria Math" panose="02040503050406030204" pitchFamily="18" charset="0"/>
                          </a:rPr>
                          <m:t>8</m:t>
                        </m:r>
                      </m:den>
                    </m:f>
                    <m:r>
                      <a:rPr lang="en-IN" i="1">
                        <a:latin typeface="Cambria Math" panose="02040503050406030204" pitchFamily="18" charset="0"/>
                      </a:rPr>
                      <m:t>,</m:t>
                    </m:r>
                    <m:f>
                      <m:fPr>
                        <m:ctrlPr>
                          <a:rPr lang="en-IN" i="1">
                            <a:latin typeface="Cambria Math" panose="02040503050406030204" pitchFamily="18" charset="0"/>
                          </a:rPr>
                        </m:ctrlPr>
                      </m:fPr>
                      <m:num>
                        <m:r>
                          <a:rPr lang="en-IN" i="1">
                            <a:latin typeface="Cambria Math" panose="02040503050406030204" pitchFamily="18" charset="0"/>
                          </a:rPr>
                          <m:t>3</m:t>
                        </m:r>
                      </m:num>
                      <m:den>
                        <m:r>
                          <a:rPr lang="en-IN" i="1">
                            <a:latin typeface="Cambria Math" panose="02040503050406030204" pitchFamily="18" charset="0"/>
                          </a:rPr>
                          <m:t>8</m:t>
                        </m:r>
                      </m:den>
                    </m:f>
                  </m:oMath>
                </a14:m>
                <a:r>
                  <a:rPr lang="en-IN" dirty="0"/>
                  <a:t> and </a:t>
                </a:r>
                <a14:m>
                  <m:oMath xmlns:m="http://schemas.openxmlformats.org/officeDocument/2006/math">
                    <m:f>
                      <m:fPr>
                        <m:ctrlPr>
                          <a:rPr lang="en-IN" i="1">
                            <a:latin typeface="Cambria Math" panose="02040503050406030204" pitchFamily="18" charset="0"/>
                          </a:rPr>
                        </m:ctrlPr>
                      </m:fPr>
                      <m:num>
                        <m:r>
                          <a:rPr lang="en-IN" i="1">
                            <a:latin typeface="Cambria Math" panose="02040503050406030204" pitchFamily="18" charset="0"/>
                          </a:rPr>
                          <m:t>1</m:t>
                        </m:r>
                      </m:num>
                      <m:den>
                        <m:r>
                          <a:rPr lang="en-IN" i="1">
                            <a:latin typeface="Cambria Math" panose="02040503050406030204" pitchFamily="18" charset="0"/>
                          </a:rPr>
                          <m:t>8</m:t>
                        </m:r>
                      </m:den>
                    </m:f>
                  </m:oMath>
                </a14:m>
                <a:r>
                  <a:rPr lang="en-IN" dirty="0"/>
                  <a:t> respectively. Obtain the information rate.</a:t>
                </a:r>
              </a:p>
              <a:p>
                <a:pPr algn="just"/>
                <a:r>
                  <a:rPr lang="en-IN" dirty="0"/>
                  <a:t>Ans: </a:t>
                </a:r>
                <a14:m>
                  <m:oMath xmlns:m="http://schemas.openxmlformats.org/officeDocument/2006/math">
                    <m:r>
                      <a:rPr lang="en-IN" i="1" dirty="0">
                        <a:latin typeface="Cambria Math" panose="02040503050406030204" pitchFamily="18" charset="0"/>
                      </a:rPr>
                      <m:t>3.6</m:t>
                    </m:r>
                    <m:sSub>
                      <m:sSubPr>
                        <m:ctrlPr>
                          <a:rPr lang="en-IN" i="1" dirty="0">
                            <a:latin typeface="Cambria Math" panose="02040503050406030204" pitchFamily="18" charset="0"/>
                          </a:rPr>
                        </m:ctrlPr>
                      </m:sSubPr>
                      <m:e>
                        <m:r>
                          <a:rPr lang="en-IN" i="1" dirty="0">
                            <a:latin typeface="Cambria Math" panose="02040503050406030204" pitchFamily="18" charset="0"/>
                          </a:rPr>
                          <m:t>𝑓</m:t>
                        </m:r>
                      </m:e>
                      <m:sub>
                        <m:r>
                          <a:rPr lang="en-IN" i="1" dirty="0">
                            <a:latin typeface="Cambria Math" panose="02040503050406030204" pitchFamily="18" charset="0"/>
                          </a:rPr>
                          <m:t>𝑚</m:t>
                        </m:r>
                      </m:sub>
                    </m:sSub>
                  </m:oMath>
                </a14:m>
                <a:r>
                  <a:rPr lang="en-IN" dirty="0"/>
                  <a:t> bits/sec.</a:t>
                </a:r>
              </a:p>
              <a:p>
                <a:endParaRPr lang="en-IN" dirty="0"/>
              </a:p>
              <a:p>
                <a:pPr marL="0" indent="0" algn="just">
                  <a:buNone/>
                </a:pPr>
                <a:endParaRPr lang="en-IN" dirty="0"/>
              </a:p>
            </p:txBody>
          </p:sp>
        </mc:Choice>
        <mc:Fallback xmlns="">
          <p:sp>
            <p:nvSpPr>
              <p:cNvPr id="3" name="Content Placeholder 2">
                <a:extLst>
                  <a:ext uri="{FF2B5EF4-FFF2-40B4-BE49-F238E27FC236}">
                    <a16:creationId xmlns:a16="http://schemas.microsoft.com/office/drawing/2014/main" id="{0423E2D1-FA8A-4568-A6D4-2F1B2F6E3C00}"/>
                  </a:ext>
                </a:extLst>
              </p:cNvPr>
              <p:cNvSpPr>
                <a:spLocks noGrp="1" noRot="1" noChangeAspect="1" noMove="1" noResize="1" noEditPoints="1" noAdjustHandles="1" noChangeArrowheads="1" noChangeShapeType="1" noTextEdit="1"/>
              </p:cNvSpPr>
              <p:nvPr>
                <p:ph idx="1"/>
              </p:nvPr>
            </p:nvSpPr>
            <p:spPr>
              <a:xfrm>
                <a:off x="1568042" y="601276"/>
                <a:ext cx="10515600" cy="5616644"/>
              </a:xfrm>
              <a:blipFill>
                <a:blip r:embed="rId2"/>
                <a:stretch>
                  <a:fillRect l="-406" t="-1194" r="-522" b="-217"/>
                </a:stretch>
              </a:blipFill>
            </p:spPr>
            <p:txBody>
              <a:bodyPr/>
              <a:lstStyle/>
              <a:p>
                <a:r>
                  <a:rPr lang="en-IN">
                    <a:noFill/>
                  </a:rPr>
                  <a:t> </a:t>
                </a:r>
              </a:p>
            </p:txBody>
          </p:sp>
        </mc:Fallback>
      </mc:AlternateContent>
    </p:spTree>
    <p:extLst>
      <p:ext uri="{BB962C8B-B14F-4D97-AF65-F5344CB8AC3E}">
        <p14:creationId xmlns:p14="http://schemas.microsoft.com/office/powerpoint/2010/main" val="11495348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30D474D3-7F7F-4E22-80EF-18499D1C42D5}"/>
                  </a:ext>
                </a:extLst>
              </p:cNvPr>
              <p:cNvSpPr>
                <a:spLocks noGrp="1"/>
              </p:cNvSpPr>
              <p:nvPr>
                <p:ph idx="1"/>
              </p:nvPr>
            </p:nvSpPr>
            <p:spPr>
              <a:xfrm>
                <a:off x="1633728" y="388782"/>
                <a:ext cx="10704576" cy="5198768"/>
              </a:xfrm>
            </p:spPr>
            <p:txBody>
              <a:bodyPr>
                <a:noAutofit/>
              </a:bodyPr>
              <a:lstStyle/>
              <a:p>
                <a:r>
                  <a:rPr lang="en-IN" sz="2000" b="1" dirty="0">
                    <a:latin typeface="Arial" panose="020B0604020202020204" pitchFamily="34" charset="0"/>
                    <a:cs typeface="Arial" panose="020B0604020202020204" pitchFamily="34" charset="0"/>
                  </a:rPr>
                  <a:t>Efficiency of Source (</a:t>
                </a:r>
                <a:r>
                  <a:rPr lang="ka-GE" sz="2000" b="1" dirty="0">
                    <a:cs typeface="Arial" panose="020B0604020202020204" pitchFamily="34" charset="0"/>
                  </a:rPr>
                  <a:t>ⴄ</a:t>
                </a:r>
                <a:r>
                  <a:rPr lang="en-US" sz="2000" b="1" dirty="0">
                    <a:latin typeface="Arial" panose="020B0604020202020204" pitchFamily="34" charset="0"/>
                    <a:cs typeface="Arial" panose="020B0604020202020204" pitchFamily="34" charset="0"/>
                  </a:rPr>
                  <a:t>)= </a:t>
                </a:r>
                <a14:m>
                  <m:oMath xmlns:m="http://schemas.openxmlformats.org/officeDocument/2006/math">
                    <m:f>
                      <m:fPr>
                        <m:ctrlPr>
                          <a:rPr lang="en-US" sz="2000" b="1" i="1" smtClean="0">
                            <a:latin typeface="Cambria Math" panose="02040503050406030204" pitchFamily="18" charset="0"/>
                          </a:rPr>
                        </m:ctrlPr>
                      </m:fPr>
                      <m:num>
                        <m:r>
                          <a:rPr lang="en-US" sz="2000" b="1" i="1" smtClean="0">
                            <a:latin typeface="Cambria Math" panose="02040503050406030204" pitchFamily="18" charset="0"/>
                          </a:rPr>
                          <m:t>𝑯</m:t>
                        </m:r>
                      </m:num>
                      <m:den>
                        <m:sSub>
                          <m:sSubPr>
                            <m:ctrlPr>
                              <a:rPr lang="en-US" sz="2000" b="1" i="1" smtClean="0">
                                <a:latin typeface="Cambria Math" panose="02040503050406030204" pitchFamily="18" charset="0"/>
                              </a:rPr>
                            </m:ctrlPr>
                          </m:sSubPr>
                          <m:e>
                            <m:r>
                              <a:rPr lang="en-US" sz="2000" b="1" i="1" smtClean="0">
                                <a:latin typeface="Cambria Math" panose="02040503050406030204" pitchFamily="18" charset="0"/>
                              </a:rPr>
                              <m:t>𝑯</m:t>
                            </m:r>
                          </m:e>
                          <m:sub>
                            <m:r>
                              <a:rPr lang="en-US" sz="2000" b="1" i="1" smtClean="0">
                                <a:latin typeface="Cambria Math" panose="02040503050406030204" pitchFamily="18" charset="0"/>
                              </a:rPr>
                              <m:t>𝒎𝒂𝒙</m:t>
                            </m:r>
                          </m:sub>
                        </m:sSub>
                      </m:den>
                    </m:f>
                  </m:oMath>
                </a14:m>
                <a:endParaRPr lang="en-IN" sz="2000" b="1" dirty="0">
                  <a:latin typeface="Arial" panose="020B0604020202020204" pitchFamily="34" charset="0"/>
                  <a:cs typeface="Arial" panose="020B0604020202020204" pitchFamily="34" charset="0"/>
                </a:endParaRPr>
              </a:p>
              <a:p>
                <a:r>
                  <a:rPr lang="en-IN" sz="2000" b="1" dirty="0">
                    <a:latin typeface="Arial" panose="020B0604020202020204" pitchFamily="34" charset="0"/>
                    <a:cs typeface="Arial" panose="020B0604020202020204" pitchFamily="34" charset="0"/>
                  </a:rPr>
                  <a:t>Redundancy of Source(</a:t>
                </a:r>
                <a:r>
                  <a:rPr lang="el-GR" sz="2000" b="1" dirty="0">
                    <a:latin typeface="Arial" panose="020B0604020202020204" pitchFamily="34" charset="0"/>
                    <a:cs typeface="Arial" panose="020B0604020202020204" pitchFamily="34" charset="0"/>
                  </a:rPr>
                  <a:t>γ</a:t>
                </a:r>
                <a:r>
                  <a:rPr lang="en-IN" sz="2000" b="1" dirty="0">
                    <a:latin typeface="Arial" panose="020B0604020202020204" pitchFamily="34" charset="0"/>
                    <a:cs typeface="Arial" panose="020B0604020202020204" pitchFamily="34" charset="0"/>
                  </a:rPr>
                  <a:t>) = 1- </a:t>
                </a:r>
                <a:r>
                  <a:rPr lang="ka-GE" sz="2000" b="1" dirty="0">
                    <a:cs typeface="Arial" panose="020B0604020202020204" pitchFamily="34" charset="0"/>
                  </a:rPr>
                  <a:t>ⴄ</a:t>
                </a:r>
                <a:endParaRPr lang="en-US" sz="2000" b="1" dirty="0">
                  <a:latin typeface="Arial" panose="020B0604020202020204" pitchFamily="34" charset="0"/>
                  <a:cs typeface="Arial" panose="020B0604020202020204" pitchFamily="34" charset="0"/>
                </a:endParaRPr>
              </a:p>
              <a:p>
                <a:pPr marL="0" indent="0">
                  <a:buNone/>
                </a:pPr>
                <a:r>
                  <a:rPr lang="en-US" sz="2000" b="1" dirty="0">
                    <a:latin typeface="Arial" panose="020B0604020202020204" pitchFamily="34" charset="0"/>
                    <a:cs typeface="Arial" panose="020B0604020202020204" pitchFamily="34" charset="0"/>
                  </a:rPr>
                  <a:t>1Q: A  discrete source emits one of five symbols once in every milliseconds with probability ½, ¼, 1/8, 1/16, 1/16. Determine the source entropy, information rate, source efficiency and source redundancy.</a:t>
                </a:r>
              </a:p>
              <a:p>
                <a:pPr marL="0" indent="0">
                  <a:buNone/>
                </a:pPr>
                <a:endParaRPr lang="en-US" sz="2000" b="1" dirty="0">
                  <a:latin typeface="Arial" panose="020B0604020202020204" pitchFamily="34" charset="0"/>
                  <a:cs typeface="Arial" panose="020B0604020202020204" pitchFamily="34" charset="0"/>
                </a:endParaRPr>
              </a:p>
              <a:p>
                <a:pPr marL="0" indent="0">
                  <a:buNone/>
                </a:pPr>
                <a:r>
                  <a:rPr lang="en-US" sz="2000" b="1" dirty="0">
                    <a:latin typeface="Arial" panose="020B0604020202020204" pitchFamily="34" charset="0"/>
                    <a:cs typeface="Arial" panose="020B0604020202020204" pitchFamily="34" charset="0"/>
                  </a:rPr>
                  <a:t>2Q:Q: A source emits three messages with the probability: P1= 0.7, P2 =0.2, P3=0.1 Calculate: Source entropy, maximum entropy, source efficiency and redundancy.</a:t>
                </a:r>
              </a:p>
              <a:p>
                <a:pPr marL="0" indent="0">
                  <a:buNone/>
                </a:pPr>
                <a:r>
                  <a:rPr lang="en-US" sz="2000" b="1" dirty="0">
                    <a:latin typeface="Arial" panose="020B0604020202020204" pitchFamily="34" charset="0"/>
                    <a:cs typeface="Arial" panose="020B0604020202020204" pitchFamily="34" charset="0"/>
                  </a:rPr>
                  <a:t>Ans: H=1.508 bits/message, </a:t>
                </a:r>
                <a:r>
                  <a:rPr lang="en-US" sz="2000" b="1" dirty="0" err="1">
                    <a:latin typeface="Arial" panose="020B0604020202020204" pitchFamily="34" charset="0"/>
                    <a:cs typeface="Arial" panose="020B0604020202020204" pitchFamily="34" charset="0"/>
                  </a:rPr>
                  <a:t>Hmax</a:t>
                </a:r>
                <a:r>
                  <a:rPr lang="en-US" sz="2000" b="1" dirty="0">
                    <a:latin typeface="Arial" panose="020B0604020202020204" pitchFamily="34" charset="0"/>
                    <a:cs typeface="Arial" panose="020B0604020202020204" pitchFamily="34" charset="0"/>
                  </a:rPr>
                  <a:t>=  1.585 bits/message, </a:t>
                </a:r>
                <a:r>
                  <a:rPr lang="ka-GE" sz="2000" b="1" dirty="0">
                    <a:cs typeface="Arial" panose="020B0604020202020204" pitchFamily="34" charset="0"/>
                  </a:rPr>
                  <a:t>ⴄ</a:t>
                </a:r>
                <a:r>
                  <a:rPr lang="en-US" sz="2000" b="1" dirty="0">
                    <a:latin typeface="Arial" panose="020B0604020202020204" pitchFamily="34" charset="0"/>
                    <a:cs typeface="Arial" panose="020B0604020202020204" pitchFamily="34" charset="0"/>
                  </a:rPr>
                  <a:t> =0.73, </a:t>
                </a:r>
                <a:r>
                  <a:rPr lang="el-GR" sz="2000" b="1" dirty="0">
                    <a:latin typeface="Arial" panose="020B0604020202020204" pitchFamily="34" charset="0"/>
                    <a:cs typeface="Arial" panose="020B0604020202020204" pitchFamily="34" charset="0"/>
                  </a:rPr>
                  <a:t>γ</a:t>
                </a:r>
                <a:r>
                  <a:rPr lang="en-US" sz="2000" b="1" dirty="0">
                    <a:latin typeface="Arial" panose="020B0604020202020204" pitchFamily="34" charset="0"/>
                    <a:cs typeface="Arial" panose="020B0604020202020204" pitchFamily="34" charset="0"/>
                  </a:rPr>
                  <a:t>= 0.27</a:t>
                </a:r>
              </a:p>
              <a:p>
                <a:pPr marL="0" indent="0">
                  <a:buNone/>
                </a:pPr>
                <a:endParaRPr lang="en-US" sz="2000" b="1" dirty="0">
                  <a:latin typeface="Arial" panose="020B0604020202020204" pitchFamily="34" charset="0"/>
                  <a:cs typeface="Arial" panose="020B0604020202020204" pitchFamily="34" charset="0"/>
                </a:endParaRPr>
              </a:p>
              <a:p>
                <a:pPr marL="0" indent="0">
                  <a:buNone/>
                </a:pPr>
                <a:r>
                  <a:rPr lang="en-US" sz="2000" b="1" dirty="0">
                    <a:latin typeface="Arial" panose="020B0604020202020204" pitchFamily="34" charset="0"/>
                    <a:cs typeface="Arial" panose="020B0604020202020204" pitchFamily="34" charset="0"/>
                  </a:rPr>
                  <a:t>3Q; Q: A  DMS has four symbols x1, x2, x3, x4 with probability P(x1)=0.4, P(x2)=0.3, P(x3)= 0.2, P(x4)=0.1.</a:t>
                </a:r>
              </a:p>
              <a:p>
                <a:pPr marL="571500" indent="-571500">
                  <a:buAutoNum type="romanLcParenR"/>
                </a:pPr>
                <a:r>
                  <a:rPr lang="en-US" sz="2000" b="1" dirty="0">
                    <a:latin typeface="Arial" panose="020B0604020202020204" pitchFamily="34" charset="0"/>
                    <a:cs typeface="Arial" panose="020B0604020202020204" pitchFamily="34" charset="0"/>
                  </a:rPr>
                  <a:t>Calculate H(x).</a:t>
                </a:r>
              </a:p>
              <a:p>
                <a:pPr marL="571500" indent="-571500">
                  <a:buAutoNum type="romanLcParenR"/>
                </a:pPr>
                <a:r>
                  <a:rPr lang="en-US" sz="2000" b="1" dirty="0">
                    <a:latin typeface="Arial" panose="020B0604020202020204" pitchFamily="34" charset="0"/>
                    <a:cs typeface="Arial" panose="020B0604020202020204" pitchFamily="34" charset="0"/>
                  </a:rPr>
                  <a:t>Find the amount of information contained in the   message x1 x2 x1 x3 and x4 x3 </a:t>
                </a:r>
                <a:r>
                  <a:rPr lang="en-US" sz="2000" b="1" dirty="0" err="1">
                    <a:latin typeface="Arial" panose="020B0604020202020204" pitchFamily="34" charset="0"/>
                    <a:cs typeface="Arial" panose="020B0604020202020204" pitchFamily="34" charset="0"/>
                  </a:rPr>
                  <a:t>x3</a:t>
                </a:r>
                <a:r>
                  <a:rPr lang="en-US" sz="2000" b="1" dirty="0">
                    <a:latin typeface="Arial" panose="020B0604020202020204" pitchFamily="34" charset="0"/>
                    <a:cs typeface="Arial" panose="020B0604020202020204" pitchFamily="34" charset="0"/>
                  </a:rPr>
                  <a:t> x2.</a:t>
                </a:r>
                <a:endParaRPr lang="en-IN" sz="2000" b="1" dirty="0">
                  <a:latin typeface="Arial" panose="020B0604020202020204" pitchFamily="34" charset="0"/>
                  <a:cs typeface="Arial" panose="020B0604020202020204" pitchFamily="34" charset="0"/>
                </a:endParaRPr>
              </a:p>
              <a:p>
                <a:pPr marL="0" indent="0">
                  <a:buNone/>
                </a:pPr>
                <a:endParaRPr lang="en-US" sz="2000" b="1" dirty="0">
                  <a:latin typeface="Arial" panose="020B0604020202020204" pitchFamily="34" charset="0"/>
                  <a:cs typeface="Arial" panose="020B0604020202020204" pitchFamily="34" charset="0"/>
                </a:endParaRPr>
              </a:p>
              <a:p>
                <a:pPr marL="0" indent="0">
                  <a:buNone/>
                </a:pPr>
                <a:endParaRPr lang="en-US" sz="2000" b="1" dirty="0">
                  <a:latin typeface="Arial" panose="020B0604020202020204" pitchFamily="34" charset="0"/>
                  <a:cs typeface="Arial" panose="020B0604020202020204" pitchFamily="34" charset="0"/>
                </a:endParaRPr>
              </a:p>
              <a:p>
                <a:pPr marL="0" indent="0">
                  <a:buNone/>
                </a:pPr>
                <a:endParaRPr lang="en-US" sz="2000" b="1" dirty="0">
                  <a:latin typeface="Arial" panose="020B0604020202020204" pitchFamily="34" charset="0"/>
                  <a:cs typeface="Arial" panose="020B0604020202020204" pitchFamily="34" charset="0"/>
                </a:endParaRPr>
              </a:p>
              <a:p>
                <a:pPr marL="0" indent="0">
                  <a:buNone/>
                </a:pPr>
                <a:endParaRPr lang="en-IN" sz="2000" b="1" dirty="0">
                  <a:latin typeface="Arial" panose="020B0604020202020204" pitchFamily="34" charset="0"/>
                  <a:cs typeface="Arial" panose="020B0604020202020204" pitchFamily="34" charset="0"/>
                </a:endParaRPr>
              </a:p>
            </p:txBody>
          </p:sp>
        </mc:Choice>
        <mc:Fallback>
          <p:sp>
            <p:nvSpPr>
              <p:cNvPr id="3" name="Content Placeholder 2">
                <a:extLst>
                  <a:ext uri="{FF2B5EF4-FFF2-40B4-BE49-F238E27FC236}">
                    <a16:creationId xmlns:a16="http://schemas.microsoft.com/office/drawing/2014/main" id="{30D474D3-7F7F-4E22-80EF-18499D1C42D5}"/>
                  </a:ext>
                </a:extLst>
              </p:cNvPr>
              <p:cNvSpPr>
                <a:spLocks noGrp="1" noRot="1" noChangeAspect="1" noMove="1" noResize="1" noEditPoints="1" noAdjustHandles="1" noChangeArrowheads="1" noChangeShapeType="1" noTextEdit="1"/>
              </p:cNvSpPr>
              <p:nvPr>
                <p:ph idx="1"/>
              </p:nvPr>
            </p:nvSpPr>
            <p:spPr>
              <a:xfrm>
                <a:off x="1633728" y="388782"/>
                <a:ext cx="10704576" cy="5198768"/>
              </a:xfrm>
              <a:blipFill>
                <a:blip r:embed="rId2"/>
                <a:stretch>
                  <a:fillRect l="-569" r="-569" b="-17116"/>
                </a:stretch>
              </a:blipFill>
            </p:spPr>
            <p:txBody>
              <a:bodyPr/>
              <a:lstStyle/>
              <a:p>
                <a:r>
                  <a:rPr lang="en-IN">
                    <a:noFill/>
                  </a:rPr>
                  <a:t> </a:t>
                </a:r>
              </a:p>
            </p:txBody>
          </p:sp>
        </mc:Fallback>
      </mc:AlternateContent>
    </p:spTree>
    <p:extLst>
      <p:ext uri="{BB962C8B-B14F-4D97-AF65-F5344CB8AC3E}">
        <p14:creationId xmlns:p14="http://schemas.microsoft.com/office/powerpoint/2010/main" val="742099196"/>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TM02892315[[fn=Wisp]]</Template>
  <TotalTime>1798</TotalTime>
  <Words>1351</Words>
  <Application>Microsoft Office PowerPoint</Application>
  <PresentationFormat>Widescreen</PresentationFormat>
  <Paragraphs>128</Paragraphs>
  <Slides>17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Arial</vt:lpstr>
      <vt:lpstr>Cambria Math</vt:lpstr>
      <vt:lpstr>Century Gothic</vt:lpstr>
      <vt:lpstr>Times New Roman</vt:lpstr>
      <vt:lpstr>Times-Roman</vt:lpstr>
      <vt:lpstr>Wingdings 3</vt:lpstr>
      <vt:lpstr>Wisp</vt:lpstr>
      <vt:lpstr>Information Theory and Coding  Module 1</vt:lpstr>
      <vt:lpstr>ITC: Applications</vt:lpstr>
      <vt:lpstr>What is Information</vt:lpstr>
      <vt:lpstr>PowerPoint Presentation</vt:lpstr>
      <vt:lpstr>Uncertainty and Information</vt:lpstr>
      <vt:lpstr>Information Sources</vt:lpstr>
      <vt:lpstr>PowerPoint Presentation</vt:lpstr>
      <vt:lpstr>Measure of Information</vt:lpstr>
      <vt:lpstr>PowerPoint Presentation</vt:lpstr>
      <vt:lpstr>PowerPoint Presentation</vt:lpstr>
      <vt:lpstr>PowerPoint Presentation</vt:lpstr>
      <vt:lpstr>PowerPoint Presentation</vt:lpstr>
      <vt:lpstr>Entropy (Average Information per symbol)</vt:lpstr>
      <vt:lpstr>Entropy of BMS</vt:lpstr>
      <vt:lpstr>Information Rate</vt:lpstr>
      <vt:lpstr>Examples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Information Theory</dc:title>
  <dc:creator>sameeulla.khan23@gmail.com</dc:creator>
  <cp:lastModifiedBy>Saladi Saritha</cp:lastModifiedBy>
  <cp:revision>94</cp:revision>
  <dcterms:created xsi:type="dcterms:W3CDTF">2019-07-05T05:58:21Z</dcterms:created>
  <dcterms:modified xsi:type="dcterms:W3CDTF">2026-01-23T08:41:48Z</dcterms:modified>
</cp:coreProperties>
</file>